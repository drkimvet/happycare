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Week 7 of the public DVM 612 outline: suture patterns and surgical closure. Fifty minutes. Forty slides. Do not dump a Fossum size table. Do not teach milligrams. Week 8 is materials and knots. If time is short, protect interrupted versus continuous, appose versus invert, simple interrupted, vertical mattress far-far near-near, Cushing versus Connell, and layered closure.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five objectives. This hour is judgment plus names. The lab owns the hands. Do not write 3 to 5 millimeters on the board as a law.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discussion runs, cut the pattern-card extras. Keep the clock blocks.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open a materials catalog. If they ask 2-0 nylon, say Week 8 and Fossum or the lab kit.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section card. Then Halsted.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Every principle has a closure action. Then the three questions.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Board the three questions. They will hear them again on every pattern card.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Cite WCVM public lab: several patterns can be appropriate. Do not mock preference. Mock a pattern that inverts skin.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block.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WCVM Lab 3. Continuous fails as a unit. Interrupted fails as a stitch. That is the exam sentence.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for student skin is interrupted until the lab says otherwise.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 is a benefit, not an indication.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Board: appose skin. Invert some viscus. Do not evert as a habit.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blood-supply slide. Say swell out loud.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Then patterns. No throw table.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LO 1. Then pattern cards.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cards. Keep moving.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not the recipe. Names only. Confirm construction in Fossum and in lab.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WCVM: interrupted, appositional, normal tension. Minimal blood-supply hit unless overtightened.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 trap: one knot failure opens the line.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love this one. Make them leave it loose.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Merck: mattress transfers tension off the edge. WCVM: major ischemia if tight.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far-far near-near twice. That is the exam phrase.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spend five minutes on the order variants. Name the idea.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 and large-animal students will see this again in Week 13. Same three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will want this on every spay. Make them earn a quiet dermis first.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invent a GI size table. Name layers: no mucosa.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highest-yield viscus pair. Repeat the mnemonic once. Do not invent which organ prefers which.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perform a purse-string demo with invented bite counts.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Closure block.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 first in the abdomen. Do not invent bite counts or a 2-0 rule.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columns. Then mistakes.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LO 9. Read six. Then quiz.</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to Week 4 language without opening that deck. No patient names.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Vendor names stay in this script only: Nautilus Surgical is not a suture pad. Makers Nutrition in Commack is supplements. Vetiqo and SurgiReal exist on the open web. Coordinator decides.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large-animal slide deck. One card. Nautilus/Makers research stays in the instructor script, not on the student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advance until they write. Keys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keys. Then references.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lines. Then questions.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questions. If none: three questions are tissue, tension, blood supply. Vertical mattress is far-far then near-near. Dismiss on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868680"/>
            <a:ext cx="10972800" cy="365760"/>
          </a:xfrm>
          <a:prstGeom prst="rect">
            <a:avLst/>
          </a:prstGeom>
          <a:noFill/>
        </p:spPr>
        <p:txBody>
          <a:bodyPr wrap="square" anchor="t"/>
          <a:lstStyle/>
          <a:p>
            <a:pPr algn="l"/>
            <a:r>
              <a:rPr sz="1600" b="1">
                <a:solidFill>
                  <a:srgbClr val="C5A35A"/>
                </a:solidFill>
                <a:latin typeface="Calibri"/>
              </a:rPr>
              <a:t>LONG ISLAND UNIVERSITY  ·  LEWYT COLLEGE OF VETERINARY MEDICINE</a:t>
            </a:r>
          </a:p>
        </p:txBody>
      </p:sp>
      <p:sp>
        <p:nvSpPr>
          <p:cNvPr id="6" name="TextBox 5"/>
          <p:cNvSpPr txBox="1"/>
          <p:nvPr/>
        </p:nvSpPr>
        <p:spPr>
          <a:xfrm>
            <a:off x="685800" y="1325880"/>
            <a:ext cx="10972800" cy="365760"/>
          </a:xfrm>
          <a:prstGeom prst="rect">
            <a:avLst/>
          </a:prstGeom>
          <a:noFill/>
        </p:spPr>
        <p:txBody>
          <a:bodyPr wrap="square" anchor="t"/>
          <a:lstStyle/>
          <a:p>
            <a:pPr algn="l"/>
            <a:r>
              <a:rPr sz="2000" b="1">
                <a:solidFill>
                  <a:srgbClr val="F4EBD3"/>
                </a:solidFill>
                <a:latin typeface="Calibri"/>
              </a:rPr>
              <a:t>DVM 612  ·  PRINCIPLES OF SURGERY  ·  WEEK 7</a:t>
            </a:r>
          </a:p>
        </p:txBody>
      </p:sp>
      <p:sp>
        <p:nvSpPr>
          <p:cNvPr id="7" name="TextBox 6"/>
          <p:cNvSpPr txBox="1"/>
          <p:nvPr/>
        </p:nvSpPr>
        <p:spPr>
          <a:xfrm>
            <a:off x="685800" y="1874519"/>
            <a:ext cx="10972800" cy="1463040"/>
          </a:xfrm>
          <a:prstGeom prst="rect">
            <a:avLst/>
          </a:prstGeom>
          <a:noFill/>
        </p:spPr>
        <p:txBody>
          <a:bodyPr wrap="square" anchor="t"/>
          <a:lstStyle/>
          <a:p>
            <a:pPr algn="l"/>
            <a:r>
              <a:rPr sz="3600" b="1">
                <a:solidFill>
                  <a:srgbClr val="FFFFFF"/>
                </a:solidFill>
                <a:latin typeface="Calibri"/>
              </a:rPr>
              <a:t>Suture Patterns
and Surgical Closure</a:t>
            </a:r>
          </a:p>
        </p:txBody>
      </p:sp>
      <p:sp>
        <p:nvSpPr>
          <p:cNvPr id="8" name="TextBox 7"/>
          <p:cNvSpPr txBox="1"/>
          <p:nvPr/>
        </p:nvSpPr>
        <p:spPr>
          <a:xfrm>
            <a:off x="685800" y="3520440"/>
            <a:ext cx="10972800" cy="457200"/>
          </a:xfrm>
          <a:prstGeom prst="rect">
            <a:avLst/>
          </a:prstGeom>
          <a:noFill/>
        </p:spPr>
        <p:txBody>
          <a:bodyPr wrap="square" anchor="t"/>
          <a:lstStyle/>
          <a:p>
            <a:pPr algn="l"/>
            <a:r>
              <a:rPr sz="2400" b="1">
                <a:solidFill>
                  <a:srgbClr val="C5A35A"/>
                </a:solidFill>
                <a:latin typeface="Calibri"/>
              </a:rPr>
              <a:t>Dr. Yujin Kim, D.V.M., Ph.D., FFCP</a:t>
            </a:r>
          </a:p>
        </p:txBody>
      </p:sp>
      <p:sp>
        <p:nvSpPr>
          <p:cNvPr id="9" name="TextBox 8"/>
          <p:cNvSpPr txBox="1"/>
          <p:nvPr/>
        </p:nvSpPr>
        <p:spPr>
          <a:xfrm>
            <a:off x="685800" y="4023360"/>
            <a:ext cx="10972800" cy="365760"/>
          </a:xfrm>
          <a:prstGeom prst="rect">
            <a:avLst/>
          </a:prstGeom>
          <a:noFill/>
        </p:spPr>
        <p:txBody>
          <a:bodyPr wrap="square" anchor="t"/>
          <a:lstStyle/>
          <a:p>
            <a:pPr algn="l"/>
            <a:r>
              <a:rPr sz="1800" b="0">
                <a:solidFill>
                  <a:srgbClr val="F4EBD3"/>
                </a:solidFill>
                <a:latin typeface="Calibri"/>
              </a:rPr>
              <a:t>Lecture  |  40 slides  |  50 minutes</a:t>
            </a:r>
          </a:p>
        </p:txBody>
      </p:sp>
      <p:sp>
        <p:nvSpPr>
          <p:cNvPr id="10" name="TextBox 9"/>
          <p:cNvSpPr txBox="1"/>
          <p:nvPr/>
        </p:nvSpPr>
        <p:spPr>
          <a:xfrm>
            <a:off x="685800" y="4572000"/>
            <a:ext cx="10972800" cy="822960"/>
          </a:xfrm>
          <a:prstGeom prst="rect">
            <a:avLst/>
          </a:prstGeom>
          <a:noFill/>
        </p:spPr>
        <p:txBody>
          <a:bodyPr wrap="square" anchor="t"/>
          <a:lstStyle/>
          <a:p>
            <a:pPr algn="l"/>
            <a:r>
              <a:rPr sz="2000" b="0">
                <a:solidFill>
                  <a:srgbClr val="FFFFFF"/>
                </a:solidFill>
                <a:latin typeface="Calibri"/>
              </a:rPr>
              <a:t>Pick the pattern after you name the tissue, the tension, and the blood supply. Then close in layers.</a:t>
            </a:r>
          </a:p>
        </p:txBody>
      </p:sp>
      <p:sp>
        <p:nvSpPr>
          <p:cNvPr id="11" name="TextBox 10"/>
          <p:cNvSpPr txBox="1"/>
          <p:nvPr/>
        </p:nvSpPr>
        <p:spPr>
          <a:xfrm>
            <a:off x="685800" y="5532120"/>
            <a:ext cx="10972800" cy="640080"/>
          </a:xfrm>
          <a:prstGeom prst="rect">
            <a:avLst/>
          </a:prstGeom>
          <a:noFill/>
        </p:spPr>
        <p:txBody>
          <a:bodyPr wrap="square" anchor="t"/>
          <a:lstStyle/>
          <a:p>
            <a:pPr algn="l"/>
            <a:r>
              <a:rPr sz="1600" b="0">
                <a:solidFill>
                  <a:srgbClr val="C5A35A"/>
                </a:solidFill>
                <a:latin typeface="Calibri"/>
              </a:rPr>
              <a:t>Required: Fossum 2018; Hendrickson &amp; Baird 2013.
Week 8 owns materials, needles, and knot tables. Week 13 owns large-animal field patterns.</a:t>
            </a:r>
          </a:p>
        </p:txBody>
      </p:sp>
      <p:sp>
        <p:nvSpPr>
          <p:cNvPr id="12" name="TextBox 11"/>
          <p:cNvSpPr txBox="1"/>
          <p:nvPr/>
        </p:nvSpPr>
        <p:spPr>
          <a:xfrm>
            <a:off x="10241280" y="6565392"/>
            <a:ext cx="1554480" cy="292608"/>
          </a:xfrm>
          <a:prstGeom prst="rect">
            <a:avLst/>
          </a:prstGeom>
          <a:noFill/>
        </p:spPr>
        <p:txBody>
          <a:bodyPr wrap="square" anchor="ctr"/>
          <a:lstStyle/>
          <a:p>
            <a:pPr algn="r"/>
            <a:r>
              <a:rPr sz="1200" b="0">
                <a:solidFill>
                  <a:srgbClr val="C5A35A"/>
                </a:solidFill>
                <a:latin typeface="Calibri"/>
              </a:rPr>
              <a:t>1  /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Learning objectives</a:t>
            </a:r>
          </a:p>
        </p:txBody>
      </p:sp>
      <p:sp>
        <p:nvSpPr>
          <p:cNvPr id="7" name="TextBox 6"/>
          <p:cNvSpPr txBox="1"/>
          <p:nvPr/>
        </p:nvSpPr>
        <p:spPr>
          <a:xfrm>
            <a:off x="502920" y="1097280"/>
            <a:ext cx="11155680" cy="3840480"/>
          </a:xfrm>
          <a:prstGeom prst="rect">
            <a:avLst/>
          </a:prstGeom>
          <a:noFill/>
        </p:spPr>
        <p:txBody>
          <a:bodyPr wrap="square">
            <a:spAutoFit/>
          </a:bodyPr>
          <a:lstStyle/>
          <a:p>
            <a:pPr algn="l">
              <a:spcAft>
                <a:spcPts val="1200"/>
              </a:spcAft>
            </a:pPr>
            <a:r>
              <a:rPr sz="2000">
                <a:solidFill>
                  <a:srgbClr val="1C1C1C"/>
                </a:solidFill>
                <a:latin typeface="Calibri"/>
              </a:rPr>
              <a:t>▸  Name a closure as interrupted or continuous, and as appositional, inverting, or everting.</a:t>
            </a:r>
          </a:p>
          <a:p>
            <a:pPr algn="l">
              <a:spcAft>
                <a:spcPts val="1200"/>
              </a:spcAft>
            </a:pPr>
            <a:r>
              <a:rPr sz="2000">
                <a:solidFill>
                  <a:srgbClr val="1C1C1C"/>
                </a:solidFill>
                <a:latin typeface="Calibri"/>
              </a:rPr>
              <a:t>▸  Choose a pattern after you name the tissue, the tension, and the blood supply (course LO 1, 3).</a:t>
            </a:r>
          </a:p>
          <a:p>
            <a:pPr algn="l">
              <a:spcAft>
                <a:spcPts val="1200"/>
              </a:spcAft>
            </a:pPr>
            <a:r>
              <a:rPr sz="2000">
                <a:solidFill>
                  <a:srgbClr val="1C1C1C"/>
                </a:solidFill>
                <a:latin typeface="Calibri"/>
              </a:rPr>
              <a:t>▸  Close skin, subcutis, and body wall as separate layers. Do not skip a layer because the skin looks closed.</a:t>
            </a:r>
          </a:p>
          <a:p>
            <a:pPr algn="l">
              <a:spcAft>
                <a:spcPts val="1200"/>
              </a:spcAft>
            </a:pPr>
            <a:r>
              <a:rPr sz="2000">
                <a:solidFill>
                  <a:srgbClr val="1C1C1C"/>
                </a:solidFill>
                <a:latin typeface="Calibri"/>
              </a:rPr>
              <a:t>▸  Spot the common mistakes: overtightening, one-knot continuous failure, inverting skin, crushing the needle tip (course LO 9).</a:t>
            </a:r>
          </a:p>
          <a:p>
            <a:pPr algn="l">
              <a:spcAft>
                <a:spcPts val="1200"/>
              </a:spcAft>
            </a:pPr>
            <a:r>
              <a:rPr sz="2000">
                <a:solidFill>
                  <a:srgbClr val="1C1C1C"/>
                </a:solidFill>
                <a:latin typeface="Calibri"/>
              </a:rPr>
              <a:t>▸  Leave suture material, needle type, and throw counts for Week 8. Confirm sizes in Fossum or the lab protocol.</a:t>
            </a:r>
          </a:p>
        </p:txBody>
      </p:sp>
      <p:sp>
        <p:nvSpPr>
          <p:cNvPr id="8" name="Rounded Rectangle 7"/>
          <p:cNvSpPr/>
          <p:nvPr/>
        </p:nvSpPr>
        <p:spPr>
          <a:xfrm>
            <a:off x="457200" y="5074920"/>
            <a:ext cx="11247120" cy="1280160"/>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212080"/>
            <a:ext cx="10881360" cy="1005840"/>
          </a:xfrm>
          <a:prstGeom prst="rect">
            <a:avLst/>
          </a:prstGeom>
          <a:noFill/>
        </p:spPr>
        <p:txBody>
          <a:bodyPr wrap="square" anchor="ctr"/>
          <a:lstStyle/>
          <a:p>
            <a:pPr algn="l"/>
            <a:r>
              <a:rPr sz="1600" b="0">
                <a:solidFill>
                  <a:srgbClr val="0B2C4A"/>
                </a:solidFill>
                <a:latin typeface="Calibri"/>
              </a:rPr>
              <a:t>Public DVM 612 outline, Week 7. Course texts are named. Bite-width millimeters printed on some teaching pages stay on those pages.</a:t>
            </a:r>
          </a:p>
        </p:txBody>
      </p:sp>
      <p:sp>
        <p:nvSpPr>
          <p:cNvPr id="10" name="Rectangle 9"/>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2" name="TextBox 11"/>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  /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This hour</a:t>
            </a:r>
          </a:p>
        </p:txBody>
      </p:sp>
      <p:sp>
        <p:nvSpPr>
          <p:cNvPr id="7" name="Rectangle 6"/>
          <p:cNvSpPr/>
          <p:nvPr/>
        </p:nvSpPr>
        <p:spPr>
          <a:xfrm>
            <a:off x="411480" y="1051560"/>
            <a:ext cx="11338560" cy="43891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2194560" cy="438912"/>
          </a:xfrm>
          <a:prstGeom prst="rect">
            <a:avLst/>
          </a:prstGeom>
          <a:noFill/>
        </p:spPr>
        <p:txBody>
          <a:bodyPr wrap="square" anchor="ctr"/>
          <a:lstStyle/>
          <a:p>
            <a:pPr algn="l"/>
            <a:r>
              <a:rPr sz="1600" b="1">
                <a:solidFill>
                  <a:srgbClr val="C5A35A"/>
                </a:solidFill>
                <a:latin typeface="Calibri"/>
              </a:rPr>
              <a:t>Clock</a:t>
            </a:r>
          </a:p>
        </p:txBody>
      </p:sp>
      <p:sp>
        <p:nvSpPr>
          <p:cNvPr id="9" name="TextBox 8"/>
          <p:cNvSpPr txBox="1"/>
          <p:nvPr/>
        </p:nvSpPr>
        <p:spPr>
          <a:xfrm>
            <a:off x="2834640" y="1051560"/>
            <a:ext cx="4023360" cy="438912"/>
          </a:xfrm>
          <a:prstGeom prst="rect">
            <a:avLst/>
          </a:prstGeom>
          <a:noFill/>
        </p:spPr>
        <p:txBody>
          <a:bodyPr wrap="square" anchor="ctr"/>
          <a:lstStyle/>
          <a:p>
            <a:pPr algn="l"/>
            <a:r>
              <a:rPr sz="1600" b="1">
                <a:solidFill>
                  <a:srgbClr val="FFFFFF"/>
                </a:solidFill>
                <a:latin typeface="Calibri"/>
              </a:rPr>
              <a:t>Block</a:t>
            </a:r>
          </a:p>
        </p:txBody>
      </p:sp>
      <p:sp>
        <p:nvSpPr>
          <p:cNvPr id="10" name="TextBox 9"/>
          <p:cNvSpPr txBox="1"/>
          <p:nvPr/>
        </p:nvSpPr>
        <p:spPr>
          <a:xfrm>
            <a:off x="6949440" y="1051560"/>
            <a:ext cx="4572000" cy="438912"/>
          </a:xfrm>
          <a:prstGeom prst="rect">
            <a:avLst/>
          </a:prstGeom>
          <a:noFill/>
        </p:spPr>
        <p:txBody>
          <a:bodyPr wrap="square" anchor="ctr"/>
          <a:lstStyle/>
          <a:p>
            <a:pPr algn="l"/>
            <a:r>
              <a:rPr sz="1600" b="1">
                <a:solidFill>
                  <a:srgbClr val="FFFFFF"/>
                </a:solidFill>
                <a:latin typeface="Calibri"/>
              </a:rPr>
              <a:t>Protect this</a:t>
            </a:r>
          </a:p>
        </p:txBody>
      </p:sp>
      <p:sp>
        <p:nvSpPr>
          <p:cNvPr id="11" name="Rounded Rectangle 10"/>
          <p:cNvSpPr/>
          <p:nvPr/>
        </p:nvSpPr>
        <p:spPr>
          <a:xfrm>
            <a:off x="411480" y="1572768"/>
            <a:ext cx="11338560" cy="7863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72768"/>
            <a:ext cx="2194560" cy="786384"/>
          </a:xfrm>
          <a:prstGeom prst="rect">
            <a:avLst/>
          </a:prstGeom>
          <a:noFill/>
        </p:spPr>
        <p:txBody>
          <a:bodyPr wrap="square" anchor="ctr"/>
          <a:lstStyle/>
          <a:p>
            <a:pPr algn="l"/>
            <a:r>
              <a:rPr sz="1800" b="1">
                <a:solidFill>
                  <a:srgbClr val="0B2C4A"/>
                </a:solidFill>
                <a:latin typeface="Calibri"/>
              </a:rPr>
              <a:t>0–8 min</a:t>
            </a:r>
          </a:p>
        </p:txBody>
      </p:sp>
      <p:sp>
        <p:nvSpPr>
          <p:cNvPr id="13" name="TextBox 12"/>
          <p:cNvSpPr txBox="1"/>
          <p:nvPr/>
        </p:nvSpPr>
        <p:spPr>
          <a:xfrm>
            <a:off x="2834640" y="1572768"/>
            <a:ext cx="4023360" cy="786384"/>
          </a:xfrm>
          <a:prstGeom prst="rect">
            <a:avLst/>
          </a:prstGeom>
          <a:noFill/>
        </p:spPr>
        <p:txBody>
          <a:bodyPr wrap="square" anchor="ctr"/>
          <a:lstStyle/>
          <a:p>
            <a:pPr algn="l"/>
            <a:r>
              <a:rPr sz="1800" b="0">
                <a:solidFill>
                  <a:srgbClr val="1C1C1C"/>
                </a:solidFill>
                <a:latin typeface="Calibri"/>
              </a:rPr>
              <a:t>Why the pattern matters</a:t>
            </a:r>
          </a:p>
        </p:txBody>
      </p:sp>
      <p:sp>
        <p:nvSpPr>
          <p:cNvPr id="14" name="TextBox 13"/>
          <p:cNvSpPr txBox="1"/>
          <p:nvPr/>
        </p:nvSpPr>
        <p:spPr>
          <a:xfrm>
            <a:off x="6949440" y="1572768"/>
            <a:ext cx="4572000" cy="786384"/>
          </a:xfrm>
          <a:prstGeom prst="rect">
            <a:avLst/>
          </a:prstGeom>
          <a:noFill/>
        </p:spPr>
        <p:txBody>
          <a:bodyPr wrap="square" anchor="ctr"/>
          <a:lstStyle/>
          <a:p>
            <a:pPr algn="l"/>
            <a:r>
              <a:rPr sz="1600" b="0">
                <a:solidFill>
                  <a:srgbClr val="3D4A57"/>
                </a:solidFill>
                <a:latin typeface="Calibri"/>
              </a:rPr>
              <a:t>Halsted. Three questions before you sew.</a:t>
            </a:r>
          </a:p>
        </p:txBody>
      </p:sp>
      <p:sp>
        <p:nvSpPr>
          <p:cNvPr id="15" name="Rounded Rectangle 14"/>
          <p:cNvSpPr/>
          <p:nvPr/>
        </p:nvSpPr>
        <p:spPr>
          <a:xfrm>
            <a:off x="411480" y="2441448"/>
            <a:ext cx="11338560" cy="7863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441448"/>
            <a:ext cx="2194560" cy="786384"/>
          </a:xfrm>
          <a:prstGeom prst="rect">
            <a:avLst/>
          </a:prstGeom>
          <a:noFill/>
        </p:spPr>
        <p:txBody>
          <a:bodyPr wrap="square" anchor="ctr"/>
          <a:lstStyle/>
          <a:p>
            <a:pPr algn="l"/>
            <a:r>
              <a:rPr sz="1800" b="1">
                <a:solidFill>
                  <a:srgbClr val="0B2C4A"/>
                </a:solidFill>
                <a:latin typeface="Calibri"/>
              </a:rPr>
              <a:t>8–18 min</a:t>
            </a:r>
          </a:p>
        </p:txBody>
      </p:sp>
      <p:sp>
        <p:nvSpPr>
          <p:cNvPr id="17" name="TextBox 16"/>
          <p:cNvSpPr txBox="1"/>
          <p:nvPr/>
        </p:nvSpPr>
        <p:spPr>
          <a:xfrm>
            <a:off x="2834640" y="2441448"/>
            <a:ext cx="4023360" cy="786384"/>
          </a:xfrm>
          <a:prstGeom prst="rect">
            <a:avLst/>
          </a:prstGeom>
          <a:noFill/>
        </p:spPr>
        <p:txBody>
          <a:bodyPr wrap="square" anchor="ctr"/>
          <a:lstStyle/>
          <a:p>
            <a:pPr algn="l"/>
            <a:r>
              <a:rPr sz="1800" b="0">
                <a:solidFill>
                  <a:srgbClr val="1C1C1C"/>
                </a:solidFill>
                <a:latin typeface="Calibri"/>
              </a:rPr>
              <a:t>How patterns are classified</a:t>
            </a:r>
          </a:p>
        </p:txBody>
      </p:sp>
      <p:sp>
        <p:nvSpPr>
          <p:cNvPr id="18" name="TextBox 17"/>
          <p:cNvSpPr txBox="1"/>
          <p:nvPr/>
        </p:nvSpPr>
        <p:spPr>
          <a:xfrm>
            <a:off x="6949440" y="2441448"/>
            <a:ext cx="4572000" cy="786384"/>
          </a:xfrm>
          <a:prstGeom prst="rect">
            <a:avLst/>
          </a:prstGeom>
          <a:noFill/>
        </p:spPr>
        <p:txBody>
          <a:bodyPr wrap="square" anchor="ctr"/>
          <a:lstStyle/>
          <a:p>
            <a:pPr algn="l"/>
            <a:r>
              <a:rPr sz="1600" b="0">
                <a:solidFill>
                  <a:srgbClr val="3D4A57"/>
                </a:solidFill>
                <a:latin typeface="Calibri"/>
              </a:rPr>
              <a:t>Interrupted vs continuous. Appose, invert, evert.</a:t>
            </a:r>
          </a:p>
        </p:txBody>
      </p:sp>
      <p:sp>
        <p:nvSpPr>
          <p:cNvPr id="19" name="Rounded Rectangle 18"/>
          <p:cNvSpPr/>
          <p:nvPr/>
        </p:nvSpPr>
        <p:spPr>
          <a:xfrm>
            <a:off x="411480" y="3310128"/>
            <a:ext cx="11338560" cy="7863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310128"/>
            <a:ext cx="2194560" cy="786384"/>
          </a:xfrm>
          <a:prstGeom prst="rect">
            <a:avLst/>
          </a:prstGeom>
          <a:noFill/>
        </p:spPr>
        <p:txBody>
          <a:bodyPr wrap="square" anchor="ctr"/>
          <a:lstStyle/>
          <a:p>
            <a:pPr algn="l"/>
            <a:r>
              <a:rPr sz="1800" b="1">
                <a:solidFill>
                  <a:srgbClr val="0B2C4A"/>
                </a:solidFill>
                <a:latin typeface="Calibri"/>
              </a:rPr>
              <a:t>18–36 min</a:t>
            </a:r>
          </a:p>
        </p:txBody>
      </p:sp>
      <p:sp>
        <p:nvSpPr>
          <p:cNvPr id="21" name="TextBox 20"/>
          <p:cNvSpPr txBox="1"/>
          <p:nvPr/>
        </p:nvSpPr>
        <p:spPr>
          <a:xfrm>
            <a:off x="2834640" y="3310128"/>
            <a:ext cx="4023360" cy="786384"/>
          </a:xfrm>
          <a:prstGeom prst="rect">
            <a:avLst/>
          </a:prstGeom>
          <a:noFill/>
        </p:spPr>
        <p:txBody>
          <a:bodyPr wrap="square" anchor="ctr"/>
          <a:lstStyle/>
          <a:p>
            <a:pPr algn="l"/>
            <a:r>
              <a:rPr sz="1800" b="0">
                <a:solidFill>
                  <a:srgbClr val="1C1C1C"/>
                </a:solidFill>
                <a:latin typeface="Calibri"/>
              </a:rPr>
              <a:t>The patterns you must name</a:t>
            </a:r>
          </a:p>
        </p:txBody>
      </p:sp>
      <p:sp>
        <p:nvSpPr>
          <p:cNvPr id="22" name="TextBox 21"/>
          <p:cNvSpPr txBox="1"/>
          <p:nvPr/>
        </p:nvSpPr>
        <p:spPr>
          <a:xfrm>
            <a:off x="6949440" y="3310128"/>
            <a:ext cx="4572000" cy="786384"/>
          </a:xfrm>
          <a:prstGeom prst="rect">
            <a:avLst/>
          </a:prstGeom>
          <a:noFill/>
        </p:spPr>
        <p:txBody>
          <a:bodyPr wrap="square" anchor="ctr"/>
          <a:lstStyle/>
          <a:p>
            <a:pPr algn="l"/>
            <a:r>
              <a:rPr sz="1600" b="0">
                <a:solidFill>
                  <a:srgbClr val="3D4A57"/>
                </a:solidFill>
                <a:latin typeface="Calibri"/>
              </a:rPr>
              <a:t>Skin, tension, hollow viscus, intradermal.</a:t>
            </a:r>
          </a:p>
        </p:txBody>
      </p:sp>
      <p:sp>
        <p:nvSpPr>
          <p:cNvPr id="23" name="Rounded Rectangle 22"/>
          <p:cNvSpPr/>
          <p:nvPr/>
        </p:nvSpPr>
        <p:spPr>
          <a:xfrm>
            <a:off x="411480" y="4178807"/>
            <a:ext cx="11338560" cy="7863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78807"/>
            <a:ext cx="2194560" cy="786384"/>
          </a:xfrm>
          <a:prstGeom prst="rect">
            <a:avLst/>
          </a:prstGeom>
          <a:noFill/>
        </p:spPr>
        <p:txBody>
          <a:bodyPr wrap="square" anchor="ctr"/>
          <a:lstStyle/>
          <a:p>
            <a:pPr algn="l"/>
            <a:r>
              <a:rPr sz="1800" b="1">
                <a:solidFill>
                  <a:srgbClr val="0B2C4A"/>
                </a:solidFill>
                <a:latin typeface="Calibri"/>
              </a:rPr>
              <a:t>36–46 min</a:t>
            </a:r>
          </a:p>
        </p:txBody>
      </p:sp>
      <p:sp>
        <p:nvSpPr>
          <p:cNvPr id="25" name="TextBox 24"/>
          <p:cNvSpPr txBox="1"/>
          <p:nvPr/>
        </p:nvSpPr>
        <p:spPr>
          <a:xfrm>
            <a:off x="2834640" y="4178807"/>
            <a:ext cx="4023360" cy="786384"/>
          </a:xfrm>
          <a:prstGeom prst="rect">
            <a:avLst/>
          </a:prstGeom>
          <a:noFill/>
        </p:spPr>
        <p:txBody>
          <a:bodyPr wrap="square" anchor="ctr"/>
          <a:lstStyle/>
          <a:p>
            <a:pPr algn="l"/>
            <a:r>
              <a:rPr sz="1800" b="0">
                <a:solidFill>
                  <a:srgbClr val="1C1C1C"/>
                </a:solidFill>
                <a:latin typeface="Calibri"/>
              </a:rPr>
              <a:t>Layered closure</a:t>
            </a:r>
          </a:p>
        </p:txBody>
      </p:sp>
      <p:sp>
        <p:nvSpPr>
          <p:cNvPr id="26" name="TextBox 25"/>
          <p:cNvSpPr txBox="1"/>
          <p:nvPr/>
        </p:nvSpPr>
        <p:spPr>
          <a:xfrm>
            <a:off x="6949440" y="4178807"/>
            <a:ext cx="4572000" cy="786384"/>
          </a:xfrm>
          <a:prstGeom prst="rect">
            <a:avLst/>
          </a:prstGeom>
          <a:noFill/>
        </p:spPr>
        <p:txBody>
          <a:bodyPr wrap="square" anchor="ctr"/>
          <a:lstStyle/>
          <a:p>
            <a:pPr algn="l"/>
            <a:r>
              <a:rPr sz="1600" b="0">
                <a:solidFill>
                  <a:srgbClr val="3D4A57"/>
                </a:solidFill>
                <a:latin typeface="Calibri"/>
              </a:rPr>
              <a:t>Skin, subcutis, fascia or linea. Mistakes.</a:t>
            </a:r>
          </a:p>
        </p:txBody>
      </p:sp>
      <p:sp>
        <p:nvSpPr>
          <p:cNvPr id="27" name="Rounded Rectangle 26"/>
          <p:cNvSpPr/>
          <p:nvPr/>
        </p:nvSpPr>
        <p:spPr>
          <a:xfrm>
            <a:off x="411480" y="5047488"/>
            <a:ext cx="11338560" cy="7863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047488"/>
            <a:ext cx="2194560" cy="786384"/>
          </a:xfrm>
          <a:prstGeom prst="rect">
            <a:avLst/>
          </a:prstGeom>
          <a:noFill/>
        </p:spPr>
        <p:txBody>
          <a:bodyPr wrap="square" anchor="ctr"/>
          <a:lstStyle/>
          <a:p>
            <a:pPr algn="l"/>
            <a:r>
              <a:rPr sz="1800" b="1">
                <a:solidFill>
                  <a:srgbClr val="0B2C4A"/>
                </a:solidFill>
                <a:latin typeface="Calibri"/>
              </a:rPr>
              <a:t>46–50 min</a:t>
            </a:r>
          </a:p>
        </p:txBody>
      </p:sp>
      <p:sp>
        <p:nvSpPr>
          <p:cNvPr id="29" name="TextBox 28"/>
          <p:cNvSpPr txBox="1"/>
          <p:nvPr/>
        </p:nvSpPr>
        <p:spPr>
          <a:xfrm>
            <a:off x="2834640" y="5047488"/>
            <a:ext cx="4023360" cy="786384"/>
          </a:xfrm>
          <a:prstGeom prst="rect">
            <a:avLst/>
          </a:prstGeom>
          <a:noFill/>
        </p:spPr>
        <p:txBody>
          <a:bodyPr wrap="square" anchor="ctr"/>
          <a:lstStyle/>
          <a:p>
            <a:pPr algn="l"/>
            <a:r>
              <a:rPr sz="1800" b="0">
                <a:solidFill>
                  <a:srgbClr val="1C1C1C"/>
                </a:solidFill>
                <a:latin typeface="Calibri"/>
              </a:rPr>
              <a:t>Quiz and sources</a:t>
            </a:r>
          </a:p>
        </p:txBody>
      </p:sp>
      <p:sp>
        <p:nvSpPr>
          <p:cNvPr id="30" name="TextBox 29"/>
          <p:cNvSpPr txBox="1"/>
          <p:nvPr/>
        </p:nvSpPr>
        <p:spPr>
          <a:xfrm>
            <a:off x="6949440" y="5047488"/>
            <a:ext cx="4572000" cy="786384"/>
          </a:xfrm>
          <a:prstGeom prst="rect">
            <a:avLst/>
          </a:prstGeom>
          <a:noFill/>
        </p:spPr>
        <p:txBody>
          <a:bodyPr wrap="square" anchor="ctr"/>
          <a:lstStyle/>
          <a:p>
            <a:pPr algn="l"/>
            <a:r>
              <a:rPr sz="1600" b="0">
                <a:solidFill>
                  <a:srgbClr val="3D4A57"/>
                </a:solidFill>
                <a:latin typeface="Calibri"/>
              </a:rPr>
              <a:t>Two cases. Then questions.</a:t>
            </a:r>
          </a:p>
        </p:txBody>
      </p:sp>
      <p:sp>
        <p:nvSpPr>
          <p:cNvPr id="31" name="Rectangle 30"/>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3" name="TextBox 32"/>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  /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What this hour is not</a:t>
            </a:r>
          </a:p>
        </p:txBody>
      </p:sp>
      <p:sp>
        <p:nvSpPr>
          <p:cNvPr id="7" name="Rounded Rectangle 6"/>
          <p:cNvSpPr/>
          <p:nvPr/>
        </p:nvSpPr>
        <p:spPr>
          <a:xfrm>
            <a:off x="411480" y="1097280"/>
            <a:ext cx="5623560" cy="2286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22860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5257800" cy="329184"/>
          </a:xfrm>
          <a:prstGeom prst="rect">
            <a:avLst/>
          </a:prstGeom>
          <a:noFill/>
        </p:spPr>
        <p:txBody>
          <a:bodyPr wrap="square" anchor="t"/>
          <a:lstStyle/>
          <a:p>
            <a:pPr algn="l"/>
            <a:r>
              <a:rPr sz="1800" b="1">
                <a:solidFill>
                  <a:srgbClr val="0B2C4A"/>
                </a:solidFill>
                <a:latin typeface="Calibri"/>
              </a:rPr>
              <a:t>Week 8</a:t>
            </a:r>
          </a:p>
        </p:txBody>
      </p:sp>
      <p:sp>
        <p:nvSpPr>
          <p:cNvPr id="10" name="TextBox 9"/>
          <p:cNvSpPr txBox="1"/>
          <p:nvPr/>
        </p:nvSpPr>
        <p:spPr>
          <a:xfrm>
            <a:off x="667512" y="1554480"/>
            <a:ext cx="5257800" cy="1719072"/>
          </a:xfrm>
          <a:prstGeom prst="rect">
            <a:avLst/>
          </a:prstGeom>
          <a:noFill/>
        </p:spPr>
        <p:txBody>
          <a:bodyPr wrap="square" anchor="t"/>
          <a:lstStyle/>
          <a:p>
            <a:pPr algn="l"/>
            <a:r>
              <a:rPr sz="1600" b="0">
                <a:solidFill>
                  <a:srgbClr val="3D4A57"/>
                </a:solidFill>
                <a:latin typeface="Calibri"/>
              </a:rPr>
              <a:t>Suture materials, needle point and curvature, and how many throws make a square knot. Do not invent a size or a throw table tonight.</a:t>
            </a:r>
          </a:p>
        </p:txBody>
      </p:sp>
      <p:sp>
        <p:nvSpPr>
          <p:cNvPr id="11" name="Rounded Rectangle 10"/>
          <p:cNvSpPr/>
          <p:nvPr/>
        </p:nvSpPr>
        <p:spPr>
          <a:xfrm>
            <a:off x="6217920" y="1097280"/>
            <a:ext cx="5532120" cy="2286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91440" cy="22860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207008"/>
            <a:ext cx="5166360" cy="329184"/>
          </a:xfrm>
          <a:prstGeom prst="rect">
            <a:avLst/>
          </a:prstGeom>
          <a:noFill/>
        </p:spPr>
        <p:txBody>
          <a:bodyPr wrap="square" anchor="t"/>
          <a:lstStyle/>
          <a:p>
            <a:pPr algn="l"/>
            <a:r>
              <a:rPr sz="1800" b="1">
                <a:solidFill>
                  <a:srgbClr val="0B2C4A"/>
                </a:solidFill>
                <a:latin typeface="Calibri"/>
              </a:rPr>
              <a:t>Week 9</a:t>
            </a:r>
          </a:p>
        </p:txBody>
      </p:sp>
      <p:sp>
        <p:nvSpPr>
          <p:cNvPr id="14" name="TextBox 13"/>
          <p:cNvSpPr txBox="1"/>
          <p:nvPr/>
        </p:nvSpPr>
        <p:spPr>
          <a:xfrm>
            <a:off x="6473952" y="1554480"/>
            <a:ext cx="5166360" cy="1719072"/>
          </a:xfrm>
          <a:prstGeom prst="rect">
            <a:avLst/>
          </a:prstGeom>
          <a:noFill/>
        </p:spPr>
        <p:txBody>
          <a:bodyPr wrap="square" anchor="t"/>
          <a:lstStyle/>
          <a:p>
            <a:pPr algn="l"/>
            <a:r>
              <a:rPr sz="1600" b="0">
                <a:solidFill>
                  <a:srgbClr val="3D4A57"/>
                </a:solidFill>
                <a:latin typeface="Calibri"/>
              </a:rPr>
              <a:t>Wound healing stages. Today you only need: apposition heals fastest, inversion of skin delays healing.</a:t>
            </a:r>
          </a:p>
        </p:txBody>
      </p:sp>
      <p:sp>
        <p:nvSpPr>
          <p:cNvPr id="15" name="Rounded Rectangle 14"/>
          <p:cNvSpPr/>
          <p:nvPr/>
        </p:nvSpPr>
        <p:spPr>
          <a:xfrm>
            <a:off x="411480" y="3566160"/>
            <a:ext cx="5623560" cy="2651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566160"/>
            <a:ext cx="91440" cy="26517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675888"/>
            <a:ext cx="5257800" cy="329184"/>
          </a:xfrm>
          <a:prstGeom prst="rect">
            <a:avLst/>
          </a:prstGeom>
          <a:noFill/>
        </p:spPr>
        <p:txBody>
          <a:bodyPr wrap="square" anchor="t"/>
          <a:lstStyle/>
          <a:p>
            <a:pPr algn="l"/>
            <a:r>
              <a:rPr sz="1800" b="1">
                <a:solidFill>
                  <a:srgbClr val="0B2C4A"/>
                </a:solidFill>
                <a:latin typeface="Calibri"/>
              </a:rPr>
              <a:t>Week 13</a:t>
            </a:r>
          </a:p>
        </p:txBody>
      </p:sp>
      <p:sp>
        <p:nvSpPr>
          <p:cNvPr id="18" name="TextBox 17"/>
          <p:cNvSpPr txBox="1"/>
          <p:nvPr/>
        </p:nvSpPr>
        <p:spPr>
          <a:xfrm>
            <a:off x="667512" y="4023360"/>
            <a:ext cx="5257800" cy="2084832"/>
          </a:xfrm>
          <a:prstGeom prst="rect">
            <a:avLst/>
          </a:prstGeom>
          <a:noFill/>
        </p:spPr>
        <p:txBody>
          <a:bodyPr wrap="square" anchor="t"/>
          <a:lstStyle/>
          <a:p>
            <a:pPr algn="l"/>
            <a:r>
              <a:rPr sz="1600" b="0">
                <a:solidFill>
                  <a:srgbClr val="3D4A57"/>
                </a:solidFill>
                <a:latin typeface="Calibri"/>
              </a:rPr>
              <a:t>Equine and large-animal field patterns. One sentence today: the same three questions still apply in the field.</a:t>
            </a:r>
          </a:p>
        </p:txBody>
      </p:sp>
      <p:sp>
        <p:nvSpPr>
          <p:cNvPr id="19" name="Rounded Rectangle 18"/>
          <p:cNvSpPr/>
          <p:nvPr/>
        </p:nvSpPr>
        <p:spPr>
          <a:xfrm>
            <a:off x="6217920" y="3566160"/>
            <a:ext cx="5532120" cy="2651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566160"/>
            <a:ext cx="91440" cy="2651760"/>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3675888"/>
            <a:ext cx="5166360" cy="329184"/>
          </a:xfrm>
          <a:prstGeom prst="rect">
            <a:avLst/>
          </a:prstGeom>
          <a:noFill/>
        </p:spPr>
        <p:txBody>
          <a:bodyPr wrap="square" anchor="t"/>
          <a:lstStyle/>
          <a:p>
            <a:pPr algn="l"/>
            <a:r>
              <a:rPr sz="1800" b="1">
                <a:solidFill>
                  <a:srgbClr val="0B2C4A"/>
                </a:solidFill>
                <a:latin typeface="Calibri"/>
              </a:rPr>
              <a:t>The lab</a:t>
            </a:r>
          </a:p>
        </p:txBody>
      </p:sp>
      <p:sp>
        <p:nvSpPr>
          <p:cNvPr id="22" name="TextBox 21"/>
          <p:cNvSpPr txBox="1"/>
          <p:nvPr/>
        </p:nvSpPr>
        <p:spPr>
          <a:xfrm>
            <a:off x="6473952" y="4023360"/>
            <a:ext cx="5166360" cy="2084832"/>
          </a:xfrm>
          <a:prstGeom prst="rect">
            <a:avLst/>
          </a:prstGeom>
          <a:noFill/>
        </p:spPr>
        <p:txBody>
          <a:bodyPr wrap="square" anchor="t"/>
          <a:lstStyle/>
          <a:p>
            <a:pPr algn="l"/>
            <a:r>
              <a:rPr sz="1600" b="0">
                <a:solidFill>
                  <a:srgbClr val="3D4A57"/>
                </a:solidFill>
                <a:latin typeface="Calibri"/>
              </a:rPr>
              <a:t>Hands, models, then tissue. This lecture names the pattern. The lab proves you can place it.</a:t>
            </a:r>
          </a:p>
        </p:txBody>
      </p:sp>
      <p:sp>
        <p:nvSpPr>
          <p:cNvPr id="23" name="Rectangle 22"/>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5" name="TextBox 24"/>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4  /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10972800" cy="365760"/>
          </a:xfrm>
          <a:prstGeom prst="rect">
            <a:avLst/>
          </a:prstGeom>
          <a:noFill/>
        </p:spPr>
        <p:txBody>
          <a:bodyPr wrap="square" anchor="t"/>
          <a:lstStyle/>
          <a:p>
            <a:pPr algn="l"/>
            <a:r>
              <a:rPr sz="1400" b="1">
                <a:solidFill>
                  <a:srgbClr val="C5A35A"/>
                </a:solidFill>
                <a:latin typeface="Calibri"/>
              </a:rPr>
              <a:t>PART 1</a:t>
            </a:r>
          </a:p>
        </p:txBody>
      </p:sp>
      <p:sp>
        <p:nvSpPr>
          <p:cNvPr id="6" name="TextBox 5"/>
          <p:cNvSpPr txBox="1"/>
          <p:nvPr/>
        </p:nvSpPr>
        <p:spPr>
          <a:xfrm>
            <a:off x="640080" y="2331720"/>
            <a:ext cx="10972800" cy="1005840"/>
          </a:xfrm>
          <a:prstGeom prst="rect">
            <a:avLst/>
          </a:prstGeom>
          <a:noFill/>
        </p:spPr>
        <p:txBody>
          <a:bodyPr wrap="square" anchor="t"/>
          <a:lstStyle/>
          <a:p>
            <a:pPr algn="l"/>
            <a:r>
              <a:rPr sz="3200" b="1">
                <a:solidFill>
                  <a:srgbClr val="FFFFFF"/>
                </a:solidFill>
                <a:latin typeface="Calibri"/>
              </a:rPr>
              <a:t>Why the pattern matters</a:t>
            </a:r>
          </a:p>
        </p:txBody>
      </p:sp>
      <p:sp>
        <p:nvSpPr>
          <p:cNvPr id="7" name="TextBox 6"/>
          <p:cNvSpPr txBox="1"/>
          <p:nvPr/>
        </p:nvSpPr>
        <p:spPr>
          <a:xfrm>
            <a:off x="640080" y="3429000"/>
            <a:ext cx="10972800" cy="640080"/>
          </a:xfrm>
          <a:prstGeom prst="rect">
            <a:avLst/>
          </a:prstGeom>
          <a:noFill/>
        </p:spPr>
        <p:txBody>
          <a:bodyPr wrap="square" anchor="t"/>
          <a:lstStyle/>
          <a:p>
            <a:pPr algn="l"/>
            <a:r>
              <a:rPr sz="1800" b="0">
                <a:solidFill>
                  <a:srgbClr val="F4EBD3"/>
                </a:solidFill>
                <a:latin typeface="Calibri"/>
              </a:rPr>
              <a:t>Halsted still owns the closure.</a:t>
            </a:r>
          </a:p>
        </p:txBody>
      </p:sp>
      <p:sp>
        <p:nvSpPr>
          <p:cNvPr id="8" name="Rounded Rectangle 7"/>
          <p:cNvSpPr/>
          <p:nvPr/>
        </p:nvSpPr>
        <p:spPr>
          <a:xfrm>
            <a:off x="640080" y="4297680"/>
            <a:ext cx="2194560" cy="384048"/>
          </a:xfrm>
          <a:prstGeom prst="roundRect">
            <a:avLst>
              <a:gd name="adj" fmla="val 8000"/>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97680"/>
            <a:ext cx="2194560" cy="384048"/>
          </a:xfrm>
          <a:prstGeom prst="rect">
            <a:avLst/>
          </a:prstGeom>
          <a:noFill/>
        </p:spPr>
        <p:txBody>
          <a:bodyPr wrap="square" anchor="ctr"/>
          <a:lstStyle/>
          <a:p>
            <a:pPr algn="ctr"/>
            <a:r>
              <a:rPr sz="1400" b="1">
                <a:solidFill>
                  <a:srgbClr val="0B2C4A"/>
                </a:solidFill>
                <a:latin typeface="Calibri"/>
              </a:rPr>
              <a:t>8 minutes</a:t>
            </a:r>
          </a:p>
        </p:txBody>
      </p:sp>
      <p:sp>
        <p:nvSpPr>
          <p:cNvPr id="10" name="TextBox 9"/>
          <p:cNvSpPr txBox="1"/>
          <p:nvPr/>
        </p:nvSpPr>
        <p:spPr>
          <a:xfrm>
            <a:off x="10241280" y="6565392"/>
            <a:ext cx="1554480" cy="292608"/>
          </a:xfrm>
          <a:prstGeom prst="rect">
            <a:avLst/>
          </a:prstGeom>
          <a:noFill/>
        </p:spPr>
        <p:txBody>
          <a:bodyPr wrap="square" anchor="ctr"/>
          <a:lstStyle/>
          <a:p>
            <a:pPr algn="r"/>
            <a:r>
              <a:rPr sz="1200" b="0">
                <a:solidFill>
                  <a:srgbClr val="C5A35A"/>
                </a:solidFill>
                <a:latin typeface="Calibri"/>
              </a:rPr>
              <a:t>5  /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Halsted principles that close the wound</a:t>
            </a:r>
          </a:p>
        </p:txBody>
      </p:sp>
      <p:sp>
        <p:nvSpPr>
          <p:cNvPr id="7" name="Rounded Rectangle 6"/>
          <p:cNvSpPr/>
          <p:nvPr/>
        </p:nvSpPr>
        <p:spPr>
          <a:xfrm>
            <a:off x="457200" y="1078992"/>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78992"/>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170432"/>
            <a:ext cx="5303520" cy="384048"/>
          </a:xfrm>
          <a:prstGeom prst="rect">
            <a:avLst/>
          </a:prstGeom>
          <a:noFill/>
        </p:spPr>
        <p:txBody>
          <a:bodyPr wrap="square" anchor="t"/>
          <a:lstStyle/>
          <a:p>
            <a:pPr algn="l"/>
            <a:r>
              <a:rPr sz="1800" b="1">
                <a:solidFill>
                  <a:srgbClr val="0B2C4A"/>
                </a:solidFill>
                <a:latin typeface="Calibri"/>
              </a:rPr>
              <a:t>1.  Gentle tissue handling</a:t>
            </a:r>
          </a:p>
        </p:txBody>
      </p:sp>
      <p:sp>
        <p:nvSpPr>
          <p:cNvPr id="10" name="TextBox 9"/>
          <p:cNvSpPr txBox="1"/>
          <p:nvPr/>
        </p:nvSpPr>
        <p:spPr>
          <a:xfrm>
            <a:off x="713232" y="1572768"/>
            <a:ext cx="5303520" cy="621792"/>
          </a:xfrm>
          <a:prstGeom prst="rect">
            <a:avLst/>
          </a:prstGeom>
          <a:noFill/>
        </p:spPr>
        <p:txBody>
          <a:bodyPr wrap="square" anchor="t"/>
          <a:lstStyle/>
          <a:p>
            <a:pPr algn="l"/>
            <a:r>
              <a:rPr sz="1600" b="0">
                <a:solidFill>
                  <a:srgbClr val="3D4A57"/>
                </a:solidFill>
                <a:latin typeface="Calibri"/>
              </a:rPr>
              <a:t>Crushing forceps and a crushed needle tip are still tissue trauma.</a:t>
            </a:r>
          </a:p>
        </p:txBody>
      </p:sp>
      <p:sp>
        <p:nvSpPr>
          <p:cNvPr id="11" name="Rounded Rectangle 10"/>
          <p:cNvSpPr/>
          <p:nvPr/>
        </p:nvSpPr>
        <p:spPr>
          <a:xfrm>
            <a:off x="6309360" y="1078992"/>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078992"/>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1170432"/>
            <a:ext cx="5303520" cy="384048"/>
          </a:xfrm>
          <a:prstGeom prst="rect">
            <a:avLst/>
          </a:prstGeom>
          <a:noFill/>
        </p:spPr>
        <p:txBody>
          <a:bodyPr wrap="square" anchor="t"/>
          <a:lstStyle/>
          <a:p>
            <a:pPr algn="l"/>
            <a:r>
              <a:rPr sz="1800" b="1">
                <a:solidFill>
                  <a:srgbClr val="0B2C4A"/>
                </a:solidFill>
                <a:latin typeface="Calibri"/>
              </a:rPr>
              <a:t>2.  Meticulous hemostasis</a:t>
            </a:r>
          </a:p>
        </p:txBody>
      </p:sp>
      <p:sp>
        <p:nvSpPr>
          <p:cNvPr id="14" name="TextBox 13"/>
          <p:cNvSpPr txBox="1"/>
          <p:nvPr/>
        </p:nvSpPr>
        <p:spPr>
          <a:xfrm>
            <a:off x="6565392" y="1572768"/>
            <a:ext cx="5303520" cy="621792"/>
          </a:xfrm>
          <a:prstGeom prst="rect">
            <a:avLst/>
          </a:prstGeom>
          <a:noFill/>
        </p:spPr>
        <p:txBody>
          <a:bodyPr wrap="square" anchor="t"/>
          <a:lstStyle/>
          <a:p>
            <a:pPr algn="l"/>
            <a:r>
              <a:rPr sz="1600" b="0">
                <a:solidFill>
                  <a:srgbClr val="3D4A57"/>
                </a:solidFill>
                <a:latin typeface="Calibri"/>
              </a:rPr>
              <a:t>A hematoma is dead space you sewed shut.</a:t>
            </a:r>
          </a:p>
        </p:txBody>
      </p:sp>
      <p:sp>
        <p:nvSpPr>
          <p:cNvPr id="15" name="Rounded Rectangle 14"/>
          <p:cNvSpPr/>
          <p:nvPr/>
        </p:nvSpPr>
        <p:spPr>
          <a:xfrm>
            <a:off x="457200" y="2377440"/>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377440"/>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2468880"/>
            <a:ext cx="5303520" cy="384048"/>
          </a:xfrm>
          <a:prstGeom prst="rect">
            <a:avLst/>
          </a:prstGeom>
          <a:noFill/>
        </p:spPr>
        <p:txBody>
          <a:bodyPr wrap="square" anchor="t"/>
          <a:lstStyle/>
          <a:p>
            <a:pPr algn="l"/>
            <a:r>
              <a:rPr sz="1800" b="1">
                <a:solidFill>
                  <a:srgbClr val="0B2C4A"/>
                </a:solidFill>
                <a:latin typeface="Calibri"/>
              </a:rPr>
              <a:t>3.  Preserve blood supply</a:t>
            </a:r>
          </a:p>
        </p:txBody>
      </p:sp>
      <p:sp>
        <p:nvSpPr>
          <p:cNvPr id="18" name="TextBox 17"/>
          <p:cNvSpPr txBox="1"/>
          <p:nvPr/>
        </p:nvSpPr>
        <p:spPr>
          <a:xfrm>
            <a:off x="713232" y="2871216"/>
            <a:ext cx="5303520" cy="621792"/>
          </a:xfrm>
          <a:prstGeom prst="rect">
            <a:avLst/>
          </a:prstGeom>
          <a:noFill/>
        </p:spPr>
        <p:txBody>
          <a:bodyPr wrap="square" anchor="t"/>
          <a:lstStyle/>
          <a:p>
            <a:pPr algn="l"/>
            <a:r>
              <a:rPr sz="1600" b="0">
                <a:solidFill>
                  <a:srgbClr val="3D4A57"/>
                </a:solidFill>
                <a:latin typeface="Calibri"/>
              </a:rPr>
              <a:t>Overtightening any pattern kills the edge.</a:t>
            </a:r>
          </a:p>
        </p:txBody>
      </p:sp>
      <p:sp>
        <p:nvSpPr>
          <p:cNvPr id="19" name="Rounded Rectangle 18"/>
          <p:cNvSpPr/>
          <p:nvPr/>
        </p:nvSpPr>
        <p:spPr>
          <a:xfrm>
            <a:off x="6309360" y="2377440"/>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2377440"/>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468880"/>
            <a:ext cx="5303520" cy="384048"/>
          </a:xfrm>
          <a:prstGeom prst="rect">
            <a:avLst/>
          </a:prstGeom>
          <a:noFill/>
        </p:spPr>
        <p:txBody>
          <a:bodyPr wrap="square" anchor="t"/>
          <a:lstStyle/>
          <a:p>
            <a:pPr algn="l"/>
            <a:r>
              <a:rPr sz="1800" b="1">
                <a:solidFill>
                  <a:srgbClr val="0B2C4A"/>
                </a:solidFill>
                <a:latin typeface="Calibri"/>
              </a:rPr>
              <a:t>4.  Strict asepsis</a:t>
            </a:r>
          </a:p>
        </p:txBody>
      </p:sp>
      <p:sp>
        <p:nvSpPr>
          <p:cNvPr id="22" name="TextBox 21"/>
          <p:cNvSpPr txBox="1"/>
          <p:nvPr/>
        </p:nvSpPr>
        <p:spPr>
          <a:xfrm>
            <a:off x="6565392" y="2871216"/>
            <a:ext cx="5303520" cy="621792"/>
          </a:xfrm>
          <a:prstGeom prst="rect">
            <a:avLst/>
          </a:prstGeom>
          <a:noFill/>
        </p:spPr>
        <p:txBody>
          <a:bodyPr wrap="square" anchor="t"/>
          <a:lstStyle/>
          <a:p>
            <a:pPr algn="l"/>
            <a:r>
              <a:rPr sz="1600" b="0">
                <a:solidFill>
                  <a:srgbClr val="3D4A57"/>
                </a:solidFill>
                <a:latin typeface="Calibri"/>
              </a:rPr>
              <a:t>A glove poke contaminates the needle and the suture. Replace both.</a:t>
            </a:r>
          </a:p>
        </p:txBody>
      </p:sp>
      <p:sp>
        <p:nvSpPr>
          <p:cNvPr id="23" name="Rounded Rectangle 22"/>
          <p:cNvSpPr/>
          <p:nvPr/>
        </p:nvSpPr>
        <p:spPr>
          <a:xfrm>
            <a:off x="457200" y="3675888"/>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675888"/>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3767328"/>
            <a:ext cx="5303520" cy="384048"/>
          </a:xfrm>
          <a:prstGeom prst="rect">
            <a:avLst/>
          </a:prstGeom>
          <a:noFill/>
        </p:spPr>
        <p:txBody>
          <a:bodyPr wrap="square" anchor="t"/>
          <a:lstStyle/>
          <a:p>
            <a:pPr algn="l"/>
            <a:r>
              <a:rPr sz="1800" b="1">
                <a:solidFill>
                  <a:srgbClr val="0B2C4A"/>
                </a:solidFill>
                <a:latin typeface="Calibri"/>
              </a:rPr>
              <a:t>5.  No tension</a:t>
            </a:r>
          </a:p>
        </p:txBody>
      </p:sp>
      <p:sp>
        <p:nvSpPr>
          <p:cNvPr id="26" name="TextBox 25"/>
          <p:cNvSpPr txBox="1"/>
          <p:nvPr/>
        </p:nvSpPr>
        <p:spPr>
          <a:xfrm>
            <a:off x="713232" y="4169664"/>
            <a:ext cx="5303520" cy="621792"/>
          </a:xfrm>
          <a:prstGeom prst="rect">
            <a:avLst/>
          </a:prstGeom>
          <a:noFill/>
        </p:spPr>
        <p:txBody>
          <a:bodyPr wrap="square" anchor="t"/>
          <a:lstStyle/>
          <a:p>
            <a:pPr algn="l"/>
            <a:r>
              <a:rPr sz="1600" b="0">
                <a:solidFill>
                  <a:srgbClr val="3D4A57"/>
                </a:solidFill>
                <a:latin typeface="Calibri"/>
              </a:rPr>
              <a:t>Undermine or move tissue. Do not ask the skin suture to do a flap’s job.</a:t>
            </a:r>
          </a:p>
        </p:txBody>
      </p:sp>
      <p:sp>
        <p:nvSpPr>
          <p:cNvPr id="27" name="Rounded Rectangle 26"/>
          <p:cNvSpPr/>
          <p:nvPr/>
        </p:nvSpPr>
        <p:spPr>
          <a:xfrm>
            <a:off x="6309360" y="3675888"/>
            <a:ext cx="566928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3675888"/>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65392" y="3767328"/>
            <a:ext cx="5303520" cy="384048"/>
          </a:xfrm>
          <a:prstGeom prst="rect">
            <a:avLst/>
          </a:prstGeom>
          <a:noFill/>
        </p:spPr>
        <p:txBody>
          <a:bodyPr wrap="square" anchor="t"/>
          <a:lstStyle/>
          <a:p>
            <a:pPr algn="l"/>
            <a:r>
              <a:rPr sz="1800" b="1">
                <a:solidFill>
                  <a:srgbClr val="0B2C4A"/>
                </a:solidFill>
                <a:latin typeface="Calibri"/>
              </a:rPr>
              <a:t>6.  Accurate apposition</a:t>
            </a:r>
          </a:p>
        </p:txBody>
      </p:sp>
      <p:sp>
        <p:nvSpPr>
          <p:cNvPr id="30" name="TextBox 29"/>
          <p:cNvSpPr txBox="1"/>
          <p:nvPr/>
        </p:nvSpPr>
        <p:spPr>
          <a:xfrm>
            <a:off x="6565392" y="4169664"/>
            <a:ext cx="5303520" cy="621792"/>
          </a:xfrm>
          <a:prstGeom prst="rect">
            <a:avLst/>
          </a:prstGeom>
          <a:noFill/>
        </p:spPr>
        <p:txBody>
          <a:bodyPr wrap="square" anchor="t"/>
          <a:lstStyle/>
          <a:p>
            <a:pPr algn="l"/>
            <a:r>
              <a:rPr sz="1600" b="0">
                <a:solidFill>
                  <a:srgbClr val="3D4A57"/>
                </a:solidFill>
                <a:latin typeface="Calibri"/>
              </a:rPr>
              <a:t>Like tissue to like tissue. Skin to skin. Fascia to fascia.</a:t>
            </a:r>
          </a:p>
        </p:txBody>
      </p:sp>
      <p:sp>
        <p:nvSpPr>
          <p:cNvPr id="31" name="Rounded Rectangle 30"/>
          <p:cNvSpPr/>
          <p:nvPr/>
        </p:nvSpPr>
        <p:spPr>
          <a:xfrm>
            <a:off x="457200" y="4974336"/>
            <a:ext cx="11247120" cy="1207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4974336"/>
            <a:ext cx="91440" cy="120700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5065776"/>
            <a:ext cx="10881360" cy="384048"/>
          </a:xfrm>
          <a:prstGeom prst="rect">
            <a:avLst/>
          </a:prstGeom>
          <a:noFill/>
        </p:spPr>
        <p:txBody>
          <a:bodyPr wrap="square" anchor="t"/>
          <a:lstStyle/>
          <a:p>
            <a:pPr algn="l"/>
            <a:r>
              <a:rPr sz="1800" b="1">
                <a:solidFill>
                  <a:srgbClr val="0B2C4A"/>
                </a:solidFill>
                <a:latin typeface="Calibri"/>
              </a:rPr>
              <a:t>7.  Obliterate dead space</a:t>
            </a:r>
          </a:p>
        </p:txBody>
      </p:sp>
      <p:sp>
        <p:nvSpPr>
          <p:cNvPr id="34" name="TextBox 33"/>
          <p:cNvSpPr txBox="1"/>
          <p:nvPr/>
        </p:nvSpPr>
        <p:spPr>
          <a:xfrm>
            <a:off x="713232" y="5468112"/>
            <a:ext cx="10881360" cy="621792"/>
          </a:xfrm>
          <a:prstGeom prst="rect">
            <a:avLst/>
          </a:prstGeom>
          <a:noFill/>
        </p:spPr>
        <p:txBody>
          <a:bodyPr wrap="square" anchor="t"/>
          <a:lstStyle/>
          <a:p>
            <a:pPr algn="l"/>
            <a:r>
              <a:rPr sz="1600" b="0">
                <a:solidFill>
                  <a:srgbClr val="3D4A57"/>
                </a:solidFill>
                <a:latin typeface="Calibri"/>
              </a:rPr>
              <a:t>A subcutaneous layer, a walk, or a drain with a pull plan. Not a tighter skin suture.</a:t>
            </a:r>
          </a:p>
        </p:txBody>
      </p:sp>
      <p:sp>
        <p:nvSpPr>
          <p:cNvPr id="35" name="Rectangle 34"/>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7" name="TextBox 36"/>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6  /  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Three questions before you sew</a:t>
            </a:r>
          </a:p>
        </p:txBody>
      </p:sp>
      <p:sp>
        <p:nvSpPr>
          <p:cNvPr id="7" name="Rounded Rectangle 6"/>
          <p:cNvSpPr/>
          <p:nvPr/>
        </p:nvSpPr>
        <p:spPr>
          <a:xfrm>
            <a:off x="457200" y="1097280"/>
            <a:ext cx="112471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109728" cy="14630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98480" cy="438912"/>
          </a:xfrm>
          <a:prstGeom prst="rect">
            <a:avLst/>
          </a:prstGeom>
          <a:noFill/>
        </p:spPr>
        <p:txBody>
          <a:bodyPr wrap="square" anchor="t"/>
          <a:lstStyle/>
          <a:p>
            <a:pPr algn="l"/>
            <a:r>
              <a:rPr sz="2200" b="1">
                <a:solidFill>
                  <a:srgbClr val="0B2C4A"/>
                </a:solidFill>
                <a:latin typeface="Calibri"/>
              </a:rPr>
              <a:t>1. What tissue is this?</a:t>
            </a:r>
          </a:p>
        </p:txBody>
      </p:sp>
      <p:sp>
        <p:nvSpPr>
          <p:cNvPr id="10" name="TextBox 9"/>
          <p:cNvSpPr txBox="1"/>
          <p:nvPr/>
        </p:nvSpPr>
        <p:spPr>
          <a:xfrm>
            <a:off x="777240" y="1755648"/>
            <a:ext cx="10698480" cy="640080"/>
          </a:xfrm>
          <a:prstGeom prst="rect">
            <a:avLst/>
          </a:prstGeom>
          <a:noFill/>
        </p:spPr>
        <p:txBody>
          <a:bodyPr wrap="square" anchor="t"/>
          <a:lstStyle/>
          <a:p>
            <a:pPr algn="l"/>
            <a:r>
              <a:rPr sz="1800" b="0">
                <a:solidFill>
                  <a:srgbClr val="3D4A57"/>
                </a:solidFill>
                <a:latin typeface="Calibri"/>
              </a:rPr>
              <a:t>Skin, subcutis, fascia, hollow viscus, or tendon. The pattern follows the tissue.</a:t>
            </a:r>
          </a:p>
        </p:txBody>
      </p:sp>
      <p:sp>
        <p:nvSpPr>
          <p:cNvPr id="11" name="Rounded Rectangle 10"/>
          <p:cNvSpPr/>
          <p:nvPr/>
        </p:nvSpPr>
        <p:spPr>
          <a:xfrm>
            <a:off x="457200" y="2697480"/>
            <a:ext cx="112471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697480"/>
            <a:ext cx="109728" cy="14630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862072"/>
            <a:ext cx="10698480" cy="438912"/>
          </a:xfrm>
          <a:prstGeom prst="rect">
            <a:avLst/>
          </a:prstGeom>
          <a:noFill/>
        </p:spPr>
        <p:txBody>
          <a:bodyPr wrap="square" anchor="t"/>
          <a:lstStyle/>
          <a:p>
            <a:pPr algn="l"/>
            <a:r>
              <a:rPr sz="2200" b="1">
                <a:solidFill>
                  <a:srgbClr val="0B2C4A"/>
                </a:solidFill>
                <a:latin typeface="Calibri"/>
              </a:rPr>
              <a:t>2. What is the tension?</a:t>
            </a:r>
          </a:p>
        </p:txBody>
      </p:sp>
      <p:sp>
        <p:nvSpPr>
          <p:cNvPr id="14" name="TextBox 13"/>
          <p:cNvSpPr txBox="1"/>
          <p:nvPr/>
        </p:nvSpPr>
        <p:spPr>
          <a:xfrm>
            <a:off x="777240" y="3355848"/>
            <a:ext cx="10698480" cy="640080"/>
          </a:xfrm>
          <a:prstGeom prst="rect">
            <a:avLst/>
          </a:prstGeom>
          <a:noFill/>
        </p:spPr>
        <p:txBody>
          <a:bodyPr wrap="square" anchor="t"/>
          <a:lstStyle/>
          <a:p>
            <a:pPr algn="l"/>
            <a:r>
              <a:rPr sz="1800" b="0">
                <a:solidFill>
                  <a:srgbClr val="3D4A57"/>
                </a:solidFill>
                <a:latin typeface="Calibri"/>
              </a:rPr>
              <a:t>If the edges gape, fix the tension first. Undermining beats a tighter mattress.</a:t>
            </a:r>
          </a:p>
        </p:txBody>
      </p:sp>
      <p:sp>
        <p:nvSpPr>
          <p:cNvPr id="15" name="Rounded Rectangle 14"/>
          <p:cNvSpPr/>
          <p:nvPr/>
        </p:nvSpPr>
        <p:spPr>
          <a:xfrm>
            <a:off x="457200" y="4297680"/>
            <a:ext cx="112471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297680"/>
            <a:ext cx="109728" cy="14630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462272"/>
            <a:ext cx="10698480" cy="438912"/>
          </a:xfrm>
          <a:prstGeom prst="rect">
            <a:avLst/>
          </a:prstGeom>
          <a:noFill/>
        </p:spPr>
        <p:txBody>
          <a:bodyPr wrap="square" anchor="t"/>
          <a:lstStyle/>
          <a:p>
            <a:pPr algn="l"/>
            <a:r>
              <a:rPr sz="2200" b="1">
                <a:solidFill>
                  <a:srgbClr val="0B2C4A"/>
                </a:solidFill>
                <a:latin typeface="Calibri"/>
              </a:rPr>
              <a:t>3. Where is the blood supply?</a:t>
            </a:r>
          </a:p>
        </p:txBody>
      </p:sp>
      <p:sp>
        <p:nvSpPr>
          <p:cNvPr id="18" name="TextBox 17"/>
          <p:cNvSpPr txBox="1"/>
          <p:nvPr/>
        </p:nvSpPr>
        <p:spPr>
          <a:xfrm>
            <a:off x="777240" y="4956048"/>
            <a:ext cx="10698480" cy="640080"/>
          </a:xfrm>
          <a:prstGeom prst="rect">
            <a:avLst/>
          </a:prstGeom>
          <a:noFill/>
        </p:spPr>
        <p:txBody>
          <a:bodyPr wrap="square" anchor="t"/>
          <a:lstStyle/>
          <a:p>
            <a:pPr algn="l"/>
            <a:r>
              <a:rPr sz="1800" b="0">
                <a:solidFill>
                  <a:srgbClr val="3D4A57"/>
                </a:solidFill>
                <a:latin typeface="Calibri"/>
              </a:rPr>
              <a:t>Vessels enter perpendicular to the incision. A strangulating pattern delays healing.</a:t>
            </a:r>
          </a:p>
        </p:txBody>
      </p:sp>
      <p:sp>
        <p:nvSpPr>
          <p:cNvPr id="19" name="Rectangle 18"/>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1" name="TextBox 20"/>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7  /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Several patterns can be right</a:t>
            </a:r>
          </a:p>
        </p:txBody>
      </p:sp>
      <p:sp>
        <p:nvSpPr>
          <p:cNvPr id="7" name="TextBox 6"/>
          <p:cNvSpPr txBox="1"/>
          <p:nvPr/>
        </p:nvSpPr>
        <p:spPr>
          <a:xfrm>
            <a:off x="502920" y="1143000"/>
            <a:ext cx="11155680" cy="3291840"/>
          </a:xfrm>
          <a:prstGeom prst="rect">
            <a:avLst/>
          </a:prstGeom>
          <a:noFill/>
        </p:spPr>
        <p:txBody>
          <a:bodyPr wrap="square">
            <a:spAutoFit/>
          </a:bodyPr>
          <a:lstStyle/>
          <a:p>
            <a:pPr algn="l">
              <a:spcAft>
                <a:spcPts val="1400"/>
              </a:spcAft>
            </a:pPr>
            <a:r>
              <a:rPr sz="2000">
                <a:solidFill>
                  <a:srgbClr val="1C1C1C"/>
                </a:solidFill>
                <a:latin typeface="Calibri"/>
              </a:rPr>
              <a:t>▸  More than one pattern can close the same incision (WCVM VSAC Lab 3).</a:t>
            </a:r>
          </a:p>
          <a:p>
            <a:pPr algn="l">
              <a:spcAft>
                <a:spcPts val="1400"/>
              </a:spcAft>
            </a:pPr>
            <a:r>
              <a:rPr sz="2000">
                <a:solidFill>
                  <a:srgbClr val="1C1C1C"/>
                </a:solidFill>
                <a:latin typeface="Calibri"/>
              </a:rPr>
              <a:t>▸  Species, the patient, and the surgeon’s hands all change the choice.</a:t>
            </a:r>
          </a:p>
          <a:p>
            <a:pPr algn="l">
              <a:spcAft>
                <a:spcPts val="1400"/>
              </a:spcAft>
            </a:pPr>
            <a:r>
              <a:rPr sz="2000">
                <a:solidFill>
                  <a:srgbClr val="1C1C1C"/>
                </a:solidFill>
                <a:latin typeface="Calibri"/>
              </a:rPr>
              <a:t>▸  Personal preference is allowed only among appropriate alternatives.</a:t>
            </a:r>
          </a:p>
          <a:p>
            <a:pPr algn="l">
              <a:spcAft>
                <a:spcPts val="1400"/>
              </a:spcAft>
            </a:pPr>
            <a:r>
              <a:rPr sz="2000">
                <a:solidFill>
                  <a:srgbClr val="1C1C1C"/>
                </a:solidFill>
                <a:latin typeface="Calibri"/>
              </a:rPr>
              <a:t>▸  An appropriate alternative still has to answer the three questions.</a:t>
            </a:r>
          </a:p>
        </p:txBody>
      </p:sp>
      <p:sp>
        <p:nvSpPr>
          <p:cNvPr id="8" name="Rounded Rectangle 7"/>
          <p:cNvSpPr/>
          <p:nvPr/>
        </p:nvSpPr>
        <p:spPr>
          <a:xfrm>
            <a:off x="457200" y="4709160"/>
            <a:ext cx="11247120" cy="1600200"/>
          </a:xfrm>
          <a:prstGeom prst="roundRect">
            <a:avLst>
              <a:gd name="adj" fmla="val 8000"/>
            </a:avLst>
          </a:prstGeom>
          <a:solidFill>
            <a:srgbClr val="F4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892040"/>
            <a:ext cx="10881360" cy="1280160"/>
          </a:xfrm>
          <a:prstGeom prst="rect">
            <a:avLst/>
          </a:prstGeom>
          <a:noFill/>
        </p:spPr>
        <p:txBody>
          <a:bodyPr wrap="square" anchor="ctr"/>
          <a:lstStyle/>
          <a:p>
            <a:pPr algn="l"/>
            <a:r>
              <a:rPr sz="1800" b="0">
                <a:solidFill>
                  <a:srgbClr val="0B2C4A"/>
                </a:solidFill>
                <a:latin typeface="Calibri"/>
              </a:rPr>
              <a:t>You do not win by naming the rarest pattern. You win by naming why this one is safe on this tissue tonight.</a:t>
            </a:r>
          </a:p>
        </p:txBody>
      </p:sp>
      <p:sp>
        <p:nvSpPr>
          <p:cNvPr id="10" name="Rectangle 9"/>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2" name="TextBox 11"/>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8  /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10972800" cy="365760"/>
          </a:xfrm>
          <a:prstGeom prst="rect">
            <a:avLst/>
          </a:prstGeom>
          <a:noFill/>
        </p:spPr>
        <p:txBody>
          <a:bodyPr wrap="square" anchor="t"/>
          <a:lstStyle/>
          <a:p>
            <a:pPr algn="l"/>
            <a:r>
              <a:rPr sz="1400" b="1">
                <a:solidFill>
                  <a:srgbClr val="C5A35A"/>
                </a:solidFill>
                <a:latin typeface="Calibri"/>
              </a:rPr>
              <a:t>PART 2</a:t>
            </a:r>
          </a:p>
        </p:txBody>
      </p:sp>
      <p:sp>
        <p:nvSpPr>
          <p:cNvPr id="6" name="TextBox 5"/>
          <p:cNvSpPr txBox="1"/>
          <p:nvPr/>
        </p:nvSpPr>
        <p:spPr>
          <a:xfrm>
            <a:off x="640080" y="2331720"/>
            <a:ext cx="10972800" cy="1005840"/>
          </a:xfrm>
          <a:prstGeom prst="rect">
            <a:avLst/>
          </a:prstGeom>
          <a:noFill/>
        </p:spPr>
        <p:txBody>
          <a:bodyPr wrap="square" anchor="t"/>
          <a:lstStyle/>
          <a:p>
            <a:pPr algn="l"/>
            <a:r>
              <a:rPr sz="3200" b="1">
                <a:solidFill>
                  <a:srgbClr val="FFFFFF"/>
                </a:solidFill>
                <a:latin typeface="Calibri"/>
              </a:rPr>
              <a:t>How patterns are classified</a:t>
            </a:r>
          </a:p>
        </p:txBody>
      </p:sp>
      <p:sp>
        <p:nvSpPr>
          <p:cNvPr id="7" name="TextBox 6"/>
          <p:cNvSpPr txBox="1"/>
          <p:nvPr/>
        </p:nvSpPr>
        <p:spPr>
          <a:xfrm>
            <a:off x="640080" y="3429000"/>
            <a:ext cx="10972800" cy="640080"/>
          </a:xfrm>
          <a:prstGeom prst="rect">
            <a:avLst/>
          </a:prstGeom>
          <a:noFill/>
        </p:spPr>
        <p:txBody>
          <a:bodyPr wrap="square" anchor="t"/>
          <a:lstStyle/>
          <a:p>
            <a:pPr algn="l"/>
            <a:r>
              <a:rPr sz="1800" b="0">
                <a:solidFill>
                  <a:srgbClr val="F4EBD3"/>
                </a:solidFill>
                <a:latin typeface="Calibri"/>
              </a:rPr>
              <a:t>Interrupted or continuous. Appose, invert, or evert.</a:t>
            </a:r>
          </a:p>
        </p:txBody>
      </p:sp>
      <p:sp>
        <p:nvSpPr>
          <p:cNvPr id="8" name="Rounded Rectangle 7"/>
          <p:cNvSpPr/>
          <p:nvPr/>
        </p:nvSpPr>
        <p:spPr>
          <a:xfrm>
            <a:off x="640080" y="4297680"/>
            <a:ext cx="2194560" cy="384048"/>
          </a:xfrm>
          <a:prstGeom prst="roundRect">
            <a:avLst>
              <a:gd name="adj" fmla="val 8000"/>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97680"/>
            <a:ext cx="2194560" cy="384048"/>
          </a:xfrm>
          <a:prstGeom prst="rect">
            <a:avLst/>
          </a:prstGeom>
          <a:noFill/>
        </p:spPr>
        <p:txBody>
          <a:bodyPr wrap="square" anchor="ctr"/>
          <a:lstStyle/>
          <a:p>
            <a:pPr algn="ctr"/>
            <a:r>
              <a:rPr sz="1400" b="1">
                <a:solidFill>
                  <a:srgbClr val="0B2C4A"/>
                </a:solidFill>
                <a:latin typeface="Calibri"/>
              </a:rPr>
              <a:t>10 minutes</a:t>
            </a:r>
          </a:p>
        </p:txBody>
      </p:sp>
      <p:sp>
        <p:nvSpPr>
          <p:cNvPr id="10" name="TextBox 9"/>
          <p:cNvSpPr txBox="1"/>
          <p:nvPr/>
        </p:nvSpPr>
        <p:spPr>
          <a:xfrm>
            <a:off x="10241280" y="6565392"/>
            <a:ext cx="1554480" cy="292608"/>
          </a:xfrm>
          <a:prstGeom prst="rect">
            <a:avLst/>
          </a:prstGeom>
          <a:noFill/>
        </p:spPr>
        <p:txBody>
          <a:bodyPr wrap="square" anchor="ctr"/>
          <a:lstStyle/>
          <a:p>
            <a:pPr algn="r"/>
            <a:r>
              <a:rPr sz="1200" b="0">
                <a:solidFill>
                  <a:srgbClr val="C5A35A"/>
                </a:solidFill>
                <a:latin typeface="Calibri"/>
              </a:rPr>
              <a:t>9  /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Interrupted versus continuous</a:t>
            </a:r>
          </a:p>
        </p:txBody>
      </p:sp>
      <p:sp>
        <p:nvSpPr>
          <p:cNvPr id="7" name="Rounded Rectangle 6"/>
          <p:cNvSpPr/>
          <p:nvPr/>
        </p:nvSpPr>
        <p:spPr>
          <a:xfrm>
            <a:off x="411480" y="1097280"/>
            <a:ext cx="562356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51206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5257800" cy="329184"/>
          </a:xfrm>
          <a:prstGeom prst="rect">
            <a:avLst/>
          </a:prstGeom>
          <a:noFill/>
        </p:spPr>
        <p:txBody>
          <a:bodyPr wrap="square" anchor="t"/>
          <a:lstStyle/>
          <a:p>
            <a:pPr algn="l"/>
            <a:r>
              <a:rPr sz="1800" b="1">
                <a:solidFill>
                  <a:srgbClr val="0B2C4A"/>
                </a:solidFill>
                <a:latin typeface="Calibri"/>
              </a:rPr>
              <a:t>Interrupted</a:t>
            </a:r>
          </a:p>
        </p:txBody>
      </p:sp>
      <p:sp>
        <p:nvSpPr>
          <p:cNvPr id="10" name="TextBox 9"/>
          <p:cNvSpPr txBox="1"/>
          <p:nvPr/>
        </p:nvSpPr>
        <p:spPr>
          <a:xfrm>
            <a:off x="667512" y="1554480"/>
            <a:ext cx="5257800" cy="4553712"/>
          </a:xfrm>
          <a:prstGeom prst="rect">
            <a:avLst/>
          </a:prstGeom>
          <a:noFill/>
        </p:spPr>
        <p:txBody>
          <a:bodyPr wrap="square" anchor="t"/>
          <a:lstStyle/>
          <a:p>
            <a:pPr algn="l"/>
            <a:r>
              <a:rPr sz="1600" b="0">
                <a:solidFill>
                  <a:srgbClr val="3D4A57"/>
                </a:solidFill>
                <a:latin typeface="Calibri"/>
              </a:rPr>
              <a:t>Each stitch is its own entity.
You can change tension stitch by stitch.
Loss of one or two stitches usually leaves the line standing.
Costs time, suture, and knots. More foreign material in deep layers.</a:t>
            </a:r>
          </a:p>
        </p:txBody>
      </p:sp>
      <p:sp>
        <p:nvSpPr>
          <p:cNvPr id="11" name="Rounded Rectangle 10"/>
          <p:cNvSpPr/>
          <p:nvPr/>
        </p:nvSpPr>
        <p:spPr>
          <a:xfrm>
            <a:off x="6217920" y="1097280"/>
            <a:ext cx="553212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91440" cy="512064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207008"/>
            <a:ext cx="5166360" cy="329184"/>
          </a:xfrm>
          <a:prstGeom prst="rect">
            <a:avLst/>
          </a:prstGeom>
          <a:noFill/>
        </p:spPr>
        <p:txBody>
          <a:bodyPr wrap="square" anchor="t"/>
          <a:lstStyle/>
          <a:p>
            <a:pPr algn="l"/>
            <a:r>
              <a:rPr sz="1800" b="1">
                <a:solidFill>
                  <a:srgbClr val="0B2C4A"/>
                </a:solidFill>
                <a:latin typeface="Calibri"/>
              </a:rPr>
              <a:t>Continuous</a:t>
            </a:r>
          </a:p>
        </p:txBody>
      </p:sp>
      <p:sp>
        <p:nvSpPr>
          <p:cNvPr id="14" name="TextBox 13"/>
          <p:cNvSpPr txBox="1"/>
          <p:nvPr/>
        </p:nvSpPr>
        <p:spPr>
          <a:xfrm>
            <a:off x="6473952" y="1554480"/>
            <a:ext cx="5166360" cy="4553712"/>
          </a:xfrm>
          <a:prstGeom prst="rect">
            <a:avLst/>
          </a:prstGeom>
          <a:noFill/>
        </p:spPr>
        <p:txBody>
          <a:bodyPr wrap="square" anchor="t"/>
          <a:lstStyle/>
          <a:p>
            <a:pPr algn="l"/>
            <a:r>
              <a:rPr sz="1600" b="0">
                <a:solidFill>
                  <a:srgbClr val="3D4A57"/>
                </a:solidFill>
                <a:latin typeface="Calibri"/>
              </a:rPr>
              <a:t>Knots only at the start and the end.
Faster. Less suture. Better air and fluid seal.
One failed knot or one cut strand can open the whole line.
Adjust tension as you go. Do not crush the strand with instruments.</a:t>
            </a:r>
          </a:p>
        </p:txBody>
      </p:sp>
      <p:sp>
        <p:nvSpPr>
          <p:cNvPr id="15" name="Rectangle 14"/>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7" name="TextBox 16"/>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10  /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When interrupted is the safer default</a:t>
            </a:r>
          </a:p>
        </p:txBody>
      </p:sp>
      <p:sp>
        <p:nvSpPr>
          <p:cNvPr id="7" name="TextBox 6"/>
          <p:cNvSpPr txBox="1"/>
          <p:nvPr/>
        </p:nvSpPr>
        <p:spPr>
          <a:xfrm>
            <a:off x="502920" y="1143000"/>
            <a:ext cx="11155680" cy="4937760"/>
          </a:xfrm>
          <a:prstGeom prst="rect">
            <a:avLst/>
          </a:prstGeom>
          <a:noFill/>
        </p:spPr>
        <p:txBody>
          <a:bodyPr wrap="square">
            <a:spAutoFit/>
          </a:bodyPr>
          <a:lstStyle/>
          <a:p>
            <a:pPr algn="l">
              <a:spcAft>
                <a:spcPts val="1200"/>
              </a:spcAft>
            </a:pPr>
            <a:r>
              <a:rPr sz="2000">
                <a:solidFill>
                  <a:srgbClr val="1C1C1C"/>
                </a:solidFill>
                <a:latin typeface="Calibri"/>
              </a:rPr>
              <a:t>▸  Skin on a dog or cat that will swell: you can leave each stitch a little loose.</a:t>
            </a:r>
          </a:p>
          <a:p>
            <a:pPr algn="l">
              <a:spcAft>
                <a:spcPts val="1200"/>
              </a:spcAft>
            </a:pPr>
            <a:r>
              <a:rPr sz="2000">
                <a:solidFill>
                  <a:srgbClr val="1C1C1C"/>
                </a:solidFill>
                <a:latin typeface="Calibri"/>
              </a:rPr>
              <a:t>▸  A contaminated or dirty wound: one stitch can come out without opening the line.</a:t>
            </a:r>
          </a:p>
          <a:p>
            <a:pPr algn="l">
              <a:spcAft>
                <a:spcPts val="1200"/>
              </a:spcAft>
            </a:pPr>
            <a:r>
              <a:rPr sz="2000">
                <a:solidFill>
                  <a:srgbClr val="1C1C1C"/>
                </a:solidFill>
                <a:latin typeface="Calibri"/>
              </a:rPr>
              <a:t>▸  Teaching closures: you can replace one bad stitch.</a:t>
            </a:r>
          </a:p>
          <a:p>
            <a:pPr algn="l">
              <a:spcAft>
                <a:spcPts val="1200"/>
              </a:spcAft>
            </a:pPr>
            <a:r>
              <a:rPr sz="2000">
                <a:solidFill>
                  <a:srgbClr val="1C1C1C"/>
                </a:solidFill>
                <a:latin typeface="Calibri"/>
              </a:rPr>
              <a:t>▸  Uneven tension along the incision: you can tighten only the gaping segment.</a:t>
            </a:r>
          </a:p>
          <a:p>
            <a:pPr algn="l">
              <a:spcAft>
                <a:spcPts val="1200"/>
              </a:spcAft>
            </a:pPr>
            <a:r>
              <a:rPr sz="2000">
                <a:solidFill>
                  <a:srgbClr val="1C1C1C"/>
                </a:solidFill>
                <a:latin typeface="Calibri"/>
              </a:rPr>
              <a:t>▸  If you cannot trust the end knot, do not start a continuous line.</a:t>
            </a:r>
          </a:p>
        </p:txBody>
      </p:sp>
      <p:sp>
        <p:nvSpPr>
          <p:cNvPr id="8" name="Rectangle 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0" name="TextBox 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11  /  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When continuous earns its speed</a:t>
            </a:r>
          </a:p>
        </p:txBody>
      </p:sp>
      <p:sp>
        <p:nvSpPr>
          <p:cNvPr id="7" name="TextBox 6"/>
          <p:cNvSpPr txBox="1"/>
          <p:nvPr/>
        </p:nvSpPr>
        <p:spPr>
          <a:xfrm>
            <a:off x="502920" y="1143000"/>
            <a:ext cx="11155680" cy="4937760"/>
          </a:xfrm>
          <a:prstGeom prst="rect">
            <a:avLst/>
          </a:prstGeom>
          <a:noFill/>
        </p:spPr>
        <p:txBody>
          <a:bodyPr wrap="square">
            <a:spAutoFit/>
          </a:bodyPr>
          <a:lstStyle/>
          <a:p>
            <a:pPr algn="l">
              <a:spcAft>
                <a:spcPts val="1400"/>
              </a:spcAft>
            </a:pPr>
            <a:r>
              <a:rPr sz="2000">
                <a:solidFill>
                  <a:srgbClr val="1C1C1C"/>
                </a:solidFill>
                <a:latin typeface="Calibri"/>
              </a:rPr>
              <a:t>▸  A long, even, clean layer where you need a seal: subcutis, some hollow organs, some body wall lines.</a:t>
            </a:r>
          </a:p>
          <a:p>
            <a:pPr algn="l">
              <a:spcAft>
                <a:spcPts val="1400"/>
              </a:spcAft>
            </a:pPr>
            <a:r>
              <a:rPr sz="2000">
                <a:solidFill>
                  <a:srgbClr val="1C1C1C"/>
                </a:solidFill>
                <a:latin typeface="Calibri"/>
              </a:rPr>
              <a:t>▸  You must place two secure knots and never nick the standing strand.</a:t>
            </a:r>
          </a:p>
          <a:p>
            <a:pPr algn="l">
              <a:spcAft>
                <a:spcPts val="1400"/>
              </a:spcAft>
            </a:pPr>
            <a:r>
              <a:rPr sz="2000">
                <a:solidFill>
                  <a:srgbClr val="1C1C1C"/>
                </a:solidFill>
                <a:latin typeface="Calibri"/>
              </a:rPr>
              <a:t>▸  Ford interlocking is a continuous compromise: more locks, still one strand (WCVM).</a:t>
            </a:r>
          </a:p>
          <a:p>
            <a:pPr algn="l">
              <a:spcAft>
                <a:spcPts val="1400"/>
              </a:spcAft>
            </a:pPr>
            <a:r>
              <a:rPr sz="2000">
                <a:solidFill>
                  <a:srgbClr val="1C1C1C"/>
                </a:solidFill>
                <a:latin typeface="Calibri"/>
              </a:rPr>
              <a:t>▸  Do not use speed as the reason to close skin you cannot watch for swelling.</a:t>
            </a:r>
          </a:p>
        </p:txBody>
      </p:sp>
      <p:sp>
        <p:nvSpPr>
          <p:cNvPr id="8" name="Rectangle 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0" name="TextBox 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12  /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Appositional, inverting, everting</a:t>
            </a:r>
          </a:p>
        </p:txBody>
      </p:sp>
      <p:sp>
        <p:nvSpPr>
          <p:cNvPr id="7" name="Rounded Rectangle 6"/>
          <p:cNvSpPr/>
          <p:nvPr/>
        </p:nvSpPr>
        <p:spPr>
          <a:xfrm>
            <a:off x="411480" y="1097280"/>
            <a:ext cx="3703320" cy="5074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3703320" cy="566928"/>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097280"/>
            <a:ext cx="3703320" cy="566928"/>
          </a:xfrm>
          <a:prstGeom prst="rect">
            <a:avLst/>
          </a:prstGeom>
          <a:noFill/>
        </p:spPr>
        <p:txBody>
          <a:bodyPr wrap="square" anchor="ctr"/>
          <a:lstStyle/>
          <a:p>
            <a:pPr algn="ctr"/>
            <a:r>
              <a:rPr sz="2000" b="1">
                <a:solidFill>
                  <a:srgbClr val="FFFFFF"/>
                </a:solidFill>
                <a:latin typeface="Calibri"/>
              </a:rPr>
              <a:t>Appositional</a:t>
            </a:r>
          </a:p>
        </p:txBody>
      </p:sp>
      <p:sp>
        <p:nvSpPr>
          <p:cNvPr id="10" name="TextBox 9"/>
          <p:cNvSpPr txBox="1"/>
          <p:nvPr/>
        </p:nvSpPr>
        <p:spPr>
          <a:xfrm>
            <a:off x="612648" y="1828800"/>
            <a:ext cx="3337560" cy="4114800"/>
          </a:xfrm>
          <a:prstGeom prst="rect">
            <a:avLst/>
          </a:prstGeom>
          <a:noFill/>
        </p:spPr>
        <p:txBody>
          <a:bodyPr wrap="square" anchor="t"/>
          <a:lstStyle/>
          <a:p>
            <a:pPr algn="l"/>
            <a:r>
              <a:rPr sz="1800" b="0">
                <a:solidFill>
                  <a:srgbClr val="1C1C1C"/>
                </a:solidFill>
                <a:latin typeface="Calibri"/>
              </a:rPr>
              <a:t>Edges meet anatomically.
Fastest healing.
Most cosmetic.
Default for skin and for most soft tissue.</a:t>
            </a:r>
          </a:p>
        </p:txBody>
      </p:sp>
      <p:sp>
        <p:nvSpPr>
          <p:cNvPr id="11" name="Rounded Rectangle 10"/>
          <p:cNvSpPr/>
          <p:nvPr/>
        </p:nvSpPr>
        <p:spPr>
          <a:xfrm>
            <a:off x="4297680" y="1097280"/>
            <a:ext cx="3703320" cy="5074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097280"/>
            <a:ext cx="3703320" cy="5669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1097280"/>
            <a:ext cx="3703320" cy="566928"/>
          </a:xfrm>
          <a:prstGeom prst="rect">
            <a:avLst/>
          </a:prstGeom>
          <a:noFill/>
        </p:spPr>
        <p:txBody>
          <a:bodyPr wrap="square" anchor="ctr"/>
          <a:lstStyle/>
          <a:p>
            <a:pPr algn="ctr"/>
            <a:r>
              <a:rPr sz="2000" b="1">
                <a:solidFill>
                  <a:srgbClr val="FFFFFF"/>
                </a:solidFill>
                <a:latin typeface="Calibri"/>
              </a:rPr>
              <a:t>Inverting</a:t>
            </a:r>
          </a:p>
        </p:txBody>
      </p:sp>
      <p:sp>
        <p:nvSpPr>
          <p:cNvPr id="14" name="TextBox 13"/>
          <p:cNvSpPr txBox="1"/>
          <p:nvPr/>
        </p:nvSpPr>
        <p:spPr>
          <a:xfrm>
            <a:off x="4498848" y="1828800"/>
            <a:ext cx="3337560" cy="4114800"/>
          </a:xfrm>
          <a:prstGeom prst="rect">
            <a:avLst/>
          </a:prstGeom>
          <a:noFill/>
        </p:spPr>
        <p:txBody>
          <a:bodyPr wrap="square" anchor="t"/>
          <a:lstStyle/>
          <a:p>
            <a:pPr algn="l"/>
            <a:r>
              <a:rPr sz="1800" b="0">
                <a:solidFill>
                  <a:srgbClr val="1C1C1C"/>
                </a:solidFill>
                <a:latin typeface="Calibri"/>
              </a:rPr>
              <a:t>Edges turn in, away from you.
Used when a hollow organ needs a serosal seal.
Narrows the lumen. Avoid if the lumen is already small.
Do not invert skin.</a:t>
            </a:r>
          </a:p>
        </p:txBody>
      </p:sp>
      <p:sp>
        <p:nvSpPr>
          <p:cNvPr id="15" name="Rounded Rectangle 14"/>
          <p:cNvSpPr/>
          <p:nvPr/>
        </p:nvSpPr>
        <p:spPr>
          <a:xfrm>
            <a:off x="8183880" y="1097280"/>
            <a:ext cx="3703320" cy="5074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80" y="1097280"/>
            <a:ext cx="3703320" cy="566928"/>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097280"/>
            <a:ext cx="3703320" cy="566928"/>
          </a:xfrm>
          <a:prstGeom prst="rect">
            <a:avLst/>
          </a:prstGeom>
          <a:noFill/>
        </p:spPr>
        <p:txBody>
          <a:bodyPr wrap="square" anchor="ctr"/>
          <a:lstStyle/>
          <a:p>
            <a:pPr algn="ctr"/>
            <a:r>
              <a:rPr sz="2000" b="1">
                <a:solidFill>
                  <a:srgbClr val="FFFFFF"/>
                </a:solidFill>
                <a:latin typeface="Calibri"/>
              </a:rPr>
              <a:t>Everting</a:t>
            </a:r>
          </a:p>
        </p:txBody>
      </p:sp>
      <p:sp>
        <p:nvSpPr>
          <p:cNvPr id="18" name="TextBox 17"/>
          <p:cNvSpPr txBox="1"/>
          <p:nvPr/>
        </p:nvSpPr>
        <p:spPr>
          <a:xfrm>
            <a:off x="8385048" y="1828800"/>
            <a:ext cx="3337560" cy="4114800"/>
          </a:xfrm>
          <a:prstGeom prst="rect">
            <a:avLst/>
          </a:prstGeom>
          <a:noFill/>
        </p:spPr>
        <p:txBody>
          <a:bodyPr wrap="square" anchor="t"/>
          <a:lstStyle/>
          <a:p>
            <a:pPr algn="l"/>
            <a:r>
              <a:rPr sz="1800" b="0">
                <a:solidFill>
                  <a:srgbClr val="1C1C1C"/>
                </a:solidFill>
                <a:latin typeface="Calibri"/>
              </a:rPr>
              <a:t>Edges turn out, toward you.
Delays healing.
Rarely the plan (WCVM).
A vertical mattress can evert. That is a cost, not a goal, on skin.</a:t>
            </a:r>
          </a:p>
        </p:txBody>
      </p:sp>
      <p:sp>
        <p:nvSpPr>
          <p:cNvPr id="19" name="Rectangle 18"/>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1" name="TextBox 20"/>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13  /  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Tension is treated, not decorated</a:t>
            </a:r>
          </a:p>
        </p:txBody>
      </p:sp>
      <p:sp>
        <p:nvSpPr>
          <p:cNvPr id="7" name="TextBox 6"/>
          <p:cNvSpPr txBox="1"/>
          <p:nvPr/>
        </p:nvSpPr>
        <p:spPr>
          <a:xfrm>
            <a:off x="502920" y="1143000"/>
            <a:ext cx="11155680" cy="3474720"/>
          </a:xfrm>
          <a:prstGeom prst="rect">
            <a:avLst/>
          </a:prstGeom>
          <a:noFill/>
        </p:spPr>
        <p:txBody>
          <a:bodyPr wrap="square">
            <a:spAutoFit/>
          </a:bodyPr>
          <a:lstStyle/>
          <a:p>
            <a:pPr algn="l">
              <a:spcAft>
                <a:spcPts val="1200"/>
              </a:spcAft>
            </a:pPr>
            <a:r>
              <a:rPr sz="2000">
                <a:solidFill>
                  <a:srgbClr val="1C1C1C"/>
                </a:solidFill>
                <a:latin typeface="Calibri"/>
              </a:rPr>
              <a:t>▸  If the suture will break or cut through, the tension is too high (WCVM).</a:t>
            </a:r>
          </a:p>
          <a:p>
            <a:pPr algn="l">
              <a:spcAft>
                <a:spcPts val="1200"/>
              </a:spcAft>
            </a:pPr>
            <a:r>
              <a:rPr sz="2000">
                <a:solidFill>
                  <a:srgbClr val="1C1C1C"/>
                </a:solidFill>
                <a:latin typeface="Calibri"/>
              </a:rPr>
              <a:t>▸  Skin tolerates tension poorly. Undermine or move tissue before you pick a ‘tension pattern.’</a:t>
            </a:r>
          </a:p>
          <a:p>
            <a:pPr algn="l">
              <a:spcAft>
                <a:spcPts val="1200"/>
              </a:spcAft>
            </a:pPr>
            <a:r>
              <a:rPr sz="2000">
                <a:solidFill>
                  <a:srgbClr val="1C1C1C"/>
                </a:solidFill>
                <a:latin typeface="Calibri"/>
              </a:rPr>
              <a:t>▸  Tension sutures belong where you cannot recruit more tissue: some fascia, tendon, or ligament closures.</a:t>
            </a:r>
          </a:p>
          <a:p>
            <a:pPr algn="l">
              <a:spcAft>
                <a:spcPts val="1200"/>
              </a:spcAft>
            </a:pPr>
            <a:r>
              <a:rPr sz="2000">
                <a:solidFill>
                  <a:srgbClr val="1C1C1C"/>
                </a:solidFill>
                <a:latin typeface="Calibri"/>
              </a:rPr>
              <a:t>▸  A mattress on ischemic skin is not a reconstructive plan.</a:t>
            </a:r>
          </a:p>
        </p:txBody>
      </p:sp>
      <p:sp>
        <p:nvSpPr>
          <p:cNvPr id="8" name="Rounded Rectangle 7"/>
          <p:cNvSpPr/>
          <p:nvPr/>
        </p:nvSpPr>
        <p:spPr>
          <a:xfrm>
            <a:off x="457200" y="4800600"/>
            <a:ext cx="11247120" cy="1508760"/>
          </a:xfrm>
          <a:prstGeom prst="roundRect">
            <a:avLst>
              <a:gd name="adj" fmla="val 8000"/>
            </a:avLst>
          </a:prstGeom>
          <a:solidFill>
            <a:srgbClr val="F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983480"/>
            <a:ext cx="10881360" cy="1188720"/>
          </a:xfrm>
          <a:prstGeom prst="rect">
            <a:avLst/>
          </a:prstGeom>
          <a:noFill/>
        </p:spPr>
        <p:txBody>
          <a:bodyPr wrap="square" anchor="ctr"/>
          <a:lstStyle/>
          <a:p>
            <a:pPr algn="l"/>
            <a:r>
              <a:rPr sz="1800" b="0">
                <a:solidFill>
                  <a:srgbClr val="0B2C4A"/>
                </a:solidFill>
                <a:latin typeface="Calibri"/>
              </a:rPr>
              <a:t>Overtightening any pattern obliterates local blood supply. Dogs and cats swell after surgery. Leave room (WCVM).</a:t>
            </a:r>
          </a:p>
        </p:txBody>
      </p:sp>
      <p:sp>
        <p:nvSpPr>
          <p:cNvPr id="10" name="Rectangle 9"/>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2" name="TextBox 11"/>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14  /  40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Hands before the first bite</a:t>
            </a:r>
          </a:p>
        </p:txBody>
      </p:sp>
      <p:sp>
        <p:nvSpPr>
          <p:cNvPr id="7" name="Rounded Rectangle 6"/>
          <p:cNvSpPr/>
          <p:nvPr/>
        </p:nvSpPr>
        <p:spPr>
          <a:xfrm>
            <a:off x="411480" y="1097280"/>
            <a:ext cx="5715000" cy="2377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23774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5349240" cy="329184"/>
          </a:xfrm>
          <a:prstGeom prst="rect">
            <a:avLst/>
          </a:prstGeom>
          <a:noFill/>
        </p:spPr>
        <p:txBody>
          <a:bodyPr wrap="square" anchor="t"/>
          <a:lstStyle/>
          <a:p>
            <a:pPr algn="l"/>
            <a:r>
              <a:rPr sz="1800" b="1">
                <a:solidFill>
                  <a:srgbClr val="0B2C4A"/>
                </a:solidFill>
                <a:latin typeface="Calibri"/>
              </a:rPr>
              <a:t>Needle holders</a:t>
            </a:r>
          </a:p>
        </p:txBody>
      </p:sp>
      <p:sp>
        <p:nvSpPr>
          <p:cNvPr id="10" name="TextBox 9"/>
          <p:cNvSpPr txBox="1"/>
          <p:nvPr/>
        </p:nvSpPr>
        <p:spPr>
          <a:xfrm>
            <a:off x="667512" y="1554480"/>
            <a:ext cx="5349240" cy="1810512"/>
          </a:xfrm>
          <a:prstGeom prst="rect">
            <a:avLst/>
          </a:prstGeom>
          <a:noFill/>
        </p:spPr>
        <p:txBody>
          <a:bodyPr wrap="square" anchor="t"/>
          <a:lstStyle/>
          <a:p>
            <a:pPr algn="l"/>
            <a:r>
              <a:rPr sz="1600" b="0">
                <a:solidFill>
                  <a:srgbClr val="3D4A57"/>
                </a:solidFill>
                <a:latin typeface="Calibri"/>
              </a:rPr>
              <a:t>Wide-based tripod grip. Rotate the wrist. Do not push the needle like a thumbtack (WCVM Lab 1 reminder).</a:t>
            </a:r>
          </a:p>
        </p:txBody>
      </p:sp>
      <p:sp>
        <p:nvSpPr>
          <p:cNvPr id="11" name="Rounded Rectangle 10"/>
          <p:cNvSpPr/>
          <p:nvPr/>
        </p:nvSpPr>
        <p:spPr>
          <a:xfrm>
            <a:off x="6309360" y="1097280"/>
            <a:ext cx="5715000" cy="2377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097280"/>
            <a:ext cx="91440" cy="23774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1207008"/>
            <a:ext cx="5349240" cy="329184"/>
          </a:xfrm>
          <a:prstGeom prst="rect">
            <a:avLst/>
          </a:prstGeom>
          <a:noFill/>
        </p:spPr>
        <p:txBody>
          <a:bodyPr wrap="square" anchor="t"/>
          <a:lstStyle/>
          <a:p>
            <a:pPr algn="l"/>
            <a:r>
              <a:rPr sz="1800" b="1">
                <a:solidFill>
                  <a:srgbClr val="0B2C4A"/>
                </a:solidFill>
                <a:latin typeface="Calibri"/>
              </a:rPr>
              <a:t>Tissue forceps</a:t>
            </a:r>
          </a:p>
        </p:txBody>
      </p:sp>
      <p:sp>
        <p:nvSpPr>
          <p:cNvPr id="14" name="TextBox 13"/>
          <p:cNvSpPr txBox="1"/>
          <p:nvPr/>
        </p:nvSpPr>
        <p:spPr>
          <a:xfrm>
            <a:off x="6565392" y="1554480"/>
            <a:ext cx="5349240" cy="1810512"/>
          </a:xfrm>
          <a:prstGeom prst="rect">
            <a:avLst/>
          </a:prstGeom>
          <a:noFill/>
        </p:spPr>
        <p:txBody>
          <a:bodyPr wrap="square" anchor="t"/>
          <a:lstStyle/>
          <a:p>
            <a:pPr algn="l"/>
            <a:r>
              <a:rPr sz="1600" b="0">
                <a:solidFill>
                  <a:srgbClr val="3D4A57"/>
                </a:solidFill>
                <a:latin typeface="Calibri"/>
              </a:rPr>
              <a:t>Pencil grip. Stabilize, then let go. Crushing the dermis makes a bruise that looks like a bad pattern.</a:t>
            </a:r>
          </a:p>
        </p:txBody>
      </p:sp>
      <p:sp>
        <p:nvSpPr>
          <p:cNvPr id="15" name="Rounded Rectangle 14"/>
          <p:cNvSpPr/>
          <p:nvPr/>
        </p:nvSpPr>
        <p:spPr>
          <a:xfrm>
            <a:off x="411480" y="3657600"/>
            <a:ext cx="5715000" cy="2377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657600"/>
            <a:ext cx="91440" cy="23774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767328"/>
            <a:ext cx="5349240" cy="329184"/>
          </a:xfrm>
          <a:prstGeom prst="rect">
            <a:avLst/>
          </a:prstGeom>
          <a:noFill/>
        </p:spPr>
        <p:txBody>
          <a:bodyPr wrap="square" anchor="t"/>
          <a:lstStyle/>
          <a:p>
            <a:pPr algn="l"/>
            <a:r>
              <a:rPr sz="1800" b="1">
                <a:solidFill>
                  <a:srgbClr val="0B2C4A"/>
                </a:solidFill>
                <a:latin typeface="Calibri"/>
              </a:rPr>
              <a:t>The needle</a:t>
            </a:r>
          </a:p>
        </p:txBody>
      </p:sp>
      <p:sp>
        <p:nvSpPr>
          <p:cNvPr id="18" name="TextBox 17"/>
          <p:cNvSpPr txBox="1"/>
          <p:nvPr/>
        </p:nvSpPr>
        <p:spPr>
          <a:xfrm>
            <a:off x="667512" y="4114800"/>
            <a:ext cx="5349240" cy="1810512"/>
          </a:xfrm>
          <a:prstGeom prst="rect">
            <a:avLst/>
          </a:prstGeom>
          <a:noFill/>
        </p:spPr>
        <p:txBody>
          <a:bodyPr wrap="square" anchor="t"/>
          <a:lstStyle/>
          <a:p>
            <a:pPr algn="l"/>
            <a:r>
              <a:rPr sz="1600" b="0">
                <a:solidFill>
                  <a:srgbClr val="3D4A57"/>
                </a:solidFill>
                <a:latin typeface="Calibri"/>
              </a:rPr>
              <a:t>Do not hold the tip. Do not hold it with your fingers. A glove poke retires the needle and the suture.</a:t>
            </a:r>
          </a:p>
        </p:txBody>
      </p:sp>
      <p:sp>
        <p:nvSpPr>
          <p:cNvPr id="19" name="Rounded Rectangle 18"/>
          <p:cNvSpPr/>
          <p:nvPr/>
        </p:nvSpPr>
        <p:spPr>
          <a:xfrm>
            <a:off x="6309360" y="3657600"/>
            <a:ext cx="5715000" cy="2377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3657600"/>
            <a:ext cx="91440" cy="23774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3767328"/>
            <a:ext cx="5349240" cy="329184"/>
          </a:xfrm>
          <a:prstGeom prst="rect">
            <a:avLst/>
          </a:prstGeom>
          <a:noFill/>
        </p:spPr>
        <p:txBody>
          <a:bodyPr wrap="square" anchor="t"/>
          <a:lstStyle/>
          <a:p>
            <a:pPr algn="l"/>
            <a:r>
              <a:rPr sz="1800" b="1">
                <a:solidFill>
                  <a:srgbClr val="0B2C4A"/>
                </a:solidFill>
                <a:latin typeface="Calibri"/>
              </a:rPr>
              <a:t>The line</a:t>
            </a:r>
          </a:p>
        </p:txBody>
      </p:sp>
      <p:sp>
        <p:nvSpPr>
          <p:cNvPr id="22" name="TextBox 21"/>
          <p:cNvSpPr txBox="1"/>
          <p:nvPr/>
        </p:nvSpPr>
        <p:spPr>
          <a:xfrm>
            <a:off x="6565392" y="4114800"/>
            <a:ext cx="5349240" cy="1810512"/>
          </a:xfrm>
          <a:prstGeom prst="rect">
            <a:avLst/>
          </a:prstGeom>
          <a:noFill/>
        </p:spPr>
        <p:txBody>
          <a:bodyPr wrap="square" anchor="t"/>
          <a:lstStyle/>
          <a:p>
            <a:pPr algn="l"/>
            <a:r>
              <a:rPr sz="1600" b="0">
                <a:solidFill>
                  <a:srgbClr val="3D4A57"/>
                </a:solidFill>
                <a:latin typeface="Calibri"/>
              </a:rPr>
              <a:t>Start and finish at or just beyond the corners. Match bite size on both sides. Check that the knot is square.</a:t>
            </a:r>
          </a:p>
        </p:txBody>
      </p:sp>
      <p:sp>
        <p:nvSpPr>
          <p:cNvPr id="23" name="Rectangle 22"/>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5" name="TextBox 24"/>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15  /  40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Ligature is not a skin pattern</a:t>
            </a:r>
          </a:p>
        </p:txBody>
      </p:sp>
      <p:sp>
        <p:nvSpPr>
          <p:cNvPr id="7" name="TextBox 6"/>
          <p:cNvSpPr txBox="1"/>
          <p:nvPr/>
        </p:nvSpPr>
        <p:spPr>
          <a:xfrm>
            <a:off x="502920" y="1143000"/>
            <a:ext cx="11155680" cy="4937760"/>
          </a:xfrm>
          <a:prstGeom prst="rect">
            <a:avLst/>
          </a:prstGeom>
          <a:noFill/>
        </p:spPr>
        <p:txBody>
          <a:bodyPr wrap="square">
            <a:spAutoFit/>
          </a:bodyPr>
          <a:lstStyle/>
          <a:p>
            <a:pPr algn="l">
              <a:spcAft>
                <a:spcPts val="1200"/>
              </a:spcAft>
            </a:pPr>
            <a:r>
              <a:rPr sz="2000">
                <a:solidFill>
                  <a:srgbClr val="1C1C1C"/>
                </a:solidFill>
                <a:latin typeface="Calibri"/>
              </a:rPr>
              <a:t>▸  Course LO 1 names secure ligation with suture patterns. They are different jobs.</a:t>
            </a:r>
          </a:p>
          <a:p>
            <a:pPr algn="l">
              <a:spcAft>
                <a:spcPts val="1200"/>
              </a:spcAft>
            </a:pPr>
            <a:r>
              <a:rPr sz="2000">
                <a:solidFill>
                  <a:srgbClr val="1C1C1C"/>
                </a:solidFill>
                <a:latin typeface="Calibri"/>
              </a:rPr>
              <a:t>▸  A ligature occludes a vessel or a pedicle. A pattern closes a cut.</a:t>
            </a:r>
          </a:p>
          <a:p>
            <a:pPr algn="l">
              <a:spcAft>
                <a:spcPts val="1200"/>
              </a:spcAft>
            </a:pPr>
            <a:r>
              <a:rPr sz="2000">
                <a:solidFill>
                  <a:srgbClr val="1C1C1C"/>
                </a:solidFill>
                <a:latin typeface="Calibri"/>
              </a:rPr>
              <a:t>▸  Circumferential and transfixing ligatures live in Fossum and in the spay/neuter weeks. Do not invent a throw table tonight.</a:t>
            </a:r>
          </a:p>
          <a:p>
            <a:pPr algn="l">
              <a:spcAft>
                <a:spcPts val="1200"/>
              </a:spcAft>
            </a:pPr>
            <a:r>
              <a:rPr sz="2000">
                <a:solidFill>
                  <a:srgbClr val="1C1C1C"/>
                </a:solidFill>
                <a:latin typeface="Calibri"/>
              </a:rPr>
              <a:t>▸  If the pedicle bleeds at 02:00, that is a ligature failure, not a skin-pattern failure.</a:t>
            </a:r>
          </a:p>
          <a:p>
            <a:pPr algn="l">
              <a:spcAft>
                <a:spcPts val="1200"/>
              </a:spcAft>
            </a:pPr>
            <a:r>
              <a:rPr sz="2000">
                <a:solidFill>
                  <a:srgbClr val="1C1C1C"/>
                </a:solidFill>
                <a:latin typeface="Calibri"/>
              </a:rPr>
              <a:t>▸  Week 11 and 12 will use this. Today you only have to stop calling every knot a closure.</a:t>
            </a:r>
          </a:p>
        </p:txBody>
      </p:sp>
      <p:sp>
        <p:nvSpPr>
          <p:cNvPr id="8" name="Rectangle 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0" name="TextBox 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16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10972800" cy="365760"/>
          </a:xfrm>
          <a:prstGeom prst="rect">
            <a:avLst/>
          </a:prstGeom>
          <a:noFill/>
        </p:spPr>
        <p:txBody>
          <a:bodyPr wrap="square" anchor="t"/>
          <a:lstStyle/>
          <a:p>
            <a:pPr algn="l"/>
            <a:r>
              <a:rPr sz="1400" b="1">
                <a:solidFill>
                  <a:srgbClr val="C5A35A"/>
                </a:solidFill>
                <a:latin typeface="Calibri"/>
              </a:rPr>
              <a:t>PART 3</a:t>
            </a:r>
          </a:p>
        </p:txBody>
      </p:sp>
      <p:sp>
        <p:nvSpPr>
          <p:cNvPr id="6" name="TextBox 5"/>
          <p:cNvSpPr txBox="1"/>
          <p:nvPr/>
        </p:nvSpPr>
        <p:spPr>
          <a:xfrm>
            <a:off x="640080" y="2331720"/>
            <a:ext cx="10972800" cy="1005840"/>
          </a:xfrm>
          <a:prstGeom prst="rect">
            <a:avLst/>
          </a:prstGeom>
          <a:noFill/>
        </p:spPr>
        <p:txBody>
          <a:bodyPr wrap="square" anchor="t"/>
          <a:lstStyle/>
          <a:p>
            <a:pPr algn="l"/>
            <a:r>
              <a:rPr sz="3200" b="1">
                <a:solidFill>
                  <a:srgbClr val="FFFFFF"/>
                </a:solidFill>
                <a:latin typeface="Calibri"/>
              </a:rPr>
              <a:t>Patterns you must name</a:t>
            </a:r>
          </a:p>
        </p:txBody>
      </p:sp>
      <p:sp>
        <p:nvSpPr>
          <p:cNvPr id="7" name="TextBox 6"/>
          <p:cNvSpPr txBox="1"/>
          <p:nvPr/>
        </p:nvSpPr>
        <p:spPr>
          <a:xfrm>
            <a:off x="640080" y="3429000"/>
            <a:ext cx="10972800" cy="640080"/>
          </a:xfrm>
          <a:prstGeom prst="rect">
            <a:avLst/>
          </a:prstGeom>
          <a:noFill/>
        </p:spPr>
        <p:txBody>
          <a:bodyPr wrap="square" anchor="t"/>
          <a:lstStyle/>
          <a:p>
            <a:pPr algn="l"/>
            <a:r>
              <a:rPr sz="1800" b="0">
                <a:solidFill>
                  <a:srgbClr val="F4EBD3"/>
                </a:solidFill>
                <a:latin typeface="Calibri"/>
              </a:rPr>
              <a:t>Skin, tension, hollow viscus, intradermal.</a:t>
            </a:r>
          </a:p>
        </p:txBody>
      </p:sp>
      <p:sp>
        <p:nvSpPr>
          <p:cNvPr id="8" name="Rounded Rectangle 7"/>
          <p:cNvSpPr/>
          <p:nvPr/>
        </p:nvSpPr>
        <p:spPr>
          <a:xfrm>
            <a:off x="640080" y="4297680"/>
            <a:ext cx="2194560" cy="384048"/>
          </a:xfrm>
          <a:prstGeom prst="roundRect">
            <a:avLst>
              <a:gd name="adj" fmla="val 8000"/>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97680"/>
            <a:ext cx="2194560" cy="384048"/>
          </a:xfrm>
          <a:prstGeom prst="rect">
            <a:avLst/>
          </a:prstGeom>
          <a:noFill/>
        </p:spPr>
        <p:txBody>
          <a:bodyPr wrap="square" anchor="ctr"/>
          <a:lstStyle/>
          <a:p>
            <a:pPr algn="ctr"/>
            <a:r>
              <a:rPr sz="1400" b="1">
                <a:solidFill>
                  <a:srgbClr val="0B2C4A"/>
                </a:solidFill>
                <a:latin typeface="Calibri"/>
              </a:rPr>
              <a:t>18 minutes</a:t>
            </a:r>
          </a:p>
        </p:txBody>
      </p:sp>
      <p:sp>
        <p:nvSpPr>
          <p:cNvPr id="10" name="TextBox 9"/>
          <p:cNvSpPr txBox="1"/>
          <p:nvPr/>
        </p:nvSpPr>
        <p:spPr>
          <a:xfrm>
            <a:off x="10241280" y="6565392"/>
            <a:ext cx="1554480" cy="292608"/>
          </a:xfrm>
          <a:prstGeom prst="rect">
            <a:avLst/>
          </a:prstGeom>
          <a:noFill/>
        </p:spPr>
        <p:txBody>
          <a:bodyPr wrap="square" anchor="ctr"/>
          <a:lstStyle/>
          <a:p>
            <a:pPr algn="r"/>
            <a:r>
              <a:rPr sz="1200" b="0">
                <a:solidFill>
                  <a:srgbClr val="C5A35A"/>
                </a:solidFill>
                <a:latin typeface="Calibri"/>
              </a:rPr>
              <a:t>17  /  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Pattern map</a:t>
            </a:r>
          </a:p>
        </p:txBody>
      </p:sp>
      <p:sp>
        <p:nvSpPr>
          <p:cNvPr id="7" name="Rectangle 6"/>
          <p:cNvSpPr/>
          <p:nvPr/>
        </p:nvSpPr>
        <p:spPr>
          <a:xfrm>
            <a:off x="292608" y="1005840"/>
            <a:ext cx="11612880" cy="38404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05840"/>
            <a:ext cx="2926080" cy="384048"/>
          </a:xfrm>
          <a:prstGeom prst="rect">
            <a:avLst/>
          </a:prstGeom>
          <a:noFill/>
        </p:spPr>
        <p:txBody>
          <a:bodyPr wrap="square" anchor="ctr"/>
          <a:lstStyle/>
          <a:p>
            <a:pPr algn="l"/>
            <a:r>
              <a:rPr sz="1400" b="1">
                <a:solidFill>
                  <a:srgbClr val="C5A35A"/>
                </a:solidFill>
                <a:latin typeface="Calibri"/>
              </a:rPr>
              <a:t>Pattern</a:t>
            </a:r>
          </a:p>
        </p:txBody>
      </p:sp>
      <p:sp>
        <p:nvSpPr>
          <p:cNvPr id="9" name="TextBox 8"/>
          <p:cNvSpPr txBox="1"/>
          <p:nvPr/>
        </p:nvSpPr>
        <p:spPr>
          <a:xfrm>
            <a:off x="3337560" y="1005840"/>
            <a:ext cx="2834640" cy="384048"/>
          </a:xfrm>
          <a:prstGeom prst="rect">
            <a:avLst/>
          </a:prstGeom>
          <a:noFill/>
        </p:spPr>
        <p:txBody>
          <a:bodyPr wrap="square" anchor="ctr"/>
          <a:lstStyle/>
          <a:p>
            <a:pPr algn="l"/>
            <a:r>
              <a:rPr sz="1400" b="1">
                <a:solidFill>
                  <a:srgbClr val="FFFFFF"/>
                </a:solidFill>
                <a:latin typeface="Calibri"/>
              </a:rPr>
              <a:t>Interrupted or continuous</a:t>
            </a:r>
          </a:p>
        </p:txBody>
      </p:sp>
      <p:sp>
        <p:nvSpPr>
          <p:cNvPr id="10" name="TextBox 9"/>
          <p:cNvSpPr txBox="1"/>
          <p:nvPr/>
        </p:nvSpPr>
        <p:spPr>
          <a:xfrm>
            <a:off x="6217920" y="1005840"/>
            <a:ext cx="2103120" cy="384048"/>
          </a:xfrm>
          <a:prstGeom prst="rect">
            <a:avLst/>
          </a:prstGeom>
          <a:noFill/>
        </p:spPr>
        <p:txBody>
          <a:bodyPr wrap="square" anchor="ctr"/>
          <a:lstStyle/>
          <a:p>
            <a:pPr algn="l"/>
            <a:r>
              <a:rPr sz="1400" b="1">
                <a:solidFill>
                  <a:srgbClr val="FFFFFF"/>
                </a:solidFill>
                <a:latin typeface="Calibri"/>
              </a:rPr>
              <a:t>Edge</a:t>
            </a:r>
          </a:p>
        </p:txBody>
      </p:sp>
      <p:sp>
        <p:nvSpPr>
          <p:cNvPr id="11" name="TextBox 10"/>
          <p:cNvSpPr txBox="1"/>
          <p:nvPr/>
        </p:nvSpPr>
        <p:spPr>
          <a:xfrm>
            <a:off x="8366760" y="1005840"/>
            <a:ext cx="3383280" cy="384048"/>
          </a:xfrm>
          <a:prstGeom prst="rect">
            <a:avLst/>
          </a:prstGeom>
          <a:noFill/>
        </p:spPr>
        <p:txBody>
          <a:bodyPr wrap="square" anchor="ctr"/>
          <a:lstStyle/>
          <a:p>
            <a:pPr algn="l"/>
            <a:r>
              <a:rPr sz="1400" b="1">
                <a:solidFill>
                  <a:srgbClr val="FFFFFF"/>
                </a:solidFill>
                <a:latin typeface="Calibri"/>
              </a:rPr>
              <a:t>Usual night use</a:t>
            </a:r>
          </a:p>
        </p:txBody>
      </p:sp>
      <p:sp>
        <p:nvSpPr>
          <p:cNvPr id="12" name="Rounded Rectangle 11"/>
          <p:cNvSpPr/>
          <p:nvPr/>
        </p:nvSpPr>
        <p:spPr>
          <a:xfrm>
            <a:off x="292608" y="1426464"/>
            <a:ext cx="11612880" cy="4937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426464"/>
            <a:ext cx="2926080" cy="493776"/>
          </a:xfrm>
          <a:prstGeom prst="rect">
            <a:avLst/>
          </a:prstGeom>
          <a:noFill/>
        </p:spPr>
        <p:txBody>
          <a:bodyPr wrap="square" anchor="ctr"/>
          <a:lstStyle/>
          <a:p>
            <a:pPr algn="l"/>
            <a:r>
              <a:rPr sz="1400" b="1">
                <a:solidFill>
                  <a:srgbClr val="0B2C4A"/>
                </a:solidFill>
                <a:latin typeface="Calibri"/>
              </a:rPr>
              <a:t>Simple interrupted</a:t>
            </a:r>
          </a:p>
        </p:txBody>
      </p:sp>
      <p:sp>
        <p:nvSpPr>
          <p:cNvPr id="14" name="TextBox 13"/>
          <p:cNvSpPr txBox="1"/>
          <p:nvPr/>
        </p:nvSpPr>
        <p:spPr>
          <a:xfrm>
            <a:off x="3337560" y="1426464"/>
            <a:ext cx="2834640" cy="493776"/>
          </a:xfrm>
          <a:prstGeom prst="rect">
            <a:avLst/>
          </a:prstGeom>
          <a:noFill/>
        </p:spPr>
        <p:txBody>
          <a:bodyPr wrap="square" anchor="ctr"/>
          <a:lstStyle/>
          <a:p>
            <a:pPr algn="l"/>
            <a:r>
              <a:rPr sz="1400" b="0">
                <a:solidFill>
                  <a:srgbClr val="1C1C1C"/>
                </a:solidFill>
                <a:latin typeface="Calibri"/>
              </a:rPr>
              <a:t>Interrupted</a:t>
            </a:r>
          </a:p>
        </p:txBody>
      </p:sp>
      <p:sp>
        <p:nvSpPr>
          <p:cNvPr id="15" name="TextBox 14"/>
          <p:cNvSpPr txBox="1"/>
          <p:nvPr/>
        </p:nvSpPr>
        <p:spPr>
          <a:xfrm>
            <a:off x="6217920" y="1426464"/>
            <a:ext cx="2103120" cy="493776"/>
          </a:xfrm>
          <a:prstGeom prst="rect">
            <a:avLst/>
          </a:prstGeom>
          <a:noFill/>
        </p:spPr>
        <p:txBody>
          <a:bodyPr wrap="square" anchor="ctr"/>
          <a:lstStyle/>
          <a:p>
            <a:pPr algn="l"/>
            <a:r>
              <a:rPr sz="1400" b="0">
                <a:solidFill>
                  <a:srgbClr val="1C1C1C"/>
                </a:solidFill>
                <a:latin typeface="Calibri"/>
              </a:rPr>
              <a:t>Appositional</a:t>
            </a:r>
          </a:p>
        </p:txBody>
      </p:sp>
      <p:sp>
        <p:nvSpPr>
          <p:cNvPr id="16" name="TextBox 15"/>
          <p:cNvSpPr txBox="1"/>
          <p:nvPr/>
        </p:nvSpPr>
        <p:spPr>
          <a:xfrm>
            <a:off x="8366760" y="1426464"/>
            <a:ext cx="3383280" cy="493776"/>
          </a:xfrm>
          <a:prstGeom prst="rect">
            <a:avLst/>
          </a:prstGeom>
          <a:noFill/>
        </p:spPr>
        <p:txBody>
          <a:bodyPr wrap="square" anchor="ctr"/>
          <a:lstStyle/>
          <a:p>
            <a:pPr algn="l"/>
            <a:r>
              <a:rPr sz="1400" b="0">
                <a:solidFill>
                  <a:srgbClr val="3D4A57"/>
                </a:solidFill>
                <a:latin typeface="Calibri"/>
              </a:rPr>
              <a:t>Skin. Teaching default.</a:t>
            </a:r>
          </a:p>
        </p:txBody>
      </p:sp>
      <p:sp>
        <p:nvSpPr>
          <p:cNvPr id="17" name="Rounded Rectangle 16"/>
          <p:cNvSpPr/>
          <p:nvPr/>
        </p:nvSpPr>
        <p:spPr>
          <a:xfrm>
            <a:off x="292608" y="1956816"/>
            <a:ext cx="11612880" cy="4937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1956816"/>
            <a:ext cx="2926080" cy="493776"/>
          </a:xfrm>
          <a:prstGeom prst="rect">
            <a:avLst/>
          </a:prstGeom>
          <a:noFill/>
        </p:spPr>
        <p:txBody>
          <a:bodyPr wrap="square" anchor="ctr"/>
          <a:lstStyle/>
          <a:p>
            <a:pPr algn="l"/>
            <a:r>
              <a:rPr sz="1400" b="1">
                <a:solidFill>
                  <a:srgbClr val="0B2C4A"/>
                </a:solidFill>
                <a:latin typeface="Calibri"/>
              </a:rPr>
              <a:t>Simple continuous</a:t>
            </a:r>
          </a:p>
        </p:txBody>
      </p:sp>
      <p:sp>
        <p:nvSpPr>
          <p:cNvPr id="19" name="TextBox 18"/>
          <p:cNvSpPr txBox="1"/>
          <p:nvPr/>
        </p:nvSpPr>
        <p:spPr>
          <a:xfrm>
            <a:off x="3337560" y="1956816"/>
            <a:ext cx="2834640" cy="493776"/>
          </a:xfrm>
          <a:prstGeom prst="rect">
            <a:avLst/>
          </a:prstGeom>
          <a:noFill/>
        </p:spPr>
        <p:txBody>
          <a:bodyPr wrap="square" anchor="ctr"/>
          <a:lstStyle/>
          <a:p>
            <a:pPr algn="l"/>
            <a:r>
              <a:rPr sz="1400" b="0">
                <a:solidFill>
                  <a:srgbClr val="1C1C1C"/>
                </a:solidFill>
                <a:latin typeface="Calibri"/>
              </a:rPr>
              <a:t>Continuous</a:t>
            </a:r>
          </a:p>
        </p:txBody>
      </p:sp>
      <p:sp>
        <p:nvSpPr>
          <p:cNvPr id="20" name="TextBox 19"/>
          <p:cNvSpPr txBox="1"/>
          <p:nvPr/>
        </p:nvSpPr>
        <p:spPr>
          <a:xfrm>
            <a:off x="6217920" y="1956816"/>
            <a:ext cx="2103120" cy="493776"/>
          </a:xfrm>
          <a:prstGeom prst="rect">
            <a:avLst/>
          </a:prstGeom>
          <a:noFill/>
        </p:spPr>
        <p:txBody>
          <a:bodyPr wrap="square" anchor="ctr"/>
          <a:lstStyle/>
          <a:p>
            <a:pPr algn="l"/>
            <a:r>
              <a:rPr sz="1400" b="0">
                <a:solidFill>
                  <a:srgbClr val="1C1C1C"/>
                </a:solidFill>
                <a:latin typeface="Calibri"/>
              </a:rPr>
              <a:t>Appositional</a:t>
            </a:r>
          </a:p>
        </p:txBody>
      </p:sp>
      <p:sp>
        <p:nvSpPr>
          <p:cNvPr id="21" name="TextBox 20"/>
          <p:cNvSpPr txBox="1"/>
          <p:nvPr/>
        </p:nvSpPr>
        <p:spPr>
          <a:xfrm>
            <a:off x="8366760" y="1956816"/>
            <a:ext cx="3383280" cy="493776"/>
          </a:xfrm>
          <a:prstGeom prst="rect">
            <a:avLst/>
          </a:prstGeom>
          <a:noFill/>
        </p:spPr>
        <p:txBody>
          <a:bodyPr wrap="square" anchor="ctr"/>
          <a:lstStyle/>
          <a:p>
            <a:pPr algn="l"/>
            <a:r>
              <a:rPr sz="1400" b="0">
                <a:solidFill>
                  <a:srgbClr val="3D4A57"/>
                </a:solidFill>
                <a:latin typeface="Calibri"/>
              </a:rPr>
              <a:t>Long even layer. Seal.</a:t>
            </a:r>
          </a:p>
        </p:txBody>
      </p:sp>
      <p:sp>
        <p:nvSpPr>
          <p:cNvPr id="22" name="Rounded Rectangle 21"/>
          <p:cNvSpPr/>
          <p:nvPr/>
        </p:nvSpPr>
        <p:spPr>
          <a:xfrm>
            <a:off x="292608" y="2487168"/>
            <a:ext cx="11612880" cy="4937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2487168"/>
            <a:ext cx="2926080" cy="493776"/>
          </a:xfrm>
          <a:prstGeom prst="rect">
            <a:avLst/>
          </a:prstGeom>
          <a:noFill/>
        </p:spPr>
        <p:txBody>
          <a:bodyPr wrap="square" anchor="ctr"/>
          <a:lstStyle/>
          <a:p>
            <a:pPr algn="l"/>
            <a:r>
              <a:rPr sz="1400" b="1">
                <a:solidFill>
                  <a:srgbClr val="0B2C4A"/>
                </a:solidFill>
                <a:latin typeface="Calibri"/>
              </a:rPr>
              <a:t>Cruciate</a:t>
            </a:r>
          </a:p>
        </p:txBody>
      </p:sp>
      <p:sp>
        <p:nvSpPr>
          <p:cNvPr id="24" name="TextBox 23"/>
          <p:cNvSpPr txBox="1"/>
          <p:nvPr/>
        </p:nvSpPr>
        <p:spPr>
          <a:xfrm>
            <a:off x="3337560" y="2487168"/>
            <a:ext cx="2834640" cy="493776"/>
          </a:xfrm>
          <a:prstGeom prst="rect">
            <a:avLst/>
          </a:prstGeom>
          <a:noFill/>
        </p:spPr>
        <p:txBody>
          <a:bodyPr wrap="square" anchor="ctr"/>
          <a:lstStyle/>
          <a:p>
            <a:pPr algn="l"/>
            <a:r>
              <a:rPr sz="1400" b="0">
                <a:solidFill>
                  <a:srgbClr val="1C1C1C"/>
                </a:solidFill>
                <a:latin typeface="Calibri"/>
              </a:rPr>
              <a:t>Interrupted</a:t>
            </a:r>
          </a:p>
        </p:txBody>
      </p:sp>
      <p:sp>
        <p:nvSpPr>
          <p:cNvPr id="25" name="TextBox 24"/>
          <p:cNvSpPr txBox="1"/>
          <p:nvPr/>
        </p:nvSpPr>
        <p:spPr>
          <a:xfrm>
            <a:off x="6217920" y="2487168"/>
            <a:ext cx="2103120" cy="493776"/>
          </a:xfrm>
          <a:prstGeom prst="rect">
            <a:avLst/>
          </a:prstGeom>
          <a:noFill/>
        </p:spPr>
        <p:txBody>
          <a:bodyPr wrap="square" anchor="ctr"/>
          <a:lstStyle/>
          <a:p>
            <a:pPr algn="l"/>
            <a:r>
              <a:rPr sz="1400" b="0">
                <a:solidFill>
                  <a:srgbClr val="1C1C1C"/>
                </a:solidFill>
                <a:latin typeface="Calibri"/>
              </a:rPr>
              <a:t>Appositional</a:t>
            </a:r>
          </a:p>
        </p:txBody>
      </p:sp>
      <p:sp>
        <p:nvSpPr>
          <p:cNvPr id="26" name="TextBox 25"/>
          <p:cNvSpPr txBox="1"/>
          <p:nvPr/>
        </p:nvSpPr>
        <p:spPr>
          <a:xfrm>
            <a:off x="8366760" y="2487168"/>
            <a:ext cx="3383280" cy="493776"/>
          </a:xfrm>
          <a:prstGeom prst="rect">
            <a:avLst/>
          </a:prstGeom>
          <a:noFill/>
        </p:spPr>
        <p:txBody>
          <a:bodyPr wrap="square" anchor="ctr"/>
          <a:lstStyle/>
          <a:p>
            <a:pPr algn="l"/>
            <a:r>
              <a:rPr sz="1400" b="0">
                <a:solidFill>
                  <a:srgbClr val="3D4A57"/>
                </a:solidFill>
                <a:latin typeface="Calibri"/>
              </a:rPr>
              <a:t>Skin. Some tension.</a:t>
            </a:r>
          </a:p>
        </p:txBody>
      </p:sp>
      <p:sp>
        <p:nvSpPr>
          <p:cNvPr id="27" name="Rounded Rectangle 26"/>
          <p:cNvSpPr/>
          <p:nvPr/>
        </p:nvSpPr>
        <p:spPr>
          <a:xfrm>
            <a:off x="292608" y="3017519"/>
            <a:ext cx="11612880" cy="4937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3017519"/>
            <a:ext cx="2926080" cy="493776"/>
          </a:xfrm>
          <a:prstGeom prst="rect">
            <a:avLst/>
          </a:prstGeom>
          <a:noFill/>
        </p:spPr>
        <p:txBody>
          <a:bodyPr wrap="square" anchor="ctr"/>
          <a:lstStyle/>
          <a:p>
            <a:pPr algn="l"/>
            <a:r>
              <a:rPr sz="1400" b="1">
                <a:solidFill>
                  <a:srgbClr val="0B2C4A"/>
                </a:solidFill>
                <a:latin typeface="Calibri"/>
              </a:rPr>
              <a:t>Horizontal mattress</a:t>
            </a:r>
          </a:p>
        </p:txBody>
      </p:sp>
      <p:sp>
        <p:nvSpPr>
          <p:cNvPr id="29" name="TextBox 28"/>
          <p:cNvSpPr txBox="1"/>
          <p:nvPr/>
        </p:nvSpPr>
        <p:spPr>
          <a:xfrm>
            <a:off x="3337560" y="3017519"/>
            <a:ext cx="2834640" cy="493776"/>
          </a:xfrm>
          <a:prstGeom prst="rect">
            <a:avLst/>
          </a:prstGeom>
          <a:noFill/>
        </p:spPr>
        <p:txBody>
          <a:bodyPr wrap="square" anchor="ctr"/>
          <a:lstStyle/>
          <a:p>
            <a:pPr algn="l"/>
            <a:r>
              <a:rPr sz="1400" b="0">
                <a:solidFill>
                  <a:srgbClr val="1C1C1C"/>
                </a:solidFill>
                <a:latin typeface="Calibri"/>
              </a:rPr>
              <a:t>Interrupted</a:t>
            </a:r>
          </a:p>
        </p:txBody>
      </p:sp>
      <p:sp>
        <p:nvSpPr>
          <p:cNvPr id="30" name="TextBox 29"/>
          <p:cNvSpPr txBox="1"/>
          <p:nvPr/>
        </p:nvSpPr>
        <p:spPr>
          <a:xfrm>
            <a:off x="6217920" y="3017519"/>
            <a:ext cx="2103120" cy="493776"/>
          </a:xfrm>
          <a:prstGeom prst="rect">
            <a:avLst/>
          </a:prstGeom>
          <a:noFill/>
        </p:spPr>
        <p:txBody>
          <a:bodyPr wrap="square" anchor="ctr"/>
          <a:lstStyle/>
          <a:p>
            <a:pPr algn="l"/>
            <a:r>
              <a:rPr sz="1400" b="0">
                <a:solidFill>
                  <a:srgbClr val="1C1C1C"/>
                </a:solidFill>
                <a:latin typeface="Calibri"/>
              </a:rPr>
              <a:t>Appose to evert</a:t>
            </a:r>
          </a:p>
        </p:txBody>
      </p:sp>
      <p:sp>
        <p:nvSpPr>
          <p:cNvPr id="31" name="TextBox 30"/>
          <p:cNvSpPr txBox="1"/>
          <p:nvPr/>
        </p:nvSpPr>
        <p:spPr>
          <a:xfrm>
            <a:off x="8366760" y="3017519"/>
            <a:ext cx="3383280" cy="493776"/>
          </a:xfrm>
          <a:prstGeom prst="rect">
            <a:avLst/>
          </a:prstGeom>
          <a:noFill/>
        </p:spPr>
        <p:txBody>
          <a:bodyPr wrap="square" anchor="ctr"/>
          <a:lstStyle/>
          <a:p>
            <a:pPr algn="l"/>
            <a:r>
              <a:rPr sz="1400" b="0">
                <a:solidFill>
                  <a:srgbClr val="3D4A57"/>
                </a:solidFill>
                <a:latin typeface="Calibri"/>
              </a:rPr>
              <a:t>Tension. Watch blood supply.</a:t>
            </a:r>
          </a:p>
        </p:txBody>
      </p:sp>
      <p:sp>
        <p:nvSpPr>
          <p:cNvPr id="32" name="Rounded Rectangle 31"/>
          <p:cNvSpPr/>
          <p:nvPr/>
        </p:nvSpPr>
        <p:spPr>
          <a:xfrm>
            <a:off x="292608" y="3547872"/>
            <a:ext cx="11612880" cy="4937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3547872"/>
            <a:ext cx="2926080" cy="493776"/>
          </a:xfrm>
          <a:prstGeom prst="rect">
            <a:avLst/>
          </a:prstGeom>
          <a:noFill/>
        </p:spPr>
        <p:txBody>
          <a:bodyPr wrap="square" anchor="ctr"/>
          <a:lstStyle/>
          <a:p>
            <a:pPr algn="l"/>
            <a:r>
              <a:rPr sz="1400" b="1">
                <a:solidFill>
                  <a:srgbClr val="0B2C4A"/>
                </a:solidFill>
                <a:latin typeface="Calibri"/>
              </a:rPr>
              <a:t>Vertical mattress</a:t>
            </a:r>
          </a:p>
        </p:txBody>
      </p:sp>
      <p:sp>
        <p:nvSpPr>
          <p:cNvPr id="34" name="TextBox 33"/>
          <p:cNvSpPr txBox="1"/>
          <p:nvPr/>
        </p:nvSpPr>
        <p:spPr>
          <a:xfrm>
            <a:off x="3337560" y="3547872"/>
            <a:ext cx="2834640" cy="493776"/>
          </a:xfrm>
          <a:prstGeom prst="rect">
            <a:avLst/>
          </a:prstGeom>
          <a:noFill/>
        </p:spPr>
        <p:txBody>
          <a:bodyPr wrap="square" anchor="ctr"/>
          <a:lstStyle/>
          <a:p>
            <a:pPr algn="l"/>
            <a:r>
              <a:rPr sz="1400" b="0">
                <a:solidFill>
                  <a:srgbClr val="1C1C1C"/>
                </a:solidFill>
                <a:latin typeface="Calibri"/>
              </a:rPr>
              <a:t>Interrupted</a:t>
            </a:r>
          </a:p>
        </p:txBody>
      </p:sp>
      <p:sp>
        <p:nvSpPr>
          <p:cNvPr id="35" name="TextBox 34"/>
          <p:cNvSpPr txBox="1"/>
          <p:nvPr/>
        </p:nvSpPr>
        <p:spPr>
          <a:xfrm>
            <a:off x="6217920" y="3547872"/>
            <a:ext cx="2103120" cy="493776"/>
          </a:xfrm>
          <a:prstGeom prst="rect">
            <a:avLst/>
          </a:prstGeom>
          <a:noFill/>
        </p:spPr>
        <p:txBody>
          <a:bodyPr wrap="square" anchor="ctr"/>
          <a:lstStyle/>
          <a:p>
            <a:pPr algn="l"/>
            <a:r>
              <a:rPr sz="1400" b="0">
                <a:solidFill>
                  <a:srgbClr val="1C1C1C"/>
                </a:solidFill>
                <a:latin typeface="Calibri"/>
              </a:rPr>
              <a:t>Everting</a:t>
            </a:r>
          </a:p>
        </p:txBody>
      </p:sp>
      <p:sp>
        <p:nvSpPr>
          <p:cNvPr id="36" name="TextBox 35"/>
          <p:cNvSpPr txBox="1"/>
          <p:nvPr/>
        </p:nvSpPr>
        <p:spPr>
          <a:xfrm>
            <a:off x="8366760" y="3547872"/>
            <a:ext cx="3383280" cy="493776"/>
          </a:xfrm>
          <a:prstGeom prst="rect">
            <a:avLst/>
          </a:prstGeom>
          <a:noFill/>
        </p:spPr>
        <p:txBody>
          <a:bodyPr wrap="square" anchor="ctr"/>
          <a:lstStyle/>
          <a:p>
            <a:pPr algn="l"/>
            <a:r>
              <a:rPr sz="1400" b="0">
                <a:solidFill>
                  <a:srgbClr val="3D4A57"/>
                </a:solidFill>
                <a:latin typeface="Calibri"/>
              </a:rPr>
              <a:t>Tension. Far-far, then near-near.</a:t>
            </a:r>
          </a:p>
        </p:txBody>
      </p:sp>
      <p:sp>
        <p:nvSpPr>
          <p:cNvPr id="37" name="Rounded Rectangle 36"/>
          <p:cNvSpPr/>
          <p:nvPr/>
        </p:nvSpPr>
        <p:spPr>
          <a:xfrm>
            <a:off x="292608" y="4078224"/>
            <a:ext cx="11612880" cy="4937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4078224"/>
            <a:ext cx="2926080" cy="493776"/>
          </a:xfrm>
          <a:prstGeom prst="rect">
            <a:avLst/>
          </a:prstGeom>
          <a:noFill/>
        </p:spPr>
        <p:txBody>
          <a:bodyPr wrap="square" anchor="ctr"/>
          <a:lstStyle/>
          <a:p>
            <a:pPr algn="l"/>
            <a:r>
              <a:rPr sz="1400" b="1">
                <a:solidFill>
                  <a:srgbClr val="0B2C4A"/>
                </a:solidFill>
                <a:latin typeface="Calibri"/>
              </a:rPr>
              <a:t>Ford interlocking</a:t>
            </a:r>
          </a:p>
        </p:txBody>
      </p:sp>
      <p:sp>
        <p:nvSpPr>
          <p:cNvPr id="39" name="TextBox 38"/>
          <p:cNvSpPr txBox="1"/>
          <p:nvPr/>
        </p:nvSpPr>
        <p:spPr>
          <a:xfrm>
            <a:off x="3337560" y="4078224"/>
            <a:ext cx="2834640" cy="493776"/>
          </a:xfrm>
          <a:prstGeom prst="rect">
            <a:avLst/>
          </a:prstGeom>
          <a:noFill/>
        </p:spPr>
        <p:txBody>
          <a:bodyPr wrap="square" anchor="ctr"/>
          <a:lstStyle/>
          <a:p>
            <a:pPr algn="l"/>
            <a:r>
              <a:rPr sz="1400" b="0">
                <a:solidFill>
                  <a:srgbClr val="1C1C1C"/>
                </a:solidFill>
                <a:latin typeface="Calibri"/>
              </a:rPr>
              <a:t>Continuous</a:t>
            </a:r>
          </a:p>
        </p:txBody>
      </p:sp>
      <p:sp>
        <p:nvSpPr>
          <p:cNvPr id="40" name="TextBox 39"/>
          <p:cNvSpPr txBox="1"/>
          <p:nvPr/>
        </p:nvSpPr>
        <p:spPr>
          <a:xfrm>
            <a:off x="6217920" y="4078224"/>
            <a:ext cx="2103120" cy="493776"/>
          </a:xfrm>
          <a:prstGeom prst="rect">
            <a:avLst/>
          </a:prstGeom>
          <a:noFill/>
        </p:spPr>
        <p:txBody>
          <a:bodyPr wrap="square" anchor="ctr"/>
          <a:lstStyle/>
          <a:p>
            <a:pPr algn="l"/>
            <a:r>
              <a:rPr sz="1400" b="0">
                <a:solidFill>
                  <a:srgbClr val="1C1C1C"/>
                </a:solidFill>
                <a:latin typeface="Calibri"/>
              </a:rPr>
              <a:t>Appositional</a:t>
            </a:r>
          </a:p>
        </p:txBody>
      </p:sp>
      <p:sp>
        <p:nvSpPr>
          <p:cNvPr id="41" name="TextBox 40"/>
          <p:cNvSpPr txBox="1"/>
          <p:nvPr/>
        </p:nvSpPr>
        <p:spPr>
          <a:xfrm>
            <a:off x="8366760" y="4078224"/>
            <a:ext cx="3383280" cy="493776"/>
          </a:xfrm>
          <a:prstGeom prst="rect">
            <a:avLst/>
          </a:prstGeom>
          <a:noFill/>
        </p:spPr>
        <p:txBody>
          <a:bodyPr wrap="square" anchor="ctr"/>
          <a:lstStyle/>
          <a:p>
            <a:pPr algn="l"/>
            <a:r>
              <a:rPr sz="1400" b="0">
                <a:solidFill>
                  <a:srgbClr val="3D4A57"/>
                </a:solidFill>
                <a:latin typeface="Calibri"/>
              </a:rPr>
              <a:t>Long skin or field line.</a:t>
            </a:r>
          </a:p>
        </p:txBody>
      </p:sp>
      <p:sp>
        <p:nvSpPr>
          <p:cNvPr id="42" name="Rounded Rectangle 41"/>
          <p:cNvSpPr/>
          <p:nvPr/>
        </p:nvSpPr>
        <p:spPr>
          <a:xfrm>
            <a:off x="292608" y="4608575"/>
            <a:ext cx="11612880" cy="4937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4608575"/>
            <a:ext cx="2926080" cy="493776"/>
          </a:xfrm>
          <a:prstGeom prst="rect">
            <a:avLst/>
          </a:prstGeom>
          <a:noFill/>
        </p:spPr>
        <p:txBody>
          <a:bodyPr wrap="square" anchor="ctr"/>
          <a:lstStyle/>
          <a:p>
            <a:pPr algn="l"/>
            <a:r>
              <a:rPr sz="1400" b="1">
                <a:solidFill>
                  <a:srgbClr val="0B2C4A"/>
                </a:solidFill>
                <a:latin typeface="Calibri"/>
              </a:rPr>
              <a:t>Intradermal</a:t>
            </a:r>
          </a:p>
        </p:txBody>
      </p:sp>
      <p:sp>
        <p:nvSpPr>
          <p:cNvPr id="44" name="TextBox 43"/>
          <p:cNvSpPr txBox="1"/>
          <p:nvPr/>
        </p:nvSpPr>
        <p:spPr>
          <a:xfrm>
            <a:off x="3337560" y="4608575"/>
            <a:ext cx="2834640" cy="493776"/>
          </a:xfrm>
          <a:prstGeom prst="rect">
            <a:avLst/>
          </a:prstGeom>
          <a:noFill/>
        </p:spPr>
        <p:txBody>
          <a:bodyPr wrap="square" anchor="ctr"/>
          <a:lstStyle/>
          <a:p>
            <a:pPr algn="l"/>
            <a:r>
              <a:rPr sz="1400" b="0">
                <a:solidFill>
                  <a:srgbClr val="1C1C1C"/>
                </a:solidFill>
                <a:latin typeface="Calibri"/>
              </a:rPr>
              <a:t>Continuous</a:t>
            </a:r>
          </a:p>
        </p:txBody>
      </p:sp>
      <p:sp>
        <p:nvSpPr>
          <p:cNvPr id="45" name="TextBox 44"/>
          <p:cNvSpPr txBox="1"/>
          <p:nvPr/>
        </p:nvSpPr>
        <p:spPr>
          <a:xfrm>
            <a:off x="6217920" y="4608575"/>
            <a:ext cx="2103120" cy="493776"/>
          </a:xfrm>
          <a:prstGeom prst="rect">
            <a:avLst/>
          </a:prstGeom>
          <a:noFill/>
        </p:spPr>
        <p:txBody>
          <a:bodyPr wrap="square" anchor="ctr"/>
          <a:lstStyle/>
          <a:p>
            <a:pPr algn="l"/>
            <a:r>
              <a:rPr sz="1400" b="0">
                <a:solidFill>
                  <a:srgbClr val="1C1C1C"/>
                </a:solidFill>
                <a:latin typeface="Calibri"/>
              </a:rPr>
              <a:t>Appositional</a:t>
            </a:r>
          </a:p>
        </p:txBody>
      </p:sp>
      <p:sp>
        <p:nvSpPr>
          <p:cNvPr id="46" name="TextBox 45"/>
          <p:cNvSpPr txBox="1"/>
          <p:nvPr/>
        </p:nvSpPr>
        <p:spPr>
          <a:xfrm>
            <a:off x="8366760" y="4608575"/>
            <a:ext cx="3383280" cy="493776"/>
          </a:xfrm>
          <a:prstGeom prst="rect">
            <a:avLst/>
          </a:prstGeom>
          <a:noFill/>
        </p:spPr>
        <p:txBody>
          <a:bodyPr wrap="square" anchor="ctr"/>
          <a:lstStyle/>
          <a:p>
            <a:pPr algn="l"/>
            <a:r>
              <a:rPr sz="1400" b="0">
                <a:solidFill>
                  <a:srgbClr val="3D4A57"/>
                </a:solidFill>
                <a:latin typeface="Calibri"/>
              </a:rPr>
              <a:t>Dermis. Buried knots.</a:t>
            </a:r>
          </a:p>
        </p:txBody>
      </p:sp>
      <p:sp>
        <p:nvSpPr>
          <p:cNvPr id="47" name="Rounded Rectangle 46"/>
          <p:cNvSpPr/>
          <p:nvPr/>
        </p:nvSpPr>
        <p:spPr>
          <a:xfrm>
            <a:off x="292608" y="5138927"/>
            <a:ext cx="11612880" cy="4937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5138927"/>
            <a:ext cx="2926080" cy="493776"/>
          </a:xfrm>
          <a:prstGeom prst="rect">
            <a:avLst/>
          </a:prstGeom>
          <a:noFill/>
        </p:spPr>
        <p:txBody>
          <a:bodyPr wrap="square" anchor="ctr"/>
          <a:lstStyle/>
          <a:p>
            <a:pPr algn="l"/>
            <a:r>
              <a:rPr sz="1400" b="1">
                <a:solidFill>
                  <a:srgbClr val="0B2C4A"/>
                </a:solidFill>
                <a:latin typeface="Calibri"/>
              </a:rPr>
              <a:t>Lembert</a:t>
            </a:r>
          </a:p>
        </p:txBody>
      </p:sp>
      <p:sp>
        <p:nvSpPr>
          <p:cNvPr id="49" name="TextBox 48"/>
          <p:cNvSpPr txBox="1"/>
          <p:nvPr/>
        </p:nvSpPr>
        <p:spPr>
          <a:xfrm>
            <a:off x="3337560" y="5138927"/>
            <a:ext cx="2834640" cy="493776"/>
          </a:xfrm>
          <a:prstGeom prst="rect">
            <a:avLst/>
          </a:prstGeom>
          <a:noFill/>
        </p:spPr>
        <p:txBody>
          <a:bodyPr wrap="square" anchor="ctr"/>
          <a:lstStyle/>
          <a:p>
            <a:pPr algn="l"/>
            <a:r>
              <a:rPr sz="1400" b="0">
                <a:solidFill>
                  <a:srgbClr val="1C1C1C"/>
                </a:solidFill>
                <a:latin typeface="Calibri"/>
              </a:rPr>
              <a:t>Usually continuous</a:t>
            </a:r>
          </a:p>
        </p:txBody>
      </p:sp>
      <p:sp>
        <p:nvSpPr>
          <p:cNvPr id="50" name="TextBox 49"/>
          <p:cNvSpPr txBox="1"/>
          <p:nvPr/>
        </p:nvSpPr>
        <p:spPr>
          <a:xfrm>
            <a:off x="6217920" y="5138927"/>
            <a:ext cx="2103120" cy="493776"/>
          </a:xfrm>
          <a:prstGeom prst="rect">
            <a:avLst/>
          </a:prstGeom>
          <a:noFill/>
        </p:spPr>
        <p:txBody>
          <a:bodyPr wrap="square" anchor="ctr"/>
          <a:lstStyle/>
          <a:p>
            <a:pPr algn="l"/>
            <a:r>
              <a:rPr sz="1400" b="0">
                <a:solidFill>
                  <a:srgbClr val="1C1C1C"/>
                </a:solidFill>
                <a:latin typeface="Calibri"/>
              </a:rPr>
              <a:t>Inverting</a:t>
            </a:r>
          </a:p>
        </p:txBody>
      </p:sp>
      <p:sp>
        <p:nvSpPr>
          <p:cNvPr id="51" name="TextBox 50"/>
          <p:cNvSpPr txBox="1"/>
          <p:nvPr/>
        </p:nvSpPr>
        <p:spPr>
          <a:xfrm>
            <a:off x="8366760" y="5138927"/>
            <a:ext cx="3383280" cy="493776"/>
          </a:xfrm>
          <a:prstGeom prst="rect">
            <a:avLst/>
          </a:prstGeom>
          <a:noFill/>
        </p:spPr>
        <p:txBody>
          <a:bodyPr wrap="square" anchor="ctr"/>
          <a:lstStyle/>
          <a:p>
            <a:pPr algn="l"/>
            <a:r>
              <a:rPr sz="1400" b="0">
                <a:solidFill>
                  <a:srgbClr val="3D4A57"/>
                </a:solidFill>
                <a:latin typeface="Calibri"/>
              </a:rPr>
              <a:t>Hollow viscus. Transverse bites.</a:t>
            </a:r>
          </a:p>
        </p:txBody>
      </p:sp>
      <p:sp>
        <p:nvSpPr>
          <p:cNvPr id="52" name="Rounded Rectangle 51"/>
          <p:cNvSpPr/>
          <p:nvPr/>
        </p:nvSpPr>
        <p:spPr>
          <a:xfrm>
            <a:off x="292608" y="5669280"/>
            <a:ext cx="11612880" cy="4937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5760" y="5669280"/>
            <a:ext cx="2926080" cy="493776"/>
          </a:xfrm>
          <a:prstGeom prst="rect">
            <a:avLst/>
          </a:prstGeom>
          <a:noFill/>
        </p:spPr>
        <p:txBody>
          <a:bodyPr wrap="square" anchor="ctr"/>
          <a:lstStyle/>
          <a:p>
            <a:pPr algn="l"/>
            <a:r>
              <a:rPr sz="1400" b="1">
                <a:solidFill>
                  <a:srgbClr val="0B2C4A"/>
                </a:solidFill>
                <a:latin typeface="Calibri"/>
              </a:rPr>
              <a:t>Cushing / Connell</a:t>
            </a:r>
          </a:p>
        </p:txBody>
      </p:sp>
      <p:sp>
        <p:nvSpPr>
          <p:cNvPr id="54" name="TextBox 53"/>
          <p:cNvSpPr txBox="1"/>
          <p:nvPr/>
        </p:nvSpPr>
        <p:spPr>
          <a:xfrm>
            <a:off x="3337560" y="5669280"/>
            <a:ext cx="2834640" cy="493776"/>
          </a:xfrm>
          <a:prstGeom prst="rect">
            <a:avLst/>
          </a:prstGeom>
          <a:noFill/>
        </p:spPr>
        <p:txBody>
          <a:bodyPr wrap="square" anchor="ctr"/>
          <a:lstStyle/>
          <a:p>
            <a:pPr algn="l"/>
            <a:r>
              <a:rPr sz="1400" b="0">
                <a:solidFill>
                  <a:srgbClr val="1C1C1C"/>
                </a:solidFill>
                <a:latin typeface="Calibri"/>
              </a:rPr>
              <a:t>Continuous</a:t>
            </a:r>
          </a:p>
        </p:txBody>
      </p:sp>
      <p:sp>
        <p:nvSpPr>
          <p:cNvPr id="55" name="TextBox 54"/>
          <p:cNvSpPr txBox="1"/>
          <p:nvPr/>
        </p:nvSpPr>
        <p:spPr>
          <a:xfrm>
            <a:off x="6217920" y="5669280"/>
            <a:ext cx="2103120" cy="493776"/>
          </a:xfrm>
          <a:prstGeom prst="rect">
            <a:avLst/>
          </a:prstGeom>
          <a:noFill/>
        </p:spPr>
        <p:txBody>
          <a:bodyPr wrap="square" anchor="ctr"/>
          <a:lstStyle/>
          <a:p>
            <a:pPr algn="l"/>
            <a:r>
              <a:rPr sz="1400" b="0">
                <a:solidFill>
                  <a:srgbClr val="1C1C1C"/>
                </a:solidFill>
                <a:latin typeface="Calibri"/>
              </a:rPr>
              <a:t>Inverting</a:t>
            </a:r>
          </a:p>
        </p:txBody>
      </p:sp>
      <p:sp>
        <p:nvSpPr>
          <p:cNvPr id="56" name="TextBox 55"/>
          <p:cNvSpPr txBox="1"/>
          <p:nvPr/>
        </p:nvSpPr>
        <p:spPr>
          <a:xfrm>
            <a:off x="8366760" y="5669280"/>
            <a:ext cx="3383280" cy="493776"/>
          </a:xfrm>
          <a:prstGeom prst="rect">
            <a:avLst/>
          </a:prstGeom>
          <a:noFill/>
        </p:spPr>
        <p:txBody>
          <a:bodyPr wrap="square" anchor="ctr"/>
          <a:lstStyle/>
          <a:p>
            <a:pPr algn="l"/>
            <a:r>
              <a:rPr sz="1400" b="0">
                <a:solidFill>
                  <a:srgbClr val="3D4A57"/>
                </a:solidFill>
                <a:latin typeface="Calibri"/>
              </a:rPr>
              <a:t>Hollow viscus. Parallel bites.</a:t>
            </a:r>
          </a:p>
        </p:txBody>
      </p:sp>
      <p:sp>
        <p:nvSpPr>
          <p:cNvPr id="57" name="Rectangle 56"/>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59" name="TextBox 58"/>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18  /  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Simple interrupted</a:t>
            </a:r>
          </a:p>
        </p:txBody>
      </p:sp>
      <p:sp>
        <p:nvSpPr>
          <p:cNvPr id="7" name="Rounded Rectangle 6"/>
          <p:cNvSpPr/>
          <p:nvPr/>
        </p:nvSpPr>
        <p:spPr>
          <a:xfrm>
            <a:off x="365760" y="1051560"/>
            <a:ext cx="5212080" cy="51663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051560"/>
            <a:ext cx="5212080" cy="38404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51560"/>
            <a:ext cx="5212080" cy="384048"/>
          </a:xfrm>
          <a:prstGeom prst="rect">
            <a:avLst/>
          </a:prstGeom>
          <a:noFill/>
        </p:spPr>
        <p:txBody>
          <a:bodyPr wrap="square" anchor="ctr"/>
          <a:lstStyle/>
          <a:p>
            <a:pPr algn="ctr"/>
            <a:r>
              <a:rPr sz="1600" b="1">
                <a:solidFill>
                  <a:srgbClr val="C5A35A"/>
                </a:solidFill>
                <a:latin typeface="Calibri"/>
              </a:rPr>
              <a:t>Schematic  ·  original</a:t>
            </a:r>
          </a:p>
        </p:txBody>
      </p:sp>
      <p:sp>
        <p:nvSpPr>
          <p:cNvPr id="10" name="Rectangle 9"/>
          <p:cNvSpPr/>
          <p:nvPr/>
        </p:nvSpPr>
        <p:spPr>
          <a:xfrm>
            <a:off x="594360" y="2743200"/>
            <a:ext cx="3108960" cy="36576"/>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 y="2761488"/>
            <a:ext cx="201168" cy="3200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2660904"/>
            <a:ext cx="32004" cy="20116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45336" y="2761488"/>
            <a:ext cx="201168" cy="3200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45920" y="2660904"/>
            <a:ext cx="32004" cy="20116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76856" y="2761488"/>
            <a:ext cx="201168" cy="3200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77440" y="2660904"/>
            <a:ext cx="32004" cy="20116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08376" y="2761488"/>
            <a:ext cx="201168" cy="3200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08960" y="2660904"/>
            <a:ext cx="32004" cy="20116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760720" y="1051560"/>
            <a:ext cx="5989320" cy="51663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20" y="1051560"/>
            <a:ext cx="91440" cy="516636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16752" y="1161288"/>
            <a:ext cx="5623560" cy="329184"/>
          </a:xfrm>
          <a:prstGeom prst="rect">
            <a:avLst/>
          </a:prstGeom>
          <a:noFill/>
        </p:spPr>
        <p:txBody>
          <a:bodyPr wrap="square" anchor="t"/>
          <a:lstStyle/>
          <a:p>
            <a:pPr algn="l"/>
            <a:r>
              <a:rPr sz="1800" b="1">
                <a:solidFill>
                  <a:srgbClr val="0B2C4A"/>
                </a:solidFill>
                <a:latin typeface="Calibri"/>
              </a:rPr>
              <a:t>What to say</a:t>
            </a:r>
          </a:p>
        </p:txBody>
      </p:sp>
      <p:sp>
        <p:nvSpPr>
          <p:cNvPr id="22" name="TextBox 21"/>
          <p:cNvSpPr txBox="1"/>
          <p:nvPr/>
        </p:nvSpPr>
        <p:spPr>
          <a:xfrm>
            <a:off x="6016752" y="1508760"/>
            <a:ext cx="5623560" cy="4599432"/>
          </a:xfrm>
          <a:prstGeom prst="rect">
            <a:avLst/>
          </a:prstGeom>
          <a:noFill/>
        </p:spPr>
        <p:txBody>
          <a:bodyPr wrap="square" anchor="t"/>
          <a:lstStyle/>
          <a:p>
            <a:pPr algn="l"/>
            <a:r>
              <a:rPr sz="1600" b="0">
                <a:solidFill>
                  <a:srgbClr val="3D4A57"/>
                </a:solidFill>
                <a:latin typeface="Calibri"/>
              </a:rPr>
              <a:t>Interrupted. Appositional. The teaching default for skin.
You can change tension stitch by stitch. One failed stitch is not a dehiscence.
Not a tension suture. If the edges gape, fix the tension.
Leave room for swelling in dogs and cats.
Confirm bite spacing in Fossum or the lab. Do not invent millimeters.</a:t>
            </a:r>
          </a:p>
        </p:txBody>
      </p:sp>
      <p:sp>
        <p:nvSpPr>
          <p:cNvPr id="23" name="Rectangle 22"/>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5" name="TextBox 24"/>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19  /  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Simple continuous</a:t>
            </a:r>
          </a:p>
        </p:txBody>
      </p:sp>
      <p:sp>
        <p:nvSpPr>
          <p:cNvPr id="7" name="Rounded Rectangle 6"/>
          <p:cNvSpPr/>
          <p:nvPr/>
        </p:nvSpPr>
        <p:spPr>
          <a:xfrm>
            <a:off x="365760" y="1051560"/>
            <a:ext cx="5212080" cy="51663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051560"/>
            <a:ext cx="5212080" cy="38404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51560"/>
            <a:ext cx="5212080" cy="384048"/>
          </a:xfrm>
          <a:prstGeom prst="rect">
            <a:avLst/>
          </a:prstGeom>
          <a:noFill/>
        </p:spPr>
        <p:txBody>
          <a:bodyPr wrap="square" anchor="ctr"/>
          <a:lstStyle/>
          <a:p>
            <a:pPr algn="ctr"/>
            <a:r>
              <a:rPr sz="1600" b="1">
                <a:solidFill>
                  <a:srgbClr val="C5A35A"/>
                </a:solidFill>
                <a:latin typeface="Calibri"/>
              </a:rPr>
              <a:t>Schematic  ·  original</a:t>
            </a:r>
          </a:p>
        </p:txBody>
      </p:sp>
      <p:sp>
        <p:nvSpPr>
          <p:cNvPr id="10" name="Rectangle 9"/>
          <p:cNvSpPr/>
          <p:nvPr/>
        </p:nvSpPr>
        <p:spPr>
          <a:xfrm>
            <a:off x="594360" y="2743200"/>
            <a:ext cx="3108960" cy="36576"/>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606040"/>
            <a:ext cx="2834640" cy="5486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760720" y="1051560"/>
            <a:ext cx="5989320" cy="51663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60720" y="1051560"/>
            <a:ext cx="91440" cy="51663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6752" y="1161288"/>
            <a:ext cx="5623560" cy="329184"/>
          </a:xfrm>
          <a:prstGeom prst="rect">
            <a:avLst/>
          </a:prstGeom>
          <a:noFill/>
        </p:spPr>
        <p:txBody>
          <a:bodyPr wrap="square" anchor="t"/>
          <a:lstStyle/>
          <a:p>
            <a:pPr algn="l"/>
            <a:r>
              <a:rPr sz="1800" b="1">
                <a:solidFill>
                  <a:srgbClr val="0B2C4A"/>
                </a:solidFill>
                <a:latin typeface="Calibri"/>
              </a:rPr>
              <a:t>What to say</a:t>
            </a:r>
          </a:p>
        </p:txBody>
      </p:sp>
      <p:sp>
        <p:nvSpPr>
          <p:cNvPr id="15" name="TextBox 14"/>
          <p:cNvSpPr txBox="1"/>
          <p:nvPr/>
        </p:nvSpPr>
        <p:spPr>
          <a:xfrm>
            <a:off x="6016752" y="1508760"/>
            <a:ext cx="5623560" cy="4599432"/>
          </a:xfrm>
          <a:prstGeom prst="rect">
            <a:avLst/>
          </a:prstGeom>
          <a:noFill/>
        </p:spPr>
        <p:txBody>
          <a:bodyPr wrap="square" anchor="t"/>
          <a:lstStyle/>
          <a:p>
            <a:pPr algn="l"/>
            <a:r>
              <a:rPr sz="1600" b="0">
                <a:solidFill>
                  <a:srgbClr val="3D4A57"/>
                </a:solidFill>
                <a:latin typeface="Calibri"/>
              </a:rPr>
              <a:t>Continuous. Appositional. Faster. Better seal. Less foreign material.
The whole line fails if a knot or the strand fails.
Adjust after each bite. Do not crush the suture with instruments.
A long clean subcutis or a hollow-organ first layer is a common home. Skin on a swelling patient is not the automatic home.
Confirm construction in Fossum.</a:t>
            </a:r>
          </a:p>
        </p:txBody>
      </p:sp>
      <p:sp>
        <p:nvSpPr>
          <p:cNvPr id="16" name="Rectangle 15"/>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8" name="TextBox 17"/>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20  /  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Cruciate</a:t>
            </a:r>
          </a:p>
        </p:txBody>
      </p:sp>
      <p:sp>
        <p:nvSpPr>
          <p:cNvPr id="7" name="Rounded Rectangle 6"/>
          <p:cNvSpPr/>
          <p:nvPr/>
        </p:nvSpPr>
        <p:spPr>
          <a:xfrm>
            <a:off x="365760" y="1051560"/>
            <a:ext cx="5212080" cy="51663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051560"/>
            <a:ext cx="5212080" cy="38404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51560"/>
            <a:ext cx="5212080" cy="384048"/>
          </a:xfrm>
          <a:prstGeom prst="rect">
            <a:avLst/>
          </a:prstGeom>
          <a:noFill/>
        </p:spPr>
        <p:txBody>
          <a:bodyPr wrap="square" anchor="ctr"/>
          <a:lstStyle/>
          <a:p>
            <a:pPr algn="ctr"/>
            <a:r>
              <a:rPr sz="1600" b="1">
                <a:solidFill>
                  <a:srgbClr val="C5A35A"/>
                </a:solidFill>
                <a:latin typeface="Calibri"/>
              </a:rPr>
              <a:t>Schematic  ·  original</a:t>
            </a:r>
          </a:p>
        </p:txBody>
      </p:sp>
      <p:sp>
        <p:nvSpPr>
          <p:cNvPr id="10" name="Rectangle 9"/>
          <p:cNvSpPr/>
          <p:nvPr/>
        </p:nvSpPr>
        <p:spPr>
          <a:xfrm>
            <a:off x="594360" y="2788920"/>
            <a:ext cx="3108960" cy="36576"/>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48740" y="2807208"/>
            <a:ext cx="502920" cy="3200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00200" y="2555748"/>
            <a:ext cx="32004" cy="50292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54580" y="2807208"/>
            <a:ext cx="502920" cy="3200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6040" y="2555748"/>
            <a:ext cx="32004" cy="50292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760720" y="1051560"/>
            <a:ext cx="5989320" cy="51663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760720" y="1051560"/>
            <a:ext cx="91440" cy="516636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16752" y="1161288"/>
            <a:ext cx="5623560" cy="329184"/>
          </a:xfrm>
          <a:prstGeom prst="rect">
            <a:avLst/>
          </a:prstGeom>
          <a:noFill/>
        </p:spPr>
        <p:txBody>
          <a:bodyPr wrap="square" anchor="t"/>
          <a:lstStyle/>
          <a:p>
            <a:pPr algn="l"/>
            <a:r>
              <a:rPr sz="1800" b="1">
                <a:solidFill>
                  <a:srgbClr val="0B2C4A"/>
                </a:solidFill>
                <a:latin typeface="Calibri"/>
              </a:rPr>
              <a:t>What to say</a:t>
            </a:r>
          </a:p>
        </p:txBody>
      </p:sp>
      <p:sp>
        <p:nvSpPr>
          <p:cNvPr id="18" name="TextBox 17"/>
          <p:cNvSpPr txBox="1"/>
          <p:nvPr/>
        </p:nvSpPr>
        <p:spPr>
          <a:xfrm>
            <a:off x="6016752" y="1508760"/>
            <a:ext cx="5623560" cy="4599432"/>
          </a:xfrm>
          <a:prstGeom prst="rect">
            <a:avLst/>
          </a:prstGeom>
          <a:noFill/>
        </p:spPr>
        <p:txBody>
          <a:bodyPr wrap="square" anchor="t"/>
          <a:lstStyle/>
          <a:p>
            <a:pPr algn="l"/>
            <a:r>
              <a:rPr sz="1600" b="0">
                <a:solidFill>
                  <a:srgbClr val="3D4A57"/>
                </a:solidFill>
                <a:latin typeface="Calibri"/>
              </a:rPr>
              <a:t>Interrupted. Appositional. A tension suture (WCVM).
Two simple interrupted bites share one knot, so the X sits over the incision.
Less blood-supply cost than a horizontal mattress, more than a simple interrupted.
Leave the loop loose enough for swelling.
Useful on some skin closures when you want fewer knots than a row of simples.</a:t>
            </a:r>
          </a:p>
        </p:txBody>
      </p:sp>
      <p:sp>
        <p:nvSpPr>
          <p:cNvPr id="19" name="Rectangle 18"/>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1" name="TextBox 20"/>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21  /  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Horizontal mattress</a:t>
            </a:r>
          </a:p>
        </p:txBody>
      </p:sp>
      <p:sp>
        <p:nvSpPr>
          <p:cNvPr id="7" name="Rounded Rectangle 6"/>
          <p:cNvSpPr/>
          <p:nvPr/>
        </p:nvSpPr>
        <p:spPr>
          <a:xfrm>
            <a:off x="411480" y="1097280"/>
            <a:ext cx="562356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51206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5257800" cy="329184"/>
          </a:xfrm>
          <a:prstGeom prst="rect">
            <a:avLst/>
          </a:prstGeom>
          <a:noFill/>
        </p:spPr>
        <p:txBody>
          <a:bodyPr wrap="square" anchor="t"/>
          <a:lstStyle/>
          <a:p>
            <a:pPr algn="l"/>
            <a:r>
              <a:rPr sz="1800" b="1">
                <a:solidFill>
                  <a:srgbClr val="0B2C4A"/>
                </a:solidFill>
                <a:latin typeface="Calibri"/>
              </a:rPr>
              <a:t>Construction</a:t>
            </a:r>
          </a:p>
        </p:txBody>
      </p:sp>
      <p:sp>
        <p:nvSpPr>
          <p:cNvPr id="10" name="TextBox 9"/>
          <p:cNvSpPr txBox="1"/>
          <p:nvPr/>
        </p:nvSpPr>
        <p:spPr>
          <a:xfrm>
            <a:off x="667512" y="1554480"/>
            <a:ext cx="5257800" cy="4553712"/>
          </a:xfrm>
          <a:prstGeom prst="rect">
            <a:avLst/>
          </a:prstGeom>
          <a:noFill/>
        </p:spPr>
        <p:txBody>
          <a:bodyPr wrap="square" anchor="t"/>
          <a:lstStyle/>
          <a:p>
            <a:pPr algn="l"/>
            <a:r>
              <a:rPr sz="1600" b="0">
                <a:solidFill>
                  <a:srgbClr val="3D4A57"/>
                </a:solidFill>
                <a:latin typeface="Calibri"/>
              </a:rPr>
              <a:t>Interrupted. Appositional to everting, depending on how hard you pull (WCVM).
The second bite is parallel to the first. Tension sits lateral to the wound (Merck Professional mattress pages).
Major blood-supply cost if overtightened.
Useful when you need to spread load. Dangerous on thin or already ischemic skin.</a:t>
            </a:r>
          </a:p>
        </p:txBody>
      </p:sp>
      <p:sp>
        <p:nvSpPr>
          <p:cNvPr id="11" name="Rounded Rectangle 10"/>
          <p:cNvSpPr/>
          <p:nvPr/>
        </p:nvSpPr>
        <p:spPr>
          <a:xfrm>
            <a:off x="6217920" y="1097280"/>
            <a:ext cx="553212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91440" cy="512064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207008"/>
            <a:ext cx="5166360" cy="329184"/>
          </a:xfrm>
          <a:prstGeom prst="rect">
            <a:avLst/>
          </a:prstGeom>
          <a:noFill/>
        </p:spPr>
        <p:txBody>
          <a:bodyPr wrap="square" anchor="t"/>
          <a:lstStyle/>
          <a:p>
            <a:pPr algn="l"/>
            <a:r>
              <a:rPr sz="1800" b="1">
                <a:solidFill>
                  <a:srgbClr val="0B2C4A"/>
                </a:solidFill>
                <a:latin typeface="Calibri"/>
              </a:rPr>
              <a:t>Do not</a:t>
            </a:r>
          </a:p>
        </p:txBody>
      </p:sp>
      <p:sp>
        <p:nvSpPr>
          <p:cNvPr id="14" name="TextBox 13"/>
          <p:cNvSpPr txBox="1"/>
          <p:nvPr/>
        </p:nvSpPr>
        <p:spPr>
          <a:xfrm>
            <a:off x="6473952" y="1554480"/>
            <a:ext cx="5166360" cy="4553712"/>
          </a:xfrm>
          <a:prstGeom prst="rect">
            <a:avLst/>
          </a:prstGeom>
          <a:noFill/>
        </p:spPr>
        <p:txBody>
          <a:bodyPr wrap="square" anchor="t"/>
          <a:lstStyle/>
          <a:p>
            <a:pPr algn="l"/>
            <a:r>
              <a:rPr sz="1600" b="0">
                <a:solidFill>
                  <a:srgbClr val="3D4A57"/>
                </a:solidFill>
                <a:latin typeface="Calibri"/>
              </a:rPr>
              <a:t>Do not use it to hide a closure that needed undermining.
Do not bury the edge until it blanches.
Stents or bolsters are a hospital conversation, not a homemade table.
Confirm bite geometry in Fossum or the lab.</a:t>
            </a:r>
          </a:p>
        </p:txBody>
      </p:sp>
      <p:sp>
        <p:nvSpPr>
          <p:cNvPr id="15" name="Rectangle 14"/>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7" name="TextBox 16"/>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22  /  40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Vertical mattress</a:t>
            </a:r>
          </a:p>
        </p:txBody>
      </p:sp>
      <p:sp>
        <p:nvSpPr>
          <p:cNvPr id="7" name="Rounded Rectangle 6"/>
          <p:cNvSpPr/>
          <p:nvPr/>
        </p:nvSpPr>
        <p:spPr>
          <a:xfrm>
            <a:off x="411480" y="1097280"/>
            <a:ext cx="562356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51206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5257800" cy="329184"/>
          </a:xfrm>
          <a:prstGeom prst="rect">
            <a:avLst/>
          </a:prstGeom>
          <a:noFill/>
        </p:spPr>
        <p:txBody>
          <a:bodyPr wrap="square" anchor="t"/>
          <a:lstStyle/>
          <a:p>
            <a:pPr algn="l"/>
            <a:r>
              <a:rPr sz="1800" b="1">
                <a:solidFill>
                  <a:srgbClr val="0B2C4A"/>
                </a:solidFill>
                <a:latin typeface="Calibri"/>
              </a:rPr>
              <a:t>Far-far, then near-near</a:t>
            </a:r>
          </a:p>
        </p:txBody>
      </p:sp>
      <p:sp>
        <p:nvSpPr>
          <p:cNvPr id="10" name="TextBox 9"/>
          <p:cNvSpPr txBox="1"/>
          <p:nvPr/>
        </p:nvSpPr>
        <p:spPr>
          <a:xfrm>
            <a:off x="667512" y="1554480"/>
            <a:ext cx="5257800" cy="4553712"/>
          </a:xfrm>
          <a:prstGeom prst="rect">
            <a:avLst/>
          </a:prstGeom>
          <a:noFill/>
        </p:spPr>
        <p:txBody>
          <a:bodyPr wrap="square" anchor="t"/>
          <a:lstStyle/>
          <a:p>
            <a:pPr algn="l"/>
            <a:r>
              <a:rPr sz="1600" b="0">
                <a:solidFill>
                  <a:srgbClr val="3D4A57"/>
                </a:solidFill>
                <a:latin typeface="Calibri"/>
              </a:rPr>
              <a:t>Interrupted. Everting. A tension suture (WCVM).
Merck Professional: one wide-deep loop, then one narrow-shallow loop. Far-far, then near-near.
Aligns deep and superficial tissue in one stitch.
Less blood-supply cost than a horizontal mattress, more than a simple interrupted.</a:t>
            </a:r>
          </a:p>
        </p:txBody>
      </p:sp>
      <p:sp>
        <p:nvSpPr>
          <p:cNvPr id="11" name="Rounded Rectangle 10"/>
          <p:cNvSpPr/>
          <p:nvPr/>
        </p:nvSpPr>
        <p:spPr>
          <a:xfrm>
            <a:off x="6217920" y="1097280"/>
            <a:ext cx="553212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91440" cy="512064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207008"/>
            <a:ext cx="5166360" cy="329184"/>
          </a:xfrm>
          <a:prstGeom prst="rect">
            <a:avLst/>
          </a:prstGeom>
          <a:noFill/>
        </p:spPr>
        <p:txBody>
          <a:bodyPr wrap="square" anchor="t"/>
          <a:lstStyle/>
          <a:p>
            <a:pPr algn="l"/>
            <a:r>
              <a:rPr sz="1800" b="1">
                <a:solidFill>
                  <a:srgbClr val="0B2C4A"/>
                </a:solidFill>
                <a:latin typeface="Calibri"/>
              </a:rPr>
              <a:t>Do not</a:t>
            </a:r>
          </a:p>
        </p:txBody>
      </p:sp>
      <p:sp>
        <p:nvSpPr>
          <p:cNvPr id="14" name="TextBox 13"/>
          <p:cNvSpPr txBox="1"/>
          <p:nvPr/>
        </p:nvSpPr>
        <p:spPr>
          <a:xfrm>
            <a:off x="6473952" y="1554480"/>
            <a:ext cx="5166360" cy="4553712"/>
          </a:xfrm>
          <a:prstGeom prst="rect">
            <a:avLst/>
          </a:prstGeom>
          <a:noFill/>
        </p:spPr>
        <p:txBody>
          <a:bodyPr wrap="square" anchor="t"/>
          <a:lstStyle/>
          <a:p>
            <a:pPr algn="l"/>
            <a:r>
              <a:rPr sz="1600" b="0">
                <a:solidFill>
                  <a:srgbClr val="3D4A57"/>
                </a:solidFill>
                <a:latin typeface="Calibri"/>
              </a:rPr>
              <a:t>Do not place the near-near first. The shallow loop can cut the skin.
Do not treat eversion as a cosmetic win on dog or cat skin.
Cross-hatching and ischemia are the published costs (Merck).
Confirm distances in Fossum or the lab. Do not invent millimeters.</a:t>
            </a:r>
          </a:p>
        </p:txBody>
      </p:sp>
      <p:sp>
        <p:nvSpPr>
          <p:cNvPr id="15" name="Rectangle 14"/>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7" name="TextBox 16"/>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23  /  40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Near and far patterns</a:t>
            </a:r>
          </a:p>
        </p:txBody>
      </p:sp>
      <p:sp>
        <p:nvSpPr>
          <p:cNvPr id="7" name="TextBox 6"/>
          <p:cNvSpPr txBox="1"/>
          <p:nvPr/>
        </p:nvSpPr>
        <p:spPr>
          <a:xfrm>
            <a:off x="502920" y="1143000"/>
            <a:ext cx="11155680" cy="4937760"/>
          </a:xfrm>
          <a:prstGeom prst="rect">
            <a:avLst/>
          </a:prstGeom>
          <a:noFill/>
        </p:spPr>
        <p:txBody>
          <a:bodyPr wrap="square">
            <a:spAutoFit/>
          </a:bodyPr>
          <a:lstStyle/>
          <a:p>
            <a:pPr algn="l">
              <a:spcAft>
                <a:spcPts val="1200"/>
              </a:spcAft>
            </a:pPr>
            <a:r>
              <a:rPr sz="2000">
                <a:solidFill>
                  <a:srgbClr val="1C1C1C"/>
                </a:solidFill>
                <a:latin typeface="Calibri"/>
              </a:rPr>
              <a:t>▸  Interrupted. Appositional. A tension suture (WCVM).</a:t>
            </a:r>
          </a:p>
          <a:p>
            <a:pPr algn="l">
              <a:spcAft>
                <a:spcPts val="1200"/>
              </a:spcAft>
            </a:pPr>
            <a:r>
              <a:rPr sz="2000">
                <a:solidFill>
                  <a:srgbClr val="1C1C1C"/>
                </a:solidFill>
                <a:latin typeface="Calibri"/>
              </a:rPr>
              <a:t>▸  The far bite takes the load. The near bite apposes the edge.</a:t>
            </a:r>
          </a:p>
          <a:p>
            <a:pPr algn="l">
              <a:spcAft>
                <a:spcPts val="1200"/>
              </a:spcAft>
            </a:pPr>
            <a:r>
              <a:rPr sz="2000">
                <a:solidFill>
                  <a:srgbClr val="1C1C1C"/>
                </a:solidFill>
                <a:latin typeface="Calibri"/>
              </a:rPr>
              <a:t>▸  The name is the order of the bites: near-far-far-near, or far-near-near-far.</a:t>
            </a:r>
          </a:p>
          <a:p>
            <a:pPr algn="l">
              <a:spcAft>
                <a:spcPts val="1200"/>
              </a:spcAft>
            </a:pPr>
            <a:r>
              <a:rPr sz="2000">
                <a:solidFill>
                  <a:srgbClr val="1C1C1C"/>
                </a:solidFill>
                <a:latin typeface="Calibri"/>
              </a:rPr>
              <a:t>▸  Less blood-supply cost than a horizontal mattress, more than a simple interrupted.</a:t>
            </a:r>
          </a:p>
          <a:p>
            <a:pPr algn="l">
              <a:spcAft>
                <a:spcPts val="1200"/>
              </a:spcAft>
            </a:pPr>
            <a:r>
              <a:rPr sz="2000">
                <a:solidFill>
                  <a:srgbClr val="1C1C1C"/>
                </a:solidFill>
                <a:latin typeface="Calibri"/>
              </a:rPr>
              <a:t>▸  Use when you need both tension relief and edge-to-edge skin. Still fix the real tension first.</a:t>
            </a:r>
          </a:p>
        </p:txBody>
      </p:sp>
      <p:sp>
        <p:nvSpPr>
          <p:cNvPr id="8" name="Rectangle 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0" name="TextBox 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24  /  40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Ford interlocking</a:t>
            </a:r>
          </a:p>
        </p:txBody>
      </p:sp>
      <p:sp>
        <p:nvSpPr>
          <p:cNvPr id="7" name="TextBox 6"/>
          <p:cNvSpPr txBox="1"/>
          <p:nvPr/>
        </p:nvSpPr>
        <p:spPr>
          <a:xfrm>
            <a:off x="502920" y="1143000"/>
            <a:ext cx="11155680" cy="4937760"/>
          </a:xfrm>
          <a:prstGeom prst="rect">
            <a:avLst/>
          </a:prstGeom>
          <a:noFill/>
        </p:spPr>
        <p:txBody>
          <a:bodyPr wrap="square">
            <a:spAutoFit/>
          </a:bodyPr>
          <a:lstStyle/>
          <a:p>
            <a:pPr algn="l">
              <a:spcAft>
                <a:spcPts val="1200"/>
              </a:spcAft>
            </a:pPr>
            <a:r>
              <a:rPr sz="2000">
                <a:solidFill>
                  <a:srgbClr val="1C1C1C"/>
                </a:solidFill>
                <a:latin typeface="Calibri"/>
              </a:rPr>
              <a:t>▸  Continuous. Appositional. Blood-supply cost similar to simple continuous (WCVM).</a:t>
            </a:r>
          </a:p>
          <a:p>
            <a:pPr algn="l">
              <a:spcAft>
                <a:spcPts val="1200"/>
              </a:spcAft>
            </a:pPr>
            <a:r>
              <a:rPr sz="2000">
                <a:solidFill>
                  <a:srgbClr val="1C1C1C"/>
                </a:solidFill>
                <a:latin typeface="Calibri"/>
              </a:rPr>
              <a:t>▸  Each bite locks. You still have one strand, so one cut can still fail the line.</a:t>
            </a:r>
          </a:p>
          <a:p>
            <a:pPr algn="l">
              <a:spcAft>
                <a:spcPts val="1200"/>
              </a:spcAft>
            </a:pPr>
            <a:r>
              <a:rPr sz="2000">
                <a:solidFill>
                  <a:srgbClr val="1C1C1C"/>
                </a:solidFill>
                <a:latin typeface="Calibri"/>
              </a:rPr>
              <a:t>▸  Adjust tension with each bite. It is hard to fix at the end.</a:t>
            </a:r>
          </a:p>
          <a:p>
            <a:pPr algn="l">
              <a:spcAft>
                <a:spcPts val="1200"/>
              </a:spcAft>
            </a:pPr>
            <a:r>
              <a:rPr sz="2000">
                <a:solidFill>
                  <a:srgbClr val="1C1C1C"/>
                </a:solidFill>
                <a:latin typeface="Calibri"/>
              </a:rPr>
              <a:t>▸  Finish by making a loop and tying, or by a bite through intact skin off the incision (WCVM options A and B).</a:t>
            </a:r>
          </a:p>
          <a:p>
            <a:pPr algn="l">
              <a:spcAft>
                <a:spcPts val="1200"/>
              </a:spcAft>
            </a:pPr>
            <a:r>
              <a:rPr sz="2000">
                <a:solidFill>
                  <a:srgbClr val="1C1C1C"/>
                </a:solidFill>
                <a:latin typeface="Calibri"/>
              </a:rPr>
              <a:t>▸  A compromise between interrupted security and continuous speed. Not a reason to skip undermining.</a:t>
            </a:r>
          </a:p>
        </p:txBody>
      </p:sp>
      <p:sp>
        <p:nvSpPr>
          <p:cNvPr id="8" name="Rectangle 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0" name="TextBox 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25  /  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Intradermal or subcuticular</a:t>
            </a:r>
          </a:p>
        </p:txBody>
      </p:sp>
      <p:sp>
        <p:nvSpPr>
          <p:cNvPr id="7" name="Rounded Rectangle 6"/>
          <p:cNvSpPr/>
          <p:nvPr/>
        </p:nvSpPr>
        <p:spPr>
          <a:xfrm>
            <a:off x="411480" y="1097280"/>
            <a:ext cx="562356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51206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5257800" cy="329184"/>
          </a:xfrm>
          <a:prstGeom prst="rect">
            <a:avLst/>
          </a:prstGeom>
          <a:noFill/>
        </p:spPr>
        <p:txBody>
          <a:bodyPr wrap="square" anchor="t"/>
          <a:lstStyle/>
          <a:p>
            <a:pPr algn="l"/>
            <a:r>
              <a:rPr sz="1800" b="1">
                <a:solidFill>
                  <a:srgbClr val="0B2C4A"/>
                </a:solidFill>
                <a:latin typeface="Calibri"/>
              </a:rPr>
              <a:t>What it is</a:t>
            </a:r>
          </a:p>
        </p:txBody>
      </p:sp>
      <p:sp>
        <p:nvSpPr>
          <p:cNvPr id="10" name="TextBox 9"/>
          <p:cNvSpPr txBox="1"/>
          <p:nvPr/>
        </p:nvSpPr>
        <p:spPr>
          <a:xfrm>
            <a:off x="667512" y="1554480"/>
            <a:ext cx="5257800" cy="4553712"/>
          </a:xfrm>
          <a:prstGeom prst="rect">
            <a:avLst/>
          </a:prstGeom>
          <a:noFill/>
        </p:spPr>
        <p:txBody>
          <a:bodyPr wrap="square" anchor="t"/>
          <a:lstStyle/>
          <a:p>
            <a:pPr algn="l"/>
            <a:r>
              <a:rPr sz="1600" b="0">
                <a:solidFill>
                  <a:srgbClr val="3D4A57"/>
                </a:solidFill>
                <a:latin typeface="Calibri"/>
              </a:rPr>
              <a:t>Continuous. Appositional. Bites live in the dermis, as close to the surface as you can place them without exiting skin (WCVM).
Successive bites backtrack. Buried knots at both ends.
Minimal impact on skin blood supply if you do not strangulate.</a:t>
            </a:r>
          </a:p>
        </p:txBody>
      </p:sp>
      <p:sp>
        <p:nvSpPr>
          <p:cNvPr id="11" name="Rounded Rectangle 10"/>
          <p:cNvSpPr/>
          <p:nvPr/>
        </p:nvSpPr>
        <p:spPr>
          <a:xfrm>
            <a:off x="6217920" y="1097280"/>
            <a:ext cx="553212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91440" cy="512064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207008"/>
            <a:ext cx="5166360" cy="329184"/>
          </a:xfrm>
          <a:prstGeom prst="rect">
            <a:avLst/>
          </a:prstGeom>
          <a:noFill/>
        </p:spPr>
        <p:txBody>
          <a:bodyPr wrap="square" anchor="t"/>
          <a:lstStyle/>
          <a:p>
            <a:pPr algn="l"/>
            <a:r>
              <a:rPr sz="1800" b="1">
                <a:solidFill>
                  <a:srgbClr val="0B2C4A"/>
                </a:solidFill>
                <a:latin typeface="Calibri"/>
              </a:rPr>
              <a:t>What it is not</a:t>
            </a:r>
          </a:p>
        </p:txBody>
      </p:sp>
      <p:sp>
        <p:nvSpPr>
          <p:cNvPr id="14" name="TextBox 13"/>
          <p:cNvSpPr txBox="1"/>
          <p:nvPr/>
        </p:nvSpPr>
        <p:spPr>
          <a:xfrm>
            <a:off x="6473952" y="1554480"/>
            <a:ext cx="5166360" cy="4553712"/>
          </a:xfrm>
          <a:prstGeom prst="rect">
            <a:avLst/>
          </a:prstGeom>
          <a:noFill/>
        </p:spPr>
        <p:txBody>
          <a:bodyPr wrap="square" anchor="t"/>
          <a:lstStyle/>
          <a:p>
            <a:pPr algn="l"/>
            <a:r>
              <a:rPr sz="1600" b="0">
                <a:solidFill>
                  <a:srgbClr val="3D4A57"/>
                </a:solidFill>
                <a:latin typeface="Calibri"/>
              </a:rPr>
              <a:t>It is not a substitute for a dead-space layer.
It is not a reason to skip an E-collar conversation.
Forceps crushing the dermis leaves a bruise. WCVM: stabilize with thumb and finger, palm the forceps.
Burying the knot is a lab skill (WCVM Part 5). Week 8 owns the knot.</a:t>
            </a:r>
          </a:p>
        </p:txBody>
      </p:sp>
      <p:sp>
        <p:nvSpPr>
          <p:cNvPr id="15" name="Rectangle 14"/>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7" name="TextBox 16"/>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26  /  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Lembert</a:t>
            </a:r>
          </a:p>
        </p:txBody>
      </p:sp>
      <p:sp>
        <p:nvSpPr>
          <p:cNvPr id="7" name="TextBox 6"/>
          <p:cNvSpPr txBox="1"/>
          <p:nvPr/>
        </p:nvSpPr>
        <p:spPr>
          <a:xfrm>
            <a:off x="502920" y="1143000"/>
            <a:ext cx="11155680" cy="4937760"/>
          </a:xfrm>
          <a:prstGeom prst="rect">
            <a:avLst/>
          </a:prstGeom>
          <a:noFill/>
        </p:spPr>
        <p:txBody>
          <a:bodyPr wrap="square">
            <a:spAutoFit/>
          </a:bodyPr>
          <a:lstStyle/>
          <a:p>
            <a:pPr algn="l">
              <a:spcAft>
                <a:spcPts val="1200"/>
              </a:spcAft>
            </a:pPr>
            <a:r>
              <a:rPr sz="2000">
                <a:solidFill>
                  <a:srgbClr val="1C1C1C"/>
                </a:solidFill>
                <a:latin typeface="Calibri"/>
              </a:rPr>
              <a:t>▸  Usually continuous. Inverting. Bites run perpendicular to the incision: transverse Lembert (WCVM).</a:t>
            </a:r>
          </a:p>
          <a:p>
            <a:pPr algn="l">
              <a:spcAft>
                <a:spcPts val="1200"/>
              </a:spcAft>
            </a:pPr>
            <a:r>
              <a:rPr sz="2000">
                <a:solidFill>
                  <a:srgbClr val="1C1C1C"/>
                </a:solidFill>
                <a:latin typeface="Calibri"/>
              </a:rPr>
              <a:t>▸  On a hollow organ: serosa, muscularis, and submucosa. Not through mucosa.</a:t>
            </a:r>
          </a:p>
          <a:p>
            <a:pPr algn="l">
              <a:spcAft>
                <a:spcPts val="1200"/>
              </a:spcAft>
            </a:pPr>
            <a:r>
              <a:rPr sz="2000">
                <a:solidFill>
                  <a:srgbClr val="1C1C1C"/>
                </a:solidFill>
                <a:latin typeface="Calibri"/>
              </a:rPr>
              <a:t>▸  Farther from the edge means more inversion and a smaller lumen.</a:t>
            </a:r>
          </a:p>
          <a:p>
            <a:pPr algn="l">
              <a:spcAft>
                <a:spcPts val="1200"/>
              </a:spcAft>
            </a:pPr>
            <a:r>
              <a:rPr sz="2000">
                <a:solidFill>
                  <a:srgbClr val="1C1C1C"/>
                </a:solidFill>
                <a:latin typeface="Calibri"/>
              </a:rPr>
              <a:t>▸  More blood-supply cost than a simple continuous.</a:t>
            </a:r>
          </a:p>
          <a:p>
            <a:pPr algn="l">
              <a:spcAft>
                <a:spcPts val="1200"/>
              </a:spcAft>
            </a:pPr>
            <a:r>
              <a:rPr sz="2000">
                <a:solidFill>
                  <a:srgbClr val="1C1C1C"/>
                </a:solidFill>
                <a:latin typeface="Calibri"/>
              </a:rPr>
              <a:t>▸  Confirm the organ and the lumen size before you invert. A small-intestine lumen is not a stomach lumen.</a:t>
            </a:r>
          </a:p>
        </p:txBody>
      </p:sp>
      <p:sp>
        <p:nvSpPr>
          <p:cNvPr id="8" name="Rectangle 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0" name="TextBox 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27  /  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Cushing versus Connell</a:t>
            </a:r>
          </a:p>
        </p:txBody>
      </p:sp>
      <p:sp>
        <p:nvSpPr>
          <p:cNvPr id="7" name="Rounded Rectangle 6"/>
          <p:cNvSpPr/>
          <p:nvPr/>
        </p:nvSpPr>
        <p:spPr>
          <a:xfrm>
            <a:off x="411480" y="1097280"/>
            <a:ext cx="562356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51206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5257800" cy="329184"/>
          </a:xfrm>
          <a:prstGeom prst="rect">
            <a:avLst/>
          </a:prstGeom>
          <a:noFill/>
        </p:spPr>
        <p:txBody>
          <a:bodyPr wrap="square" anchor="t"/>
          <a:lstStyle/>
          <a:p>
            <a:pPr algn="l"/>
            <a:r>
              <a:rPr sz="1800" b="1">
                <a:solidFill>
                  <a:srgbClr val="0B2C4A"/>
                </a:solidFill>
                <a:latin typeface="Calibri"/>
              </a:rPr>
              <a:t>Cushing  (no L)</a:t>
            </a:r>
          </a:p>
        </p:txBody>
      </p:sp>
      <p:sp>
        <p:nvSpPr>
          <p:cNvPr id="10" name="TextBox 9"/>
          <p:cNvSpPr txBox="1"/>
          <p:nvPr/>
        </p:nvSpPr>
        <p:spPr>
          <a:xfrm>
            <a:off x="667512" y="1554480"/>
            <a:ext cx="5257800" cy="4553712"/>
          </a:xfrm>
          <a:prstGeom prst="rect">
            <a:avLst/>
          </a:prstGeom>
          <a:noFill/>
        </p:spPr>
        <p:txBody>
          <a:bodyPr wrap="square" anchor="t"/>
          <a:lstStyle/>
          <a:p>
            <a:pPr algn="l"/>
            <a:r>
              <a:rPr sz="1600" b="0">
                <a:solidFill>
                  <a:srgbClr val="3D4A57"/>
                </a:solidFill>
                <a:latin typeface="Calibri"/>
              </a:rPr>
              <a:t>Continuous. Inverting. Bites run parallel to the incision.
Does not enter the lumen. Serosa, muscularis, submucosa only (WCVM).
Memory: Cushing does not go in.</a:t>
            </a:r>
          </a:p>
        </p:txBody>
      </p:sp>
      <p:sp>
        <p:nvSpPr>
          <p:cNvPr id="11" name="Rounded Rectangle 10"/>
          <p:cNvSpPr/>
          <p:nvPr/>
        </p:nvSpPr>
        <p:spPr>
          <a:xfrm>
            <a:off x="6217920" y="1097280"/>
            <a:ext cx="553212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91440" cy="512064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207008"/>
            <a:ext cx="5166360" cy="329184"/>
          </a:xfrm>
          <a:prstGeom prst="rect">
            <a:avLst/>
          </a:prstGeom>
          <a:noFill/>
        </p:spPr>
        <p:txBody>
          <a:bodyPr wrap="square" anchor="t"/>
          <a:lstStyle/>
          <a:p>
            <a:pPr algn="l"/>
            <a:r>
              <a:rPr sz="1800" b="1">
                <a:solidFill>
                  <a:srgbClr val="0B2C4A"/>
                </a:solidFill>
                <a:latin typeface="Calibri"/>
              </a:rPr>
              <a:t>Connell  (has L)</a:t>
            </a:r>
          </a:p>
        </p:txBody>
      </p:sp>
      <p:sp>
        <p:nvSpPr>
          <p:cNvPr id="14" name="TextBox 13"/>
          <p:cNvSpPr txBox="1"/>
          <p:nvPr/>
        </p:nvSpPr>
        <p:spPr>
          <a:xfrm>
            <a:off x="6473952" y="1554480"/>
            <a:ext cx="5166360" cy="4553712"/>
          </a:xfrm>
          <a:prstGeom prst="rect">
            <a:avLst/>
          </a:prstGeom>
          <a:noFill/>
        </p:spPr>
        <p:txBody>
          <a:bodyPr wrap="square" anchor="t"/>
          <a:lstStyle/>
          <a:p>
            <a:pPr algn="l"/>
            <a:r>
              <a:rPr sz="1600" b="0">
                <a:solidFill>
                  <a:srgbClr val="3D4A57"/>
                </a:solidFill>
                <a:latin typeface="Calibri"/>
              </a:rPr>
              <a:t>Continuous. Inverting. Bites also run parallel.
Does enter the lumen (WCVM).
Memory: Connell goes into the lumen. The extra letter is the extra depth.
More contamination risk. Confirm in Fossum when this is the first layer versus an oversew.</a:t>
            </a:r>
          </a:p>
        </p:txBody>
      </p:sp>
      <p:sp>
        <p:nvSpPr>
          <p:cNvPr id="15" name="Rectangle 14"/>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7" name="TextBox 16"/>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28  /  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Purse-string and other named closures</a:t>
            </a:r>
          </a:p>
        </p:txBody>
      </p:sp>
      <p:sp>
        <p:nvSpPr>
          <p:cNvPr id="7" name="TextBox 6"/>
          <p:cNvSpPr txBox="1"/>
          <p:nvPr/>
        </p:nvSpPr>
        <p:spPr>
          <a:xfrm>
            <a:off x="502920" y="1143000"/>
            <a:ext cx="11155680" cy="4937760"/>
          </a:xfrm>
          <a:prstGeom prst="rect">
            <a:avLst/>
          </a:prstGeom>
          <a:noFill/>
        </p:spPr>
        <p:txBody>
          <a:bodyPr wrap="square">
            <a:spAutoFit/>
          </a:bodyPr>
          <a:lstStyle/>
          <a:p>
            <a:pPr algn="l">
              <a:spcAft>
                <a:spcPts val="1200"/>
              </a:spcAft>
            </a:pPr>
            <a:r>
              <a:rPr sz="2000">
                <a:solidFill>
                  <a:srgbClr val="1C1C1C"/>
                </a:solidFill>
                <a:latin typeface="Calibri"/>
              </a:rPr>
              <a:t>▸  A purse-string is a circular continuous bite that cinches an opening. Name it. Confirm the organ and the material in Fossum or the lab.</a:t>
            </a:r>
          </a:p>
          <a:p>
            <a:pPr algn="l">
              <a:spcAft>
                <a:spcPts val="1200"/>
              </a:spcAft>
            </a:pPr>
            <a:r>
              <a:rPr sz="2000">
                <a:solidFill>
                  <a:srgbClr val="1C1C1C"/>
                </a:solidFill>
                <a:latin typeface="Calibri"/>
              </a:rPr>
              <a:t>▸  Parker-Kerr and other oversew names live in the textbook. Do not fake a construction on the board.</a:t>
            </a:r>
          </a:p>
          <a:p>
            <a:pPr algn="l">
              <a:spcAft>
                <a:spcPts val="1200"/>
              </a:spcAft>
            </a:pPr>
            <a:r>
              <a:rPr sz="2000">
                <a:solidFill>
                  <a:srgbClr val="1C1C1C"/>
                </a:solidFill>
                <a:latin typeface="Calibri"/>
              </a:rPr>
              <a:t>▸  Staples and glue are hospital tools, not this hour’s pattern list.</a:t>
            </a:r>
          </a:p>
          <a:p>
            <a:pPr algn="l">
              <a:spcAft>
                <a:spcPts val="1200"/>
              </a:spcAft>
            </a:pPr>
            <a:r>
              <a:rPr sz="2000">
                <a:solidFill>
                  <a:srgbClr val="1C1C1C"/>
                </a:solidFill>
                <a:latin typeface="Calibri"/>
              </a:rPr>
              <a:t>▸  If you cannot draw the path of the needle, you do not know the pattern yet.</a:t>
            </a:r>
          </a:p>
        </p:txBody>
      </p:sp>
      <p:sp>
        <p:nvSpPr>
          <p:cNvPr id="8" name="Rectangle 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0" name="TextBox 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29  /  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10972800" cy="365760"/>
          </a:xfrm>
          <a:prstGeom prst="rect">
            <a:avLst/>
          </a:prstGeom>
          <a:noFill/>
        </p:spPr>
        <p:txBody>
          <a:bodyPr wrap="square" anchor="t"/>
          <a:lstStyle/>
          <a:p>
            <a:pPr algn="l"/>
            <a:r>
              <a:rPr sz="1400" b="1">
                <a:solidFill>
                  <a:srgbClr val="C5A35A"/>
                </a:solidFill>
                <a:latin typeface="Calibri"/>
              </a:rPr>
              <a:t>PART 4</a:t>
            </a:r>
          </a:p>
        </p:txBody>
      </p:sp>
      <p:sp>
        <p:nvSpPr>
          <p:cNvPr id="6" name="TextBox 5"/>
          <p:cNvSpPr txBox="1"/>
          <p:nvPr/>
        </p:nvSpPr>
        <p:spPr>
          <a:xfrm>
            <a:off x="640080" y="2331720"/>
            <a:ext cx="10972800" cy="1005840"/>
          </a:xfrm>
          <a:prstGeom prst="rect">
            <a:avLst/>
          </a:prstGeom>
          <a:noFill/>
        </p:spPr>
        <p:txBody>
          <a:bodyPr wrap="square" anchor="t"/>
          <a:lstStyle/>
          <a:p>
            <a:pPr algn="l"/>
            <a:r>
              <a:rPr sz="3200" b="1">
                <a:solidFill>
                  <a:srgbClr val="FFFFFF"/>
                </a:solidFill>
                <a:latin typeface="Calibri"/>
              </a:rPr>
              <a:t>Layered closure</a:t>
            </a:r>
          </a:p>
        </p:txBody>
      </p:sp>
      <p:sp>
        <p:nvSpPr>
          <p:cNvPr id="7" name="TextBox 6"/>
          <p:cNvSpPr txBox="1"/>
          <p:nvPr/>
        </p:nvSpPr>
        <p:spPr>
          <a:xfrm>
            <a:off x="640080" y="3429000"/>
            <a:ext cx="10972800" cy="640080"/>
          </a:xfrm>
          <a:prstGeom prst="rect">
            <a:avLst/>
          </a:prstGeom>
          <a:noFill/>
        </p:spPr>
        <p:txBody>
          <a:bodyPr wrap="square" anchor="t"/>
          <a:lstStyle/>
          <a:p>
            <a:pPr algn="l"/>
            <a:r>
              <a:rPr sz="1800" b="0">
                <a:solidFill>
                  <a:srgbClr val="F4EBD3"/>
                </a:solidFill>
                <a:latin typeface="Calibri"/>
              </a:rPr>
              <a:t>Like tissue to like tissue. Then check the mistakes.</a:t>
            </a:r>
          </a:p>
        </p:txBody>
      </p:sp>
      <p:sp>
        <p:nvSpPr>
          <p:cNvPr id="8" name="Rounded Rectangle 7"/>
          <p:cNvSpPr/>
          <p:nvPr/>
        </p:nvSpPr>
        <p:spPr>
          <a:xfrm>
            <a:off x="640080" y="4297680"/>
            <a:ext cx="2194560" cy="384048"/>
          </a:xfrm>
          <a:prstGeom prst="roundRect">
            <a:avLst>
              <a:gd name="adj" fmla="val 8000"/>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97680"/>
            <a:ext cx="2194560" cy="384048"/>
          </a:xfrm>
          <a:prstGeom prst="rect">
            <a:avLst/>
          </a:prstGeom>
          <a:noFill/>
        </p:spPr>
        <p:txBody>
          <a:bodyPr wrap="square" anchor="ctr"/>
          <a:lstStyle/>
          <a:p>
            <a:pPr algn="ctr"/>
            <a:r>
              <a:rPr sz="1400" b="1">
                <a:solidFill>
                  <a:srgbClr val="0B2C4A"/>
                </a:solidFill>
                <a:latin typeface="Calibri"/>
              </a:rPr>
              <a:t>10 minutes</a:t>
            </a:r>
          </a:p>
        </p:txBody>
      </p:sp>
      <p:sp>
        <p:nvSpPr>
          <p:cNvPr id="10" name="TextBox 9"/>
          <p:cNvSpPr txBox="1"/>
          <p:nvPr/>
        </p:nvSpPr>
        <p:spPr>
          <a:xfrm>
            <a:off x="10241280" y="6565392"/>
            <a:ext cx="1554480" cy="292608"/>
          </a:xfrm>
          <a:prstGeom prst="rect">
            <a:avLst/>
          </a:prstGeom>
          <a:noFill/>
        </p:spPr>
        <p:txBody>
          <a:bodyPr wrap="square" anchor="ctr"/>
          <a:lstStyle/>
          <a:p>
            <a:pPr algn="r"/>
            <a:r>
              <a:rPr sz="1200" b="0">
                <a:solidFill>
                  <a:srgbClr val="C5A35A"/>
                </a:solidFill>
                <a:latin typeface="Calibri"/>
              </a:rPr>
              <a:t>30  /  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Close in layers</a:t>
            </a:r>
          </a:p>
        </p:txBody>
      </p:sp>
      <p:sp>
        <p:nvSpPr>
          <p:cNvPr id="7" name="Rounded Rectangle 6"/>
          <p:cNvSpPr/>
          <p:nvPr/>
        </p:nvSpPr>
        <p:spPr>
          <a:xfrm>
            <a:off x="457200" y="1097280"/>
            <a:ext cx="11247120" cy="1508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128016" cy="150876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261872"/>
            <a:ext cx="10607040" cy="411480"/>
          </a:xfrm>
          <a:prstGeom prst="rect">
            <a:avLst/>
          </a:prstGeom>
          <a:noFill/>
        </p:spPr>
        <p:txBody>
          <a:bodyPr wrap="square" anchor="t"/>
          <a:lstStyle/>
          <a:p>
            <a:pPr algn="l"/>
            <a:r>
              <a:rPr sz="2200" b="1">
                <a:solidFill>
                  <a:srgbClr val="0B2C4A"/>
                </a:solidFill>
                <a:latin typeface="Calibri"/>
              </a:rPr>
              <a:t>1. Body wall or linea</a:t>
            </a:r>
          </a:p>
        </p:txBody>
      </p:sp>
      <p:sp>
        <p:nvSpPr>
          <p:cNvPr id="10" name="TextBox 9"/>
          <p:cNvSpPr txBox="1"/>
          <p:nvPr/>
        </p:nvSpPr>
        <p:spPr>
          <a:xfrm>
            <a:off x="822960" y="1737360"/>
            <a:ext cx="10607040" cy="685800"/>
          </a:xfrm>
          <a:prstGeom prst="rect">
            <a:avLst/>
          </a:prstGeom>
          <a:noFill/>
        </p:spPr>
        <p:txBody>
          <a:bodyPr wrap="square" anchor="t"/>
          <a:lstStyle/>
          <a:p>
            <a:pPr algn="l"/>
            <a:r>
              <a:rPr sz="1800" b="0">
                <a:solidFill>
                  <a:srgbClr val="3D4A57"/>
                </a:solidFill>
                <a:latin typeface="Calibri"/>
              </a:rPr>
              <a:t>Fascia holds the abdomen. Skin does not. A pretty skin line over a weak linea is a hernia waiting.</a:t>
            </a:r>
          </a:p>
        </p:txBody>
      </p:sp>
      <p:sp>
        <p:nvSpPr>
          <p:cNvPr id="11" name="Rounded Rectangle 10"/>
          <p:cNvSpPr/>
          <p:nvPr/>
        </p:nvSpPr>
        <p:spPr>
          <a:xfrm>
            <a:off x="457200" y="2743200"/>
            <a:ext cx="11247120" cy="1508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743200"/>
            <a:ext cx="128016" cy="150876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907792"/>
            <a:ext cx="10607040" cy="411480"/>
          </a:xfrm>
          <a:prstGeom prst="rect">
            <a:avLst/>
          </a:prstGeom>
          <a:noFill/>
        </p:spPr>
        <p:txBody>
          <a:bodyPr wrap="square" anchor="t"/>
          <a:lstStyle/>
          <a:p>
            <a:pPr algn="l"/>
            <a:r>
              <a:rPr sz="2200" b="1">
                <a:solidFill>
                  <a:srgbClr val="0B2C4A"/>
                </a:solidFill>
                <a:latin typeface="Calibri"/>
              </a:rPr>
              <a:t>2. Subcutis / dead space</a:t>
            </a:r>
          </a:p>
        </p:txBody>
      </p:sp>
      <p:sp>
        <p:nvSpPr>
          <p:cNvPr id="14" name="TextBox 13"/>
          <p:cNvSpPr txBox="1"/>
          <p:nvPr/>
        </p:nvSpPr>
        <p:spPr>
          <a:xfrm>
            <a:off x="822960" y="3383280"/>
            <a:ext cx="10607040" cy="685800"/>
          </a:xfrm>
          <a:prstGeom prst="rect">
            <a:avLst/>
          </a:prstGeom>
          <a:noFill/>
        </p:spPr>
        <p:txBody>
          <a:bodyPr wrap="square" anchor="t"/>
          <a:lstStyle/>
          <a:p>
            <a:pPr algn="l"/>
            <a:r>
              <a:rPr sz="1800" b="0">
                <a:solidFill>
                  <a:srgbClr val="3D4A57"/>
                </a:solidFill>
                <a:latin typeface="Calibri"/>
              </a:rPr>
              <a:t>Bring fat to fat. Obliterate dead space. This is not the skin suture pulled harder.</a:t>
            </a:r>
          </a:p>
        </p:txBody>
      </p:sp>
      <p:sp>
        <p:nvSpPr>
          <p:cNvPr id="15" name="Rounded Rectangle 14"/>
          <p:cNvSpPr/>
          <p:nvPr/>
        </p:nvSpPr>
        <p:spPr>
          <a:xfrm>
            <a:off x="457200" y="4389120"/>
            <a:ext cx="11247120" cy="1508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389120"/>
            <a:ext cx="128016" cy="150876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553712"/>
            <a:ext cx="10607040" cy="411480"/>
          </a:xfrm>
          <a:prstGeom prst="rect">
            <a:avLst/>
          </a:prstGeom>
          <a:noFill/>
        </p:spPr>
        <p:txBody>
          <a:bodyPr wrap="square" anchor="t"/>
          <a:lstStyle/>
          <a:p>
            <a:pPr algn="l"/>
            <a:r>
              <a:rPr sz="2200" b="1">
                <a:solidFill>
                  <a:srgbClr val="0B2C4A"/>
                </a:solidFill>
                <a:latin typeface="Calibri"/>
              </a:rPr>
              <a:t>3. Skin or intradermal</a:t>
            </a:r>
          </a:p>
        </p:txBody>
      </p:sp>
      <p:sp>
        <p:nvSpPr>
          <p:cNvPr id="18" name="TextBox 17"/>
          <p:cNvSpPr txBox="1"/>
          <p:nvPr/>
        </p:nvSpPr>
        <p:spPr>
          <a:xfrm>
            <a:off x="822960" y="5029200"/>
            <a:ext cx="10607040" cy="685800"/>
          </a:xfrm>
          <a:prstGeom prst="rect">
            <a:avLst/>
          </a:prstGeom>
          <a:noFill/>
        </p:spPr>
        <p:txBody>
          <a:bodyPr wrap="square" anchor="t"/>
          <a:lstStyle/>
          <a:p>
            <a:pPr algn="l"/>
            <a:r>
              <a:rPr sz="1800" b="0">
                <a:solidFill>
                  <a:srgbClr val="3D4A57"/>
                </a:solidFill>
                <a:latin typeface="Calibri"/>
              </a:rPr>
              <a:t>Appose. Leave room to swell. If the deeper layers are wrong, this layer cannot save the patient.</a:t>
            </a:r>
          </a:p>
        </p:txBody>
      </p:sp>
      <p:sp>
        <p:nvSpPr>
          <p:cNvPr id="19" name="Rectangle 18"/>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1" name="TextBox 20"/>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31  /  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Skin, subcutis, hollow viscus</a:t>
            </a:r>
          </a:p>
        </p:txBody>
      </p:sp>
      <p:sp>
        <p:nvSpPr>
          <p:cNvPr id="7" name="Rounded Rectangle 6"/>
          <p:cNvSpPr/>
          <p:nvPr/>
        </p:nvSpPr>
        <p:spPr>
          <a:xfrm>
            <a:off x="411480" y="1097280"/>
            <a:ext cx="370332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51206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3337560" cy="329184"/>
          </a:xfrm>
          <a:prstGeom prst="rect">
            <a:avLst/>
          </a:prstGeom>
          <a:noFill/>
        </p:spPr>
        <p:txBody>
          <a:bodyPr wrap="square" anchor="t"/>
          <a:lstStyle/>
          <a:p>
            <a:pPr algn="l"/>
            <a:r>
              <a:rPr sz="1800" b="1">
                <a:solidFill>
                  <a:srgbClr val="0B2C4A"/>
                </a:solidFill>
                <a:latin typeface="Calibri"/>
              </a:rPr>
              <a:t>Skin</a:t>
            </a:r>
          </a:p>
        </p:txBody>
      </p:sp>
      <p:sp>
        <p:nvSpPr>
          <p:cNvPr id="10" name="TextBox 9"/>
          <p:cNvSpPr txBox="1"/>
          <p:nvPr/>
        </p:nvSpPr>
        <p:spPr>
          <a:xfrm>
            <a:off x="667512" y="1554480"/>
            <a:ext cx="3337560" cy="4553712"/>
          </a:xfrm>
          <a:prstGeom prst="rect">
            <a:avLst/>
          </a:prstGeom>
          <a:noFill/>
        </p:spPr>
        <p:txBody>
          <a:bodyPr wrap="square" anchor="t"/>
          <a:lstStyle/>
          <a:p>
            <a:pPr algn="l"/>
            <a:r>
              <a:rPr sz="1600" b="0">
                <a:solidFill>
                  <a:srgbClr val="3D4A57"/>
                </a:solidFill>
                <a:latin typeface="Calibri"/>
              </a:rPr>
              <a:t>Default: appositional interrupted.
Cruciate if you want fewer knots.
Mattress only after you treat tension.
Intradermal if the dermis is quiet and you can bury the knot.
Do not invert.</a:t>
            </a:r>
          </a:p>
        </p:txBody>
      </p:sp>
      <p:sp>
        <p:nvSpPr>
          <p:cNvPr id="11" name="Rounded Rectangle 10"/>
          <p:cNvSpPr/>
          <p:nvPr/>
        </p:nvSpPr>
        <p:spPr>
          <a:xfrm>
            <a:off x="4251960" y="1097280"/>
            <a:ext cx="370332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1097280"/>
            <a:ext cx="91440" cy="512064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1207008"/>
            <a:ext cx="3337560" cy="329184"/>
          </a:xfrm>
          <a:prstGeom prst="rect">
            <a:avLst/>
          </a:prstGeom>
          <a:noFill/>
        </p:spPr>
        <p:txBody>
          <a:bodyPr wrap="square" anchor="t"/>
          <a:lstStyle/>
          <a:p>
            <a:pPr algn="l"/>
            <a:r>
              <a:rPr sz="1800" b="1">
                <a:solidFill>
                  <a:srgbClr val="0B2C4A"/>
                </a:solidFill>
                <a:latin typeface="Calibri"/>
              </a:rPr>
              <a:t>Subcutis</a:t>
            </a:r>
          </a:p>
        </p:txBody>
      </p:sp>
      <p:sp>
        <p:nvSpPr>
          <p:cNvPr id="14" name="TextBox 13"/>
          <p:cNvSpPr txBox="1"/>
          <p:nvPr/>
        </p:nvSpPr>
        <p:spPr>
          <a:xfrm>
            <a:off x="4507992" y="1554480"/>
            <a:ext cx="3337560" cy="4553712"/>
          </a:xfrm>
          <a:prstGeom prst="rect">
            <a:avLst/>
          </a:prstGeom>
          <a:noFill/>
        </p:spPr>
        <p:txBody>
          <a:bodyPr wrap="square" anchor="t"/>
          <a:lstStyle/>
          <a:p>
            <a:pPr algn="l"/>
            <a:r>
              <a:rPr sz="1600" b="0">
                <a:solidFill>
                  <a:srgbClr val="3D4A57"/>
                </a:solidFill>
                <a:latin typeface="Calibri"/>
              </a:rPr>
              <a:t>Simple continuous is common for a long even layer.
Interrupted if the space is irregular or dirty.
This layer is dead space, not cosmetics.</a:t>
            </a:r>
          </a:p>
        </p:txBody>
      </p:sp>
      <p:sp>
        <p:nvSpPr>
          <p:cNvPr id="15" name="Rounded Rectangle 14"/>
          <p:cNvSpPr/>
          <p:nvPr/>
        </p:nvSpPr>
        <p:spPr>
          <a:xfrm>
            <a:off x="8092440" y="1097280"/>
            <a:ext cx="365760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1097280"/>
            <a:ext cx="91440" cy="5120640"/>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1207008"/>
            <a:ext cx="3291840" cy="329184"/>
          </a:xfrm>
          <a:prstGeom prst="rect">
            <a:avLst/>
          </a:prstGeom>
          <a:noFill/>
        </p:spPr>
        <p:txBody>
          <a:bodyPr wrap="square" anchor="t"/>
          <a:lstStyle/>
          <a:p>
            <a:pPr algn="l"/>
            <a:r>
              <a:rPr sz="1800" b="1">
                <a:solidFill>
                  <a:srgbClr val="0B2C4A"/>
                </a:solidFill>
                <a:latin typeface="Calibri"/>
              </a:rPr>
              <a:t>Hollow viscus</a:t>
            </a:r>
          </a:p>
        </p:txBody>
      </p:sp>
      <p:sp>
        <p:nvSpPr>
          <p:cNvPr id="18" name="TextBox 17"/>
          <p:cNvSpPr txBox="1"/>
          <p:nvPr/>
        </p:nvSpPr>
        <p:spPr>
          <a:xfrm>
            <a:off x="8348472" y="1554480"/>
            <a:ext cx="3291840" cy="4553712"/>
          </a:xfrm>
          <a:prstGeom prst="rect">
            <a:avLst/>
          </a:prstGeom>
          <a:noFill/>
        </p:spPr>
        <p:txBody>
          <a:bodyPr wrap="square" anchor="t"/>
          <a:lstStyle/>
          <a:p>
            <a:pPr algn="l"/>
            <a:r>
              <a:rPr sz="1600" b="0">
                <a:solidFill>
                  <a:srgbClr val="3D4A57"/>
                </a:solidFill>
                <a:latin typeface="Calibri"/>
              </a:rPr>
              <a:t>Appositional closures are used. Inverting closures are used. The organ and the lumen decide.
Cushing does not enter the lumen. Connell does.
Confirm the stack in Fossum. Do not invent a two-layer law.</a:t>
            </a:r>
          </a:p>
        </p:txBody>
      </p:sp>
      <p:sp>
        <p:nvSpPr>
          <p:cNvPr id="19" name="Rectangle 18"/>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1" name="TextBox 20"/>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32  /  40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Common closure mistakes</a:t>
            </a:r>
          </a:p>
        </p:txBody>
      </p:sp>
      <p:sp>
        <p:nvSpPr>
          <p:cNvPr id="7" name="Rounded Rectangle 6"/>
          <p:cNvSpPr/>
          <p:nvPr/>
        </p:nvSpPr>
        <p:spPr>
          <a:xfrm>
            <a:off x="411480" y="107899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78992"/>
            <a:ext cx="91440" cy="155448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188720"/>
            <a:ext cx="5349240" cy="329184"/>
          </a:xfrm>
          <a:prstGeom prst="rect">
            <a:avLst/>
          </a:prstGeom>
          <a:noFill/>
        </p:spPr>
        <p:txBody>
          <a:bodyPr wrap="square" anchor="t"/>
          <a:lstStyle/>
          <a:p>
            <a:pPr algn="l"/>
            <a:r>
              <a:rPr sz="1800" b="1">
                <a:solidFill>
                  <a:srgbClr val="0B2C4A"/>
                </a:solidFill>
                <a:latin typeface="Calibri"/>
              </a:rPr>
              <a:t>Overtightening</a:t>
            </a:r>
          </a:p>
        </p:txBody>
      </p:sp>
      <p:sp>
        <p:nvSpPr>
          <p:cNvPr id="10" name="TextBox 9"/>
          <p:cNvSpPr txBox="1"/>
          <p:nvPr/>
        </p:nvSpPr>
        <p:spPr>
          <a:xfrm>
            <a:off x="667512" y="1536192"/>
            <a:ext cx="5349240" cy="987552"/>
          </a:xfrm>
          <a:prstGeom prst="rect">
            <a:avLst/>
          </a:prstGeom>
          <a:noFill/>
        </p:spPr>
        <p:txBody>
          <a:bodyPr wrap="square" anchor="t"/>
          <a:lstStyle/>
          <a:p>
            <a:pPr algn="l"/>
            <a:r>
              <a:rPr sz="1600" b="0">
                <a:solidFill>
                  <a:srgbClr val="3D4A57"/>
                </a:solidFill>
                <a:latin typeface="Calibri"/>
              </a:rPr>
              <a:t>Any pattern. Edge blanches. Dogs and cats swell.</a:t>
            </a:r>
          </a:p>
        </p:txBody>
      </p:sp>
      <p:sp>
        <p:nvSpPr>
          <p:cNvPr id="11" name="Rounded Rectangle 10"/>
          <p:cNvSpPr/>
          <p:nvPr/>
        </p:nvSpPr>
        <p:spPr>
          <a:xfrm>
            <a:off x="6309360" y="107899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078992"/>
            <a:ext cx="91440" cy="155448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1188720"/>
            <a:ext cx="5349240" cy="329184"/>
          </a:xfrm>
          <a:prstGeom prst="rect">
            <a:avLst/>
          </a:prstGeom>
          <a:noFill/>
        </p:spPr>
        <p:txBody>
          <a:bodyPr wrap="square" anchor="t"/>
          <a:lstStyle/>
          <a:p>
            <a:pPr algn="l"/>
            <a:r>
              <a:rPr sz="1800" b="1">
                <a:solidFill>
                  <a:srgbClr val="0B2C4A"/>
                </a:solidFill>
                <a:latin typeface="Calibri"/>
              </a:rPr>
              <a:t>One bad continuous knot</a:t>
            </a:r>
          </a:p>
        </p:txBody>
      </p:sp>
      <p:sp>
        <p:nvSpPr>
          <p:cNvPr id="14" name="TextBox 13"/>
          <p:cNvSpPr txBox="1"/>
          <p:nvPr/>
        </p:nvSpPr>
        <p:spPr>
          <a:xfrm>
            <a:off x="6565392" y="1536192"/>
            <a:ext cx="5349240" cy="987552"/>
          </a:xfrm>
          <a:prstGeom prst="rect">
            <a:avLst/>
          </a:prstGeom>
          <a:noFill/>
        </p:spPr>
        <p:txBody>
          <a:bodyPr wrap="square" anchor="t"/>
          <a:lstStyle/>
          <a:p>
            <a:pPr algn="l"/>
            <a:r>
              <a:rPr sz="1600" b="0">
                <a:solidFill>
                  <a:srgbClr val="3D4A57"/>
                </a:solidFill>
                <a:latin typeface="Calibri"/>
              </a:rPr>
              <a:t>The entire line is now the knot.</a:t>
            </a:r>
          </a:p>
        </p:txBody>
      </p:sp>
      <p:sp>
        <p:nvSpPr>
          <p:cNvPr id="15" name="Rounded Rectangle 14"/>
          <p:cNvSpPr/>
          <p:nvPr/>
        </p:nvSpPr>
        <p:spPr>
          <a:xfrm>
            <a:off x="411480" y="277063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2770632"/>
            <a:ext cx="91440" cy="155448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2880360"/>
            <a:ext cx="5349240" cy="329184"/>
          </a:xfrm>
          <a:prstGeom prst="rect">
            <a:avLst/>
          </a:prstGeom>
          <a:noFill/>
        </p:spPr>
        <p:txBody>
          <a:bodyPr wrap="square" anchor="t"/>
          <a:lstStyle/>
          <a:p>
            <a:pPr algn="l"/>
            <a:r>
              <a:rPr sz="1800" b="1">
                <a:solidFill>
                  <a:srgbClr val="0B2C4A"/>
                </a:solidFill>
                <a:latin typeface="Calibri"/>
              </a:rPr>
              <a:t>Inverting skin</a:t>
            </a:r>
          </a:p>
        </p:txBody>
      </p:sp>
      <p:sp>
        <p:nvSpPr>
          <p:cNvPr id="18" name="TextBox 17"/>
          <p:cNvSpPr txBox="1"/>
          <p:nvPr/>
        </p:nvSpPr>
        <p:spPr>
          <a:xfrm>
            <a:off x="667512" y="3227832"/>
            <a:ext cx="5349240" cy="987552"/>
          </a:xfrm>
          <a:prstGeom prst="rect">
            <a:avLst/>
          </a:prstGeom>
          <a:noFill/>
        </p:spPr>
        <p:txBody>
          <a:bodyPr wrap="square" anchor="t"/>
          <a:lstStyle/>
          <a:p>
            <a:pPr algn="l"/>
            <a:r>
              <a:rPr sz="1600" b="0">
                <a:solidFill>
                  <a:srgbClr val="3D4A57"/>
                </a:solidFill>
                <a:latin typeface="Calibri"/>
              </a:rPr>
              <a:t>Delays healing. That pattern belonged on viscus.</a:t>
            </a:r>
          </a:p>
        </p:txBody>
      </p:sp>
      <p:sp>
        <p:nvSpPr>
          <p:cNvPr id="19" name="Rounded Rectangle 18"/>
          <p:cNvSpPr/>
          <p:nvPr/>
        </p:nvSpPr>
        <p:spPr>
          <a:xfrm>
            <a:off x="6309360" y="277063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2770632"/>
            <a:ext cx="91440" cy="155448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2880360"/>
            <a:ext cx="5349240" cy="329184"/>
          </a:xfrm>
          <a:prstGeom prst="rect">
            <a:avLst/>
          </a:prstGeom>
          <a:noFill/>
        </p:spPr>
        <p:txBody>
          <a:bodyPr wrap="square" anchor="t"/>
          <a:lstStyle/>
          <a:p>
            <a:pPr algn="l"/>
            <a:r>
              <a:rPr sz="1800" b="1">
                <a:solidFill>
                  <a:srgbClr val="0B2C4A"/>
                </a:solidFill>
                <a:latin typeface="Calibri"/>
              </a:rPr>
              <a:t>Skipping a layer</a:t>
            </a:r>
          </a:p>
        </p:txBody>
      </p:sp>
      <p:sp>
        <p:nvSpPr>
          <p:cNvPr id="22" name="TextBox 21"/>
          <p:cNvSpPr txBox="1"/>
          <p:nvPr/>
        </p:nvSpPr>
        <p:spPr>
          <a:xfrm>
            <a:off x="6565392" y="3227832"/>
            <a:ext cx="5349240" cy="987552"/>
          </a:xfrm>
          <a:prstGeom prst="rect">
            <a:avLst/>
          </a:prstGeom>
          <a:noFill/>
        </p:spPr>
        <p:txBody>
          <a:bodyPr wrap="square" anchor="t"/>
          <a:lstStyle/>
          <a:p>
            <a:pPr algn="l"/>
            <a:r>
              <a:rPr sz="1600" b="0">
                <a:solidFill>
                  <a:srgbClr val="3D4A57"/>
                </a:solidFill>
                <a:latin typeface="Calibri"/>
              </a:rPr>
              <a:t>Pretty skin, open dead space or a weak linea.</a:t>
            </a:r>
          </a:p>
        </p:txBody>
      </p:sp>
      <p:sp>
        <p:nvSpPr>
          <p:cNvPr id="23" name="Rounded Rectangle 22"/>
          <p:cNvSpPr/>
          <p:nvPr/>
        </p:nvSpPr>
        <p:spPr>
          <a:xfrm>
            <a:off x="411480" y="446227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4462272"/>
            <a:ext cx="91440" cy="155448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4572000"/>
            <a:ext cx="5349240" cy="329184"/>
          </a:xfrm>
          <a:prstGeom prst="rect">
            <a:avLst/>
          </a:prstGeom>
          <a:noFill/>
        </p:spPr>
        <p:txBody>
          <a:bodyPr wrap="square" anchor="t"/>
          <a:lstStyle/>
          <a:p>
            <a:pPr algn="l"/>
            <a:r>
              <a:rPr sz="1800" b="1">
                <a:solidFill>
                  <a:srgbClr val="0B2C4A"/>
                </a:solidFill>
                <a:latin typeface="Calibri"/>
              </a:rPr>
              <a:t>Crushing the needle tip</a:t>
            </a:r>
          </a:p>
        </p:txBody>
      </p:sp>
      <p:sp>
        <p:nvSpPr>
          <p:cNvPr id="26" name="TextBox 25"/>
          <p:cNvSpPr txBox="1"/>
          <p:nvPr/>
        </p:nvSpPr>
        <p:spPr>
          <a:xfrm>
            <a:off x="667512" y="4919472"/>
            <a:ext cx="5349240" cy="987552"/>
          </a:xfrm>
          <a:prstGeom prst="rect">
            <a:avLst/>
          </a:prstGeom>
          <a:noFill/>
        </p:spPr>
        <p:txBody>
          <a:bodyPr wrap="square" anchor="t"/>
          <a:lstStyle/>
          <a:p>
            <a:pPr algn="l"/>
            <a:r>
              <a:rPr sz="1600" b="0">
                <a:solidFill>
                  <a:srgbClr val="3D4A57"/>
                </a:solidFill>
                <a:latin typeface="Calibri"/>
              </a:rPr>
              <a:t>The next bite tears. Replace the needle.</a:t>
            </a:r>
          </a:p>
        </p:txBody>
      </p:sp>
      <p:sp>
        <p:nvSpPr>
          <p:cNvPr id="27" name="Rounded Rectangle 26"/>
          <p:cNvSpPr/>
          <p:nvPr/>
        </p:nvSpPr>
        <p:spPr>
          <a:xfrm>
            <a:off x="6309360" y="4462272"/>
            <a:ext cx="571500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4462272"/>
            <a:ext cx="91440" cy="155448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65392" y="4572000"/>
            <a:ext cx="5349240" cy="329184"/>
          </a:xfrm>
          <a:prstGeom prst="rect">
            <a:avLst/>
          </a:prstGeom>
          <a:noFill/>
        </p:spPr>
        <p:txBody>
          <a:bodyPr wrap="square" anchor="t"/>
          <a:lstStyle/>
          <a:p>
            <a:pPr algn="l"/>
            <a:r>
              <a:rPr sz="1800" b="1">
                <a:solidFill>
                  <a:srgbClr val="0B2C4A"/>
                </a:solidFill>
                <a:latin typeface="Calibri"/>
              </a:rPr>
              <a:t>Sewing tension</a:t>
            </a:r>
          </a:p>
        </p:txBody>
      </p:sp>
      <p:sp>
        <p:nvSpPr>
          <p:cNvPr id="30" name="TextBox 29"/>
          <p:cNvSpPr txBox="1"/>
          <p:nvPr/>
        </p:nvSpPr>
        <p:spPr>
          <a:xfrm>
            <a:off x="6565392" y="4919472"/>
            <a:ext cx="5349240" cy="987552"/>
          </a:xfrm>
          <a:prstGeom prst="rect">
            <a:avLst/>
          </a:prstGeom>
          <a:noFill/>
        </p:spPr>
        <p:txBody>
          <a:bodyPr wrap="square" anchor="t"/>
          <a:lstStyle/>
          <a:p>
            <a:pPr algn="l"/>
            <a:r>
              <a:rPr sz="1600" b="0">
                <a:solidFill>
                  <a:srgbClr val="3D4A57"/>
                </a:solidFill>
                <a:latin typeface="Calibri"/>
              </a:rPr>
              <a:t>A mattress is not an advancement flap.</a:t>
            </a:r>
          </a:p>
        </p:txBody>
      </p:sp>
      <p:sp>
        <p:nvSpPr>
          <p:cNvPr id="31" name="Rectangle 30"/>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3" name="TextBox 32"/>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33  /  40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If the line fails after recovery</a:t>
            </a:r>
          </a:p>
        </p:txBody>
      </p:sp>
      <p:sp>
        <p:nvSpPr>
          <p:cNvPr id="7" name="Rounded Rectangle 6"/>
          <p:cNvSpPr/>
          <p:nvPr/>
        </p:nvSpPr>
        <p:spPr>
          <a:xfrm>
            <a:off x="411480" y="1097280"/>
            <a:ext cx="562356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51206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5257800" cy="329184"/>
          </a:xfrm>
          <a:prstGeom prst="rect">
            <a:avLst/>
          </a:prstGeom>
          <a:noFill/>
        </p:spPr>
        <p:txBody>
          <a:bodyPr wrap="square" anchor="t"/>
          <a:lstStyle/>
          <a:p>
            <a:pPr algn="l"/>
            <a:r>
              <a:rPr sz="1800" b="1">
                <a:solidFill>
                  <a:srgbClr val="0B2C4A"/>
                </a:solidFill>
                <a:latin typeface="Calibri"/>
              </a:rPr>
              <a:t>Skin dehiscence</a:t>
            </a:r>
          </a:p>
        </p:txBody>
      </p:sp>
      <p:sp>
        <p:nvSpPr>
          <p:cNvPr id="10" name="TextBox 9"/>
          <p:cNvSpPr txBox="1"/>
          <p:nvPr/>
        </p:nvSpPr>
        <p:spPr>
          <a:xfrm>
            <a:off x="667512" y="1554480"/>
            <a:ext cx="5257800" cy="4553712"/>
          </a:xfrm>
          <a:prstGeom prst="rect">
            <a:avLst/>
          </a:prstGeom>
          <a:noFill/>
        </p:spPr>
        <p:txBody>
          <a:bodyPr wrap="square" anchor="t"/>
          <a:lstStyle/>
          <a:p>
            <a:pPr algn="l"/>
            <a:r>
              <a:rPr sz="1600" b="0">
                <a:solidFill>
                  <a:srgbClr val="3D4A57"/>
                </a:solidFill>
                <a:latin typeface="Calibri"/>
              </a:rPr>
              <a:t>The skin stitches are gone or the edges have parted.
Ask whether the subcutis and body wall are still closed.
One missing interrupted stitch is not the same as a continuous line that unzipped.</a:t>
            </a:r>
          </a:p>
        </p:txBody>
      </p:sp>
      <p:sp>
        <p:nvSpPr>
          <p:cNvPr id="11" name="Rounded Rectangle 10"/>
          <p:cNvSpPr/>
          <p:nvPr/>
        </p:nvSpPr>
        <p:spPr>
          <a:xfrm>
            <a:off x="6217920" y="1097280"/>
            <a:ext cx="553212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91440" cy="512064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207008"/>
            <a:ext cx="5166360" cy="329184"/>
          </a:xfrm>
          <a:prstGeom prst="rect">
            <a:avLst/>
          </a:prstGeom>
          <a:noFill/>
        </p:spPr>
        <p:txBody>
          <a:bodyPr wrap="square" anchor="t"/>
          <a:lstStyle/>
          <a:p>
            <a:pPr algn="l"/>
            <a:r>
              <a:rPr sz="1800" b="1">
                <a:solidFill>
                  <a:srgbClr val="0B2C4A"/>
                </a:solidFill>
                <a:latin typeface="Calibri"/>
              </a:rPr>
              <a:t>Body-wall failure</a:t>
            </a:r>
          </a:p>
        </p:txBody>
      </p:sp>
      <p:sp>
        <p:nvSpPr>
          <p:cNvPr id="14" name="TextBox 13"/>
          <p:cNvSpPr txBox="1"/>
          <p:nvPr/>
        </p:nvSpPr>
        <p:spPr>
          <a:xfrm>
            <a:off x="6473952" y="1554480"/>
            <a:ext cx="5166360" cy="4553712"/>
          </a:xfrm>
          <a:prstGeom prst="rect">
            <a:avLst/>
          </a:prstGeom>
          <a:noFill/>
        </p:spPr>
        <p:txBody>
          <a:bodyPr wrap="square" anchor="t"/>
          <a:lstStyle/>
          <a:p>
            <a:pPr algn="l"/>
            <a:r>
              <a:rPr sz="1600" b="0">
                <a:solidFill>
                  <a:srgbClr val="3D4A57"/>
                </a:solidFill>
                <a:latin typeface="Calibri"/>
              </a:rPr>
              <a:t>A swelling under intact skin can still be a hernia.
Skin cannot hold the abdomen.
This is why the linea is its own layer, and why Week 4 already called a weak linea a technical problem.</a:t>
            </a:r>
          </a:p>
        </p:txBody>
      </p:sp>
      <p:sp>
        <p:nvSpPr>
          <p:cNvPr id="15" name="Rectangle 14"/>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7" name="TextBox 16"/>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34  /  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Practice on a model first</a:t>
            </a:r>
          </a:p>
        </p:txBody>
      </p:sp>
      <p:sp>
        <p:nvSpPr>
          <p:cNvPr id="7" name="TextBox 6"/>
          <p:cNvSpPr txBox="1"/>
          <p:nvPr/>
        </p:nvSpPr>
        <p:spPr>
          <a:xfrm>
            <a:off x="502920" y="1143000"/>
            <a:ext cx="11155680" cy="4937760"/>
          </a:xfrm>
          <a:prstGeom prst="rect">
            <a:avLst/>
          </a:prstGeom>
          <a:noFill/>
        </p:spPr>
        <p:txBody>
          <a:bodyPr wrap="square">
            <a:spAutoFit/>
          </a:bodyPr>
          <a:lstStyle/>
          <a:p>
            <a:pPr algn="l">
              <a:spcAft>
                <a:spcPts val="1200"/>
              </a:spcAft>
            </a:pPr>
            <a:r>
              <a:rPr sz="2000">
                <a:solidFill>
                  <a:srgbClr val="1C1C1C"/>
                </a:solidFill>
                <a:latin typeface="Calibri"/>
              </a:rPr>
              <a:t>▸  DVM 612 uses models and tissues before live patients (course description).</a:t>
            </a:r>
          </a:p>
          <a:p>
            <a:pPr algn="l">
              <a:spcAft>
                <a:spcPts val="1200"/>
              </a:spcAft>
            </a:pPr>
            <a:r>
              <a:rPr sz="2000">
                <a:solidFill>
                  <a:srgbClr val="1C1C1C"/>
                </a:solidFill>
                <a:latin typeface="Calibri"/>
              </a:rPr>
              <a:t>▸  A useful pad has more than one layer, so you can place subcutis and skin as separate jobs.</a:t>
            </a:r>
          </a:p>
          <a:p>
            <a:pPr algn="l">
              <a:spcAft>
                <a:spcPts val="1200"/>
              </a:spcAft>
            </a:pPr>
            <a:r>
              <a:rPr sz="2000">
                <a:solidFill>
                  <a:srgbClr val="1C1C1C"/>
                </a:solidFill>
                <a:latin typeface="Calibri"/>
              </a:rPr>
              <a:t>▸  Confirm the pad LIU already stocks. Do not treat a catalog as the syllabus.</a:t>
            </a:r>
          </a:p>
          <a:p>
            <a:pPr algn="l">
              <a:spcAft>
                <a:spcPts val="1200"/>
              </a:spcAft>
            </a:pPr>
            <a:r>
              <a:rPr sz="2000">
                <a:solidFill>
                  <a:srgbClr val="1C1C1C"/>
                </a:solidFill>
                <a:latin typeface="Calibri"/>
              </a:rPr>
              <a:t>▸  Match bite size on both sides. Square the knot. Then name the pattern out loud.</a:t>
            </a:r>
          </a:p>
          <a:p>
            <a:pPr algn="l">
              <a:spcAft>
                <a:spcPts val="1200"/>
              </a:spcAft>
            </a:pPr>
            <a:r>
              <a:rPr sz="2000">
                <a:solidFill>
                  <a:srgbClr val="1C1C1C"/>
                </a:solidFill>
                <a:latin typeface="Calibri"/>
              </a:rPr>
              <a:t>▸  If you cannot draw the needle path, you are not ready for tissue.</a:t>
            </a:r>
          </a:p>
        </p:txBody>
      </p:sp>
      <p:sp>
        <p:nvSpPr>
          <p:cNvPr id="8" name="Rectangle 7"/>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0" name="TextBox 9"/>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35  /  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Species and setting</a:t>
            </a:r>
          </a:p>
        </p:txBody>
      </p:sp>
      <p:sp>
        <p:nvSpPr>
          <p:cNvPr id="7" name="Rounded Rectangle 6"/>
          <p:cNvSpPr/>
          <p:nvPr/>
        </p:nvSpPr>
        <p:spPr>
          <a:xfrm>
            <a:off x="411480" y="1097280"/>
            <a:ext cx="562356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512064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5257800" cy="329184"/>
          </a:xfrm>
          <a:prstGeom prst="rect">
            <a:avLst/>
          </a:prstGeom>
          <a:noFill/>
        </p:spPr>
        <p:txBody>
          <a:bodyPr wrap="square" anchor="t"/>
          <a:lstStyle/>
          <a:p>
            <a:pPr algn="l"/>
            <a:r>
              <a:rPr sz="1800" b="1">
                <a:solidFill>
                  <a:srgbClr val="0B2C4A"/>
                </a:solidFill>
                <a:latin typeface="Calibri"/>
              </a:rPr>
              <a:t>Dog and cat</a:t>
            </a:r>
          </a:p>
        </p:txBody>
      </p:sp>
      <p:sp>
        <p:nvSpPr>
          <p:cNvPr id="10" name="TextBox 9"/>
          <p:cNvSpPr txBox="1"/>
          <p:nvPr/>
        </p:nvSpPr>
        <p:spPr>
          <a:xfrm>
            <a:off x="667512" y="1554480"/>
            <a:ext cx="5257800" cy="4553712"/>
          </a:xfrm>
          <a:prstGeom prst="rect">
            <a:avLst/>
          </a:prstGeom>
          <a:noFill/>
        </p:spPr>
        <p:txBody>
          <a:bodyPr wrap="square" anchor="t"/>
          <a:lstStyle/>
          <a:p>
            <a:pPr algn="l"/>
            <a:r>
              <a:rPr sz="1600" b="0">
                <a:solidFill>
                  <a:srgbClr val="3D4A57"/>
                </a:solidFill>
                <a:latin typeface="Calibri"/>
              </a:rPr>
              <a:t>They swell. Interrupted skin is the student default until the lab says the dermis is quiet enough for continuous or intradermal.
This course is models and tissues first (DVM 612 description).
Confirm what pad LIU already stocks. Do not invent a brand as the syllabus.</a:t>
            </a:r>
          </a:p>
        </p:txBody>
      </p:sp>
      <p:sp>
        <p:nvSpPr>
          <p:cNvPr id="11" name="Rounded Rectangle 10"/>
          <p:cNvSpPr/>
          <p:nvPr/>
        </p:nvSpPr>
        <p:spPr>
          <a:xfrm>
            <a:off x="6217920" y="1097280"/>
            <a:ext cx="5532120" cy="5120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91440" cy="512064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207008"/>
            <a:ext cx="5166360" cy="329184"/>
          </a:xfrm>
          <a:prstGeom prst="rect">
            <a:avLst/>
          </a:prstGeom>
          <a:noFill/>
        </p:spPr>
        <p:txBody>
          <a:bodyPr wrap="square" anchor="t"/>
          <a:lstStyle/>
          <a:p>
            <a:pPr algn="l"/>
            <a:r>
              <a:rPr sz="1800" b="1">
                <a:solidFill>
                  <a:srgbClr val="0B2C4A"/>
                </a:solidFill>
                <a:latin typeface="Calibri"/>
              </a:rPr>
              <a:t>Other settings</a:t>
            </a:r>
          </a:p>
        </p:txBody>
      </p:sp>
      <p:sp>
        <p:nvSpPr>
          <p:cNvPr id="14" name="TextBox 13"/>
          <p:cNvSpPr txBox="1"/>
          <p:nvPr/>
        </p:nvSpPr>
        <p:spPr>
          <a:xfrm>
            <a:off x="6473952" y="1554480"/>
            <a:ext cx="5166360" cy="4553712"/>
          </a:xfrm>
          <a:prstGeom prst="rect">
            <a:avLst/>
          </a:prstGeom>
          <a:noFill/>
        </p:spPr>
        <p:txBody>
          <a:bodyPr wrap="square" anchor="t"/>
          <a:lstStyle/>
          <a:p>
            <a:pPr algn="l"/>
            <a:r>
              <a:rPr sz="1600" b="0">
                <a:solidFill>
                  <a:srgbClr val="3D4A57"/>
                </a:solidFill>
                <a:latin typeface="Calibri"/>
              </a:rPr>
              <a:t>Week 13 owns equine and large-animal field patterns. Ford interlocking will come back.
The three questions do not change in a barn.
Hendrickson &amp; Baird is named. This hour does not teach a cow closure table.</a:t>
            </a:r>
          </a:p>
        </p:txBody>
      </p:sp>
      <p:sp>
        <p:nvSpPr>
          <p:cNvPr id="15" name="Rectangle 14"/>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17" name="TextBox 16"/>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36  /  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Quiz. Write the pattern</a:t>
            </a:r>
          </a:p>
        </p:txBody>
      </p:sp>
      <p:sp>
        <p:nvSpPr>
          <p:cNvPr id="7" name="Rounded Rectangle 6"/>
          <p:cNvSpPr/>
          <p:nvPr/>
        </p:nvSpPr>
        <p:spPr>
          <a:xfrm>
            <a:off x="411480" y="1097280"/>
            <a:ext cx="5623560"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97280"/>
            <a:ext cx="91440" cy="246888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07008"/>
            <a:ext cx="5257800" cy="329184"/>
          </a:xfrm>
          <a:prstGeom prst="rect">
            <a:avLst/>
          </a:prstGeom>
          <a:noFill/>
        </p:spPr>
        <p:txBody>
          <a:bodyPr wrap="square" anchor="t"/>
          <a:lstStyle/>
          <a:p>
            <a:pPr algn="l"/>
            <a:r>
              <a:rPr sz="1800" b="1">
                <a:solidFill>
                  <a:srgbClr val="0B2C4A"/>
                </a:solidFill>
                <a:latin typeface="Calibri"/>
              </a:rPr>
              <a:t>Case A</a:t>
            </a:r>
          </a:p>
        </p:txBody>
      </p:sp>
      <p:sp>
        <p:nvSpPr>
          <p:cNvPr id="10" name="TextBox 9"/>
          <p:cNvSpPr txBox="1"/>
          <p:nvPr/>
        </p:nvSpPr>
        <p:spPr>
          <a:xfrm>
            <a:off x="667512" y="1554480"/>
            <a:ext cx="5257800" cy="1901952"/>
          </a:xfrm>
          <a:prstGeom prst="rect">
            <a:avLst/>
          </a:prstGeom>
          <a:noFill/>
        </p:spPr>
        <p:txBody>
          <a:bodyPr wrap="square" anchor="t"/>
          <a:lstStyle/>
          <a:p>
            <a:pPr algn="l"/>
            <a:r>
              <a:rPr sz="1600" b="0">
                <a:solidFill>
                  <a:srgbClr val="3D4A57"/>
                </a:solidFill>
                <a:latin typeface="Calibri"/>
              </a:rPr>
              <a:t>Canine ventral midline. Skin edges meet without a gap. The patient will swell. Which class of pattern do you start with on skin, and why?</a:t>
            </a:r>
          </a:p>
        </p:txBody>
      </p:sp>
      <p:sp>
        <p:nvSpPr>
          <p:cNvPr id="11" name="Rounded Rectangle 10"/>
          <p:cNvSpPr/>
          <p:nvPr/>
        </p:nvSpPr>
        <p:spPr>
          <a:xfrm>
            <a:off x="6217920" y="1097280"/>
            <a:ext cx="5532120"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097280"/>
            <a:ext cx="91440" cy="246888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207008"/>
            <a:ext cx="5166360" cy="329184"/>
          </a:xfrm>
          <a:prstGeom prst="rect">
            <a:avLst/>
          </a:prstGeom>
          <a:noFill/>
        </p:spPr>
        <p:txBody>
          <a:bodyPr wrap="square" anchor="t"/>
          <a:lstStyle/>
          <a:p>
            <a:pPr algn="l"/>
            <a:r>
              <a:rPr sz="1800" b="1">
                <a:solidFill>
                  <a:srgbClr val="0B2C4A"/>
                </a:solidFill>
                <a:latin typeface="Calibri"/>
              </a:rPr>
              <a:t>Case B</a:t>
            </a:r>
          </a:p>
        </p:txBody>
      </p:sp>
      <p:sp>
        <p:nvSpPr>
          <p:cNvPr id="14" name="TextBox 13"/>
          <p:cNvSpPr txBox="1"/>
          <p:nvPr/>
        </p:nvSpPr>
        <p:spPr>
          <a:xfrm>
            <a:off x="6473952" y="1554480"/>
            <a:ext cx="5166360" cy="1901952"/>
          </a:xfrm>
          <a:prstGeom prst="rect">
            <a:avLst/>
          </a:prstGeom>
          <a:noFill/>
        </p:spPr>
        <p:txBody>
          <a:bodyPr wrap="square" anchor="t"/>
          <a:lstStyle/>
          <a:p>
            <a:pPr algn="l"/>
            <a:r>
              <a:rPr sz="1600" b="0">
                <a:solidFill>
                  <a:srgbClr val="3D4A57"/>
                </a:solidFill>
                <a:latin typeface="Calibri"/>
              </a:rPr>
              <a:t>You need one stitch that takes deep load and then apposes the epidermis. Name the mattress and the bite order.</a:t>
            </a:r>
          </a:p>
        </p:txBody>
      </p:sp>
      <p:sp>
        <p:nvSpPr>
          <p:cNvPr id="15" name="Rounded Rectangle 14"/>
          <p:cNvSpPr/>
          <p:nvPr/>
        </p:nvSpPr>
        <p:spPr>
          <a:xfrm>
            <a:off x="411480" y="3749039"/>
            <a:ext cx="5623560"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749039"/>
            <a:ext cx="91440" cy="2468880"/>
          </a:xfrm>
          <a:prstGeom prst="rect">
            <a:avLst/>
          </a:prstGeom>
          <a:solidFill>
            <a:srgbClr val="2E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858767"/>
            <a:ext cx="5257800" cy="329184"/>
          </a:xfrm>
          <a:prstGeom prst="rect">
            <a:avLst/>
          </a:prstGeom>
          <a:noFill/>
        </p:spPr>
        <p:txBody>
          <a:bodyPr wrap="square" anchor="t"/>
          <a:lstStyle/>
          <a:p>
            <a:pPr algn="l"/>
            <a:r>
              <a:rPr sz="1800" b="1">
                <a:solidFill>
                  <a:srgbClr val="0B2C4A"/>
                </a:solidFill>
                <a:latin typeface="Calibri"/>
              </a:rPr>
              <a:t>Case C</a:t>
            </a:r>
          </a:p>
        </p:txBody>
      </p:sp>
      <p:sp>
        <p:nvSpPr>
          <p:cNvPr id="18" name="TextBox 17"/>
          <p:cNvSpPr txBox="1"/>
          <p:nvPr/>
        </p:nvSpPr>
        <p:spPr>
          <a:xfrm>
            <a:off x="667512" y="4206239"/>
            <a:ext cx="5257800" cy="1901952"/>
          </a:xfrm>
          <a:prstGeom prst="rect">
            <a:avLst/>
          </a:prstGeom>
          <a:noFill/>
        </p:spPr>
        <p:txBody>
          <a:bodyPr wrap="square" anchor="t"/>
          <a:lstStyle/>
          <a:p>
            <a:pPr algn="l"/>
            <a:r>
              <a:rPr sz="1600" b="0">
                <a:solidFill>
                  <a:srgbClr val="3D4A57"/>
                </a:solidFill>
                <a:latin typeface="Calibri"/>
              </a:rPr>
              <a:t>Parallel inverting bites on intestine. One pattern enters the lumen. Which name has the extra letter?</a:t>
            </a:r>
          </a:p>
        </p:txBody>
      </p:sp>
      <p:sp>
        <p:nvSpPr>
          <p:cNvPr id="19" name="Rounded Rectangle 18"/>
          <p:cNvSpPr/>
          <p:nvPr/>
        </p:nvSpPr>
        <p:spPr>
          <a:xfrm>
            <a:off x="6217920" y="3749039"/>
            <a:ext cx="5532120"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749039"/>
            <a:ext cx="91440" cy="2468880"/>
          </a:xfrm>
          <a:prstGeom prst="rect">
            <a:avLst/>
          </a:prstGeom>
          <a:solidFill>
            <a:srgbClr val="8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3858767"/>
            <a:ext cx="5166360" cy="329184"/>
          </a:xfrm>
          <a:prstGeom prst="rect">
            <a:avLst/>
          </a:prstGeom>
          <a:noFill/>
        </p:spPr>
        <p:txBody>
          <a:bodyPr wrap="square" anchor="t"/>
          <a:lstStyle/>
          <a:p>
            <a:pPr algn="l"/>
            <a:r>
              <a:rPr sz="1800" b="1">
                <a:solidFill>
                  <a:srgbClr val="0B2C4A"/>
                </a:solidFill>
                <a:latin typeface="Calibri"/>
              </a:rPr>
              <a:t>Case D</a:t>
            </a:r>
          </a:p>
        </p:txBody>
      </p:sp>
      <p:sp>
        <p:nvSpPr>
          <p:cNvPr id="22" name="TextBox 21"/>
          <p:cNvSpPr txBox="1"/>
          <p:nvPr/>
        </p:nvSpPr>
        <p:spPr>
          <a:xfrm>
            <a:off x="6473952" y="4206239"/>
            <a:ext cx="5166360" cy="1901952"/>
          </a:xfrm>
          <a:prstGeom prst="rect">
            <a:avLst/>
          </a:prstGeom>
          <a:noFill/>
        </p:spPr>
        <p:txBody>
          <a:bodyPr wrap="square" anchor="t"/>
          <a:lstStyle/>
          <a:p>
            <a:pPr algn="l"/>
            <a:r>
              <a:rPr sz="1600" b="0">
                <a:solidFill>
                  <a:srgbClr val="3D4A57"/>
                </a:solidFill>
                <a:latin typeface="Calibri"/>
              </a:rPr>
              <a:t>A continuous subcutis line looks perfect. The end knot slips in recovery. What failed, and why was interrupted safer on a teaching case?</a:t>
            </a:r>
          </a:p>
        </p:txBody>
      </p:sp>
      <p:sp>
        <p:nvSpPr>
          <p:cNvPr id="23" name="Rectangle 22"/>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5" name="TextBox 24"/>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37  /  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Quiz key</a:t>
            </a:r>
          </a:p>
        </p:txBody>
      </p:sp>
      <p:sp>
        <p:nvSpPr>
          <p:cNvPr id="7" name="Rounded Rectangle 6"/>
          <p:cNvSpPr/>
          <p:nvPr/>
        </p:nvSpPr>
        <p:spPr>
          <a:xfrm>
            <a:off x="457200" y="1097280"/>
            <a:ext cx="11247120" cy="1097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97280"/>
            <a:ext cx="777240" cy="109728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97280"/>
            <a:ext cx="777240" cy="1097280"/>
          </a:xfrm>
          <a:prstGeom prst="rect">
            <a:avLst/>
          </a:prstGeom>
          <a:noFill/>
        </p:spPr>
        <p:txBody>
          <a:bodyPr wrap="square" anchor="ctr"/>
          <a:lstStyle/>
          <a:p>
            <a:pPr algn="ctr"/>
            <a:r>
              <a:rPr sz="2200" b="1">
                <a:solidFill>
                  <a:srgbClr val="0B2C4A"/>
                </a:solidFill>
                <a:latin typeface="Calibri"/>
              </a:rPr>
              <a:t>1</a:t>
            </a:r>
          </a:p>
        </p:txBody>
      </p:sp>
      <p:sp>
        <p:nvSpPr>
          <p:cNvPr id="10" name="TextBox 9"/>
          <p:cNvSpPr txBox="1"/>
          <p:nvPr/>
        </p:nvSpPr>
        <p:spPr>
          <a:xfrm>
            <a:off x="1417320" y="1097280"/>
            <a:ext cx="9966960" cy="1097280"/>
          </a:xfrm>
          <a:prstGeom prst="rect">
            <a:avLst/>
          </a:prstGeom>
          <a:noFill/>
        </p:spPr>
        <p:txBody>
          <a:bodyPr wrap="square" anchor="ctr"/>
          <a:lstStyle/>
          <a:p>
            <a:pPr algn="l"/>
            <a:r>
              <a:rPr sz="1800" b="0">
                <a:solidFill>
                  <a:srgbClr val="1C1C1C"/>
                </a:solidFill>
                <a:latin typeface="Calibri"/>
              </a:rPr>
              <a:t>A. Interrupted, appositional skin. Swelling. One failed stitch does not open the line.</a:t>
            </a:r>
          </a:p>
        </p:txBody>
      </p:sp>
      <p:sp>
        <p:nvSpPr>
          <p:cNvPr id="11" name="Rounded Rectangle 10"/>
          <p:cNvSpPr/>
          <p:nvPr/>
        </p:nvSpPr>
        <p:spPr>
          <a:xfrm>
            <a:off x="457200" y="2331720"/>
            <a:ext cx="11247120" cy="1097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331720"/>
            <a:ext cx="777240" cy="109728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31720"/>
            <a:ext cx="777240" cy="1097280"/>
          </a:xfrm>
          <a:prstGeom prst="rect">
            <a:avLst/>
          </a:prstGeom>
          <a:noFill/>
        </p:spPr>
        <p:txBody>
          <a:bodyPr wrap="square" anchor="ctr"/>
          <a:lstStyle/>
          <a:p>
            <a:pPr algn="ctr"/>
            <a:r>
              <a:rPr sz="2200" b="1">
                <a:solidFill>
                  <a:srgbClr val="0B2C4A"/>
                </a:solidFill>
                <a:latin typeface="Calibri"/>
              </a:rPr>
              <a:t>2</a:t>
            </a:r>
          </a:p>
        </p:txBody>
      </p:sp>
      <p:sp>
        <p:nvSpPr>
          <p:cNvPr id="14" name="TextBox 13"/>
          <p:cNvSpPr txBox="1"/>
          <p:nvPr/>
        </p:nvSpPr>
        <p:spPr>
          <a:xfrm>
            <a:off x="1417320" y="2331720"/>
            <a:ext cx="9966960" cy="1097280"/>
          </a:xfrm>
          <a:prstGeom prst="rect">
            <a:avLst/>
          </a:prstGeom>
          <a:noFill/>
        </p:spPr>
        <p:txBody>
          <a:bodyPr wrap="square" anchor="ctr"/>
          <a:lstStyle/>
          <a:p>
            <a:pPr algn="l"/>
            <a:r>
              <a:rPr sz="1800" b="0">
                <a:solidFill>
                  <a:srgbClr val="1C1C1C"/>
                </a:solidFill>
                <a:latin typeface="Calibri"/>
              </a:rPr>
              <a:t>B. Vertical mattress. Far-far, then near-near (Merck). Everting is the cost.</a:t>
            </a:r>
          </a:p>
        </p:txBody>
      </p:sp>
      <p:sp>
        <p:nvSpPr>
          <p:cNvPr id="15" name="Rounded Rectangle 14"/>
          <p:cNvSpPr/>
          <p:nvPr/>
        </p:nvSpPr>
        <p:spPr>
          <a:xfrm>
            <a:off x="457200" y="3566160"/>
            <a:ext cx="11247120" cy="1097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566160"/>
            <a:ext cx="777240" cy="109728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566160"/>
            <a:ext cx="777240" cy="1097280"/>
          </a:xfrm>
          <a:prstGeom prst="rect">
            <a:avLst/>
          </a:prstGeom>
          <a:noFill/>
        </p:spPr>
        <p:txBody>
          <a:bodyPr wrap="square" anchor="ctr"/>
          <a:lstStyle/>
          <a:p>
            <a:pPr algn="ctr"/>
            <a:r>
              <a:rPr sz="2200" b="1">
                <a:solidFill>
                  <a:srgbClr val="0B2C4A"/>
                </a:solidFill>
                <a:latin typeface="Calibri"/>
              </a:rPr>
              <a:t>3</a:t>
            </a:r>
          </a:p>
        </p:txBody>
      </p:sp>
      <p:sp>
        <p:nvSpPr>
          <p:cNvPr id="18" name="TextBox 17"/>
          <p:cNvSpPr txBox="1"/>
          <p:nvPr/>
        </p:nvSpPr>
        <p:spPr>
          <a:xfrm>
            <a:off x="1417320" y="3566160"/>
            <a:ext cx="9966960" cy="1097280"/>
          </a:xfrm>
          <a:prstGeom prst="rect">
            <a:avLst/>
          </a:prstGeom>
          <a:noFill/>
        </p:spPr>
        <p:txBody>
          <a:bodyPr wrap="square" anchor="ctr"/>
          <a:lstStyle/>
          <a:p>
            <a:pPr algn="l"/>
            <a:r>
              <a:rPr sz="1800" b="0">
                <a:solidFill>
                  <a:srgbClr val="1C1C1C"/>
                </a:solidFill>
                <a:latin typeface="Calibri"/>
              </a:rPr>
              <a:t>C. Connell enters the lumen. Cushing does not (WCVM).</a:t>
            </a:r>
          </a:p>
        </p:txBody>
      </p:sp>
      <p:sp>
        <p:nvSpPr>
          <p:cNvPr id="19" name="Rounded Rectangle 18"/>
          <p:cNvSpPr/>
          <p:nvPr/>
        </p:nvSpPr>
        <p:spPr>
          <a:xfrm>
            <a:off x="457200" y="4800600"/>
            <a:ext cx="11247120" cy="1097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800600"/>
            <a:ext cx="777240" cy="109728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800600"/>
            <a:ext cx="777240" cy="1097280"/>
          </a:xfrm>
          <a:prstGeom prst="rect">
            <a:avLst/>
          </a:prstGeom>
          <a:noFill/>
        </p:spPr>
        <p:txBody>
          <a:bodyPr wrap="square" anchor="ctr"/>
          <a:lstStyle/>
          <a:p>
            <a:pPr algn="ctr"/>
            <a:r>
              <a:rPr sz="2200" b="1">
                <a:solidFill>
                  <a:srgbClr val="0B2C4A"/>
                </a:solidFill>
                <a:latin typeface="Calibri"/>
              </a:rPr>
              <a:t>4</a:t>
            </a:r>
          </a:p>
        </p:txBody>
      </p:sp>
      <p:sp>
        <p:nvSpPr>
          <p:cNvPr id="22" name="TextBox 21"/>
          <p:cNvSpPr txBox="1"/>
          <p:nvPr/>
        </p:nvSpPr>
        <p:spPr>
          <a:xfrm>
            <a:off x="1417320" y="4800600"/>
            <a:ext cx="9966960" cy="1097280"/>
          </a:xfrm>
          <a:prstGeom prst="rect">
            <a:avLst/>
          </a:prstGeom>
          <a:noFill/>
        </p:spPr>
        <p:txBody>
          <a:bodyPr wrap="square" anchor="ctr"/>
          <a:lstStyle/>
          <a:p>
            <a:pPr algn="l"/>
            <a:r>
              <a:rPr sz="1800" b="0">
                <a:solidFill>
                  <a:srgbClr val="1C1C1C"/>
                </a:solidFill>
                <a:latin typeface="Calibri"/>
              </a:rPr>
              <a:t>D. Continuous fails as a unit. The knot was the closure. Interrupted would have left the other stitches.</a:t>
            </a:r>
          </a:p>
        </p:txBody>
      </p:sp>
      <p:sp>
        <p:nvSpPr>
          <p:cNvPr id="23" name="Rectangle 22"/>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25" name="TextBox 24"/>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38  /  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73152"/>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109728" cy="64008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1247120" cy="530352"/>
          </a:xfrm>
          <a:prstGeom prst="rect">
            <a:avLst/>
          </a:prstGeom>
          <a:noFill/>
        </p:spPr>
        <p:txBody>
          <a:bodyPr wrap="square" anchor="t"/>
          <a:lstStyle/>
          <a:p>
            <a:pPr algn="l"/>
            <a:r>
              <a:rPr sz="3000" b="1">
                <a:solidFill>
                  <a:srgbClr val="0B2C4A"/>
                </a:solidFill>
                <a:latin typeface="Calibri"/>
              </a:rPr>
              <a:t>Key points</a:t>
            </a:r>
          </a:p>
        </p:txBody>
      </p:sp>
      <p:sp>
        <p:nvSpPr>
          <p:cNvPr id="7" name="Rounded Rectangle 6"/>
          <p:cNvSpPr/>
          <p:nvPr/>
        </p:nvSpPr>
        <p:spPr>
          <a:xfrm>
            <a:off x="457200" y="1051560"/>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51560"/>
            <a:ext cx="777240" cy="768096"/>
          </a:xfrm>
          <a:prstGeom prst="rect">
            <a:avLst/>
          </a:prstGeom>
          <a:noFill/>
        </p:spPr>
        <p:txBody>
          <a:bodyPr wrap="square" anchor="ctr"/>
          <a:lstStyle/>
          <a:p>
            <a:pPr algn="ctr"/>
            <a:r>
              <a:rPr sz="2000" b="1">
                <a:solidFill>
                  <a:srgbClr val="0B2C4A"/>
                </a:solidFill>
                <a:latin typeface="Calibri"/>
              </a:rPr>
              <a:t>1</a:t>
            </a:r>
          </a:p>
        </p:txBody>
      </p:sp>
      <p:sp>
        <p:nvSpPr>
          <p:cNvPr id="10" name="TextBox 9"/>
          <p:cNvSpPr txBox="1"/>
          <p:nvPr/>
        </p:nvSpPr>
        <p:spPr>
          <a:xfrm>
            <a:off x="1417320" y="1051560"/>
            <a:ext cx="9966960" cy="768096"/>
          </a:xfrm>
          <a:prstGeom prst="rect">
            <a:avLst/>
          </a:prstGeom>
          <a:noFill/>
        </p:spPr>
        <p:txBody>
          <a:bodyPr wrap="square" anchor="ctr"/>
          <a:lstStyle/>
          <a:p>
            <a:pPr algn="l"/>
            <a:r>
              <a:rPr sz="1800" b="0">
                <a:solidFill>
                  <a:srgbClr val="1C1C1C"/>
                </a:solidFill>
                <a:latin typeface="Calibri"/>
              </a:rPr>
              <a:t>Ask tissue, tension, and blood supply before you name a pattern.</a:t>
            </a:r>
          </a:p>
        </p:txBody>
      </p:sp>
      <p:sp>
        <p:nvSpPr>
          <p:cNvPr id="11" name="Rounded Rectangle 10"/>
          <p:cNvSpPr/>
          <p:nvPr/>
        </p:nvSpPr>
        <p:spPr>
          <a:xfrm>
            <a:off x="457200" y="1892808"/>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892808"/>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92808"/>
            <a:ext cx="777240" cy="768096"/>
          </a:xfrm>
          <a:prstGeom prst="rect">
            <a:avLst/>
          </a:prstGeom>
          <a:noFill/>
        </p:spPr>
        <p:txBody>
          <a:bodyPr wrap="square" anchor="ctr"/>
          <a:lstStyle/>
          <a:p>
            <a:pPr algn="ctr"/>
            <a:r>
              <a:rPr sz="2000" b="1">
                <a:solidFill>
                  <a:srgbClr val="0B2C4A"/>
                </a:solidFill>
                <a:latin typeface="Calibri"/>
              </a:rPr>
              <a:t>2</a:t>
            </a:r>
          </a:p>
        </p:txBody>
      </p:sp>
      <p:sp>
        <p:nvSpPr>
          <p:cNvPr id="14" name="TextBox 13"/>
          <p:cNvSpPr txBox="1"/>
          <p:nvPr/>
        </p:nvSpPr>
        <p:spPr>
          <a:xfrm>
            <a:off x="1417320" y="1892808"/>
            <a:ext cx="9966960" cy="768096"/>
          </a:xfrm>
          <a:prstGeom prst="rect">
            <a:avLst/>
          </a:prstGeom>
          <a:noFill/>
        </p:spPr>
        <p:txBody>
          <a:bodyPr wrap="square" anchor="ctr"/>
          <a:lstStyle/>
          <a:p>
            <a:pPr algn="l"/>
            <a:r>
              <a:rPr sz="1800" b="0">
                <a:solidFill>
                  <a:srgbClr val="1C1C1C"/>
                </a:solidFill>
                <a:latin typeface="Calibri"/>
              </a:rPr>
              <a:t>Interrupted fails as a stitch. Continuous fails as a line.</a:t>
            </a:r>
          </a:p>
        </p:txBody>
      </p:sp>
      <p:sp>
        <p:nvSpPr>
          <p:cNvPr id="15" name="Rounded Rectangle 14"/>
          <p:cNvSpPr/>
          <p:nvPr/>
        </p:nvSpPr>
        <p:spPr>
          <a:xfrm>
            <a:off x="457200" y="2734056"/>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734056"/>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734056"/>
            <a:ext cx="777240" cy="768096"/>
          </a:xfrm>
          <a:prstGeom prst="rect">
            <a:avLst/>
          </a:prstGeom>
          <a:noFill/>
        </p:spPr>
        <p:txBody>
          <a:bodyPr wrap="square" anchor="ctr"/>
          <a:lstStyle/>
          <a:p>
            <a:pPr algn="ctr"/>
            <a:r>
              <a:rPr sz="2000" b="1">
                <a:solidFill>
                  <a:srgbClr val="0B2C4A"/>
                </a:solidFill>
                <a:latin typeface="Calibri"/>
              </a:rPr>
              <a:t>3</a:t>
            </a:r>
          </a:p>
        </p:txBody>
      </p:sp>
      <p:sp>
        <p:nvSpPr>
          <p:cNvPr id="18" name="TextBox 17"/>
          <p:cNvSpPr txBox="1"/>
          <p:nvPr/>
        </p:nvSpPr>
        <p:spPr>
          <a:xfrm>
            <a:off x="1417320" y="2734056"/>
            <a:ext cx="9966960" cy="768096"/>
          </a:xfrm>
          <a:prstGeom prst="rect">
            <a:avLst/>
          </a:prstGeom>
          <a:noFill/>
        </p:spPr>
        <p:txBody>
          <a:bodyPr wrap="square" anchor="ctr"/>
          <a:lstStyle/>
          <a:p>
            <a:pPr algn="l"/>
            <a:r>
              <a:rPr sz="1800" b="0">
                <a:solidFill>
                  <a:srgbClr val="1C1C1C"/>
                </a:solidFill>
                <a:latin typeface="Calibri"/>
              </a:rPr>
              <a:t>Appose skin. Invert some hollow viscus. Do not invert skin.</a:t>
            </a:r>
          </a:p>
        </p:txBody>
      </p:sp>
      <p:sp>
        <p:nvSpPr>
          <p:cNvPr id="19" name="Rounded Rectangle 18"/>
          <p:cNvSpPr/>
          <p:nvPr/>
        </p:nvSpPr>
        <p:spPr>
          <a:xfrm>
            <a:off x="457200" y="3575304"/>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575304"/>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575304"/>
            <a:ext cx="777240" cy="768096"/>
          </a:xfrm>
          <a:prstGeom prst="rect">
            <a:avLst/>
          </a:prstGeom>
          <a:noFill/>
        </p:spPr>
        <p:txBody>
          <a:bodyPr wrap="square" anchor="ctr"/>
          <a:lstStyle/>
          <a:p>
            <a:pPr algn="ctr"/>
            <a:r>
              <a:rPr sz="2000" b="1">
                <a:solidFill>
                  <a:srgbClr val="0B2C4A"/>
                </a:solidFill>
                <a:latin typeface="Calibri"/>
              </a:rPr>
              <a:t>4</a:t>
            </a:r>
          </a:p>
        </p:txBody>
      </p:sp>
      <p:sp>
        <p:nvSpPr>
          <p:cNvPr id="22" name="TextBox 21"/>
          <p:cNvSpPr txBox="1"/>
          <p:nvPr/>
        </p:nvSpPr>
        <p:spPr>
          <a:xfrm>
            <a:off x="1417320" y="3575304"/>
            <a:ext cx="9966960" cy="768096"/>
          </a:xfrm>
          <a:prstGeom prst="rect">
            <a:avLst/>
          </a:prstGeom>
          <a:noFill/>
        </p:spPr>
        <p:txBody>
          <a:bodyPr wrap="square" anchor="ctr"/>
          <a:lstStyle/>
          <a:p>
            <a:pPr algn="l"/>
            <a:r>
              <a:rPr sz="1800" b="0">
                <a:solidFill>
                  <a:srgbClr val="1C1C1C"/>
                </a:solidFill>
                <a:latin typeface="Calibri"/>
              </a:rPr>
              <a:t>Far-far, then near-near. Connell enters the lumen. Cushing does not.</a:t>
            </a:r>
          </a:p>
        </p:txBody>
      </p:sp>
      <p:sp>
        <p:nvSpPr>
          <p:cNvPr id="23" name="Rounded Rectangle 22"/>
          <p:cNvSpPr/>
          <p:nvPr/>
        </p:nvSpPr>
        <p:spPr>
          <a:xfrm>
            <a:off x="457200" y="4416552"/>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416552"/>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416552"/>
            <a:ext cx="777240" cy="768096"/>
          </a:xfrm>
          <a:prstGeom prst="rect">
            <a:avLst/>
          </a:prstGeom>
          <a:noFill/>
        </p:spPr>
        <p:txBody>
          <a:bodyPr wrap="square" anchor="ctr"/>
          <a:lstStyle/>
          <a:p>
            <a:pPr algn="ctr"/>
            <a:r>
              <a:rPr sz="2000" b="1">
                <a:solidFill>
                  <a:srgbClr val="0B2C4A"/>
                </a:solidFill>
                <a:latin typeface="Calibri"/>
              </a:rPr>
              <a:t>5</a:t>
            </a:r>
          </a:p>
        </p:txBody>
      </p:sp>
      <p:sp>
        <p:nvSpPr>
          <p:cNvPr id="26" name="TextBox 25"/>
          <p:cNvSpPr txBox="1"/>
          <p:nvPr/>
        </p:nvSpPr>
        <p:spPr>
          <a:xfrm>
            <a:off x="1417320" y="4416552"/>
            <a:ext cx="9966960" cy="768096"/>
          </a:xfrm>
          <a:prstGeom prst="rect">
            <a:avLst/>
          </a:prstGeom>
          <a:noFill/>
        </p:spPr>
        <p:txBody>
          <a:bodyPr wrap="square" anchor="ctr"/>
          <a:lstStyle/>
          <a:p>
            <a:pPr algn="l"/>
            <a:r>
              <a:rPr sz="1800" b="0">
                <a:solidFill>
                  <a:srgbClr val="1C1C1C"/>
                </a:solidFill>
                <a:latin typeface="Calibri"/>
              </a:rPr>
              <a:t>Close layers. Skin cannot hold a linea. A mattress cannot replace undermining.</a:t>
            </a:r>
          </a:p>
        </p:txBody>
      </p:sp>
      <p:sp>
        <p:nvSpPr>
          <p:cNvPr id="27" name="Rounded Rectangle 26"/>
          <p:cNvSpPr/>
          <p:nvPr/>
        </p:nvSpPr>
        <p:spPr>
          <a:xfrm>
            <a:off x="457200" y="5257800"/>
            <a:ext cx="11247120" cy="7680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5257800"/>
            <a:ext cx="777240" cy="768096"/>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257800"/>
            <a:ext cx="777240" cy="768096"/>
          </a:xfrm>
          <a:prstGeom prst="rect">
            <a:avLst/>
          </a:prstGeom>
          <a:noFill/>
        </p:spPr>
        <p:txBody>
          <a:bodyPr wrap="square" anchor="ctr"/>
          <a:lstStyle/>
          <a:p>
            <a:pPr algn="ctr"/>
            <a:r>
              <a:rPr sz="2000" b="1">
                <a:solidFill>
                  <a:srgbClr val="0B2C4A"/>
                </a:solidFill>
                <a:latin typeface="Calibri"/>
              </a:rPr>
              <a:t>6</a:t>
            </a:r>
          </a:p>
        </p:txBody>
      </p:sp>
      <p:sp>
        <p:nvSpPr>
          <p:cNvPr id="30" name="TextBox 29"/>
          <p:cNvSpPr txBox="1"/>
          <p:nvPr/>
        </p:nvSpPr>
        <p:spPr>
          <a:xfrm>
            <a:off x="1417320" y="5257800"/>
            <a:ext cx="9966960" cy="768096"/>
          </a:xfrm>
          <a:prstGeom prst="rect">
            <a:avLst/>
          </a:prstGeom>
          <a:noFill/>
        </p:spPr>
        <p:txBody>
          <a:bodyPr wrap="square" anchor="ctr"/>
          <a:lstStyle/>
          <a:p>
            <a:pPr algn="l"/>
            <a:r>
              <a:rPr sz="1800" b="0">
                <a:solidFill>
                  <a:srgbClr val="1C1C1C"/>
                </a:solidFill>
                <a:latin typeface="Calibri"/>
              </a:rPr>
              <a:t>Sizes, needles, and throws are Week 8. Confirm them in Fossum or the lab protocol.</a:t>
            </a:r>
          </a:p>
        </p:txBody>
      </p:sp>
      <p:sp>
        <p:nvSpPr>
          <p:cNvPr id="31" name="Rectangle 30"/>
          <p:cNvSpPr/>
          <p:nvPr/>
        </p:nvSpPr>
        <p:spPr>
          <a:xfrm>
            <a:off x="0" y="6565392"/>
            <a:ext cx="12191695" cy="29260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65392"/>
            <a:ext cx="9875520" cy="292608"/>
          </a:xfrm>
          <a:prstGeom prst="rect">
            <a:avLst/>
          </a:prstGeom>
          <a:noFill/>
        </p:spPr>
        <p:txBody>
          <a:bodyPr wrap="square" anchor="ctr"/>
          <a:lstStyle/>
          <a:p>
            <a:pPr algn="l"/>
            <a:r>
              <a:rPr sz="1200" b="0">
                <a:solidFill>
                  <a:srgbClr val="F4EBD3"/>
                </a:solidFill>
                <a:latin typeface="Calibri"/>
              </a:rPr>
              <a:t>DVM 612  |  Dr. Yujin Kim, D.V.M., Ph.D., FFCP  |  Lewyt CVM</a:t>
            </a:r>
          </a:p>
        </p:txBody>
      </p:sp>
      <p:sp>
        <p:nvSpPr>
          <p:cNvPr id="33" name="TextBox 32"/>
          <p:cNvSpPr txBox="1"/>
          <p:nvPr/>
        </p:nvSpPr>
        <p:spPr>
          <a:xfrm>
            <a:off x="10241280" y="6565392"/>
            <a:ext cx="1645920" cy="292608"/>
          </a:xfrm>
          <a:prstGeom prst="rect">
            <a:avLst/>
          </a:prstGeom>
          <a:noFill/>
        </p:spPr>
        <p:txBody>
          <a:bodyPr wrap="square" anchor="ctr"/>
          <a:lstStyle/>
          <a:p>
            <a:pPr algn="r"/>
            <a:r>
              <a:rPr sz="1200" b="0">
                <a:solidFill>
                  <a:srgbClr val="FFFFFF"/>
                </a:solidFill>
                <a:latin typeface="Calibri"/>
              </a:rPr>
              <a:t>39  /  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C5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37744"/>
            <a:ext cx="11155680" cy="256032"/>
          </a:xfrm>
          <a:prstGeom prst="rect">
            <a:avLst/>
          </a:prstGeom>
          <a:noFill/>
        </p:spPr>
        <p:txBody>
          <a:bodyPr wrap="square" anchor="t"/>
          <a:lstStyle/>
          <a:p>
            <a:pPr algn="l"/>
            <a:r>
              <a:rPr sz="1400" b="1">
                <a:solidFill>
                  <a:srgbClr val="C5A35A"/>
                </a:solidFill>
                <a:latin typeface="Calibri"/>
              </a:rPr>
              <a:t>DVM 612  ·  PRINCIPLES OF SURGERY  ·  WEEK 7</a:t>
            </a:r>
          </a:p>
        </p:txBody>
      </p:sp>
      <p:sp>
        <p:nvSpPr>
          <p:cNvPr id="6" name="TextBox 5"/>
          <p:cNvSpPr txBox="1"/>
          <p:nvPr/>
        </p:nvSpPr>
        <p:spPr>
          <a:xfrm>
            <a:off x="502920" y="475488"/>
            <a:ext cx="11155680" cy="438912"/>
          </a:xfrm>
          <a:prstGeom prst="rect">
            <a:avLst/>
          </a:prstGeom>
          <a:noFill/>
        </p:spPr>
        <p:txBody>
          <a:bodyPr wrap="square" anchor="t"/>
          <a:lstStyle/>
          <a:p>
            <a:pPr algn="l"/>
            <a:r>
              <a:rPr sz="2800" b="1">
                <a:solidFill>
                  <a:srgbClr val="FFFFFF"/>
                </a:solidFill>
                <a:latin typeface="Calibri"/>
              </a:rPr>
              <a:t>Questions</a:t>
            </a:r>
          </a:p>
        </p:txBody>
      </p:sp>
      <p:sp>
        <p:nvSpPr>
          <p:cNvPr id="7" name="TextBox 6"/>
          <p:cNvSpPr txBox="1"/>
          <p:nvPr/>
        </p:nvSpPr>
        <p:spPr>
          <a:xfrm>
            <a:off x="502920" y="932688"/>
            <a:ext cx="11155680" cy="640080"/>
          </a:xfrm>
          <a:prstGeom prst="rect">
            <a:avLst/>
          </a:prstGeom>
          <a:noFill/>
        </p:spPr>
        <p:txBody>
          <a:bodyPr wrap="square" anchor="t"/>
          <a:lstStyle/>
          <a:p>
            <a:pPr algn="l"/>
            <a:r>
              <a:rPr sz="1600" b="0">
                <a:solidFill>
                  <a:srgbClr val="F4EBD3"/>
                </a:solidFill>
                <a:latin typeface="Calibri"/>
              </a:rPr>
              <a:t>What three questions do you ask before you sew?
Which mattress is far-far, then near-near?</a:t>
            </a:r>
          </a:p>
        </p:txBody>
      </p:sp>
      <p:sp>
        <p:nvSpPr>
          <p:cNvPr id="8" name="TextBox 7"/>
          <p:cNvSpPr txBox="1"/>
          <p:nvPr/>
        </p:nvSpPr>
        <p:spPr>
          <a:xfrm>
            <a:off x="502920" y="1627632"/>
            <a:ext cx="11155680" cy="292608"/>
          </a:xfrm>
          <a:prstGeom prst="rect">
            <a:avLst/>
          </a:prstGeom>
          <a:noFill/>
        </p:spPr>
        <p:txBody>
          <a:bodyPr wrap="square" anchor="t"/>
          <a:lstStyle/>
          <a:p>
            <a:pPr algn="l"/>
            <a:r>
              <a:rPr sz="1400" b="1">
                <a:solidFill>
                  <a:srgbClr val="C5A35A"/>
                </a:solidFill>
                <a:latin typeface="Calibri"/>
              </a:rPr>
              <a:t>References  (course texts and public teaching pages used in this hour)</a:t>
            </a:r>
          </a:p>
        </p:txBody>
      </p:sp>
      <p:sp>
        <p:nvSpPr>
          <p:cNvPr id="9" name="TextBox 8"/>
          <p:cNvSpPr txBox="1"/>
          <p:nvPr/>
        </p:nvSpPr>
        <p:spPr>
          <a:xfrm>
            <a:off x="502920" y="1975104"/>
            <a:ext cx="5532120" cy="4023360"/>
          </a:xfrm>
          <a:prstGeom prst="rect">
            <a:avLst/>
          </a:prstGeom>
          <a:noFill/>
        </p:spPr>
        <p:txBody>
          <a:bodyPr wrap="square" anchor="t"/>
          <a:lstStyle/>
          <a:p>
            <a:pPr algn="l"/>
            <a:r>
              <a:rPr sz="1300" b="0">
                <a:solidFill>
                  <a:srgbClr val="FFFFFF"/>
                </a:solidFill>
                <a:latin typeface="Calibri"/>
              </a:rPr>
              <a:t>1. Fossum TW. Small Animal Surgery. 5th ed. Elsevier; 2018. ISBN 978-0-323-44344-9. Named. No page dump. No invented size table.
2. Hendrickson DA, Baird AN. Turner and McIlwraith’s Techniques in Large Animal Surgery. 4th ed. Wiley-Blackwell; 2013. Named. Week 13 owns field patterns.
3. Long Island University CVM. DVM 612 Principles of Surgery course outline (public). Week 7: suture patterns and surgical closure. Week 8: materials, needles, knots.
4. University of Saskatchewan WCVM. VSAC Lab 3. Suture patterns; interrupted; continuous. Public teaching page.</a:t>
            </a:r>
          </a:p>
        </p:txBody>
      </p:sp>
      <p:sp>
        <p:nvSpPr>
          <p:cNvPr id="10" name="TextBox 9"/>
          <p:cNvSpPr txBox="1"/>
          <p:nvPr/>
        </p:nvSpPr>
        <p:spPr>
          <a:xfrm>
            <a:off x="6172200" y="1975104"/>
            <a:ext cx="5532120" cy="4023360"/>
          </a:xfrm>
          <a:prstGeom prst="rect">
            <a:avLst/>
          </a:prstGeom>
          <a:noFill/>
        </p:spPr>
        <p:txBody>
          <a:bodyPr wrap="square" anchor="t"/>
          <a:lstStyle/>
          <a:p>
            <a:pPr algn="l"/>
            <a:r>
              <a:rPr sz="1300" b="0">
                <a:solidFill>
                  <a:srgbClr val="FFFFFF"/>
                </a:solidFill>
                <a:latin typeface="Calibri"/>
              </a:rPr>
              <a:t>5. Merck Manual Professional. How to repair a laceration with vertical mattress sutures. Far-far / near-near; tension and ischemia costs.
6. Merck Manual Professional. How to repair a laceration with horizontal mattress sutures. Load sharing lateral to the wound.
7. Halsted principles: standard surgical teaching. Applied here to closure, not as a slogan.
8. Bite-width millimeters on WCVM pages stay on those pages. Confirm in lab.</a:t>
            </a:r>
          </a:p>
        </p:txBody>
      </p:sp>
      <p:sp>
        <p:nvSpPr>
          <p:cNvPr id="11" name="TextBox 10"/>
          <p:cNvSpPr txBox="1"/>
          <p:nvPr/>
        </p:nvSpPr>
        <p:spPr>
          <a:xfrm>
            <a:off x="502920" y="6144768"/>
            <a:ext cx="11155680" cy="292608"/>
          </a:xfrm>
          <a:prstGeom prst="rect">
            <a:avLst/>
          </a:prstGeom>
          <a:noFill/>
        </p:spPr>
        <p:txBody>
          <a:bodyPr wrap="square" anchor="t"/>
          <a:lstStyle/>
          <a:p>
            <a:pPr algn="l"/>
            <a:r>
              <a:rPr sz="1400" b="0">
                <a:solidFill>
                  <a:srgbClr val="C5A35A"/>
                </a:solidFill>
                <a:latin typeface="Calibri"/>
              </a:rPr>
              <a:t>Dr. Yujin Kim, D.V.M., Ph.D., FFCP  ·  Lewyt CVM  ·  Long Island University</a:t>
            </a:r>
          </a:p>
        </p:txBody>
      </p:sp>
      <p:sp>
        <p:nvSpPr>
          <p:cNvPr id="12" name="TextBox 11"/>
          <p:cNvSpPr txBox="1"/>
          <p:nvPr/>
        </p:nvSpPr>
        <p:spPr>
          <a:xfrm>
            <a:off x="10241280" y="6565392"/>
            <a:ext cx="1554480" cy="292608"/>
          </a:xfrm>
          <a:prstGeom prst="rect">
            <a:avLst/>
          </a:prstGeom>
          <a:noFill/>
        </p:spPr>
        <p:txBody>
          <a:bodyPr wrap="square" anchor="ctr"/>
          <a:lstStyle/>
          <a:p>
            <a:pPr algn="r"/>
            <a:r>
              <a:rPr sz="1200" b="0">
                <a:solidFill>
                  <a:srgbClr val="C5A35A"/>
                </a:solidFill>
                <a:latin typeface="Calibri"/>
              </a:rPr>
              <a:t>40  /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