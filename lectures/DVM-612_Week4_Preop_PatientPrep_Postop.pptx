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We will carry one real patient through all three: Willie, a 6-year 11-month MN Cavalier, 13.7 kg, who became ataxic over about an hour, with a severe left ear infection. Assign his ASA, decide what you anesthetize him for tonight, and own the next 24 hours.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Willie is the patient we keep coming back to.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a visible timer. If discussion runs, protect Part II (prep) and Willie’s case.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DVM 612 will hold you to this: a beautiful closure that bleeds in recovery is a failed surgery. The first 24 hours are part of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spend more than 2 minutes. Point: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red thread: you do not hand off responsibility at the OR door. Anesthesia gets the dog ready for surgical prep; surgery owns prep through the last skin suture; both own recovery.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Ask: who has watched an elective surgery get cancelled at induction? That is a successful preop exam.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jobs. Students often skip #3 and #4. Elective surgery on an unstable patient is not bravery.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 minutes. Highlight Doberman/vWD, brachycephalics, and last meal as exam favorites. Never premedicate before you have examined the patient.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Never skip PE because the technician already did vitals. DVM 612 students share patients with anesthesia. The surgeon still owns the decision to proceed.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ASA I and III slowly. The emergency E modifier is used clinically (ASA III-E for an acute vestibular crisis that still needs sedation tonight). Next slides: Willie.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the real ASA III we will unpack. D is the trap: do not induce a hyperkalemic blocked cat because surgery is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Willie. Do not skip the murmur. Right-sided knuckling with left circling is why you cannot call this just an ear flush. Mentation was quiet/dull.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drum was seen, then ointment was infused. Aminoglycosides are a risk if the middle or inner ear is involved even when the drum looks present and swollen. Cavaliers also bring mitral valve disease and Chiari-like malformation to the vestibular list. Mention both, then return to the ear as the leading infectious cause. No NSAID after DexSP.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dogma. Requesting nothing in a geriatric patient is as wrong as a $800 panel on every puppy. Know your hospital policy and be able to defend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resuscitation is not delayed for clipping. Elective OHE is delayed for pyoderma. GDV is not delayed for a dental cleaning that was also booked.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AAHA-style 4–6 h for healthy small animals as best practice. Older sources still say overnight NPO — explain aspiration vs hypoglycemia. Ruminants are a different physiology, not a different lecture.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under-consent electives. A 2-minute risk talk prevents a 2-hour complaint. Mention DNR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Checklist takes 90 seconds and prevents wrong-site and forgotten cefazolin. Analgesia: locals are underused by students.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Elective canine OHE is a clean procedure — do not invent a 14-day cephalexin prescription. Willie’s left ear is infected, so antimicrobials are treatment, not clean prophylaxis.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2 minutes. Then move. Do not let this become a 10-minute debate.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skill cluster for this hour: hair removal, skin prep, positioning, scrubbing/attire, gowning/gloving, draping. Lost asepsis that nobody names is how patients get SSI.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six boxes. Students should be able to name them without mixing in the cutting steps.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fail: clipping in the OR, or sterile prep in the prep room then dragging a wet dog across a dirty corridor without a clean transfer. Another fail: starting the clip before a surgical plane — patient wakes, contaminates, gets clipper lacerations.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with hands on your own abdomen if no model. Missed hair at the drape edge fails the prep.</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Orthopedic hang-prep is the concept they need: the foot is dirty, wrapped, and you prep from incision toward the foot, never reverse.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CHG–alcohol is a common choice for trunk skin when not contraindicated. Willie’s left ear is exactly where CHG and aminoglycosides can harm a swollen drum and middle ear.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time, mime the spiral on the lectern. Mention hanging-limb prep: start at incision, work distally toward the dirty foot, then the wrapped foot is handed off.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Canine OHE is dorsal recumbency. Over-splitting femurs of a large dog is a student habit. Mention GDV: even positioning can worsen caval compression — communicate with anesthesia.</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Four-quadrant is not optional style. Demonstrate air-cuffing the drape. Hair at the edge means re-clip or re-drape.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Closed gloving after gowning is preferred. Talking through a contaminated glove replacement: both gloves off if you are unsure, then start over.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Culture in lab: we praise people who say I just contaminated my sleeve. We do not praise silent heroics.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hemorrhage, closure, and asepsis to this hour. Ureter injury is a calm, well-prepped, well-exposed patient problem.</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is the safety slide. D is the nuanced yes.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Shift energy. Students think postop is ‘the techs’ job.’ It is not.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ABC plus temperature plus pain. Hemorrhage speech: do not send a pale recovering OHE to the kennel because ‘she’s just groggy.’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Score pain. NSAIDs: not in hypovolemia, kidney injury, GI ulcer, or concurrent steroids — Willie already received DexSP.</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Licking and basketball-with-the-dog are the two discharge failures. Be concrete: ‘no off-leash for 14 days.’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time on hemorrhage vs. seroma (students confuse them) and skin vs.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Willie: neuro exam, ASA III-E, TM visible but swollen, DexSP given, no NSAID, murmur, films, MRI plan.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Role-play one sentence: ‘If the incision opens and you see fat or intestine, cover with a clean wet towel and come now.’ Students write too much physiology and too few phone numbers.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is never ‘wait until morning.’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Cats and food. Diabetics and insulin. Short.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Halsted travels to the barn. Then get back to Willie.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Willie without questions until the end. One-sentence contrast: a healthy Lab OHE is ASA I and gets no routine antibiotics. Willie is the opposite.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here if time is gone. Willie is the ASA III-E they should be able to defend.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to slide 1.</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Fossum is the text behind this hour.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what would you do differently for Willie than for a healthy Labrador spay?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051560"/>
            <a:ext cx="10972800" cy="320040"/>
          </a:xfrm>
          <a:prstGeom prst="rect">
            <a:avLst/>
          </a:prstGeom>
          <a:noFill/>
        </p:spPr>
        <p:txBody>
          <a:bodyPr wrap="square" anchor="t"/>
          <a:lstStyle/>
          <a:p>
            <a:pPr algn="l"/>
            <a:r>
              <a:rPr sz="1300" b="1">
                <a:solidFill>
                  <a:srgbClr val="C5A35A"/>
                </a:solidFill>
                <a:latin typeface="Calibri"/>
              </a:rPr>
              <a:t>LONG ISLAND UNIVERSITY  ·  LEWYT COLLEGE OF VETERINARY MEDICINE</a:t>
            </a:r>
          </a:p>
        </p:txBody>
      </p:sp>
      <p:sp>
        <p:nvSpPr>
          <p:cNvPr id="6" name="TextBox 5"/>
          <p:cNvSpPr txBox="1"/>
          <p:nvPr/>
        </p:nvSpPr>
        <p:spPr>
          <a:xfrm>
            <a:off x="685800" y="1554480"/>
            <a:ext cx="10972800" cy="365760"/>
          </a:xfrm>
          <a:prstGeom prst="rect">
            <a:avLst/>
          </a:prstGeom>
          <a:noFill/>
        </p:spPr>
        <p:txBody>
          <a:bodyPr wrap="square" anchor="t"/>
          <a:lstStyle/>
          <a:p>
            <a:pPr algn="l"/>
            <a:r>
              <a:rPr sz="1600" b="1">
                <a:solidFill>
                  <a:srgbClr val="F4EBD3"/>
                </a:solidFill>
                <a:latin typeface="Calibri"/>
              </a:rPr>
              <a:t>DVM 612  ·  PRINCIPLES OF SURGERY</a:t>
            </a:r>
          </a:p>
        </p:txBody>
      </p:sp>
      <p:sp>
        <p:nvSpPr>
          <p:cNvPr id="7" name="TextBox 6"/>
          <p:cNvSpPr txBox="1"/>
          <p:nvPr/>
        </p:nvSpPr>
        <p:spPr>
          <a:xfrm>
            <a:off x="685800" y="2057400"/>
            <a:ext cx="10972800" cy="146304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4709160"/>
            <a:ext cx="10972800" cy="365760"/>
          </a:xfrm>
          <a:prstGeom prst="rect">
            <a:avLst/>
          </a:prstGeom>
          <a:noFill/>
        </p:spPr>
        <p:txBody>
          <a:bodyPr wrap="square" anchor="t"/>
          <a:lstStyle/>
          <a:p>
            <a:pPr algn="l"/>
            <a:r>
              <a:rPr sz="1600" b="0">
                <a:solidFill>
                  <a:srgbClr val="F4EBD3"/>
                </a:solidFill>
                <a:latin typeface="Calibri"/>
              </a:rPr>
              <a:t>Lecture  |  60 minutes</a:t>
            </a:r>
          </a:p>
        </p:txBody>
      </p:sp>
      <p:sp>
        <p:nvSpPr>
          <p:cNvPr id="9" name="TextBox 8"/>
          <p:cNvSpPr txBox="1"/>
          <p:nvPr/>
        </p:nvSpPr>
        <p:spPr>
          <a:xfrm>
            <a:off x="685800" y="5120640"/>
            <a:ext cx="10972800" cy="640080"/>
          </a:xfrm>
          <a:prstGeom prst="rect">
            <a:avLst/>
          </a:prstGeom>
          <a:noFill/>
        </p:spPr>
        <p:txBody>
          <a:bodyPr wrap="square" anchor="t"/>
          <a:lstStyle/>
          <a:p>
            <a:pPr algn="l"/>
            <a:r>
              <a:rPr sz="1400" b="0">
                <a:solidFill>
                  <a:srgbClr val="FFFFFF"/>
                </a:solidFill>
                <a:latin typeface="Calibri"/>
              </a:rPr>
              <a:t>Preoperative evaluation · patient and surgeon preparation · postoperative care.
Running case: Willie, a Cavalier King Charles Spaniel with acute vestibular disease and left otitis.</a:t>
            </a:r>
          </a:p>
        </p:txBody>
      </p:sp>
      <p:sp>
        <p:nvSpPr>
          <p:cNvPr id="10" name="TextBox 9"/>
          <p:cNvSpPr txBox="1"/>
          <p:nvPr/>
        </p:nvSpPr>
        <p:spPr>
          <a:xfrm>
            <a:off x="685800" y="5989320"/>
            <a:ext cx="10972800" cy="320040"/>
          </a:xfrm>
          <a:prstGeom prst="rect">
            <a:avLst/>
          </a:prstGeom>
          <a:noFill/>
        </p:spPr>
        <p:txBody>
          <a:bodyPr wrap="square" anchor="t"/>
          <a:lstStyle/>
          <a:p>
            <a:pPr algn="l"/>
            <a:r>
              <a:rPr sz="1200" b="0">
                <a:solidFill>
                  <a:srgbClr val="C5A35A"/>
                </a:solidFill>
                <a:latin typeface="Calibri"/>
              </a:rPr>
              <a:t>Required reading: Fossum, Small Animal Surgery, 5th ed. (2018)  ·  Hendrickson &amp; Baird (2013)</a:t>
            </a:r>
          </a:p>
        </p:txBody>
      </p:sp>
      <p:sp>
        <p:nvSpPr>
          <p:cNvPr id="11" name="TextBox 10"/>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1  /  49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LEARNING OBJECTIVES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By the end of this hour you will be able to</a:t>
            </a:r>
          </a:p>
        </p:txBody>
      </p:sp>
      <p:sp>
        <p:nvSpPr>
          <p:cNvPr id="8" name="TextBox 7"/>
          <p:cNvSpPr txBox="1"/>
          <p:nvPr/>
        </p:nvSpPr>
        <p:spPr>
          <a:xfrm>
            <a:off x="502920" y="1097280"/>
            <a:ext cx="11155680" cy="4206240"/>
          </a:xfrm>
          <a:prstGeom prst="rect">
            <a:avLst/>
          </a:prstGeom>
          <a:noFill/>
        </p:spPr>
        <p:txBody>
          <a:bodyPr wrap="square">
            <a:spAutoFit/>
          </a:bodyPr>
          <a:lstStyle/>
          <a:p>
            <a:pPr algn="l">
              <a:spcAft>
                <a:spcPts val="1200"/>
              </a:spcAft>
            </a:pPr>
            <a:r>
              <a:rPr sz="1800" b="0">
                <a:solidFill>
                  <a:srgbClr val="1C1C1C"/>
                </a:solidFill>
                <a:latin typeface="Calibri"/>
              </a:rPr>
              <a:t>▸  Perform a preoperative evaluation, assign an ASA status, and decide whether to proceed, delay, or stabilize.</a:t>
            </a:r>
          </a:p>
          <a:p>
            <a:pPr algn="l">
              <a:spcAft>
                <a:spcPts val="1200"/>
              </a:spcAft>
            </a:pPr>
            <a:r>
              <a:rPr sz="1800" b="0">
                <a:solidFill>
                  <a:srgbClr val="1C1C1C"/>
                </a:solidFill>
                <a:latin typeface="Calibri"/>
              </a:rPr>
              <a:t>▸  Build a peri-operative plan: fasting, analgesia, antimicrobial prophylaxis, consent, and checklist.</a:t>
            </a:r>
          </a:p>
          <a:p>
            <a:pPr algn="l">
              <a:spcAft>
                <a:spcPts val="1200"/>
              </a:spcAft>
            </a:pPr>
            <a:r>
              <a:rPr sz="1800" b="0">
                <a:solidFill>
                  <a:srgbClr val="1C1C1C"/>
                </a:solidFill>
                <a:latin typeface="Calibri"/>
              </a:rPr>
              <a:t>▸  Prepare the patient and surgeon for aseptic surgery (clip, antiseptic prep, four-quadrant drape, gown, closed glove).</a:t>
            </a:r>
          </a:p>
          <a:p>
            <a:pPr algn="l">
              <a:spcAft>
                <a:spcPts val="1200"/>
              </a:spcAft>
            </a:pPr>
            <a:r>
              <a:rPr sz="1800" b="0">
                <a:solidFill>
                  <a:srgbClr val="1C1C1C"/>
                </a:solidFill>
                <a:latin typeface="Calibri"/>
              </a:rPr>
              <a:t>▸  Recognize and correct a break in asepsis before and after the incision is made.</a:t>
            </a:r>
          </a:p>
          <a:p>
            <a:pPr algn="l">
              <a:spcAft>
                <a:spcPts val="1200"/>
              </a:spcAft>
            </a:pPr>
            <a:r>
              <a:rPr sz="1800" b="0">
                <a:solidFill>
                  <a:srgbClr val="1C1C1C"/>
                </a:solidFill>
                <a:latin typeface="Calibri"/>
              </a:rPr>
              <a:t>▸  Write a postoperative plan, surgical report elements, and client discharge instructions — including 24-hour emergency criteria.</a:t>
            </a:r>
          </a:p>
        </p:txBody>
      </p:sp>
      <p:sp>
        <p:nvSpPr>
          <p:cNvPr id="9" name="Rounded Rectangle 8"/>
          <p:cNvSpPr/>
          <p:nvPr/>
        </p:nvSpPr>
        <p:spPr>
          <a:xfrm>
            <a:off x="457200" y="562356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715000"/>
            <a:ext cx="10881360" cy="594360"/>
          </a:xfrm>
          <a:prstGeom prst="rect">
            <a:avLst/>
          </a:prstGeom>
          <a:noFill/>
        </p:spPr>
        <p:txBody>
          <a:bodyPr wrap="square" anchor="t"/>
          <a:lstStyle/>
          <a:p>
            <a:pPr algn="l"/>
            <a:r>
              <a:rPr sz="1400" b="0">
                <a:solidFill>
                  <a:srgbClr val="0B2C4A"/>
                </a:solidFill>
                <a:latin typeface="Calibri"/>
              </a:rPr>
              <a:t>Today is judgment, asepsis, and aftercare. Poor prep cannot be rescued by elegant suture. We will apply every section to Willie.</a:t>
            </a:r>
          </a:p>
        </p:txBody>
      </p:sp>
      <p:sp>
        <p:nvSpPr>
          <p:cNvPr id="11" name="Rectangle 10"/>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3" name="TextBox 12"/>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  /  49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HOW WE WILL SPEND THE HOUR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Sixty-minute plan</a:t>
            </a:r>
          </a:p>
        </p:txBody>
      </p:sp>
      <p:sp>
        <p:nvSpPr>
          <p:cNvPr id="8" name="Rounded Rectangle 7"/>
          <p:cNvSpPr/>
          <p:nvPr/>
        </p:nvSpPr>
        <p:spPr>
          <a:xfrm>
            <a:off x="502920" y="114300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143000"/>
            <a:ext cx="128016" cy="8412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252728"/>
            <a:ext cx="2103120" cy="621792"/>
          </a:xfrm>
          <a:prstGeom prst="rect">
            <a:avLst/>
          </a:prstGeom>
          <a:noFill/>
        </p:spPr>
        <p:txBody>
          <a:bodyPr wrap="square" anchor="ctr"/>
          <a:lstStyle/>
          <a:p>
            <a:pPr algn="l"/>
            <a:r>
              <a:rPr sz="1800" b="1">
                <a:solidFill>
                  <a:srgbClr val="0B2C4A"/>
                </a:solidFill>
                <a:latin typeface="Calibri"/>
              </a:rPr>
              <a:t>0–3 min</a:t>
            </a:r>
          </a:p>
        </p:txBody>
      </p:sp>
      <p:sp>
        <p:nvSpPr>
          <p:cNvPr id="11" name="TextBox 10"/>
          <p:cNvSpPr txBox="1"/>
          <p:nvPr/>
        </p:nvSpPr>
        <p:spPr>
          <a:xfrm>
            <a:off x="3108960" y="1252728"/>
            <a:ext cx="8229600" cy="621792"/>
          </a:xfrm>
          <a:prstGeom prst="rect">
            <a:avLst/>
          </a:prstGeom>
          <a:noFill/>
        </p:spPr>
        <p:txBody>
          <a:bodyPr wrap="square" anchor="ctr"/>
          <a:lstStyle/>
          <a:p>
            <a:pPr algn="l"/>
            <a:r>
              <a:rPr sz="1800" b="0">
                <a:solidFill>
                  <a:srgbClr val="1C1C1C"/>
                </a:solidFill>
                <a:latin typeface="Calibri"/>
              </a:rPr>
              <a:t>Frame + Halsted as the through-line</a:t>
            </a:r>
          </a:p>
        </p:txBody>
      </p:sp>
      <p:sp>
        <p:nvSpPr>
          <p:cNvPr id="12" name="Rounded Rectangle 11"/>
          <p:cNvSpPr/>
          <p:nvPr/>
        </p:nvSpPr>
        <p:spPr>
          <a:xfrm>
            <a:off x="502920" y="210312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103120"/>
            <a:ext cx="128016" cy="84124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212848"/>
            <a:ext cx="2103120" cy="621792"/>
          </a:xfrm>
          <a:prstGeom prst="rect">
            <a:avLst/>
          </a:prstGeom>
          <a:noFill/>
        </p:spPr>
        <p:txBody>
          <a:bodyPr wrap="square" anchor="ctr"/>
          <a:lstStyle/>
          <a:p>
            <a:pPr algn="l"/>
            <a:r>
              <a:rPr sz="1800" b="1">
                <a:solidFill>
                  <a:srgbClr val="1B6B7A"/>
                </a:solidFill>
                <a:latin typeface="Calibri"/>
              </a:rPr>
              <a:t>3–22 min</a:t>
            </a:r>
          </a:p>
        </p:txBody>
      </p:sp>
      <p:sp>
        <p:nvSpPr>
          <p:cNvPr id="15" name="TextBox 14"/>
          <p:cNvSpPr txBox="1"/>
          <p:nvPr/>
        </p:nvSpPr>
        <p:spPr>
          <a:xfrm>
            <a:off x="3108960" y="2212848"/>
            <a:ext cx="8229600" cy="621792"/>
          </a:xfrm>
          <a:prstGeom prst="rect">
            <a:avLst/>
          </a:prstGeom>
          <a:noFill/>
        </p:spPr>
        <p:txBody>
          <a:bodyPr wrap="square" anchor="ctr"/>
          <a:lstStyle/>
          <a:p>
            <a:pPr algn="l"/>
            <a:r>
              <a:rPr sz="1800" b="0">
                <a:solidFill>
                  <a:srgbClr val="1C1C1C"/>
                </a:solidFill>
                <a:latin typeface="Calibri"/>
              </a:rPr>
              <a:t>I. Preoperative evaluation &amp; peri-op plan</a:t>
            </a:r>
          </a:p>
        </p:txBody>
      </p:sp>
      <p:sp>
        <p:nvSpPr>
          <p:cNvPr id="16" name="Rounded Rectangle 15"/>
          <p:cNvSpPr/>
          <p:nvPr/>
        </p:nvSpPr>
        <p:spPr>
          <a:xfrm>
            <a:off x="502920" y="306324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3063240"/>
            <a:ext cx="128016" cy="84124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172968"/>
            <a:ext cx="2103120" cy="621792"/>
          </a:xfrm>
          <a:prstGeom prst="rect">
            <a:avLst/>
          </a:prstGeom>
          <a:noFill/>
        </p:spPr>
        <p:txBody>
          <a:bodyPr wrap="square" anchor="ctr"/>
          <a:lstStyle/>
          <a:p>
            <a:pPr algn="l"/>
            <a:r>
              <a:rPr sz="1800" b="1">
                <a:solidFill>
                  <a:srgbClr val="C5A35A"/>
                </a:solidFill>
                <a:latin typeface="Calibri"/>
              </a:rPr>
              <a:t>22–42 min</a:t>
            </a:r>
          </a:p>
        </p:txBody>
      </p:sp>
      <p:sp>
        <p:nvSpPr>
          <p:cNvPr id="19" name="TextBox 18"/>
          <p:cNvSpPr txBox="1"/>
          <p:nvPr/>
        </p:nvSpPr>
        <p:spPr>
          <a:xfrm>
            <a:off x="3108960" y="3172968"/>
            <a:ext cx="8229600" cy="621792"/>
          </a:xfrm>
          <a:prstGeom prst="rect">
            <a:avLst/>
          </a:prstGeom>
          <a:noFill/>
        </p:spPr>
        <p:txBody>
          <a:bodyPr wrap="square" anchor="ctr"/>
          <a:lstStyle/>
          <a:p>
            <a:pPr algn="l"/>
            <a:r>
              <a:rPr sz="1800" b="0">
                <a:solidFill>
                  <a:srgbClr val="1C1C1C"/>
                </a:solidFill>
                <a:latin typeface="Calibri"/>
              </a:rPr>
              <a:t>II. Patient and surgeon preparation</a:t>
            </a:r>
          </a:p>
        </p:txBody>
      </p:sp>
      <p:sp>
        <p:nvSpPr>
          <p:cNvPr id="20" name="Rounded Rectangle 19"/>
          <p:cNvSpPr/>
          <p:nvPr/>
        </p:nvSpPr>
        <p:spPr>
          <a:xfrm>
            <a:off x="502920" y="402336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4023360"/>
            <a:ext cx="128016" cy="84124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133088"/>
            <a:ext cx="2103120" cy="621792"/>
          </a:xfrm>
          <a:prstGeom prst="rect">
            <a:avLst/>
          </a:prstGeom>
          <a:noFill/>
        </p:spPr>
        <p:txBody>
          <a:bodyPr wrap="square" anchor="ctr"/>
          <a:lstStyle/>
          <a:p>
            <a:pPr algn="l"/>
            <a:r>
              <a:rPr sz="1800" b="1">
                <a:solidFill>
                  <a:srgbClr val="2E6B4F"/>
                </a:solidFill>
                <a:latin typeface="Calibri"/>
              </a:rPr>
              <a:t>42–57 min</a:t>
            </a:r>
          </a:p>
        </p:txBody>
      </p:sp>
      <p:sp>
        <p:nvSpPr>
          <p:cNvPr id="23" name="TextBox 22"/>
          <p:cNvSpPr txBox="1"/>
          <p:nvPr/>
        </p:nvSpPr>
        <p:spPr>
          <a:xfrm>
            <a:off x="3108960" y="4133088"/>
            <a:ext cx="8229600" cy="621792"/>
          </a:xfrm>
          <a:prstGeom prst="rect">
            <a:avLst/>
          </a:prstGeom>
          <a:noFill/>
        </p:spPr>
        <p:txBody>
          <a:bodyPr wrap="square" anchor="ctr"/>
          <a:lstStyle/>
          <a:p>
            <a:pPr algn="l"/>
            <a:r>
              <a:rPr sz="1800" b="0">
                <a:solidFill>
                  <a:srgbClr val="1C1C1C"/>
                </a:solidFill>
                <a:latin typeface="Calibri"/>
              </a:rPr>
              <a:t>III. Postoperative care, complications, discharge</a:t>
            </a:r>
          </a:p>
        </p:txBody>
      </p:sp>
      <p:sp>
        <p:nvSpPr>
          <p:cNvPr id="24" name="Rounded Rectangle 23"/>
          <p:cNvSpPr/>
          <p:nvPr/>
        </p:nvSpPr>
        <p:spPr>
          <a:xfrm>
            <a:off x="502920" y="498348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4983480"/>
            <a:ext cx="128016" cy="841248"/>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5093208"/>
            <a:ext cx="2103120" cy="621792"/>
          </a:xfrm>
          <a:prstGeom prst="rect">
            <a:avLst/>
          </a:prstGeom>
          <a:noFill/>
        </p:spPr>
        <p:txBody>
          <a:bodyPr wrap="square" anchor="ctr"/>
          <a:lstStyle/>
          <a:p>
            <a:pPr algn="l"/>
            <a:r>
              <a:rPr sz="1800" b="1">
                <a:solidFill>
                  <a:srgbClr val="8B2E2E"/>
                </a:solidFill>
                <a:latin typeface="Calibri"/>
              </a:rPr>
              <a:t>57–60 min</a:t>
            </a:r>
          </a:p>
        </p:txBody>
      </p:sp>
      <p:sp>
        <p:nvSpPr>
          <p:cNvPr id="27" name="TextBox 26"/>
          <p:cNvSpPr txBox="1"/>
          <p:nvPr/>
        </p:nvSpPr>
        <p:spPr>
          <a:xfrm>
            <a:off x="3108960" y="5093208"/>
            <a:ext cx="8229600" cy="621792"/>
          </a:xfrm>
          <a:prstGeom prst="rect">
            <a:avLst/>
          </a:prstGeom>
          <a:noFill/>
        </p:spPr>
        <p:txBody>
          <a:bodyPr wrap="square" anchor="ctr"/>
          <a:lstStyle/>
          <a:p>
            <a:pPr algn="l"/>
            <a:r>
              <a:rPr sz="1800" b="0">
                <a:solidFill>
                  <a:srgbClr val="1C1C1C"/>
                </a:solidFill>
                <a:latin typeface="Calibri"/>
              </a:rPr>
              <a:t>Willie walk-through, key points, questions</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  /  49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SURGICAL SITE INFECTION, HARM, AND PROFESSIONAL STANDARD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Why this hour is not optional</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47472"/>
          </a:xfrm>
          <a:prstGeom prst="rect">
            <a:avLst/>
          </a:prstGeom>
          <a:noFill/>
        </p:spPr>
        <p:txBody>
          <a:bodyPr wrap="square" anchor="t"/>
          <a:lstStyle/>
          <a:p>
            <a:pPr algn="l"/>
            <a:r>
              <a:rPr sz="1500" b="1">
                <a:solidFill>
                  <a:srgbClr val="0B2C4A"/>
                </a:solidFill>
                <a:latin typeface="Calibri"/>
              </a:rPr>
              <a:t>Most SSIs are preventable</a:t>
            </a:r>
          </a:p>
        </p:txBody>
      </p:sp>
      <p:sp>
        <p:nvSpPr>
          <p:cNvPr id="11" name="TextBox 10"/>
          <p:cNvSpPr txBox="1"/>
          <p:nvPr/>
        </p:nvSpPr>
        <p:spPr>
          <a:xfrm>
            <a:off x="713232" y="1536192"/>
            <a:ext cx="3291840" cy="1618488"/>
          </a:xfrm>
          <a:prstGeom prst="rect">
            <a:avLst/>
          </a:prstGeom>
          <a:noFill/>
        </p:spPr>
        <p:txBody>
          <a:bodyPr wrap="square" anchor="t"/>
          <a:lstStyle/>
          <a:p>
            <a:pPr algn="l"/>
            <a:r>
              <a:rPr sz="1300" b="0">
                <a:solidFill>
                  <a:srgbClr val="3D4A57"/>
                </a:solidFill>
                <a:latin typeface="Calibri"/>
              </a:rPr>
              <a:t>Hair, skin flora, hypothermia, poor hemostasis, dead space, and broken asepsis — not ‘bad luck’ — drive surgical site infection.</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47472"/>
          </a:xfrm>
          <a:prstGeom prst="rect">
            <a:avLst/>
          </a:prstGeom>
          <a:noFill/>
        </p:spPr>
        <p:txBody>
          <a:bodyPr wrap="square" anchor="t"/>
          <a:lstStyle/>
          <a:p>
            <a:pPr algn="l"/>
            <a:r>
              <a:rPr sz="1500" b="1">
                <a:solidFill>
                  <a:srgbClr val="0B2C4A"/>
                </a:solidFill>
                <a:latin typeface="Calibri"/>
              </a:rPr>
              <a:t>The incision is a contract</a:t>
            </a:r>
          </a:p>
        </p:txBody>
      </p:sp>
      <p:sp>
        <p:nvSpPr>
          <p:cNvPr id="15" name="TextBox 14"/>
          <p:cNvSpPr txBox="1"/>
          <p:nvPr/>
        </p:nvSpPr>
        <p:spPr>
          <a:xfrm>
            <a:off x="4553712" y="1536192"/>
            <a:ext cx="3291840" cy="1618488"/>
          </a:xfrm>
          <a:prstGeom prst="rect">
            <a:avLst/>
          </a:prstGeom>
          <a:noFill/>
        </p:spPr>
        <p:txBody>
          <a:bodyPr wrap="square" anchor="t"/>
          <a:lstStyle/>
          <a:p>
            <a:pPr algn="l"/>
            <a:r>
              <a:rPr sz="1300" b="0">
                <a:solidFill>
                  <a:srgbClr val="3D4A57"/>
                </a:solidFill>
                <a:latin typeface="Calibri"/>
              </a:rPr>
              <a:t>The client trusts you with a living animal (often an elective OHE) that is going home. Operate, document, and speak as if that client is waiting in reception.</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47472"/>
          </a:xfrm>
          <a:prstGeom prst="rect">
            <a:avLst/>
          </a:prstGeom>
          <a:noFill/>
        </p:spPr>
        <p:txBody>
          <a:bodyPr wrap="square" anchor="t"/>
          <a:lstStyle/>
          <a:p>
            <a:pPr algn="l"/>
            <a:r>
              <a:rPr sz="1500" b="1">
                <a:solidFill>
                  <a:srgbClr val="0B2C4A"/>
                </a:solidFill>
                <a:latin typeface="Calibri"/>
              </a:rPr>
              <a:t>Postop starts in preop</a:t>
            </a:r>
          </a:p>
        </p:txBody>
      </p:sp>
      <p:sp>
        <p:nvSpPr>
          <p:cNvPr id="19" name="TextBox 18"/>
          <p:cNvSpPr txBox="1"/>
          <p:nvPr/>
        </p:nvSpPr>
        <p:spPr>
          <a:xfrm>
            <a:off x="8394192" y="1536192"/>
            <a:ext cx="3200400" cy="1618488"/>
          </a:xfrm>
          <a:prstGeom prst="rect">
            <a:avLst/>
          </a:prstGeom>
          <a:noFill/>
        </p:spPr>
        <p:txBody>
          <a:bodyPr wrap="square" anchor="t"/>
          <a:lstStyle/>
          <a:p>
            <a:pPr algn="l"/>
            <a:r>
              <a:rPr sz="1300" b="0">
                <a:solidFill>
                  <a:srgbClr val="3D4A57"/>
                </a:solidFill>
                <a:latin typeface="Calibri"/>
              </a:rPr>
              <a:t>Analgesia, antibiotics, temperature, and client expectations are decided before the scalpel, not at discharge.</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600" b="1">
                <a:solidFill>
                  <a:srgbClr val="0B2C4A"/>
                </a:solidFill>
                <a:latin typeface="Calibri"/>
              </a:rPr>
              <a:t>Three verbs for this hour — and they are all yours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700" b="0">
                <a:solidFill>
                  <a:srgbClr val="1C1C1C"/>
                </a:solidFill>
                <a:latin typeface="Calibri"/>
              </a:rPr>
              <a:t>▸  Prepare the patient for a surgical procedure.</a:t>
            </a:r>
          </a:p>
          <a:p>
            <a:pPr algn="l">
              <a:spcAft>
                <a:spcPts val="800"/>
              </a:spcAft>
            </a:pPr>
            <a:r>
              <a:rPr sz="1700" b="0">
                <a:solidFill>
                  <a:srgbClr val="1C1C1C"/>
                </a:solidFill>
                <a:latin typeface="Calibri"/>
              </a:rPr>
              <a:t>▸  Prepare yourself for a surgical procedure.</a:t>
            </a:r>
          </a:p>
          <a:p>
            <a:pPr algn="l">
              <a:spcAft>
                <a:spcPts val="800"/>
              </a:spcAft>
            </a:pPr>
            <a:r>
              <a:rPr sz="1700" b="0">
                <a:solidFill>
                  <a:srgbClr val="1C1C1C"/>
                </a:solidFill>
                <a:latin typeface="Calibri"/>
              </a:rPr>
              <a:t>▸  Perform the surgical procedure — and a beautiful closure that bleeds or herniates in recovery is still a failed surgery. The first 24 hours count.</a:t>
            </a:r>
          </a:p>
        </p:txBody>
      </p:sp>
      <p:sp>
        <p:nvSpPr>
          <p:cNvPr id="23" name="Rectangle 22"/>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5" name="TextBox 24"/>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  /  49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EVERY PRINCIPLE HAS A PREOP OR POSTOP ACTION, NOT ONLY AN INTRAOPERATIVE ONE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Halsted’s principles — the through-line for today</a:t>
            </a:r>
          </a:p>
        </p:txBody>
      </p:sp>
      <p:sp>
        <p:nvSpPr>
          <p:cNvPr id="8" name="Rounded Rectangle 7"/>
          <p:cNvSpPr/>
          <p:nvPr/>
        </p:nvSpPr>
        <p:spPr>
          <a:xfrm>
            <a:off x="457200" y="109728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303520" cy="347472"/>
          </a:xfrm>
          <a:prstGeom prst="rect">
            <a:avLst/>
          </a:prstGeom>
          <a:noFill/>
        </p:spPr>
        <p:txBody>
          <a:bodyPr wrap="square" anchor="t"/>
          <a:lstStyle/>
          <a:p>
            <a:pPr algn="l"/>
            <a:r>
              <a:rPr sz="1500" b="1">
                <a:solidFill>
                  <a:srgbClr val="0B2C4A"/>
                </a:solidFill>
                <a:latin typeface="Calibri"/>
              </a:rPr>
              <a:t>1.  Gentle tissue handling</a:t>
            </a:r>
          </a:p>
        </p:txBody>
      </p:sp>
      <p:sp>
        <p:nvSpPr>
          <p:cNvPr id="11" name="TextBox 10"/>
          <p:cNvSpPr txBox="1"/>
          <p:nvPr/>
        </p:nvSpPr>
        <p:spPr>
          <a:xfrm>
            <a:off x="713232" y="1572768"/>
            <a:ext cx="5303520" cy="530352"/>
          </a:xfrm>
          <a:prstGeom prst="rect">
            <a:avLst/>
          </a:prstGeom>
          <a:noFill/>
        </p:spPr>
        <p:txBody>
          <a:bodyPr wrap="square" anchor="t"/>
          <a:lstStyle/>
          <a:p>
            <a:pPr algn="l"/>
            <a:r>
              <a:rPr sz="1300" b="0">
                <a:solidFill>
                  <a:srgbClr val="3D4A57"/>
                </a:solidFill>
                <a:latin typeface="Calibri"/>
              </a:rPr>
              <a:t>Prep trauma, clipper burn, and crushing towel clamps are tissue handling.</a:t>
            </a:r>
          </a:p>
        </p:txBody>
      </p:sp>
      <p:sp>
        <p:nvSpPr>
          <p:cNvPr id="12" name="Rounded Rectangle 11"/>
          <p:cNvSpPr/>
          <p:nvPr/>
        </p:nvSpPr>
        <p:spPr>
          <a:xfrm>
            <a:off x="6309360" y="109728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9728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207008"/>
            <a:ext cx="5303520" cy="347472"/>
          </a:xfrm>
          <a:prstGeom prst="rect">
            <a:avLst/>
          </a:prstGeom>
          <a:noFill/>
        </p:spPr>
        <p:txBody>
          <a:bodyPr wrap="square" anchor="t"/>
          <a:lstStyle/>
          <a:p>
            <a:pPr algn="l"/>
            <a:r>
              <a:rPr sz="1500" b="1">
                <a:solidFill>
                  <a:srgbClr val="0B2C4A"/>
                </a:solidFill>
                <a:latin typeface="Calibri"/>
              </a:rPr>
              <a:t>2.  Meticulous hemostasis</a:t>
            </a:r>
          </a:p>
        </p:txBody>
      </p:sp>
      <p:sp>
        <p:nvSpPr>
          <p:cNvPr id="15" name="TextBox 14"/>
          <p:cNvSpPr txBox="1"/>
          <p:nvPr/>
        </p:nvSpPr>
        <p:spPr>
          <a:xfrm>
            <a:off x="6565392" y="1572768"/>
            <a:ext cx="5303520" cy="530352"/>
          </a:xfrm>
          <a:prstGeom prst="rect">
            <a:avLst/>
          </a:prstGeom>
          <a:noFill/>
        </p:spPr>
        <p:txBody>
          <a:bodyPr wrap="square" anchor="t"/>
          <a:lstStyle/>
          <a:p>
            <a:pPr algn="l"/>
            <a:r>
              <a:rPr sz="1300" b="0">
                <a:solidFill>
                  <a:srgbClr val="3D4A57"/>
                </a:solidFill>
                <a:latin typeface="Calibri"/>
              </a:rPr>
              <a:t>Preop coagulopathy; postop hemorrhage is a 24-hour emergency.</a:t>
            </a:r>
          </a:p>
        </p:txBody>
      </p:sp>
      <p:sp>
        <p:nvSpPr>
          <p:cNvPr id="16" name="Rounded Rectangle 15"/>
          <p:cNvSpPr/>
          <p:nvPr/>
        </p:nvSpPr>
        <p:spPr>
          <a:xfrm>
            <a:off x="457200" y="233172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3172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41448"/>
            <a:ext cx="5303520" cy="347472"/>
          </a:xfrm>
          <a:prstGeom prst="rect">
            <a:avLst/>
          </a:prstGeom>
          <a:noFill/>
        </p:spPr>
        <p:txBody>
          <a:bodyPr wrap="square" anchor="t"/>
          <a:lstStyle/>
          <a:p>
            <a:pPr algn="l"/>
            <a:r>
              <a:rPr sz="1500" b="1">
                <a:solidFill>
                  <a:srgbClr val="0B2C4A"/>
                </a:solidFill>
                <a:latin typeface="Calibri"/>
              </a:rPr>
              <a:t>3.  Preserve blood supply</a:t>
            </a:r>
          </a:p>
        </p:txBody>
      </p:sp>
      <p:sp>
        <p:nvSpPr>
          <p:cNvPr id="19" name="TextBox 18"/>
          <p:cNvSpPr txBox="1"/>
          <p:nvPr/>
        </p:nvSpPr>
        <p:spPr>
          <a:xfrm>
            <a:off x="713232" y="2807208"/>
            <a:ext cx="5303520" cy="530352"/>
          </a:xfrm>
          <a:prstGeom prst="rect">
            <a:avLst/>
          </a:prstGeom>
          <a:noFill/>
        </p:spPr>
        <p:txBody>
          <a:bodyPr wrap="square" anchor="t"/>
          <a:lstStyle/>
          <a:p>
            <a:pPr algn="l"/>
            <a:r>
              <a:rPr sz="1300" b="0">
                <a:solidFill>
                  <a:srgbClr val="3D4A57"/>
                </a:solidFill>
                <a:latin typeface="Calibri"/>
              </a:rPr>
              <a:t>Do not strangulate skin with tight bandages or poorly placed clamps.</a:t>
            </a:r>
          </a:p>
        </p:txBody>
      </p:sp>
      <p:sp>
        <p:nvSpPr>
          <p:cNvPr id="20" name="Rounded Rectangle 19"/>
          <p:cNvSpPr/>
          <p:nvPr/>
        </p:nvSpPr>
        <p:spPr>
          <a:xfrm>
            <a:off x="6309360" y="233172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3172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41448"/>
            <a:ext cx="5303520" cy="347472"/>
          </a:xfrm>
          <a:prstGeom prst="rect">
            <a:avLst/>
          </a:prstGeom>
          <a:noFill/>
        </p:spPr>
        <p:txBody>
          <a:bodyPr wrap="square" anchor="t"/>
          <a:lstStyle/>
          <a:p>
            <a:pPr algn="l"/>
            <a:r>
              <a:rPr sz="1500" b="1">
                <a:solidFill>
                  <a:srgbClr val="0B2C4A"/>
                </a:solidFill>
                <a:latin typeface="Calibri"/>
              </a:rPr>
              <a:t>4.  Strict asepsis</a:t>
            </a:r>
          </a:p>
        </p:txBody>
      </p:sp>
      <p:sp>
        <p:nvSpPr>
          <p:cNvPr id="23" name="TextBox 22"/>
          <p:cNvSpPr txBox="1"/>
          <p:nvPr/>
        </p:nvSpPr>
        <p:spPr>
          <a:xfrm>
            <a:off x="6565392" y="2807208"/>
            <a:ext cx="5303520" cy="530352"/>
          </a:xfrm>
          <a:prstGeom prst="rect">
            <a:avLst/>
          </a:prstGeom>
          <a:noFill/>
        </p:spPr>
        <p:txBody>
          <a:bodyPr wrap="square" anchor="t"/>
          <a:lstStyle/>
          <a:p>
            <a:pPr algn="l"/>
            <a:r>
              <a:rPr sz="1300" b="0">
                <a:solidFill>
                  <a:srgbClr val="3D4A57"/>
                </a:solidFill>
                <a:latin typeface="Calibri"/>
              </a:rPr>
              <a:t>Patient prep, surgeon prep, draping — today’s center of gravity.</a:t>
            </a:r>
          </a:p>
        </p:txBody>
      </p:sp>
      <p:sp>
        <p:nvSpPr>
          <p:cNvPr id="24" name="Rounded Rectangle 23"/>
          <p:cNvSpPr/>
          <p:nvPr/>
        </p:nvSpPr>
        <p:spPr>
          <a:xfrm>
            <a:off x="457200" y="356616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56616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675888"/>
            <a:ext cx="5303520" cy="347472"/>
          </a:xfrm>
          <a:prstGeom prst="rect">
            <a:avLst/>
          </a:prstGeom>
          <a:noFill/>
        </p:spPr>
        <p:txBody>
          <a:bodyPr wrap="square" anchor="t"/>
          <a:lstStyle/>
          <a:p>
            <a:pPr algn="l"/>
            <a:r>
              <a:rPr sz="1500" b="1">
                <a:solidFill>
                  <a:srgbClr val="0B2C4A"/>
                </a:solidFill>
                <a:latin typeface="Calibri"/>
              </a:rPr>
              <a:t>5.  No tension</a:t>
            </a:r>
          </a:p>
        </p:txBody>
      </p:sp>
      <p:sp>
        <p:nvSpPr>
          <p:cNvPr id="27" name="TextBox 26"/>
          <p:cNvSpPr txBox="1"/>
          <p:nvPr/>
        </p:nvSpPr>
        <p:spPr>
          <a:xfrm>
            <a:off x="713232" y="4041648"/>
            <a:ext cx="5303520" cy="530352"/>
          </a:xfrm>
          <a:prstGeom prst="rect">
            <a:avLst/>
          </a:prstGeom>
          <a:noFill/>
        </p:spPr>
        <p:txBody>
          <a:bodyPr wrap="square" anchor="t"/>
          <a:lstStyle/>
          <a:p>
            <a:pPr algn="l"/>
            <a:r>
              <a:rPr sz="1300" b="0">
                <a:solidFill>
                  <a:srgbClr val="3D4A57"/>
                </a:solidFill>
                <a:latin typeface="Calibri"/>
              </a:rPr>
              <a:t>Plan incision location and closure now, not after the fascia splits.</a:t>
            </a:r>
          </a:p>
        </p:txBody>
      </p:sp>
      <p:sp>
        <p:nvSpPr>
          <p:cNvPr id="28" name="Rounded Rectangle 27"/>
          <p:cNvSpPr/>
          <p:nvPr/>
        </p:nvSpPr>
        <p:spPr>
          <a:xfrm>
            <a:off x="6309360" y="356616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56616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675888"/>
            <a:ext cx="5303520" cy="347472"/>
          </a:xfrm>
          <a:prstGeom prst="rect">
            <a:avLst/>
          </a:prstGeom>
          <a:noFill/>
        </p:spPr>
        <p:txBody>
          <a:bodyPr wrap="square" anchor="t"/>
          <a:lstStyle/>
          <a:p>
            <a:pPr algn="l"/>
            <a:r>
              <a:rPr sz="1500" b="1">
                <a:solidFill>
                  <a:srgbClr val="0B2C4A"/>
                </a:solidFill>
                <a:latin typeface="Calibri"/>
              </a:rPr>
              <a:t>6.  Accurate apposition</a:t>
            </a:r>
          </a:p>
        </p:txBody>
      </p:sp>
      <p:sp>
        <p:nvSpPr>
          <p:cNvPr id="31" name="TextBox 30"/>
          <p:cNvSpPr txBox="1"/>
          <p:nvPr/>
        </p:nvSpPr>
        <p:spPr>
          <a:xfrm>
            <a:off x="6565392" y="4041648"/>
            <a:ext cx="5303520" cy="530352"/>
          </a:xfrm>
          <a:prstGeom prst="rect">
            <a:avLst/>
          </a:prstGeom>
          <a:noFill/>
        </p:spPr>
        <p:txBody>
          <a:bodyPr wrap="square" anchor="t"/>
          <a:lstStyle/>
          <a:p>
            <a:pPr algn="l"/>
            <a:r>
              <a:rPr sz="1300" b="0">
                <a:solidFill>
                  <a:srgbClr val="3D4A57"/>
                </a:solidFill>
                <a:latin typeface="Calibri"/>
              </a:rPr>
              <a:t>Postop incision care protects the apposition you create.</a:t>
            </a:r>
          </a:p>
        </p:txBody>
      </p:sp>
      <p:sp>
        <p:nvSpPr>
          <p:cNvPr id="32" name="Rounded Rectangle 31"/>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80060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4910328"/>
            <a:ext cx="10881360" cy="347472"/>
          </a:xfrm>
          <a:prstGeom prst="rect">
            <a:avLst/>
          </a:prstGeom>
          <a:noFill/>
        </p:spPr>
        <p:txBody>
          <a:bodyPr wrap="square" anchor="t"/>
          <a:lstStyle/>
          <a:p>
            <a:pPr algn="l"/>
            <a:r>
              <a:rPr sz="1500" b="1">
                <a:solidFill>
                  <a:srgbClr val="0B2C4A"/>
                </a:solidFill>
                <a:latin typeface="Calibri"/>
              </a:rPr>
              <a:t>7.  Obliterate dead space</a:t>
            </a:r>
          </a:p>
        </p:txBody>
      </p:sp>
      <p:sp>
        <p:nvSpPr>
          <p:cNvPr id="35" name="TextBox 34"/>
          <p:cNvSpPr txBox="1"/>
          <p:nvPr/>
        </p:nvSpPr>
        <p:spPr>
          <a:xfrm>
            <a:off x="713232" y="5276088"/>
            <a:ext cx="10881360" cy="530352"/>
          </a:xfrm>
          <a:prstGeom prst="rect">
            <a:avLst/>
          </a:prstGeom>
          <a:noFill/>
        </p:spPr>
        <p:txBody>
          <a:bodyPr wrap="square" anchor="t"/>
          <a:lstStyle/>
          <a:p>
            <a:pPr algn="l"/>
            <a:r>
              <a:rPr sz="1300" b="0">
                <a:solidFill>
                  <a:srgbClr val="3D4A57"/>
                </a:solidFill>
                <a:latin typeface="Calibri"/>
              </a:rPr>
              <a:t>Plan dead space now: sutures, bandage, or a drain with a written pull plan.</a:t>
            </a:r>
          </a:p>
        </p:txBody>
      </p:sp>
      <p:sp>
        <p:nvSpPr>
          <p:cNvPr id="36" name="Rectangle 3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8" name="TextBox 3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  /  49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ONE PATIENT, THREE ROOMS, ONE SURGEON’S RESPONSIBILITY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perioperative continuum</a:t>
            </a:r>
          </a:p>
        </p:txBody>
      </p:sp>
      <p:sp>
        <p:nvSpPr>
          <p:cNvPr id="8" name="Rounded Rectangle 7"/>
          <p:cNvSpPr/>
          <p:nvPr/>
        </p:nvSpPr>
        <p:spPr>
          <a:xfrm>
            <a:off x="41148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234440"/>
            <a:ext cx="274320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234440"/>
            <a:ext cx="2743200" cy="640080"/>
          </a:xfrm>
          <a:prstGeom prst="rect">
            <a:avLst/>
          </a:prstGeom>
          <a:noFill/>
        </p:spPr>
        <p:txBody>
          <a:bodyPr wrap="square" anchor="ctr"/>
          <a:lstStyle/>
          <a:p>
            <a:pPr algn="ctr"/>
            <a:r>
              <a:rPr sz="1800" b="1">
                <a:solidFill>
                  <a:srgbClr val="FFFFFF"/>
                </a:solidFill>
                <a:latin typeface="Calibri"/>
              </a:rPr>
              <a:t>PRE-OP</a:t>
            </a:r>
          </a:p>
        </p:txBody>
      </p:sp>
      <p:sp>
        <p:nvSpPr>
          <p:cNvPr id="11" name="TextBox 10"/>
          <p:cNvSpPr txBox="1"/>
          <p:nvPr/>
        </p:nvSpPr>
        <p:spPr>
          <a:xfrm>
            <a:off x="594360" y="2011680"/>
            <a:ext cx="2377440" cy="2926080"/>
          </a:xfrm>
          <a:prstGeom prst="rect">
            <a:avLst/>
          </a:prstGeom>
          <a:noFill/>
        </p:spPr>
        <p:txBody>
          <a:bodyPr wrap="square" anchor="t"/>
          <a:lstStyle/>
          <a:p>
            <a:pPr algn="ctr"/>
            <a:r>
              <a:rPr sz="1600" b="0">
                <a:solidFill>
                  <a:srgbClr val="1C1C1C"/>
                </a:solidFill>
                <a:latin typeface="Calibri"/>
              </a:rPr>
              <a:t>History, PE, ASA
Labs, stabilize
Consent, plan
Analgesia, Abx</a:t>
            </a:r>
          </a:p>
        </p:txBody>
      </p:sp>
      <p:sp>
        <p:nvSpPr>
          <p:cNvPr id="12" name="TextBox 11"/>
          <p:cNvSpPr txBox="1"/>
          <p:nvPr/>
        </p:nvSpPr>
        <p:spPr>
          <a:xfrm>
            <a:off x="288036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13" name="Rounded Rectangle 12"/>
          <p:cNvSpPr/>
          <p:nvPr/>
        </p:nvSpPr>
        <p:spPr>
          <a:xfrm>
            <a:off x="333756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234440"/>
            <a:ext cx="274320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234440"/>
            <a:ext cx="2743200" cy="640080"/>
          </a:xfrm>
          <a:prstGeom prst="rect">
            <a:avLst/>
          </a:prstGeom>
          <a:noFill/>
        </p:spPr>
        <p:txBody>
          <a:bodyPr wrap="square" anchor="ctr"/>
          <a:lstStyle/>
          <a:p>
            <a:pPr algn="ctr"/>
            <a:r>
              <a:rPr sz="1800" b="1">
                <a:solidFill>
                  <a:srgbClr val="FFFFFF"/>
                </a:solidFill>
                <a:latin typeface="Calibri"/>
              </a:rPr>
              <a:t>PREP</a:t>
            </a:r>
          </a:p>
        </p:txBody>
      </p:sp>
      <p:sp>
        <p:nvSpPr>
          <p:cNvPr id="16" name="TextBox 15"/>
          <p:cNvSpPr txBox="1"/>
          <p:nvPr/>
        </p:nvSpPr>
        <p:spPr>
          <a:xfrm>
            <a:off x="3520440" y="2011680"/>
            <a:ext cx="2377440" cy="2926080"/>
          </a:xfrm>
          <a:prstGeom prst="rect">
            <a:avLst/>
          </a:prstGeom>
          <a:noFill/>
        </p:spPr>
        <p:txBody>
          <a:bodyPr wrap="square" anchor="t"/>
          <a:lstStyle/>
          <a:p>
            <a:pPr algn="ctr"/>
            <a:r>
              <a:rPr sz="1600" b="0">
                <a:solidFill>
                  <a:srgbClr val="1C1C1C"/>
                </a:solidFill>
                <a:latin typeface="Calibri"/>
              </a:rPr>
              <a:t>Clip after induction
Dirty then sterile prep
Position, drape
Gown, closed glove</a:t>
            </a:r>
          </a:p>
        </p:txBody>
      </p:sp>
      <p:sp>
        <p:nvSpPr>
          <p:cNvPr id="17" name="TextBox 16"/>
          <p:cNvSpPr txBox="1"/>
          <p:nvPr/>
        </p:nvSpPr>
        <p:spPr>
          <a:xfrm>
            <a:off x="580644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18" name="Rounded Rectangle 17"/>
          <p:cNvSpPr/>
          <p:nvPr/>
        </p:nvSpPr>
        <p:spPr>
          <a:xfrm>
            <a:off x="626364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234440"/>
            <a:ext cx="274320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234440"/>
            <a:ext cx="2743200" cy="640080"/>
          </a:xfrm>
          <a:prstGeom prst="rect">
            <a:avLst/>
          </a:prstGeom>
          <a:noFill/>
        </p:spPr>
        <p:txBody>
          <a:bodyPr wrap="square" anchor="ctr"/>
          <a:lstStyle/>
          <a:p>
            <a:pPr algn="ctr"/>
            <a:r>
              <a:rPr sz="1800" b="1">
                <a:solidFill>
                  <a:srgbClr val="FFFFFF"/>
                </a:solidFill>
                <a:latin typeface="Calibri"/>
              </a:rPr>
              <a:t>INTRA-OP</a:t>
            </a:r>
          </a:p>
        </p:txBody>
      </p:sp>
      <p:sp>
        <p:nvSpPr>
          <p:cNvPr id="21" name="TextBox 20"/>
          <p:cNvSpPr txBox="1"/>
          <p:nvPr/>
        </p:nvSpPr>
        <p:spPr>
          <a:xfrm>
            <a:off x="6446520" y="2011680"/>
            <a:ext cx="2377440" cy="2926080"/>
          </a:xfrm>
          <a:prstGeom prst="rect">
            <a:avLst/>
          </a:prstGeom>
          <a:noFill/>
        </p:spPr>
        <p:txBody>
          <a:bodyPr wrap="square" anchor="t"/>
          <a:lstStyle/>
          <a:p>
            <a:pPr algn="ctr"/>
            <a:r>
              <a:rPr sz="1600" b="0">
                <a:solidFill>
                  <a:srgbClr val="1C1C1C"/>
                </a:solidFill>
                <a:latin typeface="Calibri"/>
              </a:rPr>
              <a:t>Asepsis held
Halsted applied
Time, temp, pain</a:t>
            </a:r>
          </a:p>
        </p:txBody>
      </p:sp>
      <p:sp>
        <p:nvSpPr>
          <p:cNvPr id="22" name="TextBox 21"/>
          <p:cNvSpPr txBox="1"/>
          <p:nvPr/>
        </p:nvSpPr>
        <p:spPr>
          <a:xfrm>
            <a:off x="873252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23" name="Rounded Rectangle 22"/>
          <p:cNvSpPr/>
          <p:nvPr/>
        </p:nvSpPr>
        <p:spPr>
          <a:xfrm>
            <a:off x="918972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234440"/>
            <a:ext cx="274320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234440"/>
            <a:ext cx="2743200" cy="640080"/>
          </a:xfrm>
          <a:prstGeom prst="rect">
            <a:avLst/>
          </a:prstGeom>
          <a:noFill/>
        </p:spPr>
        <p:txBody>
          <a:bodyPr wrap="square" anchor="ctr"/>
          <a:lstStyle/>
          <a:p>
            <a:pPr algn="ctr"/>
            <a:r>
              <a:rPr sz="1800" b="1">
                <a:solidFill>
                  <a:srgbClr val="FFFFFF"/>
                </a:solidFill>
                <a:latin typeface="Calibri"/>
              </a:rPr>
              <a:t>POST-OP</a:t>
            </a:r>
          </a:p>
        </p:txBody>
      </p:sp>
      <p:sp>
        <p:nvSpPr>
          <p:cNvPr id="26" name="TextBox 25"/>
          <p:cNvSpPr txBox="1"/>
          <p:nvPr/>
        </p:nvSpPr>
        <p:spPr>
          <a:xfrm>
            <a:off x="9372600" y="2011680"/>
            <a:ext cx="2377440" cy="292608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7" name="Rectangle 26"/>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9" name="TextBox 28"/>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6  /  49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  ·  3–22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Preoperative evaluation
and the peri-operative plan</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History · PE · ASA · labs · stabilize · fasting · consent · analgesia · antimicrobials</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~19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7  /  49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DECIDE: PROCEED  ·  DELAY  ·  STABILIZE  ·  REFER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Goals of the preoperative evaluation</a:t>
            </a:r>
          </a:p>
        </p:txBody>
      </p:sp>
      <p:sp>
        <p:nvSpPr>
          <p:cNvPr id="8" name="Rounded Rectangle 7"/>
          <p:cNvSpPr/>
          <p:nvPr/>
        </p:nvSpPr>
        <p:spPr>
          <a:xfrm>
            <a:off x="457200" y="109728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97280"/>
            <a:ext cx="822960" cy="1115568"/>
          </a:xfrm>
          <a:prstGeom prst="rect">
            <a:avLst/>
          </a:prstGeom>
          <a:noFill/>
        </p:spPr>
        <p:txBody>
          <a:bodyPr wrap="square" anchor="ctr"/>
          <a:lstStyle/>
          <a:p>
            <a:pPr algn="ctr"/>
            <a:r>
              <a:rPr sz="2000" b="1">
                <a:solidFill>
                  <a:srgbClr val="C5A35A"/>
                </a:solidFill>
                <a:latin typeface="Calibri"/>
              </a:rPr>
              <a:t>01</a:t>
            </a:r>
          </a:p>
        </p:txBody>
      </p:sp>
      <p:sp>
        <p:nvSpPr>
          <p:cNvPr id="11" name="TextBox 10"/>
          <p:cNvSpPr txBox="1"/>
          <p:nvPr/>
        </p:nvSpPr>
        <p:spPr>
          <a:xfrm>
            <a:off x="1508760" y="1261872"/>
            <a:ext cx="9875520" cy="365760"/>
          </a:xfrm>
          <a:prstGeom prst="rect">
            <a:avLst/>
          </a:prstGeom>
          <a:noFill/>
        </p:spPr>
        <p:txBody>
          <a:bodyPr wrap="square" anchor="t"/>
          <a:lstStyle/>
          <a:p>
            <a:pPr algn="l"/>
            <a:r>
              <a:rPr sz="1800" b="1">
                <a:solidFill>
                  <a:srgbClr val="0B2C4A"/>
                </a:solidFill>
                <a:latin typeface="Calibri"/>
              </a:rPr>
              <a:t>Identify surgical disease</a:t>
            </a:r>
          </a:p>
        </p:txBody>
      </p:sp>
      <p:sp>
        <p:nvSpPr>
          <p:cNvPr id="12" name="TextBox 11"/>
          <p:cNvSpPr txBox="1"/>
          <p:nvPr/>
        </p:nvSpPr>
        <p:spPr>
          <a:xfrm>
            <a:off x="1508760" y="1627632"/>
            <a:ext cx="9875520" cy="457200"/>
          </a:xfrm>
          <a:prstGeom prst="rect">
            <a:avLst/>
          </a:prstGeom>
          <a:noFill/>
        </p:spPr>
        <p:txBody>
          <a:bodyPr wrap="square" anchor="t"/>
          <a:lstStyle/>
          <a:p>
            <a:pPr algn="l"/>
            <a:r>
              <a:rPr sz="1500" b="0">
                <a:solidFill>
                  <a:srgbClr val="3D4A57"/>
                </a:solidFill>
                <a:latin typeface="Calibri"/>
              </a:rPr>
              <a:t>Confirm the lesion, laterality, and that surgery is the right tool — not just ‘the next appointment.’</a:t>
            </a:r>
          </a:p>
        </p:txBody>
      </p:sp>
      <p:sp>
        <p:nvSpPr>
          <p:cNvPr id="13" name="Rounded Rectangle 12"/>
          <p:cNvSpPr/>
          <p:nvPr/>
        </p:nvSpPr>
        <p:spPr>
          <a:xfrm>
            <a:off x="457200" y="233172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3172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31720"/>
            <a:ext cx="822960" cy="1115568"/>
          </a:xfrm>
          <a:prstGeom prst="rect">
            <a:avLst/>
          </a:prstGeom>
          <a:noFill/>
        </p:spPr>
        <p:txBody>
          <a:bodyPr wrap="square" anchor="ctr"/>
          <a:lstStyle/>
          <a:p>
            <a:pPr algn="ctr"/>
            <a:r>
              <a:rPr sz="2000" b="1">
                <a:solidFill>
                  <a:srgbClr val="C5A35A"/>
                </a:solidFill>
                <a:latin typeface="Calibri"/>
              </a:rPr>
              <a:t>02</a:t>
            </a:r>
          </a:p>
        </p:txBody>
      </p:sp>
      <p:sp>
        <p:nvSpPr>
          <p:cNvPr id="16" name="TextBox 15"/>
          <p:cNvSpPr txBox="1"/>
          <p:nvPr/>
        </p:nvSpPr>
        <p:spPr>
          <a:xfrm>
            <a:off x="1508760" y="2496312"/>
            <a:ext cx="9875520" cy="365760"/>
          </a:xfrm>
          <a:prstGeom prst="rect">
            <a:avLst/>
          </a:prstGeom>
          <a:noFill/>
        </p:spPr>
        <p:txBody>
          <a:bodyPr wrap="square" anchor="t"/>
          <a:lstStyle/>
          <a:p>
            <a:pPr algn="l"/>
            <a:r>
              <a:rPr sz="1800" b="1">
                <a:solidFill>
                  <a:srgbClr val="0B2C4A"/>
                </a:solidFill>
                <a:latin typeface="Calibri"/>
              </a:rPr>
              <a:t>Quantify anesthetic risk</a:t>
            </a:r>
          </a:p>
        </p:txBody>
      </p:sp>
      <p:sp>
        <p:nvSpPr>
          <p:cNvPr id="17" name="TextBox 16"/>
          <p:cNvSpPr txBox="1"/>
          <p:nvPr/>
        </p:nvSpPr>
        <p:spPr>
          <a:xfrm>
            <a:off x="1508760" y="2862072"/>
            <a:ext cx="9875520" cy="457200"/>
          </a:xfrm>
          <a:prstGeom prst="rect">
            <a:avLst/>
          </a:prstGeom>
          <a:noFill/>
        </p:spPr>
        <p:txBody>
          <a:bodyPr wrap="square" anchor="t"/>
          <a:lstStyle/>
          <a:p>
            <a:pPr algn="l"/>
            <a:r>
              <a:rPr sz="1500" b="0">
                <a:solidFill>
                  <a:srgbClr val="3D4A57"/>
                </a:solidFill>
                <a:latin typeface="Calibri"/>
              </a:rPr>
              <a:t>Assign ASA status yourself after today’s exam and labs. Do not inherit it from the appointment book.</a:t>
            </a:r>
          </a:p>
        </p:txBody>
      </p:sp>
      <p:sp>
        <p:nvSpPr>
          <p:cNvPr id="18" name="Rounded Rectangle 17"/>
          <p:cNvSpPr/>
          <p:nvPr/>
        </p:nvSpPr>
        <p:spPr>
          <a:xfrm>
            <a:off x="457200" y="356616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56616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566160"/>
            <a:ext cx="822960" cy="1115568"/>
          </a:xfrm>
          <a:prstGeom prst="rect">
            <a:avLst/>
          </a:prstGeom>
          <a:noFill/>
        </p:spPr>
        <p:txBody>
          <a:bodyPr wrap="square" anchor="ctr"/>
          <a:lstStyle/>
          <a:p>
            <a:pPr algn="ctr"/>
            <a:r>
              <a:rPr sz="2000" b="1">
                <a:solidFill>
                  <a:srgbClr val="C5A35A"/>
                </a:solidFill>
                <a:latin typeface="Calibri"/>
              </a:rPr>
              <a:t>03</a:t>
            </a:r>
          </a:p>
        </p:txBody>
      </p:sp>
      <p:sp>
        <p:nvSpPr>
          <p:cNvPr id="21" name="TextBox 20"/>
          <p:cNvSpPr txBox="1"/>
          <p:nvPr/>
        </p:nvSpPr>
        <p:spPr>
          <a:xfrm>
            <a:off x="1508760" y="3730752"/>
            <a:ext cx="9875520" cy="365760"/>
          </a:xfrm>
          <a:prstGeom prst="rect">
            <a:avLst/>
          </a:prstGeom>
          <a:noFill/>
        </p:spPr>
        <p:txBody>
          <a:bodyPr wrap="square" anchor="t"/>
          <a:lstStyle/>
          <a:p>
            <a:pPr algn="l"/>
            <a:r>
              <a:rPr sz="1800" b="1">
                <a:solidFill>
                  <a:srgbClr val="0B2C4A"/>
                </a:solidFill>
                <a:latin typeface="Calibri"/>
              </a:rPr>
              <a:t>Find problems you can fix first</a:t>
            </a:r>
          </a:p>
        </p:txBody>
      </p:sp>
      <p:sp>
        <p:nvSpPr>
          <p:cNvPr id="22" name="TextBox 21"/>
          <p:cNvSpPr txBox="1"/>
          <p:nvPr/>
        </p:nvSpPr>
        <p:spPr>
          <a:xfrm>
            <a:off x="1508760" y="4096512"/>
            <a:ext cx="9875520" cy="457200"/>
          </a:xfrm>
          <a:prstGeom prst="rect">
            <a:avLst/>
          </a:prstGeom>
          <a:noFill/>
        </p:spPr>
        <p:txBody>
          <a:bodyPr wrap="square" anchor="t"/>
          <a:lstStyle/>
          <a:p>
            <a:pPr algn="l"/>
            <a:r>
              <a:rPr sz="1500" b="0">
                <a:solidFill>
                  <a:srgbClr val="3D4A57"/>
                </a:solidFill>
                <a:latin typeface="Calibri"/>
              </a:rPr>
              <a:t>Dehydration, anemia, electrolyte disasters, uncontrolled diabetes, full bladder, pyoderma over the site.</a:t>
            </a:r>
          </a:p>
        </p:txBody>
      </p:sp>
      <p:sp>
        <p:nvSpPr>
          <p:cNvPr id="23" name="Rounded Rectangle 22"/>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80060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00600"/>
            <a:ext cx="822960" cy="1115568"/>
          </a:xfrm>
          <a:prstGeom prst="rect">
            <a:avLst/>
          </a:prstGeom>
          <a:noFill/>
        </p:spPr>
        <p:txBody>
          <a:bodyPr wrap="square" anchor="ctr"/>
          <a:lstStyle/>
          <a:p>
            <a:pPr algn="ctr"/>
            <a:r>
              <a:rPr sz="2000" b="1">
                <a:solidFill>
                  <a:srgbClr val="C5A35A"/>
                </a:solidFill>
                <a:latin typeface="Calibri"/>
              </a:rPr>
              <a:t>04</a:t>
            </a:r>
          </a:p>
        </p:txBody>
      </p:sp>
      <p:sp>
        <p:nvSpPr>
          <p:cNvPr id="26" name="TextBox 25"/>
          <p:cNvSpPr txBox="1"/>
          <p:nvPr/>
        </p:nvSpPr>
        <p:spPr>
          <a:xfrm>
            <a:off x="1508760" y="4965192"/>
            <a:ext cx="9875520" cy="365760"/>
          </a:xfrm>
          <a:prstGeom prst="rect">
            <a:avLst/>
          </a:prstGeom>
          <a:noFill/>
        </p:spPr>
        <p:txBody>
          <a:bodyPr wrap="square" anchor="t"/>
          <a:lstStyle/>
          <a:p>
            <a:pPr algn="l"/>
            <a:r>
              <a:rPr sz="1800" b="1">
                <a:solidFill>
                  <a:srgbClr val="0B2C4A"/>
                </a:solidFill>
                <a:latin typeface="Calibri"/>
              </a:rPr>
              <a:t>Plan the day</a:t>
            </a:r>
          </a:p>
        </p:txBody>
      </p:sp>
      <p:sp>
        <p:nvSpPr>
          <p:cNvPr id="27" name="TextBox 26"/>
          <p:cNvSpPr txBox="1"/>
          <p:nvPr/>
        </p:nvSpPr>
        <p:spPr>
          <a:xfrm>
            <a:off x="1508760" y="5330952"/>
            <a:ext cx="9875520" cy="457200"/>
          </a:xfrm>
          <a:prstGeom prst="rect">
            <a:avLst/>
          </a:prstGeom>
          <a:noFill/>
        </p:spPr>
        <p:txBody>
          <a:bodyPr wrap="square" anchor="t"/>
          <a:lstStyle/>
          <a:p>
            <a:pPr algn="l"/>
            <a:r>
              <a:rPr sz="1500" b="0">
                <a:solidFill>
                  <a:srgbClr val="3D4A57"/>
                </a:solidFill>
                <a:latin typeface="Calibri"/>
              </a:rPr>
              <a:t>Approach, positioning, implants, blood products, ICU bed, who calls the client.</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8  /  49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DO NOT ASK, YOU WILL DISCOVER IT UNDER THE DRAPE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History that actually changes the plan</a:t>
            </a:r>
          </a:p>
        </p:txBody>
      </p:sp>
      <p:sp>
        <p:nvSpPr>
          <p:cNvPr id="8" name="Rounded Rectangle 7"/>
          <p:cNvSpPr/>
          <p:nvPr/>
        </p:nvSpPr>
        <p:spPr>
          <a:xfrm>
            <a:off x="411480" y="1097280"/>
            <a:ext cx="5577840" cy="4572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72200" y="1097280"/>
            <a:ext cx="5577840" cy="4572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234440"/>
            <a:ext cx="5120640" cy="365760"/>
          </a:xfrm>
          <a:prstGeom prst="rect">
            <a:avLst/>
          </a:prstGeom>
          <a:noFill/>
        </p:spPr>
        <p:txBody>
          <a:bodyPr wrap="square" anchor="t"/>
          <a:lstStyle/>
          <a:p>
            <a:pPr algn="l"/>
            <a:r>
              <a:rPr sz="1600" b="1">
                <a:solidFill>
                  <a:srgbClr val="1B6B7A"/>
                </a:solidFill>
                <a:latin typeface="Calibri"/>
              </a:rPr>
              <a:t>Patient &amp; medical</a:t>
            </a:r>
          </a:p>
        </p:txBody>
      </p:sp>
      <p:sp>
        <p:nvSpPr>
          <p:cNvPr id="11" name="TextBox 10"/>
          <p:cNvSpPr txBox="1"/>
          <p:nvPr/>
        </p:nvSpPr>
        <p:spPr>
          <a:xfrm>
            <a:off x="6400800" y="1234440"/>
            <a:ext cx="5120640" cy="365760"/>
          </a:xfrm>
          <a:prstGeom prst="rect">
            <a:avLst/>
          </a:prstGeom>
          <a:noFill/>
        </p:spPr>
        <p:txBody>
          <a:bodyPr wrap="square" anchor="t"/>
          <a:lstStyle/>
          <a:p>
            <a:pPr algn="l"/>
            <a:r>
              <a:rPr sz="1600" b="1">
                <a:solidFill>
                  <a:srgbClr val="C5A35A"/>
                </a:solidFill>
                <a:latin typeface="Calibri"/>
              </a:rPr>
              <a:t>Risk, drugs, home</a:t>
            </a:r>
          </a:p>
        </p:txBody>
      </p:sp>
      <p:sp>
        <p:nvSpPr>
          <p:cNvPr id="12" name="TextBox 11"/>
          <p:cNvSpPr txBox="1"/>
          <p:nvPr/>
        </p:nvSpPr>
        <p:spPr>
          <a:xfrm>
            <a:off x="640080" y="1691640"/>
            <a:ext cx="5120640" cy="3749039"/>
          </a:xfrm>
          <a:prstGeom prst="rect">
            <a:avLst/>
          </a:prstGeom>
          <a:noFill/>
        </p:spPr>
        <p:txBody>
          <a:bodyPr wrap="square">
            <a:spAutoFit/>
          </a:bodyPr>
          <a:lstStyle/>
          <a:p>
            <a:pPr algn="l">
              <a:spcAft>
                <a:spcPts val="1000"/>
              </a:spcAft>
            </a:pPr>
            <a:r>
              <a:rPr sz="1400" b="0">
                <a:solidFill>
                  <a:srgbClr val="1C1C1C"/>
                </a:solidFill>
                <a:latin typeface="Calibri"/>
              </a:rPr>
              <a:t>▸  Signalment: species, breed, age, BCS, sex/neuter — brachycephalic, sighthound, Doberman (vWD), miniature schnauzer (hyperlipidemia).</a:t>
            </a:r>
          </a:p>
          <a:p>
            <a:pPr algn="l">
              <a:spcAft>
                <a:spcPts val="1000"/>
              </a:spcAft>
            </a:pPr>
            <a:r>
              <a:rPr sz="1400" b="0">
                <a:solidFill>
                  <a:srgbClr val="1C1C1C"/>
                </a:solidFill>
                <a:latin typeface="Calibri"/>
              </a:rPr>
              <a:t>▸  Presenting complaint vs. elective wellness: ‘just a spay’ still needs a real history.</a:t>
            </a:r>
          </a:p>
          <a:p>
            <a:pPr algn="l">
              <a:spcAft>
                <a:spcPts val="1000"/>
              </a:spcAft>
            </a:pPr>
            <a:r>
              <a:rPr sz="1400" b="0">
                <a:solidFill>
                  <a:srgbClr val="1C1C1C"/>
                </a:solidFill>
                <a:latin typeface="Calibri"/>
              </a:rPr>
              <a:t>▸  Prior anesthesia/surgery: difficult intubation, delayed recovery, bleeding, drug reactions.</a:t>
            </a:r>
          </a:p>
          <a:p>
            <a:pPr algn="l">
              <a:spcAft>
                <a:spcPts val="1000"/>
              </a:spcAft>
            </a:pPr>
            <a:r>
              <a:rPr sz="1400" b="0">
                <a:solidFill>
                  <a:srgbClr val="1C1C1C"/>
                </a:solidFill>
                <a:latin typeface="Calibri"/>
              </a:rPr>
              <a:t>▸  Medications: NSAIDs, steroids, Apoquel/Cytopoint (skin), insulin, anticonvulsants, heartworm, supplements.</a:t>
            </a:r>
          </a:p>
        </p:txBody>
      </p:sp>
      <p:sp>
        <p:nvSpPr>
          <p:cNvPr id="13" name="TextBox 12"/>
          <p:cNvSpPr txBox="1"/>
          <p:nvPr/>
        </p:nvSpPr>
        <p:spPr>
          <a:xfrm>
            <a:off x="6400800" y="1691640"/>
            <a:ext cx="5120640" cy="3749039"/>
          </a:xfrm>
          <a:prstGeom prst="rect">
            <a:avLst/>
          </a:prstGeom>
          <a:noFill/>
        </p:spPr>
        <p:txBody>
          <a:bodyPr wrap="square">
            <a:spAutoFit/>
          </a:bodyPr>
          <a:lstStyle/>
          <a:p>
            <a:pPr algn="l">
              <a:spcAft>
                <a:spcPts val="1000"/>
              </a:spcAft>
            </a:pPr>
            <a:r>
              <a:rPr sz="1400" b="0">
                <a:solidFill>
                  <a:srgbClr val="1C1C1C"/>
                </a:solidFill>
                <a:latin typeface="Calibri"/>
              </a:rPr>
              <a:t>▸  When last ate or drank — and what (including garbage, treats, coprophagia).</a:t>
            </a:r>
          </a:p>
          <a:p>
            <a:pPr algn="l">
              <a:spcAft>
                <a:spcPts val="1000"/>
              </a:spcAft>
            </a:pPr>
            <a:r>
              <a:rPr sz="1400" b="0">
                <a:solidFill>
                  <a:srgbClr val="1C1C1C"/>
                </a:solidFill>
                <a:latin typeface="Calibri"/>
              </a:rPr>
              <a:t>▸  Cough, collapse, polyuria/polydipsia, vomiting, diarrhea, heat cycle, last whelping.</a:t>
            </a:r>
          </a:p>
          <a:p>
            <a:pPr algn="l">
              <a:spcAft>
                <a:spcPts val="1000"/>
              </a:spcAft>
            </a:pPr>
            <a:r>
              <a:rPr sz="1400" b="0">
                <a:solidFill>
                  <a:srgbClr val="1C1C1C"/>
                </a:solidFill>
                <a:latin typeface="Calibri"/>
              </a:rPr>
              <a:t>▸  Bleeding tendency: petechiae, cavity bleeds, prolonged oozing from venipuncture.</a:t>
            </a:r>
          </a:p>
          <a:p>
            <a:pPr algn="l">
              <a:spcAft>
                <a:spcPts val="1000"/>
              </a:spcAft>
            </a:pPr>
            <a:r>
              <a:rPr sz="1400" b="0">
                <a:solidFill>
                  <a:srgbClr val="1C1C1C"/>
                </a:solidFill>
                <a:latin typeface="Calibri"/>
              </a:rPr>
              <a:t>▸  Environment: indoor/outdoor, other animals, zoonoses, client ability to confine postop.</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9  /  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PREANESTHETIC PE, INDICATED LABS, INTERPRET, THEN ASSIGN ASA</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Physical examination — do it yourself</a:t>
            </a:r>
          </a:p>
        </p:txBody>
      </p:sp>
      <p:sp>
        <p:nvSpPr>
          <p:cNvPr id="8" name="TextBox 7"/>
          <p:cNvSpPr txBox="1"/>
          <p:nvPr/>
        </p:nvSpPr>
        <p:spPr>
          <a:xfrm>
            <a:off x="457200" y="1097280"/>
            <a:ext cx="6766560" cy="5029200"/>
          </a:xfrm>
          <a:prstGeom prst="rect">
            <a:avLst/>
          </a:prstGeom>
          <a:noFill/>
        </p:spPr>
        <p:txBody>
          <a:bodyPr wrap="square">
            <a:spAutoFit/>
          </a:bodyPr>
          <a:lstStyle/>
          <a:p>
            <a:pPr algn="l">
              <a:spcAft>
                <a:spcPts val="1000"/>
              </a:spcAft>
            </a:pPr>
            <a:r>
              <a:rPr sz="1600" b="0">
                <a:solidFill>
                  <a:srgbClr val="1C1C1C"/>
                </a:solidFill>
                <a:latin typeface="Calibri"/>
              </a:rPr>
              <a:t>▸  Hands-on, systematic: TPR, mm, CRT, hydration, BCS, pain, mentation.</a:t>
            </a:r>
          </a:p>
          <a:p>
            <a:pPr algn="l">
              <a:spcAft>
                <a:spcPts val="1000"/>
              </a:spcAft>
            </a:pPr>
            <a:r>
              <a:rPr sz="1600" b="0">
                <a:solidFill>
                  <a:srgbClr val="1C1C1C"/>
                </a:solidFill>
                <a:latin typeface="Calibri"/>
              </a:rPr>
              <a:t>▸  Cardiopulmonary: murmurs, arrhythmias, pulse quality, lung sounds, upper airway.</a:t>
            </a:r>
          </a:p>
          <a:p>
            <a:pPr algn="l">
              <a:spcAft>
                <a:spcPts val="1000"/>
              </a:spcAft>
            </a:pPr>
            <a:r>
              <a:rPr sz="1600" b="0">
                <a:solidFill>
                  <a:srgbClr val="1C1C1C"/>
                </a:solidFill>
                <a:latin typeface="Calibri"/>
              </a:rPr>
              <a:t>▸  Surgical site: pyoderma, fleas, otitis, mammary chain, heat, pregnancy, cryptorchid.</a:t>
            </a:r>
          </a:p>
          <a:p>
            <a:pPr algn="l">
              <a:spcAft>
                <a:spcPts val="1000"/>
              </a:spcAft>
            </a:pPr>
            <a:r>
              <a:rPr sz="1600" b="0">
                <a:solidFill>
                  <a:srgbClr val="1C1C1C"/>
                </a:solidFill>
                <a:latin typeface="Calibri"/>
              </a:rPr>
              <a:t>▸  Abdomen: pain, distension, organomegaly, fluid wave — and empty the bladder if possible.</a:t>
            </a:r>
          </a:p>
          <a:p>
            <a:pPr algn="l">
              <a:spcAft>
                <a:spcPts val="1000"/>
              </a:spcAft>
            </a:pPr>
            <a:r>
              <a:rPr sz="1600" b="0">
                <a:solidFill>
                  <a:srgbClr val="1C1C1C"/>
                </a:solidFill>
                <a:latin typeface="Calibri"/>
              </a:rPr>
              <a:t>▸  Neuro/ortho if relevant: knuckling, neck pain, lameness that changes positioning.</a:t>
            </a:r>
          </a:p>
          <a:p>
            <a:pPr algn="l">
              <a:spcAft>
                <a:spcPts val="1000"/>
              </a:spcAft>
            </a:pPr>
            <a:r>
              <a:rPr sz="1600" b="0">
                <a:solidFill>
                  <a:srgbClr val="1C1C1C"/>
                </a:solidFill>
                <a:latin typeface="Calibri"/>
              </a:rPr>
              <a:t>▸  Record it. If it is not written, the next person (and the exam) will assume you skipped it.</a:t>
            </a:r>
          </a:p>
        </p:txBody>
      </p:sp>
      <p:sp>
        <p:nvSpPr>
          <p:cNvPr id="9" name="Rounded Rectangle 8"/>
          <p:cNvSpPr/>
          <p:nvPr/>
        </p:nvSpPr>
        <p:spPr>
          <a:xfrm>
            <a:off x="7452360" y="1097280"/>
            <a:ext cx="425196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0" y="1325880"/>
            <a:ext cx="3840480" cy="640080"/>
          </a:xfrm>
          <a:prstGeom prst="rect">
            <a:avLst/>
          </a:prstGeom>
          <a:noFill/>
        </p:spPr>
        <p:txBody>
          <a:bodyPr wrap="square" anchor="t"/>
          <a:lstStyle/>
          <a:p>
            <a:pPr algn="l"/>
            <a:r>
              <a:rPr sz="1600" b="1">
                <a:solidFill>
                  <a:srgbClr val="C5A35A"/>
                </a:solidFill>
                <a:latin typeface="Calibri"/>
              </a:rPr>
              <a:t>Order of operations
before any drug</a:t>
            </a:r>
          </a:p>
        </p:txBody>
      </p:sp>
      <p:sp>
        <p:nvSpPr>
          <p:cNvPr id="11" name="TextBox 10"/>
          <p:cNvSpPr txBox="1"/>
          <p:nvPr/>
        </p:nvSpPr>
        <p:spPr>
          <a:xfrm>
            <a:off x="7680960" y="2103120"/>
            <a:ext cx="3840480" cy="3657600"/>
          </a:xfrm>
          <a:prstGeom prst="rect">
            <a:avLst/>
          </a:prstGeom>
          <a:noFill/>
        </p:spPr>
        <p:txBody>
          <a:bodyPr wrap="square" anchor="t"/>
          <a:lstStyle/>
          <a:p>
            <a:pPr algn="l"/>
            <a:r>
              <a:rPr sz="1500" b="0">
                <a:solidFill>
                  <a:srgbClr val="FFFFFF"/>
                </a:solidFill>
                <a:latin typeface="Calibri"/>
              </a:rPr>
              <a:t>1. Examine the patient
2. Request indicated labs
3. Interpret the results
4. Assign ASA status
5. Adjust the drug plan
6. Then premedicate
Premedicating before the exam is a never-event.</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10  /  49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AMERICAN SOCIETY OF ANESTHESIOLOGISTS SCALE, AS USED IN VETERINARY ANESTHESIA</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ASA physical status — memorize this wording</a:t>
            </a:r>
          </a:p>
        </p:txBody>
      </p:sp>
      <p:sp>
        <p:nvSpPr>
          <p:cNvPr id="8" name="Rectangle 7"/>
          <p:cNvSpPr/>
          <p:nvPr/>
        </p:nvSpPr>
        <p:spPr>
          <a:xfrm>
            <a:off x="457200" y="1078992"/>
            <a:ext cx="11247120" cy="411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078992"/>
            <a:ext cx="1097280" cy="411480"/>
          </a:xfrm>
          <a:prstGeom prst="rect">
            <a:avLst/>
          </a:prstGeom>
          <a:noFill/>
        </p:spPr>
        <p:txBody>
          <a:bodyPr wrap="square" anchor="ctr"/>
          <a:lstStyle/>
          <a:p>
            <a:pPr algn="l"/>
            <a:r>
              <a:rPr sz="1400" b="1">
                <a:solidFill>
                  <a:srgbClr val="C5A35A"/>
                </a:solidFill>
                <a:latin typeface="Calibri"/>
              </a:rPr>
              <a:t>ASA</a:t>
            </a:r>
          </a:p>
        </p:txBody>
      </p:sp>
      <p:sp>
        <p:nvSpPr>
          <p:cNvPr id="10" name="TextBox 9"/>
          <p:cNvSpPr txBox="1"/>
          <p:nvPr/>
        </p:nvSpPr>
        <p:spPr>
          <a:xfrm>
            <a:off x="1737360" y="1078992"/>
            <a:ext cx="5120640" cy="411480"/>
          </a:xfrm>
          <a:prstGeom prst="rect">
            <a:avLst/>
          </a:prstGeom>
          <a:noFill/>
        </p:spPr>
        <p:txBody>
          <a:bodyPr wrap="square" anchor="ctr"/>
          <a:lstStyle/>
          <a:p>
            <a:pPr algn="l"/>
            <a:r>
              <a:rPr sz="1400" b="1">
                <a:solidFill>
                  <a:srgbClr val="FFFFFF"/>
                </a:solidFill>
                <a:latin typeface="Calibri"/>
              </a:rPr>
              <a:t>Definition</a:t>
            </a:r>
          </a:p>
        </p:txBody>
      </p:sp>
      <p:sp>
        <p:nvSpPr>
          <p:cNvPr id="11" name="TextBox 10"/>
          <p:cNvSpPr txBox="1"/>
          <p:nvPr/>
        </p:nvSpPr>
        <p:spPr>
          <a:xfrm>
            <a:off x="6949440" y="1078992"/>
            <a:ext cx="4572000" cy="411480"/>
          </a:xfrm>
          <a:prstGeom prst="rect">
            <a:avLst/>
          </a:prstGeom>
          <a:noFill/>
        </p:spPr>
        <p:txBody>
          <a:bodyPr wrap="square" anchor="ctr"/>
          <a:lstStyle/>
          <a:p>
            <a:pPr algn="l"/>
            <a:r>
              <a:rPr sz="1400" b="1">
                <a:solidFill>
                  <a:srgbClr val="FFFFFF"/>
                </a:solidFill>
                <a:latin typeface="Calibri"/>
              </a:rPr>
              <a:t>Typical example</a:t>
            </a:r>
          </a:p>
        </p:txBody>
      </p:sp>
      <p:sp>
        <p:nvSpPr>
          <p:cNvPr id="12" name="Rounded Rectangle 11"/>
          <p:cNvSpPr/>
          <p:nvPr/>
        </p:nvSpPr>
        <p:spPr>
          <a:xfrm>
            <a:off x="457200" y="1490472"/>
            <a:ext cx="112471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490472"/>
            <a:ext cx="109728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1490472"/>
            <a:ext cx="1097280" cy="804672"/>
          </a:xfrm>
          <a:prstGeom prst="rect">
            <a:avLst/>
          </a:prstGeom>
          <a:noFill/>
        </p:spPr>
        <p:txBody>
          <a:bodyPr wrap="square" anchor="ctr"/>
          <a:lstStyle/>
          <a:p>
            <a:pPr algn="ctr"/>
            <a:r>
              <a:rPr sz="2200" b="1">
                <a:solidFill>
                  <a:srgbClr val="FFFFFF"/>
                </a:solidFill>
                <a:latin typeface="Calibri"/>
              </a:rPr>
              <a:t>I</a:t>
            </a:r>
          </a:p>
        </p:txBody>
      </p:sp>
      <p:sp>
        <p:nvSpPr>
          <p:cNvPr id="15" name="TextBox 14"/>
          <p:cNvSpPr txBox="1"/>
          <p:nvPr/>
        </p:nvSpPr>
        <p:spPr>
          <a:xfrm>
            <a:off x="1737360" y="1563624"/>
            <a:ext cx="5029200" cy="658368"/>
          </a:xfrm>
          <a:prstGeom prst="rect">
            <a:avLst/>
          </a:prstGeom>
          <a:noFill/>
        </p:spPr>
        <p:txBody>
          <a:bodyPr wrap="square" anchor="ctr"/>
          <a:lstStyle/>
          <a:p>
            <a:pPr algn="l"/>
            <a:r>
              <a:rPr sz="1300" b="0">
                <a:solidFill>
                  <a:srgbClr val="1C1C1C"/>
                </a:solidFill>
                <a:latin typeface="Calibri"/>
              </a:rPr>
              <a:t>Normal, healthy patient</a:t>
            </a:r>
          </a:p>
        </p:txBody>
      </p:sp>
      <p:sp>
        <p:nvSpPr>
          <p:cNvPr id="16" name="TextBox 15"/>
          <p:cNvSpPr txBox="1"/>
          <p:nvPr/>
        </p:nvSpPr>
        <p:spPr>
          <a:xfrm>
            <a:off x="6949440" y="1563624"/>
            <a:ext cx="4572000" cy="658368"/>
          </a:xfrm>
          <a:prstGeom prst="rect">
            <a:avLst/>
          </a:prstGeom>
          <a:noFill/>
        </p:spPr>
        <p:txBody>
          <a:bodyPr wrap="square" anchor="ctr"/>
          <a:lstStyle/>
          <a:p>
            <a:pPr algn="l"/>
            <a:r>
              <a:rPr sz="1300" b="0">
                <a:solidFill>
                  <a:srgbClr val="3D4A57"/>
                </a:solidFill>
                <a:latin typeface="Calibri"/>
              </a:rPr>
              <a:t>Elective OHE in a well 1-year-old</a:t>
            </a:r>
          </a:p>
        </p:txBody>
      </p:sp>
      <p:sp>
        <p:nvSpPr>
          <p:cNvPr id="17" name="Rounded Rectangle 16"/>
          <p:cNvSpPr/>
          <p:nvPr/>
        </p:nvSpPr>
        <p:spPr>
          <a:xfrm>
            <a:off x="457200" y="2359152"/>
            <a:ext cx="112471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2359152"/>
            <a:ext cx="109728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2359152"/>
            <a:ext cx="1097280" cy="804672"/>
          </a:xfrm>
          <a:prstGeom prst="rect">
            <a:avLst/>
          </a:prstGeom>
          <a:noFill/>
        </p:spPr>
        <p:txBody>
          <a:bodyPr wrap="square" anchor="ctr"/>
          <a:lstStyle/>
          <a:p>
            <a:pPr algn="ctr"/>
            <a:r>
              <a:rPr sz="2200" b="1">
                <a:solidFill>
                  <a:srgbClr val="FFFFFF"/>
                </a:solidFill>
                <a:latin typeface="Calibri"/>
              </a:rPr>
              <a:t>II</a:t>
            </a:r>
          </a:p>
        </p:txBody>
      </p:sp>
      <p:sp>
        <p:nvSpPr>
          <p:cNvPr id="20" name="TextBox 19"/>
          <p:cNvSpPr txBox="1"/>
          <p:nvPr/>
        </p:nvSpPr>
        <p:spPr>
          <a:xfrm>
            <a:off x="1737360" y="2432304"/>
            <a:ext cx="5029200" cy="658368"/>
          </a:xfrm>
          <a:prstGeom prst="rect">
            <a:avLst/>
          </a:prstGeom>
          <a:noFill/>
        </p:spPr>
        <p:txBody>
          <a:bodyPr wrap="square" anchor="ctr"/>
          <a:lstStyle/>
          <a:p>
            <a:pPr algn="l"/>
            <a:r>
              <a:rPr sz="1300" b="0">
                <a:solidFill>
                  <a:srgbClr val="1C1C1C"/>
                </a:solidFill>
                <a:latin typeface="Calibri"/>
              </a:rPr>
              <a:t>Mild systemic disease, well compensated</a:t>
            </a:r>
          </a:p>
        </p:txBody>
      </p:sp>
      <p:sp>
        <p:nvSpPr>
          <p:cNvPr id="21" name="TextBox 20"/>
          <p:cNvSpPr txBox="1"/>
          <p:nvPr/>
        </p:nvSpPr>
        <p:spPr>
          <a:xfrm>
            <a:off x="6949440" y="2432304"/>
            <a:ext cx="4572000" cy="658368"/>
          </a:xfrm>
          <a:prstGeom prst="rect">
            <a:avLst/>
          </a:prstGeom>
          <a:noFill/>
        </p:spPr>
        <p:txBody>
          <a:bodyPr wrap="square" anchor="ctr"/>
          <a:lstStyle/>
          <a:p>
            <a:pPr algn="l"/>
            <a:r>
              <a:rPr sz="1300" b="0">
                <a:solidFill>
                  <a:srgbClr val="3D4A57"/>
                </a:solidFill>
                <a:latin typeface="Calibri"/>
              </a:rPr>
              <a:t>Controlled diabetes; obese but stable; asymptomatic murmur</a:t>
            </a:r>
          </a:p>
        </p:txBody>
      </p:sp>
      <p:sp>
        <p:nvSpPr>
          <p:cNvPr id="22" name="Rounded Rectangle 21"/>
          <p:cNvSpPr/>
          <p:nvPr/>
        </p:nvSpPr>
        <p:spPr>
          <a:xfrm>
            <a:off x="457200" y="3227832"/>
            <a:ext cx="112471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3227832"/>
            <a:ext cx="109728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3227832"/>
            <a:ext cx="1097280" cy="804672"/>
          </a:xfrm>
          <a:prstGeom prst="rect">
            <a:avLst/>
          </a:prstGeom>
          <a:noFill/>
        </p:spPr>
        <p:txBody>
          <a:bodyPr wrap="square" anchor="ctr"/>
          <a:lstStyle/>
          <a:p>
            <a:pPr algn="ctr"/>
            <a:r>
              <a:rPr sz="2200" b="1">
                <a:solidFill>
                  <a:srgbClr val="FFFFFF"/>
                </a:solidFill>
                <a:latin typeface="Calibri"/>
              </a:rPr>
              <a:t>III</a:t>
            </a:r>
          </a:p>
        </p:txBody>
      </p:sp>
      <p:sp>
        <p:nvSpPr>
          <p:cNvPr id="25" name="TextBox 24"/>
          <p:cNvSpPr txBox="1"/>
          <p:nvPr/>
        </p:nvSpPr>
        <p:spPr>
          <a:xfrm>
            <a:off x="1737360" y="3300984"/>
            <a:ext cx="5029200" cy="658368"/>
          </a:xfrm>
          <a:prstGeom prst="rect">
            <a:avLst/>
          </a:prstGeom>
          <a:noFill/>
        </p:spPr>
        <p:txBody>
          <a:bodyPr wrap="square" anchor="ctr"/>
          <a:lstStyle/>
          <a:p>
            <a:pPr algn="l"/>
            <a:r>
              <a:rPr sz="1300" b="0">
                <a:solidFill>
                  <a:srgbClr val="1C1C1C"/>
                </a:solidFill>
                <a:latin typeface="Calibri"/>
              </a:rPr>
              <a:t>Moderate to severe systemic disease, ongoing but compensated; functional limitation and higher anesthetic risk</a:t>
            </a:r>
          </a:p>
        </p:txBody>
      </p:sp>
      <p:sp>
        <p:nvSpPr>
          <p:cNvPr id="26" name="TextBox 25"/>
          <p:cNvSpPr txBox="1"/>
          <p:nvPr/>
        </p:nvSpPr>
        <p:spPr>
          <a:xfrm>
            <a:off x="6949440" y="3300984"/>
            <a:ext cx="4572000" cy="658368"/>
          </a:xfrm>
          <a:prstGeom prst="rect">
            <a:avLst/>
          </a:prstGeom>
          <a:noFill/>
        </p:spPr>
        <p:txBody>
          <a:bodyPr wrap="square" anchor="ctr"/>
          <a:lstStyle/>
          <a:p>
            <a:pPr algn="l"/>
            <a:r>
              <a:rPr sz="1300" b="0">
                <a:solidFill>
                  <a:srgbClr val="3D4A57"/>
                </a:solidFill>
                <a:latin typeface="Calibri"/>
              </a:rPr>
              <a:t>Stable CKD; compensated murmur; Willie — vestibular + otitis, walking</a:t>
            </a:r>
          </a:p>
        </p:txBody>
      </p:sp>
      <p:sp>
        <p:nvSpPr>
          <p:cNvPr id="27" name="Rounded Rectangle 26"/>
          <p:cNvSpPr/>
          <p:nvPr/>
        </p:nvSpPr>
        <p:spPr>
          <a:xfrm>
            <a:off x="457200" y="4096511"/>
            <a:ext cx="112471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4096511"/>
            <a:ext cx="109728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4096511"/>
            <a:ext cx="1097280" cy="804672"/>
          </a:xfrm>
          <a:prstGeom prst="rect">
            <a:avLst/>
          </a:prstGeom>
          <a:noFill/>
        </p:spPr>
        <p:txBody>
          <a:bodyPr wrap="square" anchor="ctr"/>
          <a:lstStyle/>
          <a:p>
            <a:pPr algn="ctr"/>
            <a:r>
              <a:rPr sz="2200" b="1">
                <a:solidFill>
                  <a:srgbClr val="FFFFFF"/>
                </a:solidFill>
                <a:latin typeface="Calibri"/>
              </a:rPr>
              <a:t>IV</a:t>
            </a:r>
          </a:p>
        </p:txBody>
      </p:sp>
      <p:sp>
        <p:nvSpPr>
          <p:cNvPr id="30" name="TextBox 29"/>
          <p:cNvSpPr txBox="1"/>
          <p:nvPr/>
        </p:nvSpPr>
        <p:spPr>
          <a:xfrm>
            <a:off x="1737360" y="4169663"/>
            <a:ext cx="5029200" cy="658368"/>
          </a:xfrm>
          <a:prstGeom prst="rect">
            <a:avLst/>
          </a:prstGeom>
          <a:noFill/>
        </p:spPr>
        <p:txBody>
          <a:bodyPr wrap="square" anchor="ctr"/>
          <a:lstStyle/>
          <a:p>
            <a:pPr algn="l"/>
            <a:r>
              <a:rPr sz="1300" b="0">
                <a:solidFill>
                  <a:srgbClr val="1C1C1C"/>
                </a:solidFill>
                <a:latin typeface="Calibri"/>
              </a:rPr>
              <a:t>Severe systemic disease that is a constant threat to life; uncompensated</a:t>
            </a:r>
          </a:p>
        </p:txBody>
      </p:sp>
      <p:sp>
        <p:nvSpPr>
          <p:cNvPr id="31" name="TextBox 30"/>
          <p:cNvSpPr txBox="1"/>
          <p:nvPr/>
        </p:nvSpPr>
        <p:spPr>
          <a:xfrm>
            <a:off x="6949440" y="4169663"/>
            <a:ext cx="4572000" cy="658368"/>
          </a:xfrm>
          <a:prstGeom prst="rect">
            <a:avLst/>
          </a:prstGeom>
          <a:noFill/>
        </p:spPr>
        <p:txBody>
          <a:bodyPr wrap="square" anchor="ctr"/>
          <a:lstStyle/>
          <a:p>
            <a:pPr algn="l"/>
            <a:r>
              <a:rPr sz="1300" b="0">
                <a:solidFill>
                  <a:srgbClr val="3D4A57"/>
                </a:solidFill>
                <a:latin typeface="Calibri"/>
              </a:rPr>
              <a:t>GDV, septic abdomen, decompensated CHF, uncontrolled hemorrhage</a:t>
            </a:r>
          </a:p>
        </p:txBody>
      </p:sp>
      <p:sp>
        <p:nvSpPr>
          <p:cNvPr id="32" name="Rounded Rectangle 31"/>
          <p:cNvSpPr/>
          <p:nvPr/>
        </p:nvSpPr>
        <p:spPr>
          <a:xfrm>
            <a:off x="457200" y="4965192"/>
            <a:ext cx="1124712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965192"/>
            <a:ext cx="109728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4965192"/>
            <a:ext cx="1097280" cy="804672"/>
          </a:xfrm>
          <a:prstGeom prst="rect">
            <a:avLst/>
          </a:prstGeom>
          <a:noFill/>
        </p:spPr>
        <p:txBody>
          <a:bodyPr wrap="square" anchor="ctr"/>
          <a:lstStyle/>
          <a:p>
            <a:pPr algn="ctr"/>
            <a:r>
              <a:rPr sz="2200" b="1">
                <a:solidFill>
                  <a:srgbClr val="FFFFFF"/>
                </a:solidFill>
                <a:latin typeface="Calibri"/>
              </a:rPr>
              <a:t>V</a:t>
            </a:r>
          </a:p>
        </p:txBody>
      </p:sp>
      <p:sp>
        <p:nvSpPr>
          <p:cNvPr id="35" name="TextBox 34"/>
          <p:cNvSpPr txBox="1"/>
          <p:nvPr/>
        </p:nvSpPr>
        <p:spPr>
          <a:xfrm>
            <a:off x="1737360" y="5038344"/>
            <a:ext cx="5029200" cy="658368"/>
          </a:xfrm>
          <a:prstGeom prst="rect">
            <a:avLst/>
          </a:prstGeom>
          <a:noFill/>
        </p:spPr>
        <p:txBody>
          <a:bodyPr wrap="square" anchor="ctr"/>
          <a:lstStyle/>
          <a:p>
            <a:pPr algn="l"/>
            <a:r>
              <a:rPr sz="1300" b="0">
                <a:solidFill>
                  <a:srgbClr val="1C1C1C"/>
                </a:solidFill>
                <a:latin typeface="Calibri"/>
              </a:rPr>
              <a:t>Moribund; not expected to live &gt;24 h with or without surgery</a:t>
            </a:r>
          </a:p>
        </p:txBody>
      </p:sp>
      <p:sp>
        <p:nvSpPr>
          <p:cNvPr id="36" name="TextBox 35"/>
          <p:cNvSpPr txBox="1"/>
          <p:nvPr/>
        </p:nvSpPr>
        <p:spPr>
          <a:xfrm>
            <a:off x="6949440" y="5038344"/>
            <a:ext cx="4572000" cy="658368"/>
          </a:xfrm>
          <a:prstGeom prst="rect">
            <a:avLst/>
          </a:prstGeom>
          <a:noFill/>
        </p:spPr>
        <p:txBody>
          <a:bodyPr wrap="square" anchor="ctr"/>
          <a:lstStyle/>
          <a:p>
            <a:pPr algn="l"/>
            <a:r>
              <a:rPr sz="1300" b="0">
                <a:solidFill>
                  <a:srgbClr val="3D4A57"/>
                </a:solidFill>
                <a:latin typeface="Calibri"/>
              </a:rPr>
              <a:t>Gastric rupture, catastrophic trauma, end-stage disease</a:t>
            </a:r>
          </a:p>
        </p:txBody>
      </p:sp>
      <p:sp>
        <p:nvSpPr>
          <p:cNvPr id="37" name="Rectangle 36"/>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9" name="TextBox 38"/>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11  /  49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SAY THE NUMBER, THEN WHETHER YOU PROCEED TODAY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Assign the ASA — 60-second cases</a:t>
            </a:r>
          </a:p>
        </p:txBody>
      </p:sp>
      <p:sp>
        <p:nvSpPr>
          <p:cNvPr id="8" name="Rounded Rectangle 7"/>
          <p:cNvSpPr/>
          <p:nvPr/>
        </p:nvSpPr>
        <p:spPr>
          <a:xfrm>
            <a:off x="457200" y="109728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640080" cy="111556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97280"/>
            <a:ext cx="640080" cy="1115568"/>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325880" y="1207008"/>
            <a:ext cx="10058400" cy="457200"/>
          </a:xfrm>
          <a:prstGeom prst="rect">
            <a:avLst/>
          </a:prstGeom>
          <a:noFill/>
        </p:spPr>
        <p:txBody>
          <a:bodyPr wrap="square" anchor="t"/>
          <a:lstStyle/>
          <a:p>
            <a:pPr algn="l"/>
            <a:r>
              <a:rPr sz="1500" b="0">
                <a:solidFill>
                  <a:srgbClr val="1C1C1C"/>
                </a:solidFill>
                <a:latin typeface="Calibri"/>
              </a:rPr>
              <a:t>Healthy 8-month Labrador for elective OHE. Normal PE, PCV/TS normal.</a:t>
            </a:r>
          </a:p>
        </p:txBody>
      </p:sp>
      <p:sp>
        <p:nvSpPr>
          <p:cNvPr id="12" name="TextBox 11"/>
          <p:cNvSpPr txBox="1"/>
          <p:nvPr/>
        </p:nvSpPr>
        <p:spPr>
          <a:xfrm>
            <a:off x="1325880" y="1719072"/>
            <a:ext cx="10058400" cy="365760"/>
          </a:xfrm>
          <a:prstGeom prst="rect">
            <a:avLst/>
          </a:prstGeom>
          <a:noFill/>
        </p:spPr>
        <p:txBody>
          <a:bodyPr wrap="square" anchor="t"/>
          <a:lstStyle/>
          <a:p>
            <a:pPr algn="l"/>
            <a:r>
              <a:rPr sz="1400" b="1">
                <a:solidFill>
                  <a:srgbClr val="2E6B4F"/>
                </a:solidFill>
                <a:latin typeface="Calibri"/>
              </a:rPr>
              <a:t>ASA I  ·  proceed</a:t>
            </a:r>
          </a:p>
        </p:txBody>
      </p:sp>
      <p:sp>
        <p:nvSpPr>
          <p:cNvPr id="13" name="Rounded Rectangle 12"/>
          <p:cNvSpPr/>
          <p:nvPr/>
        </p:nvSpPr>
        <p:spPr>
          <a:xfrm>
            <a:off x="457200" y="233172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31720"/>
            <a:ext cx="640080" cy="111556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31720"/>
            <a:ext cx="640080" cy="1115568"/>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325880" y="2441448"/>
            <a:ext cx="10058400" cy="457200"/>
          </a:xfrm>
          <a:prstGeom prst="rect">
            <a:avLst/>
          </a:prstGeom>
          <a:noFill/>
        </p:spPr>
        <p:txBody>
          <a:bodyPr wrap="square" anchor="t"/>
          <a:lstStyle/>
          <a:p>
            <a:pPr algn="l"/>
            <a:r>
              <a:rPr sz="1500" b="0">
                <a:solidFill>
                  <a:srgbClr val="1C1C1C"/>
                </a:solidFill>
                <a:latin typeface="Calibri"/>
              </a:rPr>
              <a:t>10-year MN Beagle, BCS 8/9, grade 2/6 murmur, no CHF, dental + mass removal.</a:t>
            </a:r>
          </a:p>
        </p:txBody>
      </p:sp>
      <p:sp>
        <p:nvSpPr>
          <p:cNvPr id="17" name="TextBox 16"/>
          <p:cNvSpPr txBox="1"/>
          <p:nvPr/>
        </p:nvSpPr>
        <p:spPr>
          <a:xfrm>
            <a:off x="1325880" y="2953512"/>
            <a:ext cx="10058400" cy="365760"/>
          </a:xfrm>
          <a:prstGeom prst="rect">
            <a:avLst/>
          </a:prstGeom>
          <a:noFill/>
        </p:spPr>
        <p:txBody>
          <a:bodyPr wrap="square" anchor="t"/>
          <a:lstStyle/>
          <a:p>
            <a:pPr algn="l"/>
            <a:r>
              <a:rPr sz="1400" b="1">
                <a:solidFill>
                  <a:srgbClr val="1B6B7A"/>
                </a:solidFill>
                <a:latin typeface="Calibri"/>
              </a:rPr>
              <a:t>ASA II  ·  proceed with monitoring plan</a:t>
            </a:r>
          </a:p>
        </p:txBody>
      </p:sp>
      <p:sp>
        <p:nvSpPr>
          <p:cNvPr id="18" name="Rounded Rectangle 17"/>
          <p:cNvSpPr/>
          <p:nvPr/>
        </p:nvSpPr>
        <p:spPr>
          <a:xfrm>
            <a:off x="457200" y="356616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566160"/>
            <a:ext cx="64008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566160"/>
            <a:ext cx="640080" cy="1115568"/>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325880" y="3675888"/>
            <a:ext cx="10058400" cy="457200"/>
          </a:xfrm>
          <a:prstGeom prst="rect">
            <a:avLst/>
          </a:prstGeom>
          <a:noFill/>
        </p:spPr>
        <p:txBody>
          <a:bodyPr wrap="square" anchor="t"/>
          <a:lstStyle/>
          <a:p>
            <a:pPr algn="l"/>
            <a:r>
              <a:rPr sz="1500" b="0">
                <a:solidFill>
                  <a:srgbClr val="1C1C1C"/>
                </a:solidFill>
                <a:latin typeface="Calibri"/>
              </a:rPr>
              <a:t>Willie: 6 y 11 mo MN Cavalier, 13.7 kg. Acute ataxia 1 h. AS otitis, TM visible/swollen. Circling left, nystagmus fast-left, right knuckling. Grade II murmur. CV stable.</a:t>
            </a:r>
          </a:p>
        </p:txBody>
      </p:sp>
      <p:sp>
        <p:nvSpPr>
          <p:cNvPr id="22" name="TextBox 21"/>
          <p:cNvSpPr txBox="1"/>
          <p:nvPr/>
        </p:nvSpPr>
        <p:spPr>
          <a:xfrm>
            <a:off x="1325880" y="4187952"/>
            <a:ext cx="10058400" cy="365760"/>
          </a:xfrm>
          <a:prstGeom prst="rect">
            <a:avLst/>
          </a:prstGeom>
          <a:noFill/>
        </p:spPr>
        <p:txBody>
          <a:bodyPr wrap="square" anchor="t"/>
          <a:lstStyle/>
          <a:p>
            <a:pPr algn="l"/>
            <a:r>
              <a:rPr sz="1400" b="1">
                <a:solidFill>
                  <a:srgbClr val="C5A35A"/>
                </a:solidFill>
                <a:latin typeface="Calibri"/>
              </a:rPr>
              <a:t>ASA III-E  ·  not ‘just dirty ears’ — next slides</a:t>
            </a:r>
          </a:p>
        </p:txBody>
      </p:sp>
      <p:sp>
        <p:nvSpPr>
          <p:cNvPr id="23" name="Rounded Rectangle 22"/>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800600"/>
            <a:ext cx="640080" cy="1115568"/>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00600"/>
            <a:ext cx="640080" cy="1115568"/>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325880" y="4910328"/>
            <a:ext cx="10058400" cy="457200"/>
          </a:xfrm>
          <a:prstGeom prst="rect">
            <a:avLst/>
          </a:prstGeom>
          <a:noFill/>
        </p:spPr>
        <p:txBody>
          <a:bodyPr wrap="square" anchor="t"/>
          <a:lstStyle/>
          <a:p>
            <a:pPr algn="l"/>
            <a:r>
              <a:rPr sz="1500" b="0">
                <a:solidFill>
                  <a:srgbClr val="1C1C1C"/>
                </a:solidFill>
                <a:latin typeface="Calibri"/>
              </a:rPr>
              <a:t>Cat, urethral obstruction, K+ 8.2, bladder huge, arrhythmia.</a:t>
            </a:r>
          </a:p>
        </p:txBody>
      </p:sp>
      <p:sp>
        <p:nvSpPr>
          <p:cNvPr id="27" name="TextBox 26"/>
          <p:cNvSpPr txBox="1"/>
          <p:nvPr/>
        </p:nvSpPr>
        <p:spPr>
          <a:xfrm>
            <a:off x="1325880" y="5422392"/>
            <a:ext cx="10058400" cy="365760"/>
          </a:xfrm>
          <a:prstGeom prst="rect">
            <a:avLst/>
          </a:prstGeom>
          <a:noFill/>
        </p:spPr>
        <p:txBody>
          <a:bodyPr wrap="square" anchor="t"/>
          <a:lstStyle/>
          <a:p>
            <a:pPr algn="l"/>
            <a:r>
              <a:rPr sz="1400" b="1">
                <a:solidFill>
                  <a:srgbClr val="8B2E2E"/>
                </a:solidFill>
                <a:latin typeface="Calibri"/>
              </a:rPr>
              <a:t>ASA IV-E  ·  stabilize first, then surgery</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12  /  49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6 Y 11 MO MN CAVALIER KING CHARLES SPANIEL  ·  13.7 KG  ·  BCS 6/9</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Real ASA III case — Willie</a:t>
            </a:r>
          </a:p>
        </p:txBody>
      </p:sp>
      <p:sp>
        <p:nvSpPr>
          <p:cNvPr id="8" name="Rounded Rectangle 7"/>
          <p:cNvSpPr/>
          <p:nvPr/>
        </p:nvSpPr>
        <p:spPr>
          <a:xfrm>
            <a:off x="457200" y="1051560"/>
            <a:ext cx="11247120" cy="13258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43000"/>
            <a:ext cx="10789920" cy="1143000"/>
          </a:xfrm>
          <a:prstGeom prst="rect">
            <a:avLst/>
          </a:prstGeom>
          <a:noFill/>
        </p:spPr>
        <p:txBody>
          <a:bodyPr wrap="square" anchor="t"/>
          <a:lstStyle/>
          <a:p>
            <a:pPr algn="l"/>
            <a:r>
              <a:rPr sz="1400" b="0">
                <a:solidFill>
                  <a:srgbClr val="0B2C4A"/>
                </a:solidFill>
                <a:latin typeface="Calibri"/>
              </a:rPr>
              <a:t>Acute ataxia ~1 hour. Fell off the couch twice. Abnormal paw placement. Appetite/thirst normal. Cytopoint for allergies. No prior vestibular signs. Vitals: T 100.8 °F, HR 132, RR 52, mm pink, CRT 2 s, quiet/dull.</a:t>
            </a:r>
          </a:p>
        </p:txBody>
      </p:sp>
      <p:sp>
        <p:nvSpPr>
          <p:cNvPr id="10" name="Rounded Rectangle 9"/>
          <p:cNvSpPr/>
          <p:nvPr/>
        </p:nvSpPr>
        <p:spPr>
          <a:xfrm>
            <a:off x="457200" y="2514600"/>
            <a:ext cx="36576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514600"/>
            <a:ext cx="91440" cy="36118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624328"/>
            <a:ext cx="3291840" cy="347472"/>
          </a:xfrm>
          <a:prstGeom prst="rect">
            <a:avLst/>
          </a:prstGeom>
          <a:noFill/>
        </p:spPr>
        <p:txBody>
          <a:bodyPr wrap="square" anchor="t"/>
          <a:lstStyle/>
          <a:p>
            <a:pPr algn="l"/>
            <a:r>
              <a:rPr sz="1500" b="1">
                <a:solidFill>
                  <a:srgbClr val="0B2C4A"/>
                </a:solidFill>
                <a:latin typeface="Calibri"/>
              </a:rPr>
              <a:t>Left ear (AS)</a:t>
            </a:r>
          </a:p>
        </p:txBody>
      </p:sp>
      <p:sp>
        <p:nvSpPr>
          <p:cNvPr id="13" name="TextBox 12"/>
          <p:cNvSpPr txBox="1"/>
          <p:nvPr/>
        </p:nvSpPr>
        <p:spPr>
          <a:xfrm>
            <a:off x="713232" y="2953512"/>
            <a:ext cx="3291840" cy="3081528"/>
          </a:xfrm>
          <a:prstGeom prst="rect">
            <a:avLst/>
          </a:prstGeom>
          <a:noFill/>
        </p:spPr>
        <p:txBody>
          <a:bodyPr wrap="square" anchor="t"/>
          <a:lstStyle/>
          <a:p>
            <a:pPr algn="l"/>
            <a:r>
              <a:rPr sz="1300" b="0">
                <a:solidFill>
                  <a:srgbClr val="3D4A57"/>
                </a:solidFill>
                <a:latin typeface="Calibri"/>
              </a:rPr>
              <a:t>Brown and bloody discharge. Pedal reflex at the pinna base. Canal patent. Cartilage hardened. Tympanic membrane visible but swollen.</a:t>
            </a:r>
          </a:p>
        </p:txBody>
      </p:sp>
      <p:sp>
        <p:nvSpPr>
          <p:cNvPr id="14" name="Rounded Rectangle 13"/>
          <p:cNvSpPr/>
          <p:nvPr/>
        </p:nvSpPr>
        <p:spPr>
          <a:xfrm>
            <a:off x="4297680" y="2514600"/>
            <a:ext cx="36576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514600"/>
            <a:ext cx="91440" cy="3611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624328"/>
            <a:ext cx="3291840" cy="347472"/>
          </a:xfrm>
          <a:prstGeom prst="rect">
            <a:avLst/>
          </a:prstGeom>
          <a:noFill/>
        </p:spPr>
        <p:txBody>
          <a:bodyPr wrap="square" anchor="t"/>
          <a:lstStyle/>
          <a:p>
            <a:pPr algn="l"/>
            <a:r>
              <a:rPr sz="1500" b="1">
                <a:solidFill>
                  <a:srgbClr val="0B2C4A"/>
                </a:solidFill>
                <a:latin typeface="Calibri"/>
              </a:rPr>
              <a:t>Neuro exam</a:t>
            </a:r>
          </a:p>
        </p:txBody>
      </p:sp>
      <p:sp>
        <p:nvSpPr>
          <p:cNvPr id="17" name="TextBox 16"/>
          <p:cNvSpPr txBox="1"/>
          <p:nvPr/>
        </p:nvSpPr>
        <p:spPr>
          <a:xfrm>
            <a:off x="4553712" y="2953512"/>
            <a:ext cx="3291840" cy="3081528"/>
          </a:xfrm>
          <a:prstGeom prst="rect">
            <a:avLst/>
          </a:prstGeom>
          <a:noFill/>
        </p:spPr>
        <p:txBody>
          <a:bodyPr wrap="square" anchor="t"/>
          <a:lstStyle/>
          <a:p>
            <a:pPr algn="l"/>
            <a:r>
              <a:rPr sz="1300" b="0">
                <a:solidFill>
                  <a:srgbClr val="3D4A57"/>
                </a:solidFill>
                <a:latin typeface="Calibri"/>
              </a:rPr>
              <a:t>Circling left. Horizontal nystagmus — fast left, slow right. Right knuckling and delayed proprioception. Wheelbarrow absent on the right. That is not a simple peripheral ear.</a:t>
            </a:r>
          </a:p>
        </p:txBody>
      </p:sp>
      <p:sp>
        <p:nvSpPr>
          <p:cNvPr id="18" name="Rounded Rectangle 17"/>
          <p:cNvSpPr/>
          <p:nvPr/>
        </p:nvSpPr>
        <p:spPr>
          <a:xfrm>
            <a:off x="8138160" y="2514600"/>
            <a:ext cx="356616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514600"/>
            <a:ext cx="91440" cy="36118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624328"/>
            <a:ext cx="3200400" cy="347472"/>
          </a:xfrm>
          <a:prstGeom prst="rect">
            <a:avLst/>
          </a:prstGeom>
          <a:noFill/>
        </p:spPr>
        <p:txBody>
          <a:bodyPr wrap="square" anchor="t"/>
          <a:lstStyle/>
          <a:p>
            <a:pPr algn="l"/>
            <a:r>
              <a:rPr sz="1500" b="1">
                <a:solidFill>
                  <a:srgbClr val="0B2C4A"/>
                </a:solidFill>
                <a:latin typeface="Calibri"/>
              </a:rPr>
              <a:t>Also on PE</a:t>
            </a:r>
          </a:p>
        </p:txBody>
      </p:sp>
      <p:sp>
        <p:nvSpPr>
          <p:cNvPr id="21" name="TextBox 20"/>
          <p:cNvSpPr txBox="1"/>
          <p:nvPr/>
        </p:nvSpPr>
        <p:spPr>
          <a:xfrm>
            <a:off x="8394192" y="2953512"/>
            <a:ext cx="3200400" cy="3081528"/>
          </a:xfrm>
          <a:prstGeom prst="rect">
            <a:avLst/>
          </a:prstGeom>
          <a:noFill/>
        </p:spPr>
        <p:txBody>
          <a:bodyPr wrap="square" anchor="t"/>
          <a:lstStyle/>
          <a:p>
            <a:pPr algn="l"/>
            <a:r>
              <a:rPr sz="1300" b="0">
                <a:solidFill>
                  <a:srgbClr val="3D4A57"/>
                </a:solidFill>
                <a:latin typeface="Calibri"/>
              </a:rPr>
              <a:t>Grade II/VI left systolic murmur (Cavaliers). Heavy tartar. Nasal crusts. Soft non-painful abdomen. Compensated tonight.</a:t>
            </a:r>
          </a:p>
        </p:txBody>
      </p:sp>
      <p:sp>
        <p:nvSpPr>
          <p:cNvPr id="22" name="Rectangle 2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4" name="TextBox 2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13  /  49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COMPENSATED  ·  FUNCTIONAL LIMITATION  ·  ACUTE  ·  NOT A CONSTANT THREAT TO LIFE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Why Willie is ASA III-E — and what we actually did</a:t>
            </a:r>
          </a:p>
        </p:txBody>
      </p:sp>
      <p:sp>
        <p:nvSpPr>
          <p:cNvPr id="8" name="Rounded Rectangle 7"/>
          <p:cNvSpPr/>
          <p:nvPr/>
        </p:nvSpPr>
        <p:spPr>
          <a:xfrm>
            <a:off x="411480" y="1078992"/>
            <a:ext cx="370332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234440"/>
            <a:ext cx="3383280" cy="411480"/>
          </a:xfrm>
          <a:prstGeom prst="rect">
            <a:avLst/>
          </a:prstGeom>
          <a:noFill/>
        </p:spPr>
        <p:txBody>
          <a:bodyPr wrap="square" anchor="t"/>
          <a:lstStyle/>
          <a:p>
            <a:pPr algn="l"/>
            <a:r>
              <a:rPr sz="1800" b="1">
                <a:solidFill>
                  <a:srgbClr val="2E6B4F"/>
                </a:solidFill>
                <a:latin typeface="Calibri"/>
              </a:rPr>
              <a:t>ASA III-E</a:t>
            </a:r>
          </a:p>
        </p:txBody>
      </p:sp>
      <p:sp>
        <p:nvSpPr>
          <p:cNvPr id="10" name="TextBox 9"/>
          <p:cNvSpPr txBox="1"/>
          <p:nvPr/>
        </p:nvSpPr>
        <p:spPr>
          <a:xfrm>
            <a:off x="594360" y="1691640"/>
            <a:ext cx="3383280" cy="4114800"/>
          </a:xfrm>
          <a:prstGeom prst="rect">
            <a:avLst/>
          </a:prstGeom>
          <a:noFill/>
        </p:spPr>
        <p:txBody>
          <a:bodyPr wrap="square" anchor="t"/>
          <a:lstStyle/>
          <a:p>
            <a:pPr algn="l"/>
            <a:r>
              <a:rPr sz="1400" b="0">
                <a:solidFill>
                  <a:srgbClr val="1C1C1C"/>
                </a:solidFill>
                <a:latin typeface="Calibri"/>
              </a:rPr>
              <a:t>II = murmur alone, or dirty ears without neuro signs.
III = acute vestibular disease plus severe AS otitis, still pink, walking, kidneys normal.
E = started an hour ago; sedation tonight.
IV = recumbent, seizing, septic, or in heart failure. He was not.</a:t>
            </a:r>
          </a:p>
        </p:txBody>
      </p:sp>
      <p:sp>
        <p:nvSpPr>
          <p:cNvPr id="11" name="Rounded Rectangle 10"/>
          <p:cNvSpPr/>
          <p:nvPr/>
        </p:nvSpPr>
        <p:spPr>
          <a:xfrm>
            <a:off x="4297680" y="1078992"/>
            <a:ext cx="74066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234440"/>
            <a:ext cx="6949440" cy="365760"/>
          </a:xfrm>
          <a:prstGeom prst="rect">
            <a:avLst/>
          </a:prstGeom>
          <a:noFill/>
        </p:spPr>
        <p:txBody>
          <a:bodyPr wrap="square" anchor="t"/>
          <a:lstStyle/>
          <a:p>
            <a:pPr algn="l"/>
            <a:r>
              <a:rPr sz="1600" b="1">
                <a:solidFill>
                  <a:srgbClr val="0B2C4A"/>
                </a:solidFill>
                <a:latin typeface="Calibri"/>
              </a:rPr>
              <a:t>Work-up and peri-op plan (this patient)</a:t>
            </a:r>
          </a:p>
        </p:txBody>
      </p:sp>
      <p:sp>
        <p:nvSpPr>
          <p:cNvPr id="13" name="TextBox 12"/>
          <p:cNvSpPr txBox="1"/>
          <p:nvPr/>
        </p:nvSpPr>
        <p:spPr>
          <a:xfrm>
            <a:off x="4480560" y="1645920"/>
            <a:ext cx="6949440" cy="4206240"/>
          </a:xfrm>
          <a:prstGeom prst="rect">
            <a:avLst/>
          </a:prstGeom>
          <a:noFill/>
        </p:spPr>
        <p:txBody>
          <a:bodyPr wrap="square">
            <a:spAutoFit/>
          </a:bodyPr>
          <a:lstStyle/>
          <a:p>
            <a:pPr algn="l">
              <a:spcAft>
                <a:spcPts val="500"/>
              </a:spcAft>
            </a:pPr>
            <a:r>
              <a:rPr sz="1300" b="0">
                <a:solidFill>
                  <a:srgbClr val="1C1C1C"/>
                </a:solidFill>
                <a:latin typeface="Calibri"/>
              </a:rPr>
              <a:t>▸  CBC WNL. Phosphorus 6.0 (high), glucose 130 (stress). Kidneys, liver, electrolytes normal.</a:t>
            </a:r>
          </a:p>
          <a:p>
            <a:pPr algn="l">
              <a:spcAft>
                <a:spcPts val="500"/>
              </a:spcAft>
            </a:pPr>
            <a:r>
              <a:rPr sz="1300" b="0">
                <a:solidFill>
                  <a:srgbClr val="1C1C1C"/>
                </a:solidFill>
                <a:latin typeface="Calibri"/>
              </a:rPr>
              <a:t>▸  IV fluids, Cerenia IV, DexSP 0.68 mL SQ. No NSAID after the steroid.</a:t>
            </a:r>
          </a:p>
          <a:p>
            <a:pPr algn="l">
              <a:spcAft>
                <a:spcPts val="500"/>
              </a:spcAft>
            </a:pPr>
            <a:r>
              <a:rPr sz="1300" b="0">
                <a:solidFill>
                  <a:srgbClr val="1C1C1C"/>
                </a:solidFill>
                <a:latin typeface="Calibri"/>
              </a:rPr>
              <a:t>▸  Alfaxalone sedation: deep left-ear clean, cytology/culture, 3-view skull/spine films.</a:t>
            </a:r>
          </a:p>
          <a:p>
            <a:pPr algn="l">
              <a:spcAft>
                <a:spcPts val="500"/>
              </a:spcAft>
            </a:pPr>
            <a:r>
              <a:rPr sz="1300" b="0">
                <a:solidFill>
                  <a:srgbClr val="1C1C1C"/>
                </a:solidFill>
                <a:latin typeface="Calibri"/>
              </a:rPr>
              <a:t>▸  Films: bullae radiographically intact, skull intact, L7–S1 discospondylosis — that does not explain acute circling.</a:t>
            </a:r>
          </a:p>
          <a:p>
            <a:pPr algn="l">
              <a:spcAft>
                <a:spcPts val="500"/>
              </a:spcAft>
            </a:pPr>
            <a:r>
              <a:rPr sz="1300" b="0">
                <a:solidFill>
                  <a:srgbClr val="1C1C1C"/>
                </a:solidFill>
                <a:latin typeface="Calibri"/>
              </a:rPr>
              <a:t>▸  Left circling + left-fast nystagmus + right proprioceptive deficit → central until MRI says otherwise.</a:t>
            </a:r>
          </a:p>
          <a:p>
            <a:pPr algn="l">
              <a:spcAft>
                <a:spcPts val="500"/>
              </a:spcAft>
            </a:pPr>
            <a:r>
              <a:rPr sz="1300" b="0">
                <a:solidFill>
                  <a:srgbClr val="1C1C1C"/>
                </a:solidFill>
                <a:latin typeface="Calibri"/>
              </a:rPr>
              <a:t>▸  Home: meclizine 25 mg PO BID × 5 d, Cerenia 60 mg PO SID × 4 d, confine, no stairs. MRI recommended. TECA-LBO if culture-guided medical therapy fails.</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14  /  49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REQUEST THE MINIMUM TESTS THIS PATIENT AND THIS PROCEDURE ACTUALLY NEED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Preoperative diagnostics — indicated, not automatic</a:t>
            </a:r>
          </a:p>
        </p:txBody>
      </p:sp>
      <p:sp>
        <p:nvSpPr>
          <p:cNvPr id="8" name="Rounded Rectangle 7"/>
          <p:cNvSpPr/>
          <p:nvPr/>
        </p:nvSpPr>
        <p:spPr>
          <a:xfrm>
            <a:off x="457200" y="1097280"/>
            <a:ext cx="557784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4688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212080" cy="347472"/>
          </a:xfrm>
          <a:prstGeom prst="rect">
            <a:avLst/>
          </a:prstGeom>
          <a:noFill/>
        </p:spPr>
        <p:txBody>
          <a:bodyPr wrap="square" anchor="t"/>
          <a:lstStyle/>
          <a:p>
            <a:pPr algn="l"/>
            <a:r>
              <a:rPr sz="1500" b="1">
                <a:solidFill>
                  <a:srgbClr val="0B2C4A"/>
                </a:solidFill>
                <a:latin typeface="Calibri"/>
              </a:rPr>
              <a:t>Young, healthy, elective (ASA I)</a:t>
            </a:r>
          </a:p>
        </p:txBody>
      </p:sp>
      <p:sp>
        <p:nvSpPr>
          <p:cNvPr id="11" name="TextBox 10"/>
          <p:cNvSpPr txBox="1"/>
          <p:nvPr/>
        </p:nvSpPr>
        <p:spPr>
          <a:xfrm>
            <a:off x="713232" y="1536192"/>
            <a:ext cx="5212080" cy="1938528"/>
          </a:xfrm>
          <a:prstGeom prst="rect">
            <a:avLst/>
          </a:prstGeom>
          <a:noFill/>
        </p:spPr>
        <p:txBody>
          <a:bodyPr wrap="square" anchor="t"/>
          <a:lstStyle/>
          <a:p>
            <a:pPr algn="l"/>
            <a:r>
              <a:rPr sz="1300" b="0">
                <a:solidFill>
                  <a:srgbClr val="3D4A57"/>
                </a:solidFill>
                <a:latin typeface="Calibri"/>
              </a:rPr>
              <a:t>PCV/TS ± blood glucose and Azo stick is a defensible minimum. Many hospitals still run a preanesthetic chemistry/CBC — know your hospital policy and be able to defend either choice.</a:t>
            </a:r>
          </a:p>
        </p:txBody>
      </p:sp>
      <p:sp>
        <p:nvSpPr>
          <p:cNvPr id="12" name="Rounded Rectangle 11"/>
          <p:cNvSpPr/>
          <p:nvPr/>
        </p:nvSpPr>
        <p:spPr>
          <a:xfrm>
            <a:off x="6217920" y="1097280"/>
            <a:ext cx="548640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097280"/>
            <a:ext cx="91440" cy="2468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207008"/>
            <a:ext cx="5120640" cy="347472"/>
          </a:xfrm>
          <a:prstGeom prst="rect">
            <a:avLst/>
          </a:prstGeom>
          <a:noFill/>
        </p:spPr>
        <p:txBody>
          <a:bodyPr wrap="square" anchor="t"/>
          <a:lstStyle/>
          <a:p>
            <a:pPr algn="l"/>
            <a:r>
              <a:rPr sz="1500" b="1">
                <a:solidFill>
                  <a:srgbClr val="0B2C4A"/>
                </a:solidFill>
                <a:latin typeface="Calibri"/>
              </a:rPr>
              <a:t>Age, disease, or invasive procedure</a:t>
            </a:r>
          </a:p>
        </p:txBody>
      </p:sp>
      <p:sp>
        <p:nvSpPr>
          <p:cNvPr id="15" name="TextBox 14"/>
          <p:cNvSpPr txBox="1"/>
          <p:nvPr/>
        </p:nvSpPr>
        <p:spPr>
          <a:xfrm>
            <a:off x="6473952" y="1536192"/>
            <a:ext cx="5120640" cy="1938528"/>
          </a:xfrm>
          <a:prstGeom prst="rect">
            <a:avLst/>
          </a:prstGeom>
          <a:noFill/>
        </p:spPr>
        <p:txBody>
          <a:bodyPr wrap="square" anchor="t"/>
          <a:lstStyle/>
          <a:p>
            <a:pPr algn="l"/>
            <a:r>
              <a:rPr sz="1300" b="0">
                <a:solidFill>
                  <a:srgbClr val="3D4A57"/>
                </a:solidFill>
                <a:latin typeface="Calibri"/>
              </a:rPr>
              <a:t>CBC, chemistry, UA. Add clotting (PT/PTT or BMBT) if bleeding risk. T4 in older cats. Blood pressure. ECG if arrhythmia. Imaging if it changes the approach.</a:t>
            </a:r>
          </a:p>
        </p:txBody>
      </p:sp>
      <p:sp>
        <p:nvSpPr>
          <p:cNvPr id="16" name="Rounded Rectangle 15"/>
          <p:cNvSpPr/>
          <p:nvPr/>
        </p:nvSpPr>
        <p:spPr>
          <a:xfrm>
            <a:off x="457200" y="3749039"/>
            <a:ext cx="11247120"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886200"/>
            <a:ext cx="10789920" cy="365760"/>
          </a:xfrm>
          <a:prstGeom prst="rect">
            <a:avLst/>
          </a:prstGeom>
          <a:noFill/>
        </p:spPr>
        <p:txBody>
          <a:bodyPr wrap="square" anchor="t"/>
          <a:lstStyle/>
          <a:p>
            <a:pPr algn="l"/>
            <a:r>
              <a:rPr sz="1600" b="1">
                <a:solidFill>
                  <a:srgbClr val="0B2C4A"/>
                </a:solidFill>
                <a:latin typeface="Calibri"/>
              </a:rPr>
              <a:t>Do not order tests you will ignore — and do not ignore tests you ordered</a:t>
            </a:r>
          </a:p>
        </p:txBody>
      </p:sp>
      <p:sp>
        <p:nvSpPr>
          <p:cNvPr id="18" name="TextBox 17"/>
          <p:cNvSpPr txBox="1"/>
          <p:nvPr/>
        </p:nvSpPr>
        <p:spPr>
          <a:xfrm>
            <a:off x="685800" y="4343400"/>
            <a:ext cx="10789920" cy="1783080"/>
          </a:xfrm>
          <a:prstGeom prst="rect">
            <a:avLst/>
          </a:prstGeom>
          <a:noFill/>
        </p:spPr>
        <p:txBody>
          <a:bodyPr wrap="square">
            <a:spAutoFit/>
          </a:bodyPr>
          <a:lstStyle/>
          <a:p>
            <a:pPr algn="l">
              <a:spcAft>
                <a:spcPts val="700"/>
              </a:spcAft>
            </a:pPr>
            <a:r>
              <a:rPr sz="1500" b="0">
                <a:solidFill>
                  <a:srgbClr val="1C1C1C"/>
                </a:solidFill>
                <a:latin typeface="Calibri"/>
              </a:rPr>
              <a:t>▸  Anemia, hypoalbuminemia, azotemia, electrolyte storms, and thrombocytopenia change drugs, fluids, and whether you cut today.</a:t>
            </a:r>
          </a:p>
          <a:p>
            <a:pPr algn="l">
              <a:spcAft>
                <a:spcPts val="700"/>
              </a:spcAft>
            </a:pPr>
            <a:r>
              <a:rPr sz="1500" b="0">
                <a:solidFill>
                  <a:srgbClr val="1C1C1C"/>
                </a:solidFill>
                <a:latin typeface="Calibri"/>
              </a:rPr>
              <a:t>▸  For abdominal surgery: consider imaging so you are not ‘exploring’ a pyometra you could have diagnosed, or a mass that needed a different approach.</a:t>
            </a:r>
          </a:p>
          <a:p>
            <a:pPr algn="l">
              <a:spcAft>
                <a:spcPts val="700"/>
              </a:spcAft>
            </a:pPr>
            <a:r>
              <a:rPr sz="1500" b="0">
                <a:solidFill>
                  <a:srgbClr val="1C1C1C"/>
                </a:solidFill>
                <a:latin typeface="Calibri"/>
              </a:rPr>
              <a:t>▸  Large animal: stall-side PCV/TS, fibrinogen, and physical exam often outweigh a full chemistry in the field — still document the risk conversation.</a:t>
            </a:r>
          </a:p>
        </p:txBody>
      </p:sp>
      <p:sp>
        <p:nvSpPr>
          <p:cNvPr id="19" name="Rectangle 1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1" name="TextBox 2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15  /  49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ELECTIVE SURGERY IS CANCELLED MORE OFTEN BY GOOD JUDGMENT THAN BY BAD LUCK</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Stabilize before you sterilize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600" b="1">
                <a:solidFill>
                  <a:srgbClr val="FFFFFF"/>
                </a:solidFill>
                <a:latin typeface="Calibri"/>
              </a:rPr>
              <a:t>Fix first</a:t>
            </a:r>
          </a:p>
        </p:txBody>
      </p:sp>
      <p:sp>
        <p:nvSpPr>
          <p:cNvPr id="11" name="TextBox 10"/>
          <p:cNvSpPr txBox="1"/>
          <p:nvPr/>
        </p:nvSpPr>
        <p:spPr>
          <a:xfrm>
            <a:off x="640080" y="1828800"/>
            <a:ext cx="3246120" cy="4023360"/>
          </a:xfrm>
          <a:prstGeom prst="rect">
            <a:avLst/>
          </a:prstGeom>
          <a:noFill/>
        </p:spPr>
        <p:txBody>
          <a:bodyPr wrap="square" anchor="t"/>
          <a:lstStyle/>
          <a:p>
            <a:pPr algn="l"/>
            <a:r>
              <a:rPr sz="1500" b="0">
                <a:solidFill>
                  <a:srgbClr val="1C1C1C"/>
                </a:solidFill>
                <a:latin typeface="Calibri"/>
              </a:rPr>
              <a:t>Hypovolemia / shock
Electrolyte crises (K+, Na+)
Severe anemia (transfuse)
Respiratory distress
Uncontrolled pain
Hypoglycemia
Hyperthermia / heat stroke</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600" b="1">
                <a:solidFill>
                  <a:srgbClr val="FFFFFF"/>
                </a:solidFill>
                <a:latin typeface="Calibri"/>
              </a:rPr>
              <a:t>Often delay elective</a:t>
            </a:r>
          </a:p>
        </p:txBody>
      </p:sp>
      <p:sp>
        <p:nvSpPr>
          <p:cNvPr id="15" name="TextBox 14"/>
          <p:cNvSpPr txBox="1"/>
          <p:nvPr/>
        </p:nvSpPr>
        <p:spPr>
          <a:xfrm>
            <a:off x="4526280" y="1828800"/>
            <a:ext cx="3246120" cy="4023360"/>
          </a:xfrm>
          <a:prstGeom prst="rect">
            <a:avLst/>
          </a:prstGeom>
          <a:noFill/>
        </p:spPr>
        <p:txBody>
          <a:bodyPr wrap="square" anchor="t"/>
          <a:lstStyle/>
          <a:p>
            <a:pPr algn="l"/>
            <a:r>
              <a:rPr sz="1500" b="0">
                <a:solidFill>
                  <a:srgbClr val="1C1C1C"/>
                </a:solidFill>
                <a:latin typeface="Calibri"/>
              </a:rPr>
              <a:t>Pyoderma over the site
Anestrus vs. heat if policy
Unstable endocrine disease
Active URI in cats
Recent live vaccines (clinic policy)
Client cannot confine / medicate
No fasting in a full-stomach elective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600" b="1">
                <a:solidFill>
                  <a:srgbClr val="FFFFFF"/>
                </a:solidFill>
                <a:latin typeface="Calibri"/>
              </a:rPr>
              <a:t>May proceed urgently</a:t>
            </a:r>
          </a:p>
        </p:txBody>
      </p:sp>
      <p:sp>
        <p:nvSpPr>
          <p:cNvPr id="19" name="TextBox 18"/>
          <p:cNvSpPr txBox="1"/>
          <p:nvPr/>
        </p:nvSpPr>
        <p:spPr>
          <a:xfrm>
            <a:off x="8412480" y="1828800"/>
            <a:ext cx="3246120" cy="4023360"/>
          </a:xfrm>
          <a:prstGeom prst="rect">
            <a:avLst/>
          </a:prstGeom>
          <a:noFill/>
        </p:spPr>
        <p:txBody>
          <a:bodyPr wrap="square" anchor="t"/>
          <a:lstStyle/>
          <a:p>
            <a:pPr algn="l"/>
            <a:r>
              <a:rPr sz="1500" b="0">
                <a:solidFill>
                  <a:srgbClr val="1C1C1C"/>
                </a:solidFill>
                <a:latin typeface="Calibri"/>
              </a:rPr>
              <a:t>GDV
Septic abdomen
C-section with fetal distress
Airway obstruction
Hemorrhage you cannot pack
Open fracture (after resuscitation)
Uterine rupture / pyometra shock</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16  /  49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KNOW BOTH: FOSSUM/TRADITIONAL LANGUAGE AND AAHA-STYLE SHORTER FASTS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Fasting — traditional teaching vs. current practice</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Working guidance (small animal)</a:t>
            </a:r>
          </a:p>
        </p:txBody>
      </p:sp>
      <p:sp>
        <p:nvSpPr>
          <p:cNvPr id="10" name="TextBox 9"/>
          <p:cNvSpPr txBox="1"/>
          <p:nvPr/>
        </p:nvSpPr>
        <p:spPr>
          <a:xfrm>
            <a:off x="640080" y="1737360"/>
            <a:ext cx="5212080" cy="4114800"/>
          </a:xfrm>
          <a:prstGeom prst="rect">
            <a:avLst/>
          </a:prstGeom>
          <a:noFill/>
        </p:spPr>
        <p:txBody>
          <a:bodyPr wrap="square">
            <a:spAutoFit/>
          </a:bodyPr>
          <a:lstStyle/>
          <a:p>
            <a:pPr algn="l">
              <a:spcAft>
                <a:spcPts val="700"/>
              </a:spcAft>
            </a:pPr>
            <a:r>
              <a:rPr sz="1400" b="0">
                <a:solidFill>
                  <a:srgbClr val="1C1C1C"/>
                </a:solidFill>
                <a:latin typeface="Calibri"/>
              </a:rPr>
              <a:t>▸  Healthy adult dog/cat: food 4–6 h; water until premedication (AAHA-aligned).</a:t>
            </a:r>
          </a:p>
          <a:p>
            <a:pPr algn="l">
              <a:spcAft>
                <a:spcPts val="700"/>
              </a:spcAft>
            </a:pPr>
            <a:r>
              <a:rPr sz="1400" b="0">
                <a:solidFill>
                  <a:srgbClr val="1C1C1C"/>
                </a:solidFill>
                <a:latin typeface="Calibri"/>
              </a:rPr>
              <a:t>▸  Traditional/Fossum-era: often 8–12 h NPO — still appears on some exams; be able to discuss aspiration vs. hypoglycemia.</a:t>
            </a:r>
          </a:p>
          <a:p>
            <a:pPr algn="l">
              <a:spcAft>
                <a:spcPts val="700"/>
              </a:spcAft>
            </a:pPr>
            <a:r>
              <a:rPr sz="1400" b="0">
                <a:solidFill>
                  <a:srgbClr val="1C1C1C"/>
                </a:solidFill>
                <a:latin typeface="Calibri"/>
              </a:rPr>
              <a:t>▸  Neonates/pediatrics: much shorter fast; offer a small meal 1–2 h prior as directed.</a:t>
            </a:r>
          </a:p>
          <a:p>
            <a:pPr algn="l">
              <a:spcAft>
                <a:spcPts val="700"/>
              </a:spcAft>
            </a:pPr>
            <a:r>
              <a:rPr sz="1400" b="0">
                <a:solidFill>
                  <a:srgbClr val="1C1C1C"/>
                </a:solidFill>
                <a:latin typeface="Calibri"/>
              </a:rPr>
              <a:t>▸  Brachycephalics: shorter fast, careful pre-oxygenation; regurgitation risk is high either way.</a:t>
            </a:r>
          </a:p>
          <a:p>
            <a:pPr algn="l">
              <a:spcAft>
                <a:spcPts val="700"/>
              </a:spcAft>
            </a:pPr>
            <a:r>
              <a:rPr sz="1400" b="0">
                <a:solidFill>
                  <a:srgbClr val="1C1C1C"/>
                </a:solidFill>
                <a:latin typeface="Calibri"/>
              </a:rPr>
              <a:t>▸  Ruminants: longer food withhold (often 12–24 h+) to reduce rumen fill/pressure; water 6–12 h per species/protocol.</a:t>
            </a:r>
          </a:p>
          <a:p>
            <a:pPr algn="l">
              <a:spcAft>
                <a:spcPts val="700"/>
              </a:spcAft>
            </a:pPr>
            <a:r>
              <a:rPr sz="1400" b="0">
                <a:solidFill>
                  <a:srgbClr val="1C1C1C"/>
                </a:solidFill>
                <a:latin typeface="Calibri"/>
              </a:rPr>
              <a:t>▸  Horses: typically 8–12 h grain/hay protocols vary — follow hospital/field SOP.</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8B2E2E"/>
                </a:solidFill>
                <a:latin typeface="Calibri"/>
              </a:rPr>
              <a:t>Why it matters</a:t>
            </a:r>
          </a:p>
        </p:txBody>
      </p:sp>
      <p:sp>
        <p:nvSpPr>
          <p:cNvPr id="13" name="TextBox 12"/>
          <p:cNvSpPr txBox="1"/>
          <p:nvPr/>
        </p:nvSpPr>
        <p:spPr>
          <a:xfrm>
            <a:off x="6492240" y="1783080"/>
            <a:ext cx="5029200" cy="4023360"/>
          </a:xfrm>
          <a:prstGeom prst="rect">
            <a:avLst/>
          </a:prstGeom>
          <a:noFill/>
        </p:spPr>
        <p:txBody>
          <a:bodyPr wrap="square">
            <a:spAutoFit/>
          </a:bodyPr>
          <a:lstStyle/>
          <a:p>
            <a:pPr algn="l">
              <a:spcAft>
                <a:spcPts val="800"/>
              </a:spcAft>
            </a:pPr>
            <a:r>
              <a:rPr sz="1400" b="0">
                <a:solidFill>
                  <a:srgbClr val="1C1C1C"/>
                </a:solidFill>
                <a:latin typeface="Calibri"/>
              </a:rPr>
              <a:t>▸  Goal: less gastric volume and acidity without starving a small patient into hypoglycemia.</a:t>
            </a:r>
          </a:p>
          <a:p>
            <a:pPr algn="l">
              <a:spcAft>
                <a:spcPts val="800"/>
              </a:spcAft>
            </a:pPr>
            <a:r>
              <a:rPr sz="1400" b="0">
                <a:solidFill>
                  <a:srgbClr val="1C1C1C"/>
                </a:solidFill>
                <a:latin typeface="Calibri"/>
              </a:rPr>
              <a:t>▸  A full stomach + recumbency + opioids = regurgitation and aspiration.</a:t>
            </a:r>
          </a:p>
          <a:p>
            <a:pPr algn="l">
              <a:spcAft>
                <a:spcPts val="800"/>
              </a:spcAft>
            </a:pPr>
            <a:r>
              <a:rPr sz="1400" b="0">
                <a:solidFill>
                  <a:srgbClr val="1C1C1C"/>
                </a:solidFill>
                <a:latin typeface="Calibri"/>
              </a:rPr>
              <a:t>▸  Prolonged fasting increases reflux in some dogs and stress in cats.</a:t>
            </a:r>
          </a:p>
          <a:p>
            <a:pPr algn="l">
              <a:spcAft>
                <a:spcPts val="800"/>
              </a:spcAft>
            </a:pPr>
            <a:r>
              <a:rPr sz="1400" b="0">
                <a:solidFill>
                  <a:srgbClr val="1C1C1C"/>
                </a:solidFill>
                <a:latin typeface="Calibri"/>
              </a:rPr>
              <a:t>▸  Always ask what was eaten this morning. Clients feed ‘just a biscuit.’</a:t>
            </a:r>
          </a:p>
          <a:p>
            <a:pPr algn="l">
              <a:spcAft>
                <a:spcPts val="800"/>
              </a:spcAft>
            </a:pPr>
            <a:r>
              <a:rPr sz="1400" b="0">
                <a:solidFill>
                  <a:srgbClr val="1C1C1C"/>
                </a:solidFill>
                <a:latin typeface="Calibri"/>
              </a:rPr>
              <a:t>▸  Diabetics: coordinate insulin and a small meal with anesthesia — do not improvise.</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17  /  49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DID NOT SAY IT, YOU DID NOT CONSENT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Informed consent is a surgical skill</a:t>
            </a:r>
          </a:p>
        </p:txBody>
      </p:sp>
      <p:sp>
        <p:nvSpPr>
          <p:cNvPr id="8" name="TextBox 7"/>
          <p:cNvSpPr txBox="1"/>
          <p:nvPr/>
        </p:nvSpPr>
        <p:spPr>
          <a:xfrm>
            <a:off x="457200" y="1097280"/>
            <a:ext cx="6858000" cy="5029200"/>
          </a:xfrm>
          <a:prstGeom prst="rect">
            <a:avLst/>
          </a:prstGeom>
          <a:noFill/>
        </p:spPr>
        <p:txBody>
          <a:bodyPr wrap="square">
            <a:spAutoFit/>
          </a:bodyPr>
          <a:lstStyle/>
          <a:p>
            <a:pPr algn="l">
              <a:spcAft>
                <a:spcPts val="900"/>
              </a:spcAft>
            </a:pPr>
            <a:r>
              <a:rPr sz="1600" b="0">
                <a:solidFill>
                  <a:srgbClr val="1C1C1C"/>
                </a:solidFill>
                <a:latin typeface="Calibri"/>
              </a:rPr>
              <a:t>▸  Procedure name in plain language, and the reason.</a:t>
            </a:r>
          </a:p>
          <a:p>
            <a:pPr algn="l">
              <a:spcAft>
                <a:spcPts val="900"/>
              </a:spcAft>
            </a:pPr>
            <a:r>
              <a:rPr sz="1600" b="0">
                <a:solidFill>
                  <a:srgbClr val="1C1C1C"/>
                </a:solidFill>
                <a:latin typeface="Calibri"/>
              </a:rPr>
              <a:t>▸  Benefits, alternatives (including no surgery), and what happens if we wait.</a:t>
            </a:r>
          </a:p>
          <a:p>
            <a:pPr algn="l">
              <a:spcAft>
                <a:spcPts val="900"/>
              </a:spcAft>
            </a:pPr>
            <a:r>
              <a:rPr sz="1600" b="0">
                <a:solidFill>
                  <a:srgbClr val="1C1C1C"/>
                </a:solidFill>
                <a:latin typeface="Calibri"/>
              </a:rPr>
              <a:t>▸  Material risks: anesthesia death (rare but real), hemorrhage, infection, dehiscence, incomplete excision, recurrence, incontinence (OHE myth vs. data — be honest).</a:t>
            </a:r>
          </a:p>
          <a:p>
            <a:pPr algn="l">
              <a:spcAft>
                <a:spcPts val="900"/>
              </a:spcAft>
            </a:pPr>
            <a:r>
              <a:rPr sz="1600" b="0">
                <a:solidFill>
                  <a:srgbClr val="1C1C1C"/>
                </a:solidFill>
                <a:latin typeface="Calibri"/>
              </a:rPr>
              <a:t>▸  Estimate: professional fees vs. supplies; what is not included (histopathology, overnight, complications).</a:t>
            </a:r>
          </a:p>
          <a:p>
            <a:pPr algn="l">
              <a:spcAft>
                <a:spcPts val="900"/>
              </a:spcAft>
            </a:pPr>
            <a:r>
              <a:rPr sz="1600" b="0">
                <a:solidFill>
                  <a:srgbClr val="1C1C1C"/>
                </a:solidFill>
                <a:latin typeface="Calibri"/>
              </a:rPr>
              <a:t>▸  Resuscitation code / DNR. Do this before induction, not in recovery.</a:t>
            </a:r>
          </a:p>
          <a:p>
            <a:pPr algn="l">
              <a:spcAft>
                <a:spcPts val="900"/>
              </a:spcAft>
            </a:pPr>
            <a:r>
              <a:rPr sz="1600" b="0">
                <a:solidFill>
                  <a:srgbClr val="1C1C1C"/>
                </a:solidFill>
                <a:latin typeface="Calibri"/>
              </a:rPr>
              <a:t>▸  Who will call whom, and when. Write the client’s phone number on the board.</a:t>
            </a:r>
          </a:p>
        </p:txBody>
      </p:sp>
      <p:sp>
        <p:nvSpPr>
          <p:cNvPr id="9" name="Rounded Rectangle 8"/>
          <p:cNvSpPr/>
          <p:nvPr/>
        </p:nvSpPr>
        <p:spPr>
          <a:xfrm>
            <a:off x="7498079" y="1097280"/>
            <a:ext cx="420624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26679" y="1325880"/>
            <a:ext cx="3794760" cy="457200"/>
          </a:xfrm>
          <a:prstGeom prst="rect">
            <a:avLst/>
          </a:prstGeom>
          <a:noFill/>
        </p:spPr>
        <p:txBody>
          <a:bodyPr wrap="square" anchor="t"/>
          <a:lstStyle/>
          <a:p>
            <a:pPr algn="l"/>
            <a:r>
              <a:rPr sz="1600" b="1">
                <a:solidFill>
                  <a:srgbClr val="C5A35A"/>
                </a:solidFill>
                <a:latin typeface="Calibri"/>
              </a:rPr>
              <a:t>Client in the lobby</a:t>
            </a:r>
          </a:p>
        </p:txBody>
      </p:sp>
      <p:sp>
        <p:nvSpPr>
          <p:cNvPr id="11" name="TextBox 10"/>
          <p:cNvSpPr txBox="1"/>
          <p:nvPr/>
        </p:nvSpPr>
        <p:spPr>
          <a:xfrm>
            <a:off x="7726679" y="1920240"/>
            <a:ext cx="3794760" cy="3840480"/>
          </a:xfrm>
          <a:prstGeom prst="rect">
            <a:avLst/>
          </a:prstGeom>
          <a:noFill/>
        </p:spPr>
        <p:txBody>
          <a:bodyPr wrap="square" anchor="t"/>
          <a:lstStyle/>
          <a:p>
            <a:pPr algn="l"/>
            <a:r>
              <a:rPr sz="1500" b="0">
                <a:solidFill>
                  <a:srgbClr val="FFFFFF"/>
                </a:solidFill>
                <a:latin typeface="Calibri"/>
              </a:rPr>
              <a:t>Assume every OHE is a client-owned animal going home after recovery in your hospital.
Operate, document, and speak as if that client is waiting in reception — because they are.</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18  /  49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PAIN IS NOT A POSTOPERATIVE SURPRISE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Checklist and the analgesia plan belong in preop</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Pre-incision checklist (WHO-adapted)</a:t>
            </a:r>
          </a:p>
        </p:txBody>
      </p:sp>
      <p:sp>
        <p:nvSpPr>
          <p:cNvPr id="10" name="TextBox 9"/>
          <p:cNvSpPr txBox="1"/>
          <p:nvPr/>
        </p:nvSpPr>
        <p:spPr>
          <a:xfrm>
            <a:off x="640080" y="1737360"/>
            <a:ext cx="5212080" cy="4114800"/>
          </a:xfrm>
          <a:prstGeom prst="rect">
            <a:avLst/>
          </a:prstGeom>
          <a:noFill/>
        </p:spPr>
        <p:txBody>
          <a:bodyPr wrap="square">
            <a:spAutoFit/>
          </a:bodyPr>
          <a:lstStyle/>
          <a:p>
            <a:pPr algn="l">
              <a:spcAft>
                <a:spcPts val="600"/>
              </a:spcAft>
            </a:pPr>
            <a:r>
              <a:rPr sz="1400" b="0">
                <a:solidFill>
                  <a:srgbClr val="1C1C1C"/>
                </a:solidFill>
                <a:latin typeface="Calibri"/>
              </a:rPr>
              <a:t>▸  Identity, procedure, site/side confirmed.</a:t>
            </a:r>
          </a:p>
          <a:p>
            <a:pPr algn="l">
              <a:spcAft>
                <a:spcPts val="600"/>
              </a:spcAft>
            </a:pPr>
            <a:r>
              <a:rPr sz="1400" b="0">
                <a:solidFill>
                  <a:srgbClr val="1C1C1C"/>
                </a:solidFill>
                <a:latin typeface="Calibri"/>
              </a:rPr>
              <a:t>▸  Consent, estimate, DNR documented.</a:t>
            </a:r>
          </a:p>
          <a:p>
            <a:pPr algn="l">
              <a:spcAft>
                <a:spcPts val="600"/>
              </a:spcAft>
            </a:pPr>
            <a:r>
              <a:rPr sz="1400" b="0">
                <a:solidFill>
                  <a:srgbClr val="1C1C1C"/>
                </a:solidFill>
                <a:latin typeface="Calibri"/>
              </a:rPr>
              <a:t>▸  ASA, allergies, last meal.</a:t>
            </a:r>
          </a:p>
          <a:p>
            <a:pPr algn="l">
              <a:spcAft>
                <a:spcPts val="600"/>
              </a:spcAft>
            </a:pPr>
            <a:r>
              <a:rPr sz="1400" b="0">
                <a:solidFill>
                  <a:srgbClr val="1C1C1C"/>
                </a:solidFill>
                <a:latin typeface="Calibri"/>
              </a:rPr>
              <a:t>▸  IV catheter patent; fluids running.</a:t>
            </a:r>
          </a:p>
          <a:p>
            <a:pPr algn="l">
              <a:spcAft>
                <a:spcPts val="600"/>
              </a:spcAft>
            </a:pPr>
            <a:r>
              <a:rPr sz="1400" b="0">
                <a:solidFill>
                  <a:srgbClr val="1C1C1C"/>
                </a:solidFill>
                <a:latin typeface="Calibri"/>
              </a:rPr>
              <a:t>▸  Airway secured; monitoring on.</a:t>
            </a:r>
          </a:p>
          <a:p>
            <a:pPr algn="l">
              <a:spcAft>
                <a:spcPts val="600"/>
              </a:spcAft>
            </a:pPr>
            <a:r>
              <a:rPr sz="1400" b="0">
                <a:solidFill>
                  <a:srgbClr val="1C1C1C"/>
                </a:solidFill>
                <a:latin typeface="Calibri"/>
              </a:rPr>
              <a:t>▸  Antibiotics given (if indicated) 30–60 min before incision.</a:t>
            </a:r>
          </a:p>
          <a:p>
            <a:pPr algn="l">
              <a:spcAft>
                <a:spcPts val="600"/>
              </a:spcAft>
            </a:pPr>
            <a:r>
              <a:rPr sz="1400" b="0">
                <a:solidFill>
                  <a:srgbClr val="1C1C1C"/>
                </a:solidFill>
                <a:latin typeface="Calibri"/>
              </a:rPr>
              <a:t>▸  Local block planned (incisional, testicular, TAP, splash).</a:t>
            </a:r>
          </a:p>
          <a:p>
            <a:pPr algn="l">
              <a:spcAft>
                <a:spcPts val="600"/>
              </a:spcAft>
            </a:pPr>
            <a:r>
              <a:rPr sz="1400" b="0">
                <a:solidFill>
                  <a:srgbClr val="1C1C1C"/>
                </a:solidFill>
                <a:latin typeface="Calibri"/>
              </a:rPr>
              <a:t>▸  Instruments, suture, extra gloves, cautery, suction.</a:t>
            </a:r>
          </a:p>
          <a:p>
            <a:pPr algn="l">
              <a:spcAft>
                <a:spcPts val="600"/>
              </a:spcAft>
            </a:pPr>
            <a:r>
              <a:rPr sz="1400" b="0">
                <a:solidFill>
                  <a:srgbClr val="1C1C1C"/>
                </a:solidFill>
                <a:latin typeface="Calibri"/>
              </a:rPr>
              <a:t>▸  Image / implants in the room if needed.</a:t>
            </a:r>
          </a:p>
        </p:txBody>
      </p:sp>
      <p:sp>
        <p:nvSpPr>
          <p:cNvPr id="11" name="Rounded Rectangle 10"/>
          <p:cNvSpPr/>
          <p:nvPr/>
        </p:nvSpPr>
        <p:spPr>
          <a:xfrm>
            <a:off x="6263640" y="1097280"/>
            <a:ext cx="544068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0B2C4A"/>
                </a:solidFill>
                <a:latin typeface="Calibri"/>
              </a:rPr>
              <a:t>Multimodal analgesia — plan it now</a:t>
            </a:r>
          </a:p>
        </p:txBody>
      </p:sp>
      <p:sp>
        <p:nvSpPr>
          <p:cNvPr id="13" name="TextBox 12"/>
          <p:cNvSpPr txBox="1"/>
          <p:nvPr/>
        </p:nvSpPr>
        <p:spPr>
          <a:xfrm>
            <a:off x="6446520" y="1737360"/>
            <a:ext cx="5074920" cy="4114800"/>
          </a:xfrm>
          <a:prstGeom prst="rect">
            <a:avLst/>
          </a:prstGeom>
          <a:noFill/>
        </p:spPr>
        <p:txBody>
          <a:bodyPr wrap="square">
            <a:spAutoFit/>
          </a:bodyPr>
          <a:lstStyle/>
          <a:p>
            <a:pPr algn="l">
              <a:spcAft>
                <a:spcPts val="700"/>
              </a:spcAft>
            </a:pPr>
            <a:r>
              <a:rPr sz="1400" b="0">
                <a:solidFill>
                  <a:srgbClr val="1C1C1C"/>
                </a:solidFill>
                <a:latin typeface="Calibri"/>
              </a:rPr>
              <a:t>▸  Opioid (pure µ for most laparotomies) as part of premed or induction.</a:t>
            </a:r>
          </a:p>
          <a:p>
            <a:pPr algn="l">
              <a:spcAft>
                <a:spcPts val="700"/>
              </a:spcAft>
            </a:pPr>
            <a:r>
              <a:rPr sz="1400" b="0">
                <a:solidFill>
                  <a:srgbClr val="1C1C1C"/>
                </a:solidFill>
                <a:latin typeface="Calibri"/>
              </a:rPr>
              <a:t>▸  NSAID if perfusion and kidneys/GI allow — often at recovery, not in hypotensive shock.</a:t>
            </a:r>
          </a:p>
          <a:p>
            <a:pPr algn="l">
              <a:spcAft>
                <a:spcPts val="700"/>
              </a:spcAft>
            </a:pPr>
            <a:r>
              <a:rPr sz="1400" b="0">
                <a:solidFill>
                  <a:srgbClr val="1C1C1C"/>
                </a:solidFill>
                <a:latin typeface="Calibri"/>
              </a:rPr>
              <a:t>▸  Local/regional: the cheapest, safest MAC-sparing tool you have.</a:t>
            </a:r>
          </a:p>
          <a:p>
            <a:pPr algn="l">
              <a:spcAft>
                <a:spcPts val="700"/>
              </a:spcAft>
            </a:pPr>
            <a:r>
              <a:rPr sz="1400" b="0">
                <a:solidFill>
                  <a:srgbClr val="1C1C1C"/>
                </a:solidFill>
                <a:latin typeface="Calibri"/>
              </a:rPr>
              <a:t>▸  Adjuncts: ketamine CRI, dexmedetomidine CRI, gabapentin, acetaminophen (dog only).</a:t>
            </a:r>
          </a:p>
          <a:p>
            <a:pPr algn="l">
              <a:spcAft>
                <a:spcPts val="700"/>
              </a:spcAft>
            </a:pPr>
            <a:r>
              <a:rPr sz="1400" b="0">
                <a:solidFill>
                  <a:srgbClr val="1C1C1C"/>
                </a:solidFill>
                <a:latin typeface="Calibri"/>
              </a:rPr>
              <a:t>▸  Cats: no acetaminophen; careful NSAID choice and dose.</a:t>
            </a:r>
          </a:p>
          <a:p>
            <a:pPr algn="l">
              <a:spcAft>
                <a:spcPts val="700"/>
              </a:spcAft>
            </a:pPr>
            <a:r>
              <a:rPr sz="1400" b="0">
                <a:solidFill>
                  <a:srgbClr val="1C1C1C"/>
                </a:solidFill>
                <a:latin typeface="Calibri"/>
              </a:rPr>
              <a:t>▸  You must be able to discuss recovery and postoperative pain management before the dog leaves the table.</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19  /  49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AAHA/AAFP 2022</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Surgical antimicrobial prophylaxis — stewardship, not ritual</a:t>
            </a:r>
          </a:p>
        </p:txBody>
      </p:sp>
      <p:sp>
        <p:nvSpPr>
          <p:cNvPr id="8" name="Rounded Rectangle 7"/>
          <p:cNvSpPr/>
          <p:nvPr/>
        </p:nvSpPr>
        <p:spPr>
          <a:xfrm>
            <a:off x="457200" y="1097280"/>
            <a:ext cx="557784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411480"/>
          </a:xfrm>
          <a:prstGeom prst="rect">
            <a:avLst/>
          </a:prstGeom>
          <a:noFill/>
        </p:spPr>
        <p:txBody>
          <a:bodyPr wrap="square" anchor="t"/>
          <a:lstStyle/>
          <a:p>
            <a:pPr algn="l"/>
            <a:r>
              <a:rPr sz="1800" b="1">
                <a:solidFill>
                  <a:srgbClr val="2E6B4F"/>
                </a:solidFill>
                <a:latin typeface="Calibri"/>
              </a:rPr>
              <a:t>Usually NO prophylaxis</a:t>
            </a:r>
          </a:p>
        </p:txBody>
      </p:sp>
      <p:sp>
        <p:nvSpPr>
          <p:cNvPr id="10" name="TextBox 9"/>
          <p:cNvSpPr txBox="1"/>
          <p:nvPr/>
        </p:nvSpPr>
        <p:spPr>
          <a:xfrm>
            <a:off x="685800" y="1737360"/>
            <a:ext cx="5120640" cy="4023360"/>
          </a:xfrm>
          <a:prstGeom prst="rect">
            <a:avLst/>
          </a:prstGeom>
          <a:noFill/>
        </p:spPr>
        <p:txBody>
          <a:bodyPr wrap="square" anchor="t"/>
          <a:lstStyle/>
          <a:p>
            <a:pPr algn="l"/>
            <a:r>
              <a:rPr sz="1500" b="0">
                <a:solidFill>
                  <a:srgbClr val="1C1C1C"/>
                </a:solidFill>
                <a:latin typeface="Calibri"/>
              </a:rPr>
              <a:t>Clean procedures with excellent asepsis:
• Elective OHE / castration
• Most clean mass removals
• Many short soft-tissue surgeries
Antibiotics are not a substitute for sterile technique, Halsted, or a dry field.
Ongoing postoperative antibiotics are rarely required after an uncomplicated clean surgery.</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411480"/>
          </a:xfrm>
          <a:prstGeom prst="rect">
            <a:avLst/>
          </a:prstGeom>
          <a:noFill/>
        </p:spPr>
        <p:txBody>
          <a:bodyPr wrap="square" anchor="t"/>
          <a:lstStyle/>
          <a:p>
            <a:pPr algn="l"/>
            <a:r>
              <a:rPr sz="1800" b="1">
                <a:solidFill>
                  <a:srgbClr val="8B2E2E"/>
                </a:solidFill>
                <a:latin typeface="Calibri"/>
              </a:rPr>
              <a:t>YES — timed IV, then stop</a:t>
            </a:r>
          </a:p>
        </p:txBody>
      </p:sp>
      <p:sp>
        <p:nvSpPr>
          <p:cNvPr id="13" name="TextBox 12"/>
          <p:cNvSpPr txBox="1"/>
          <p:nvPr/>
        </p:nvSpPr>
        <p:spPr>
          <a:xfrm>
            <a:off x="6492240" y="1737360"/>
            <a:ext cx="5029200" cy="4023360"/>
          </a:xfrm>
          <a:prstGeom prst="rect">
            <a:avLst/>
          </a:prstGeom>
          <a:noFill/>
        </p:spPr>
        <p:txBody>
          <a:bodyPr wrap="square" anchor="t"/>
          <a:lstStyle/>
          <a:p>
            <a:pPr algn="l"/>
            <a:r>
              <a:rPr sz="1500" b="0">
                <a:solidFill>
                  <a:srgbClr val="1C1C1C"/>
                </a:solidFill>
                <a:latin typeface="Calibri"/>
              </a:rPr>
              <a:t>Give 30–60 min before incision; redose (e.g. cefazolin ~q90 min) if surgery is long or blood loss is large.
Consider if:
• Clean-contaminated / contaminated / dirty
• Implant (orthopedic, mesh)
• Hollow viscus entry
• Prolonged surgery or known break in asepsis
• Patient immunocompromised
• Infection would be catastrophic (some neuro/implant cases — still think, don’t reflex)</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20  /  49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ANSWER BEFORE WE WALK TO THE PREP ROOM</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Knowledge check — preoperative</a:t>
            </a:r>
          </a:p>
        </p:txBody>
      </p:sp>
      <p:sp>
        <p:nvSpPr>
          <p:cNvPr id="8" name="Rounded Rectangle 7"/>
          <p:cNvSpPr/>
          <p:nvPr/>
        </p:nvSpPr>
        <p:spPr>
          <a:xfrm>
            <a:off x="457200" y="109728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97280"/>
            <a:ext cx="640080" cy="1508760"/>
          </a:xfrm>
          <a:prstGeom prst="rect">
            <a:avLst/>
          </a:prstGeom>
          <a:noFill/>
        </p:spPr>
        <p:txBody>
          <a:bodyPr wrap="square" anchor="ctr"/>
          <a:lstStyle/>
          <a:p>
            <a:pPr algn="ctr"/>
            <a:r>
              <a:rPr sz="2200" b="1">
                <a:solidFill>
                  <a:srgbClr val="FFFFFF"/>
                </a:solidFill>
                <a:latin typeface="Calibri"/>
              </a:rPr>
              <a:t>1</a:t>
            </a:r>
          </a:p>
        </p:txBody>
      </p:sp>
      <p:sp>
        <p:nvSpPr>
          <p:cNvPr id="11" name="TextBox 10"/>
          <p:cNvSpPr txBox="1"/>
          <p:nvPr/>
        </p:nvSpPr>
        <p:spPr>
          <a:xfrm>
            <a:off x="1325880" y="1234440"/>
            <a:ext cx="10058400" cy="502920"/>
          </a:xfrm>
          <a:prstGeom prst="rect">
            <a:avLst/>
          </a:prstGeom>
          <a:noFill/>
        </p:spPr>
        <p:txBody>
          <a:bodyPr wrap="square" anchor="t"/>
          <a:lstStyle/>
          <a:p>
            <a:pPr algn="l"/>
            <a:r>
              <a:rPr sz="1600" b="1">
                <a:solidFill>
                  <a:srgbClr val="0B2C4A"/>
                </a:solidFill>
                <a:latin typeface="Calibri"/>
              </a:rPr>
              <a:t>A blocked cat with K+ 8.2 is booked for perineal urethrostomy this morning. First move?</a:t>
            </a:r>
          </a:p>
        </p:txBody>
      </p:sp>
      <p:sp>
        <p:nvSpPr>
          <p:cNvPr id="12" name="TextBox 11"/>
          <p:cNvSpPr txBox="1"/>
          <p:nvPr/>
        </p:nvSpPr>
        <p:spPr>
          <a:xfrm>
            <a:off x="1325880" y="1783080"/>
            <a:ext cx="10058400" cy="640080"/>
          </a:xfrm>
          <a:prstGeom prst="rect">
            <a:avLst/>
          </a:prstGeom>
          <a:noFill/>
        </p:spPr>
        <p:txBody>
          <a:bodyPr wrap="square" anchor="t"/>
          <a:lstStyle/>
          <a:p>
            <a:pPr algn="l"/>
            <a:r>
              <a:rPr sz="1400" b="0">
                <a:solidFill>
                  <a:srgbClr val="3D4A57"/>
                </a:solidFill>
                <a:latin typeface="Calibri"/>
              </a:rPr>
              <a:t>Stabilize (calcium, fluids, insulin/dextrose as indicated, decompress). Do not induce an ASA IV-E hyperkalemic cat ‘because surgery is on the board.’</a:t>
            </a:r>
          </a:p>
        </p:txBody>
      </p:sp>
      <p:sp>
        <p:nvSpPr>
          <p:cNvPr id="13" name="Rounded Rectangle 12"/>
          <p:cNvSpPr/>
          <p:nvPr/>
        </p:nvSpPr>
        <p:spPr>
          <a:xfrm>
            <a:off x="457200" y="274320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74320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743200"/>
            <a:ext cx="640080" cy="1508760"/>
          </a:xfrm>
          <a:prstGeom prst="rect">
            <a:avLst/>
          </a:prstGeom>
          <a:noFill/>
        </p:spPr>
        <p:txBody>
          <a:bodyPr wrap="square" anchor="ctr"/>
          <a:lstStyle/>
          <a:p>
            <a:pPr algn="ctr"/>
            <a:r>
              <a:rPr sz="2200" b="1">
                <a:solidFill>
                  <a:srgbClr val="FFFFFF"/>
                </a:solidFill>
                <a:latin typeface="Calibri"/>
              </a:rPr>
              <a:t>2</a:t>
            </a:r>
          </a:p>
        </p:txBody>
      </p:sp>
      <p:sp>
        <p:nvSpPr>
          <p:cNvPr id="16" name="TextBox 15"/>
          <p:cNvSpPr txBox="1"/>
          <p:nvPr/>
        </p:nvSpPr>
        <p:spPr>
          <a:xfrm>
            <a:off x="1325880" y="2880360"/>
            <a:ext cx="10058400" cy="502920"/>
          </a:xfrm>
          <a:prstGeom prst="rect">
            <a:avLst/>
          </a:prstGeom>
          <a:noFill/>
        </p:spPr>
        <p:txBody>
          <a:bodyPr wrap="square" anchor="t"/>
          <a:lstStyle/>
          <a:p>
            <a:pPr algn="l"/>
            <a:r>
              <a:rPr sz="1600" b="1">
                <a:solidFill>
                  <a:srgbClr val="0B2C4A"/>
                </a:solidFill>
                <a:latin typeface="Calibri"/>
              </a:rPr>
              <a:t>Healthy 1-year-old OHE. Client asks for ‘antibiotics just in case.’</a:t>
            </a:r>
          </a:p>
        </p:txBody>
      </p:sp>
      <p:sp>
        <p:nvSpPr>
          <p:cNvPr id="17" name="TextBox 16"/>
          <p:cNvSpPr txBox="1"/>
          <p:nvPr/>
        </p:nvSpPr>
        <p:spPr>
          <a:xfrm>
            <a:off x="1325880" y="3429000"/>
            <a:ext cx="10058400" cy="640080"/>
          </a:xfrm>
          <a:prstGeom prst="rect">
            <a:avLst/>
          </a:prstGeom>
          <a:noFill/>
        </p:spPr>
        <p:txBody>
          <a:bodyPr wrap="square" anchor="t"/>
          <a:lstStyle/>
          <a:p>
            <a:pPr algn="l"/>
            <a:r>
              <a:rPr sz="1400" b="0">
                <a:solidFill>
                  <a:srgbClr val="3D4A57"/>
                </a:solidFill>
                <a:latin typeface="Calibri"/>
              </a:rPr>
              <a:t>Decline routine prophylaxis. Explain asepsis + short clean procedure. Offer a written SSI-watch list instead.</a:t>
            </a:r>
          </a:p>
        </p:txBody>
      </p:sp>
      <p:sp>
        <p:nvSpPr>
          <p:cNvPr id="18" name="Rounded Rectangle 17"/>
          <p:cNvSpPr/>
          <p:nvPr/>
        </p:nvSpPr>
        <p:spPr>
          <a:xfrm>
            <a:off x="457200" y="438912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438912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389120"/>
            <a:ext cx="640080" cy="1508760"/>
          </a:xfrm>
          <a:prstGeom prst="rect">
            <a:avLst/>
          </a:prstGeom>
          <a:noFill/>
        </p:spPr>
        <p:txBody>
          <a:bodyPr wrap="square" anchor="ctr"/>
          <a:lstStyle/>
          <a:p>
            <a:pPr algn="ctr"/>
            <a:r>
              <a:rPr sz="2200" b="1">
                <a:solidFill>
                  <a:srgbClr val="FFFFFF"/>
                </a:solidFill>
                <a:latin typeface="Calibri"/>
              </a:rPr>
              <a:t>3</a:t>
            </a:r>
          </a:p>
        </p:txBody>
      </p:sp>
      <p:sp>
        <p:nvSpPr>
          <p:cNvPr id="21" name="TextBox 20"/>
          <p:cNvSpPr txBox="1"/>
          <p:nvPr/>
        </p:nvSpPr>
        <p:spPr>
          <a:xfrm>
            <a:off x="1325880" y="4526280"/>
            <a:ext cx="10058400" cy="502920"/>
          </a:xfrm>
          <a:prstGeom prst="rect">
            <a:avLst/>
          </a:prstGeom>
          <a:noFill/>
        </p:spPr>
        <p:txBody>
          <a:bodyPr wrap="square" anchor="t"/>
          <a:lstStyle/>
          <a:p>
            <a:pPr algn="l"/>
            <a:r>
              <a:rPr sz="1600" b="1">
                <a:solidFill>
                  <a:srgbClr val="0B2C4A"/>
                </a:solidFill>
                <a:latin typeface="Calibri"/>
              </a:rPr>
              <a:t>You assigned ASA I yesterday. Today the dog has a productive cough and fever.</a:t>
            </a:r>
          </a:p>
        </p:txBody>
      </p:sp>
      <p:sp>
        <p:nvSpPr>
          <p:cNvPr id="22" name="TextBox 21"/>
          <p:cNvSpPr txBox="1"/>
          <p:nvPr/>
        </p:nvSpPr>
        <p:spPr>
          <a:xfrm>
            <a:off x="1325880" y="5074920"/>
            <a:ext cx="10058400" cy="640080"/>
          </a:xfrm>
          <a:prstGeom prst="rect">
            <a:avLst/>
          </a:prstGeom>
          <a:noFill/>
        </p:spPr>
        <p:txBody>
          <a:bodyPr wrap="square" anchor="t"/>
          <a:lstStyle/>
          <a:p>
            <a:pPr algn="l"/>
            <a:r>
              <a:rPr sz="1400" b="0">
                <a:solidFill>
                  <a:srgbClr val="3D4A57"/>
                </a:solidFill>
                <a:latin typeface="Calibri"/>
              </a:rPr>
              <a:t>Reassign ASA, delay elective surgery, work up respiratory disease. ASA is a live assessment.</a:t>
            </a:r>
          </a:p>
        </p:txBody>
      </p:sp>
      <p:sp>
        <p:nvSpPr>
          <p:cNvPr id="23" name="Rectangle 22"/>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5" name="TextBox 24"/>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21  /  49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II  ·  22–42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Patient and surgeon
preparation</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Clip · antiseptic · position · four-quadrant drape · scrub · gown · closed glove · asepsis</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~20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22  /  49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THE SAME SIX BOXES EVERY TIME YOU TAKE A PATIENT TO SURGERY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What we actually check in patient and surgeon prep</a:t>
            </a:r>
          </a:p>
        </p:txBody>
      </p:sp>
      <p:sp>
        <p:nvSpPr>
          <p:cNvPr id="8" name="TextBox 7"/>
          <p:cNvSpPr txBox="1"/>
          <p:nvPr/>
        </p:nvSpPr>
        <p:spPr>
          <a:xfrm>
            <a:off x="457200" y="1051560"/>
            <a:ext cx="11247120" cy="365760"/>
          </a:xfrm>
          <a:prstGeom prst="rect">
            <a:avLst/>
          </a:prstGeom>
          <a:noFill/>
        </p:spPr>
        <p:txBody>
          <a:bodyPr wrap="square" anchor="t"/>
          <a:lstStyle/>
          <a:p>
            <a:pPr algn="l"/>
            <a:r>
              <a:rPr sz="1600" b="1">
                <a:solidFill>
                  <a:srgbClr val="1B6B7A"/>
                </a:solidFill>
                <a:latin typeface="Calibri"/>
              </a:rPr>
              <a:t>Patient preparation</a:t>
            </a:r>
          </a:p>
        </p:txBody>
      </p:sp>
      <p:sp>
        <p:nvSpPr>
          <p:cNvPr id="9" name="Rounded Rectangle 8"/>
          <p:cNvSpPr/>
          <p:nvPr/>
        </p:nvSpPr>
        <p:spPr>
          <a:xfrm>
            <a:off x="45720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527048"/>
            <a:ext cx="3291840" cy="347472"/>
          </a:xfrm>
          <a:prstGeom prst="rect">
            <a:avLst/>
          </a:prstGeom>
          <a:noFill/>
        </p:spPr>
        <p:txBody>
          <a:bodyPr wrap="square" anchor="t"/>
          <a:lstStyle/>
          <a:p>
            <a:pPr algn="l"/>
            <a:r>
              <a:rPr sz="1500" b="1">
                <a:solidFill>
                  <a:srgbClr val="0B2C4A"/>
                </a:solidFill>
                <a:latin typeface="Calibri"/>
              </a:rPr>
              <a:t>Hair removal</a:t>
            </a:r>
          </a:p>
        </p:txBody>
      </p:sp>
      <p:sp>
        <p:nvSpPr>
          <p:cNvPr id="12" name="TextBox 11"/>
          <p:cNvSpPr txBox="1"/>
          <p:nvPr/>
        </p:nvSpPr>
        <p:spPr>
          <a:xfrm>
            <a:off x="713232" y="1856232"/>
            <a:ext cx="3291840" cy="1435608"/>
          </a:xfrm>
          <a:prstGeom prst="rect">
            <a:avLst/>
          </a:prstGeom>
          <a:noFill/>
        </p:spPr>
        <p:txBody>
          <a:bodyPr wrap="square" anchor="t"/>
          <a:lstStyle/>
          <a:p>
            <a:pPr algn="l"/>
            <a:r>
              <a:rPr sz="1300" b="0">
                <a:solidFill>
                  <a:srgbClr val="3D4A57"/>
                </a:solidFill>
                <a:latin typeface="Calibri"/>
              </a:rPr>
              <a:t>Clipper, not razor. Adequate field. No clipper burn / missed patches in the field.</a:t>
            </a:r>
          </a:p>
        </p:txBody>
      </p:sp>
      <p:sp>
        <p:nvSpPr>
          <p:cNvPr id="13" name="Rounded Rectangle 12"/>
          <p:cNvSpPr/>
          <p:nvPr/>
        </p:nvSpPr>
        <p:spPr>
          <a:xfrm>
            <a:off x="429768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1527048"/>
            <a:ext cx="3291840" cy="347472"/>
          </a:xfrm>
          <a:prstGeom prst="rect">
            <a:avLst/>
          </a:prstGeom>
          <a:noFill/>
        </p:spPr>
        <p:txBody>
          <a:bodyPr wrap="square" anchor="t"/>
          <a:lstStyle/>
          <a:p>
            <a:pPr algn="l"/>
            <a:r>
              <a:rPr sz="1500" b="1">
                <a:solidFill>
                  <a:srgbClr val="0B2C4A"/>
                </a:solidFill>
                <a:latin typeface="Calibri"/>
              </a:rPr>
              <a:t>Skin preparation</a:t>
            </a:r>
          </a:p>
        </p:txBody>
      </p:sp>
      <p:sp>
        <p:nvSpPr>
          <p:cNvPr id="16" name="TextBox 15"/>
          <p:cNvSpPr txBox="1"/>
          <p:nvPr/>
        </p:nvSpPr>
        <p:spPr>
          <a:xfrm>
            <a:off x="4553712" y="1856232"/>
            <a:ext cx="3291840" cy="1435608"/>
          </a:xfrm>
          <a:prstGeom prst="rect">
            <a:avLst/>
          </a:prstGeom>
          <a:noFill/>
        </p:spPr>
        <p:txBody>
          <a:bodyPr wrap="square" anchor="t"/>
          <a:lstStyle/>
          <a:p>
            <a:pPr algn="l"/>
            <a:r>
              <a:rPr sz="1300" b="0">
                <a:solidFill>
                  <a:srgbClr val="3D4A57"/>
                </a:solidFill>
                <a:latin typeface="Calibri"/>
              </a:rPr>
              <a:t>Dirty prep then sterile prep. Contact time. Center → periphery. No pooling / wicking.</a:t>
            </a:r>
          </a:p>
        </p:txBody>
      </p:sp>
      <p:sp>
        <p:nvSpPr>
          <p:cNvPr id="17" name="Rounded Rectangle 16"/>
          <p:cNvSpPr/>
          <p:nvPr/>
        </p:nvSpPr>
        <p:spPr>
          <a:xfrm>
            <a:off x="813816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1527048"/>
            <a:ext cx="3291840" cy="347472"/>
          </a:xfrm>
          <a:prstGeom prst="rect">
            <a:avLst/>
          </a:prstGeom>
          <a:noFill/>
        </p:spPr>
        <p:txBody>
          <a:bodyPr wrap="square" anchor="t"/>
          <a:lstStyle/>
          <a:p>
            <a:pPr algn="l"/>
            <a:r>
              <a:rPr sz="1500" b="1">
                <a:solidFill>
                  <a:srgbClr val="0B2C4A"/>
                </a:solidFill>
                <a:latin typeface="Calibri"/>
              </a:rPr>
              <a:t>Patient positioning</a:t>
            </a:r>
          </a:p>
        </p:txBody>
      </p:sp>
      <p:sp>
        <p:nvSpPr>
          <p:cNvPr id="20" name="TextBox 19"/>
          <p:cNvSpPr txBox="1"/>
          <p:nvPr/>
        </p:nvSpPr>
        <p:spPr>
          <a:xfrm>
            <a:off x="8394192" y="1856232"/>
            <a:ext cx="3291840" cy="1435608"/>
          </a:xfrm>
          <a:prstGeom prst="rect">
            <a:avLst/>
          </a:prstGeom>
          <a:noFill/>
        </p:spPr>
        <p:txBody>
          <a:bodyPr wrap="square" anchor="t"/>
          <a:lstStyle/>
          <a:p>
            <a:pPr algn="l"/>
            <a:r>
              <a:rPr sz="1300" b="0">
                <a:solidFill>
                  <a:srgbClr val="3D4A57"/>
                </a:solidFill>
                <a:latin typeface="Calibri"/>
              </a:rPr>
              <a:t>Secure, padded, physiologically sensible. OHE: dorsal recumbency, straight.</a:t>
            </a:r>
          </a:p>
        </p:txBody>
      </p:sp>
      <p:sp>
        <p:nvSpPr>
          <p:cNvPr id="21" name="TextBox 20"/>
          <p:cNvSpPr txBox="1"/>
          <p:nvPr/>
        </p:nvSpPr>
        <p:spPr>
          <a:xfrm>
            <a:off x="457200" y="3520440"/>
            <a:ext cx="11247120" cy="320040"/>
          </a:xfrm>
          <a:prstGeom prst="rect">
            <a:avLst/>
          </a:prstGeom>
          <a:noFill/>
        </p:spPr>
        <p:txBody>
          <a:bodyPr wrap="square" anchor="t"/>
          <a:lstStyle/>
          <a:p>
            <a:pPr algn="l"/>
            <a:r>
              <a:rPr sz="1600" b="1">
                <a:solidFill>
                  <a:srgbClr val="C5A35A"/>
                </a:solidFill>
                <a:latin typeface="Calibri"/>
              </a:rPr>
              <a:t>Surgeon preparation</a:t>
            </a:r>
          </a:p>
        </p:txBody>
      </p:sp>
      <p:sp>
        <p:nvSpPr>
          <p:cNvPr id="22" name="Rounded Rectangle 21"/>
          <p:cNvSpPr/>
          <p:nvPr/>
        </p:nvSpPr>
        <p:spPr>
          <a:xfrm>
            <a:off x="45720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3995928"/>
            <a:ext cx="3291840" cy="347472"/>
          </a:xfrm>
          <a:prstGeom prst="rect">
            <a:avLst/>
          </a:prstGeom>
          <a:noFill/>
        </p:spPr>
        <p:txBody>
          <a:bodyPr wrap="square" anchor="t"/>
          <a:lstStyle/>
          <a:p>
            <a:pPr algn="l"/>
            <a:r>
              <a:rPr sz="1500" b="1">
                <a:solidFill>
                  <a:srgbClr val="0B2C4A"/>
                </a:solidFill>
                <a:latin typeface="Calibri"/>
              </a:rPr>
              <a:t>Scrubbing &amp; attire</a:t>
            </a:r>
          </a:p>
        </p:txBody>
      </p:sp>
      <p:sp>
        <p:nvSpPr>
          <p:cNvPr id="25" name="TextBox 24"/>
          <p:cNvSpPr txBox="1"/>
          <p:nvPr/>
        </p:nvSpPr>
        <p:spPr>
          <a:xfrm>
            <a:off x="713232" y="4325112"/>
            <a:ext cx="3291840" cy="1755648"/>
          </a:xfrm>
          <a:prstGeom prst="rect">
            <a:avLst/>
          </a:prstGeom>
          <a:noFill/>
        </p:spPr>
        <p:txBody>
          <a:bodyPr wrap="square" anchor="t"/>
          <a:lstStyle/>
          <a:p>
            <a:pPr algn="l"/>
            <a:r>
              <a:rPr sz="1300" b="0">
                <a:solidFill>
                  <a:srgbClr val="3D4A57"/>
                </a:solidFill>
                <a:latin typeface="Calibri"/>
              </a:rPr>
              <a:t>Cap, mask, clean scrubs. Timed or brushless surgical scrub. Hands above elbows.</a:t>
            </a:r>
          </a:p>
        </p:txBody>
      </p:sp>
      <p:sp>
        <p:nvSpPr>
          <p:cNvPr id="26" name="Rounded Rectangle 25"/>
          <p:cNvSpPr/>
          <p:nvPr/>
        </p:nvSpPr>
        <p:spPr>
          <a:xfrm>
            <a:off x="429768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29768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53712" y="3995928"/>
            <a:ext cx="3291840" cy="347472"/>
          </a:xfrm>
          <a:prstGeom prst="rect">
            <a:avLst/>
          </a:prstGeom>
          <a:noFill/>
        </p:spPr>
        <p:txBody>
          <a:bodyPr wrap="square" anchor="t"/>
          <a:lstStyle/>
          <a:p>
            <a:pPr algn="l"/>
            <a:r>
              <a:rPr sz="1500" b="1">
                <a:solidFill>
                  <a:srgbClr val="0B2C4A"/>
                </a:solidFill>
                <a:latin typeface="Calibri"/>
              </a:rPr>
              <a:t>Gowning / gloving</a:t>
            </a:r>
          </a:p>
        </p:txBody>
      </p:sp>
      <p:sp>
        <p:nvSpPr>
          <p:cNvPr id="29" name="TextBox 28"/>
          <p:cNvSpPr txBox="1"/>
          <p:nvPr/>
        </p:nvSpPr>
        <p:spPr>
          <a:xfrm>
            <a:off x="4553712" y="4325112"/>
            <a:ext cx="3291840" cy="1755648"/>
          </a:xfrm>
          <a:prstGeom prst="rect">
            <a:avLst/>
          </a:prstGeom>
          <a:noFill/>
        </p:spPr>
        <p:txBody>
          <a:bodyPr wrap="square" anchor="t"/>
          <a:lstStyle/>
          <a:p>
            <a:pPr algn="l"/>
            <a:r>
              <a:rPr sz="1300" b="0">
                <a:solidFill>
                  <a:srgbClr val="3D4A57"/>
                </a:solidFill>
                <a:latin typeface="Calibri"/>
              </a:rPr>
              <a:t>Sterile gown. Closed gloving preferred. Know open gloving for reglove.</a:t>
            </a:r>
          </a:p>
        </p:txBody>
      </p:sp>
      <p:sp>
        <p:nvSpPr>
          <p:cNvPr id="30" name="Rounded Rectangle 29"/>
          <p:cNvSpPr/>
          <p:nvPr/>
        </p:nvSpPr>
        <p:spPr>
          <a:xfrm>
            <a:off x="813816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3816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94192" y="3995928"/>
            <a:ext cx="3291840" cy="347472"/>
          </a:xfrm>
          <a:prstGeom prst="rect">
            <a:avLst/>
          </a:prstGeom>
          <a:noFill/>
        </p:spPr>
        <p:txBody>
          <a:bodyPr wrap="square" anchor="t"/>
          <a:lstStyle/>
          <a:p>
            <a:pPr algn="l"/>
            <a:r>
              <a:rPr sz="1500" b="1">
                <a:solidFill>
                  <a:srgbClr val="0B2C4A"/>
                </a:solidFill>
                <a:latin typeface="Calibri"/>
              </a:rPr>
              <a:t>Draping</a:t>
            </a:r>
          </a:p>
        </p:txBody>
      </p:sp>
      <p:sp>
        <p:nvSpPr>
          <p:cNvPr id="33" name="TextBox 32"/>
          <p:cNvSpPr txBox="1"/>
          <p:nvPr/>
        </p:nvSpPr>
        <p:spPr>
          <a:xfrm>
            <a:off x="8394192" y="4325112"/>
            <a:ext cx="3291840" cy="1755648"/>
          </a:xfrm>
          <a:prstGeom prst="rect">
            <a:avLst/>
          </a:prstGeom>
          <a:noFill/>
        </p:spPr>
        <p:txBody>
          <a:bodyPr wrap="square" anchor="t"/>
          <a:lstStyle/>
          <a:p>
            <a:pPr algn="l"/>
            <a:r>
              <a:rPr sz="1300" b="0">
                <a:solidFill>
                  <a:srgbClr val="3D4A57"/>
                </a:solidFill>
                <a:latin typeface="Calibri"/>
              </a:rPr>
              <a:t>Four-quadrant draping is the standard. Hair must not show at the drape edge. Maintain the field.</a:t>
            </a:r>
          </a:p>
        </p:txBody>
      </p:sp>
      <p:sp>
        <p:nvSpPr>
          <p:cNvPr id="34" name="Rectangle 3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6" name="TextBox 3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23  /  49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PREP ROOM IS DIRTY. OR IS STERILE. THE DOG MOVES ONCE.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Sequence — do not invert the rooms</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4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500" b="0">
                <a:solidFill>
                  <a:srgbClr val="1C1C1C"/>
                </a:solidFill>
                <a:latin typeface="Calibri"/>
              </a:rPr>
              <a:t>Anesthetized, airway in, IV in, depth adequate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4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5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4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5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4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5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4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500" b="0">
                <a:solidFill>
                  <a:srgbClr val="1C1C1C"/>
                </a:solidFill>
                <a:latin typeface="Calibri"/>
              </a:rPr>
              <a:t>Sterile prep (gloved), contact time honored</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4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5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4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500" b="0">
                <a:solidFill>
                  <a:srgbClr val="1C1C1C"/>
                </a:solidFill>
                <a:latin typeface="Calibri"/>
              </a:rPr>
              <a:t>Surgeon gowns/gloves (or already gowned)</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4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500" b="0">
                <a:solidFill>
                  <a:srgbClr val="1C1C1C"/>
                </a:solidFill>
                <a:latin typeface="Calibri"/>
              </a:rPr>
              <a:t>Timeout / checklist → announce incision</a:t>
            </a:r>
          </a:p>
        </p:txBody>
      </p:sp>
      <p:sp>
        <p:nvSpPr>
          <p:cNvPr id="40" name="Rectangle 3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42" name="TextBox 4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24  /  49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CLIP AFTER INDUCTION, IMMEDIATELY BEFORE SURGERY — NOT LAST NIGHT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Hair removal</a:t>
            </a:r>
          </a:p>
        </p:txBody>
      </p:sp>
      <p:sp>
        <p:nvSpPr>
          <p:cNvPr id="8" name="TextBox 7"/>
          <p:cNvSpPr txBox="1"/>
          <p:nvPr/>
        </p:nvSpPr>
        <p:spPr>
          <a:xfrm>
            <a:off x="457200" y="1097280"/>
            <a:ext cx="6949440" cy="5029200"/>
          </a:xfrm>
          <a:prstGeom prst="rect">
            <a:avLst/>
          </a:prstGeom>
          <a:noFill/>
        </p:spPr>
        <p:txBody>
          <a:bodyPr wrap="square">
            <a:spAutoFit/>
          </a:bodyPr>
          <a:lstStyle/>
          <a:p>
            <a:pPr algn="l">
              <a:spcAft>
                <a:spcPts val="900"/>
              </a:spcAft>
            </a:pPr>
            <a:r>
              <a:rPr sz="1600" b="0">
                <a:solidFill>
                  <a:srgbClr val="1C1C1C"/>
                </a:solidFill>
                <a:latin typeface="Calibri"/>
              </a:rPr>
              <a:t>▸  Electric clippers, clean #40 blade, teeth intact. Razors create micro-nicks and raise SSI risk.</a:t>
            </a:r>
          </a:p>
          <a:p>
            <a:pPr algn="l">
              <a:spcAft>
                <a:spcPts val="900"/>
              </a:spcAft>
            </a:pPr>
            <a:r>
              <a:rPr sz="1600" b="0">
                <a:solidFill>
                  <a:srgbClr val="1C1C1C"/>
                </a:solidFill>
                <a:latin typeface="Calibri"/>
              </a:rPr>
              <a:t>▸  Clip with the grain, then against, to the skin. Tense the skin in folds, mammary chain, inguinal region.</a:t>
            </a:r>
          </a:p>
          <a:p>
            <a:pPr algn="l">
              <a:spcAft>
                <a:spcPts val="900"/>
              </a:spcAft>
            </a:pPr>
            <a:r>
              <a:rPr sz="1600" b="0">
                <a:solidFill>
                  <a:srgbClr val="1C1C1C"/>
                </a:solidFill>
                <a:latin typeface="Calibri"/>
              </a:rPr>
              <a:t>▸  Field large enough to extend the incision, place a drain, and keep drape edges off hair (~20 cm beyond planned incision is a Fossum-style working rule).</a:t>
            </a:r>
          </a:p>
          <a:p>
            <a:pPr algn="l">
              <a:spcAft>
                <a:spcPts val="900"/>
              </a:spcAft>
            </a:pPr>
            <a:r>
              <a:rPr sz="1600" b="0">
                <a:solidFill>
                  <a:srgbClr val="1C1C1C"/>
                </a:solidFill>
                <a:latin typeface="Calibri"/>
              </a:rPr>
              <a:t>▸  Vacuum. Loose hair is a mobile contaminant.</a:t>
            </a:r>
          </a:p>
          <a:p>
            <a:pPr algn="l">
              <a:spcAft>
                <a:spcPts val="900"/>
              </a:spcAft>
            </a:pPr>
            <a:r>
              <a:rPr sz="1600" b="0">
                <a:solidFill>
                  <a:srgbClr val="1C1C1C"/>
                </a:solidFill>
                <a:latin typeface="Calibri"/>
              </a:rPr>
              <a:t>▸  Do not clip the night before: bacterial load at the site rises as the skin is injured.</a:t>
            </a:r>
          </a:p>
          <a:p>
            <a:pPr algn="l">
              <a:spcAft>
                <a:spcPts val="900"/>
              </a:spcAft>
            </a:pPr>
            <a:r>
              <a:rPr sz="1600" b="0">
                <a:solidFill>
                  <a:srgbClr val="1C1C1C"/>
                </a:solidFill>
                <a:latin typeface="Calibri"/>
              </a:rPr>
              <a:t>▸  Clipper burn is a wound. Overheated blades and too much pressure = postop pain and infection.</a:t>
            </a:r>
          </a:p>
        </p:txBody>
      </p:sp>
      <p:sp>
        <p:nvSpPr>
          <p:cNvPr id="9" name="Rounded Rectangle 8"/>
          <p:cNvSpPr/>
          <p:nvPr/>
        </p:nvSpPr>
        <p:spPr>
          <a:xfrm>
            <a:off x="7589520" y="1097280"/>
            <a:ext cx="4114800" cy="502920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18120" y="1280160"/>
            <a:ext cx="3703320" cy="365760"/>
          </a:xfrm>
          <a:prstGeom prst="rect">
            <a:avLst/>
          </a:prstGeom>
          <a:noFill/>
        </p:spPr>
        <p:txBody>
          <a:bodyPr wrap="square" anchor="t"/>
          <a:lstStyle/>
          <a:p>
            <a:pPr algn="l"/>
            <a:r>
              <a:rPr sz="1600" b="1">
                <a:solidFill>
                  <a:srgbClr val="0B2C4A"/>
                </a:solidFill>
                <a:latin typeface="Calibri"/>
              </a:rPr>
              <a:t>OHE clip field</a:t>
            </a:r>
          </a:p>
        </p:txBody>
      </p:sp>
      <p:sp>
        <p:nvSpPr>
          <p:cNvPr id="11" name="TextBox 10"/>
          <p:cNvSpPr txBox="1"/>
          <p:nvPr/>
        </p:nvSpPr>
        <p:spPr>
          <a:xfrm>
            <a:off x="7818120" y="1783080"/>
            <a:ext cx="3703320" cy="4023360"/>
          </a:xfrm>
          <a:prstGeom prst="rect">
            <a:avLst/>
          </a:prstGeom>
          <a:noFill/>
        </p:spPr>
        <p:txBody>
          <a:bodyPr wrap="square" anchor="t"/>
          <a:lstStyle/>
          <a:p>
            <a:pPr algn="l"/>
            <a:r>
              <a:rPr sz="1500" b="0">
                <a:solidFill>
                  <a:srgbClr val="1C1C1C"/>
                </a:solidFill>
                <a:latin typeface="Calibri"/>
              </a:rPr>
              <a:t>From xiphoid (or a few cm cranial) to pubis, and widely lateral to the nipples.
Include enough caudal abdomen that you can extend if the uterus is unexpected.
Pluck or carefully clip preputial hair if a male abdominal surgery (not OHE) — tuck/flush prepuce as indicated.</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25  /  49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CANNOT DESCRIBE THE FIELD, YOU ARE NOT READY TO CUT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Know the field before you pick up the clippers</a:t>
            </a:r>
          </a:p>
        </p:txBody>
      </p:sp>
      <p:sp>
        <p:nvSpPr>
          <p:cNvPr id="8" name="Rounded Rectangle 7"/>
          <p:cNvSpPr/>
          <p:nvPr/>
        </p:nvSpPr>
        <p:spPr>
          <a:xfrm>
            <a:off x="4114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3337560" cy="347472"/>
          </a:xfrm>
          <a:prstGeom prst="rect">
            <a:avLst/>
          </a:prstGeom>
          <a:noFill/>
        </p:spPr>
        <p:txBody>
          <a:bodyPr wrap="square" anchor="t"/>
          <a:lstStyle/>
          <a:p>
            <a:pPr algn="l"/>
            <a:r>
              <a:rPr sz="1500" b="1">
                <a:solidFill>
                  <a:srgbClr val="0B2C4A"/>
                </a:solidFill>
                <a:latin typeface="Calibri"/>
              </a:rPr>
              <a:t>Canine OHE / celiotomy</a:t>
            </a:r>
          </a:p>
        </p:txBody>
      </p:sp>
      <p:sp>
        <p:nvSpPr>
          <p:cNvPr id="11" name="TextBox 10"/>
          <p:cNvSpPr txBox="1"/>
          <p:nvPr/>
        </p:nvSpPr>
        <p:spPr>
          <a:xfrm>
            <a:off x="667512" y="1536192"/>
            <a:ext cx="3337560" cy="1801368"/>
          </a:xfrm>
          <a:prstGeom prst="rect">
            <a:avLst/>
          </a:prstGeom>
          <a:noFill/>
        </p:spPr>
        <p:txBody>
          <a:bodyPr wrap="square" anchor="t"/>
          <a:lstStyle/>
          <a:p>
            <a:pPr algn="l"/>
            <a:r>
              <a:rPr sz="1300" b="0">
                <a:solidFill>
                  <a:srgbClr val="3D4A57"/>
                </a:solidFill>
                <a:latin typeface="Calibri"/>
              </a:rPr>
              <a:t>Xiphoid → pubis, widely lateral past nipples. Dorsal recumbency.</a:t>
            </a:r>
          </a:p>
        </p:txBody>
      </p:sp>
      <p:sp>
        <p:nvSpPr>
          <p:cNvPr id="12" name="Rounded Rectangle 11"/>
          <p:cNvSpPr/>
          <p:nvPr/>
        </p:nvSpPr>
        <p:spPr>
          <a:xfrm>
            <a:off x="42976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337560" cy="347472"/>
          </a:xfrm>
          <a:prstGeom prst="rect">
            <a:avLst/>
          </a:prstGeom>
          <a:noFill/>
        </p:spPr>
        <p:txBody>
          <a:bodyPr wrap="square" anchor="t"/>
          <a:lstStyle/>
          <a:p>
            <a:pPr algn="l"/>
            <a:r>
              <a:rPr sz="1500" b="1">
                <a:solidFill>
                  <a:srgbClr val="0B2C4A"/>
                </a:solidFill>
                <a:latin typeface="Calibri"/>
              </a:rPr>
              <a:t>Canine castration (prescrotal)</a:t>
            </a:r>
          </a:p>
        </p:txBody>
      </p:sp>
      <p:sp>
        <p:nvSpPr>
          <p:cNvPr id="15" name="TextBox 14"/>
          <p:cNvSpPr txBox="1"/>
          <p:nvPr/>
        </p:nvSpPr>
        <p:spPr>
          <a:xfrm>
            <a:off x="4553712" y="1536192"/>
            <a:ext cx="3337560" cy="1801368"/>
          </a:xfrm>
          <a:prstGeom prst="rect">
            <a:avLst/>
          </a:prstGeom>
          <a:noFill/>
        </p:spPr>
        <p:txBody>
          <a:bodyPr wrap="square" anchor="t"/>
          <a:lstStyle/>
          <a:p>
            <a:pPr algn="l"/>
            <a:r>
              <a:rPr sz="1300" b="0">
                <a:solidFill>
                  <a:srgbClr val="3D4A57"/>
                </a:solidFill>
                <a:latin typeface="Calibri"/>
              </a:rPr>
              <a:t>Scrotum ± prescrotal abdomen; some surgeons shave scrotum, some don’t — follow your hospital SOP. Clip wide enough for drape.</a:t>
            </a:r>
          </a:p>
        </p:txBody>
      </p:sp>
      <p:sp>
        <p:nvSpPr>
          <p:cNvPr id="16" name="Rounded Rectangle 15"/>
          <p:cNvSpPr/>
          <p:nvPr/>
        </p:nvSpPr>
        <p:spPr>
          <a:xfrm>
            <a:off x="81838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39912" y="1207008"/>
            <a:ext cx="3337560" cy="347472"/>
          </a:xfrm>
          <a:prstGeom prst="rect">
            <a:avLst/>
          </a:prstGeom>
          <a:noFill/>
        </p:spPr>
        <p:txBody>
          <a:bodyPr wrap="square" anchor="t"/>
          <a:lstStyle/>
          <a:p>
            <a:pPr algn="l"/>
            <a:r>
              <a:rPr sz="1500" b="1">
                <a:solidFill>
                  <a:srgbClr val="0B2C4A"/>
                </a:solidFill>
                <a:latin typeface="Calibri"/>
              </a:rPr>
              <a:t>Feline castration</a:t>
            </a:r>
          </a:p>
        </p:txBody>
      </p:sp>
      <p:sp>
        <p:nvSpPr>
          <p:cNvPr id="19" name="TextBox 18"/>
          <p:cNvSpPr txBox="1"/>
          <p:nvPr/>
        </p:nvSpPr>
        <p:spPr>
          <a:xfrm>
            <a:off x="8439912" y="1536192"/>
            <a:ext cx="3337560" cy="1801368"/>
          </a:xfrm>
          <a:prstGeom prst="rect">
            <a:avLst/>
          </a:prstGeom>
          <a:noFill/>
        </p:spPr>
        <p:txBody>
          <a:bodyPr wrap="square" anchor="t"/>
          <a:lstStyle/>
          <a:p>
            <a:pPr algn="l"/>
            <a:r>
              <a:rPr sz="1300" b="0">
                <a:solidFill>
                  <a:srgbClr val="3D4A57"/>
                </a:solidFill>
                <a:latin typeface="Calibri"/>
              </a:rPr>
              <a:t>Pluck or clip scrotum per SOP. Still aseptic skin prep.</a:t>
            </a:r>
          </a:p>
        </p:txBody>
      </p:sp>
      <p:sp>
        <p:nvSpPr>
          <p:cNvPr id="20" name="Rounded Rectangle 19"/>
          <p:cNvSpPr/>
          <p:nvPr/>
        </p:nvSpPr>
        <p:spPr>
          <a:xfrm>
            <a:off x="4114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3721608"/>
            <a:ext cx="3337560" cy="347472"/>
          </a:xfrm>
          <a:prstGeom prst="rect">
            <a:avLst/>
          </a:prstGeom>
          <a:noFill/>
        </p:spPr>
        <p:txBody>
          <a:bodyPr wrap="square" anchor="t"/>
          <a:lstStyle/>
          <a:p>
            <a:pPr algn="l"/>
            <a:r>
              <a:rPr sz="1500" b="1">
                <a:solidFill>
                  <a:srgbClr val="0B2C4A"/>
                </a:solidFill>
                <a:latin typeface="Calibri"/>
              </a:rPr>
              <a:t>Canine castration (scrotal ablation)</a:t>
            </a:r>
          </a:p>
        </p:txBody>
      </p:sp>
      <p:sp>
        <p:nvSpPr>
          <p:cNvPr id="23" name="TextBox 22"/>
          <p:cNvSpPr txBox="1"/>
          <p:nvPr/>
        </p:nvSpPr>
        <p:spPr>
          <a:xfrm>
            <a:off x="667512" y="4050792"/>
            <a:ext cx="3337560" cy="1801368"/>
          </a:xfrm>
          <a:prstGeom prst="rect">
            <a:avLst/>
          </a:prstGeom>
          <a:noFill/>
        </p:spPr>
        <p:txBody>
          <a:bodyPr wrap="square" anchor="t"/>
          <a:lstStyle/>
          <a:p>
            <a:pPr algn="l"/>
            <a:r>
              <a:rPr sz="1300" b="0">
                <a:solidFill>
                  <a:srgbClr val="3D4A57"/>
                </a:solidFill>
                <a:latin typeface="Calibri"/>
              </a:rPr>
              <a:t>Wider perineal/scrotal field; purse-string anus if needed.</a:t>
            </a:r>
          </a:p>
        </p:txBody>
      </p:sp>
      <p:sp>
        <p:nvSpPr>
          <p:cNvPr id="24" name="Rounded Rectangle 23"/>
          <p:cNvSpPr/>
          <p:nvPr/>
        </p:nvSpPr>
        <p:spPr>
          <a:xfrm>
            <a:off x="42976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976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53712" y="3721608"/>
            <a:ext cx="3337560" cy="347472"/>
          </a:xfrm>
          <a:prstGeom prst="rect">
            <a:avLst/>
          </a:prstGeom>
          <a:noFill/>
        </p:spPr>
        <p:txBody>
          <a:bodyPr wrap="square" anchor="t"/>
          <a:lstStyle/>
          <a:p>
            <a:pPr algn="l"/>
            <a:r>
              <a:rPr sz="1500" b="1">
                <a:solidFill>
                  <a:srgbClr val="0B2C4A"/>
                </a:solidFill>
                <a:latin typeface="Calibri"/>
              </a:rPr>
              <a:t>Limb / orthopedic</a:t>
            </a:r>
          </a:p>
        </p:txBody>
      </p:sp>
      <p:sp>
        <p:nvSpPr>
          <p:cNvPr id="27" name="TextBox 26"/>
          <p:cNvSpPr txBox="1"/>
          <p:nvPr/>
        </p:nvSpPr>
        <p:spPr>
          <a:xfrm>
            <a:off x="4553712" y="4050792"/>
            <a:ext cx="3337560" cy="1801368"/>
          </a:xfrm>
          <a:prstGeom prst="rect">
            <a:avLst/>
          </a:prstGeom>
          <a:noFill/>
        </p:spPr>
        <p:txBody>
          <a:bodyPr wrap="square" anchor="t"/>
          <a:lstStyle/>
          <a:p>
            <a:pPr algn="l"/>
            <a:r>
              <a:rPr sz="1300" b="0">
                <a:solidFill>
                  <a:srgbClr val="3D4A57"/>
                </a:solidFill>
                <a:latin typeface="Calibri"/>
              </a:rPr>
              <a:t>Joint above to joint below; hang limb; stirrup; circumferential prep (‘around the world’).</a:t>
            </a:r>
          </a:p>
        </p:txBody>
      </p:sp>
      <p:sp>
        <p:nvSpPr>
          <p:cNvPr id="28" name="Rounded Rectangle 27"/>
          <p:cNvSpPr/>
          <p:nvPr/>
        </p:nvSpPr>
        <p:spPr>
          <a:xfrm>
            <a:off x="81838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838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39912" y="3721608"/>
            <a:ext cx="3337560" cy="347472"/>
          </a:xfrm>
          <a:prstGeom prst="rect">
            <a:avLst/>
          </a:prstGeom>
          <a:noFill/>
        </p:spPr>
        <p:txBody>
          <a:bodyPr wrap="square" anchor="t"/>
          <a:lstStyle/>
          <a:p>
            <a:pPr algn="l"/>
            <a:r>
              <a:rPr sz="1500" b="1">
                <a:solidFill>
                  <a:srgbClr val="0B2C4A"/>
                </a:solidFill>
                <a:latin typeface="Calibri"/>
              </a:rPr>
              <a:t>Field LA surgery</a:t>
            </a:r>
          </a:p>
        </p:txBody>
      </p:sp>
      <p:sp>
        <p:nvSpPr>
          <p:cNvPr id="31" name="TextBox 30"/>
          <p:cNvSpPr txBox="1"/>
          <p:nvPr/>
        </p:nvSpPr>
        <p:spPr>
          <a:xfrm>
            <a:off x="8439912" y="4050792"/>
            <a:ext cx="3337560" cy="1801368"/>
          </a:xfrm>
          <a:prstGeom prst="rect">
            <a:avLst/>
          </a:prstGeom>
          <a:noFill/>
        </p:spPr>
        <p:txBody>
          <a:bodyPr wrap="square" anchor="t"/>
          <a:lstStyle/>
          <a:p>
            <a:pPr algn="l"/>
            <a:r>
              <a:rPr sz="1300" b="0">
                <a:solidFill>
                  <a:srgbClr val="3D4A57"/>
                </a:solidFill>
                <a:latin typeface="Calibri"/>
              </a:rPr>
              <a:t>Clip still matters. Dirt and fecal contamination are the enemy; sterile-drape ideals are adapted, not abandoned.</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26  /  49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NO SINGLE AGENT IS PERFECT; TECHNIQUE AND CONTACT TIME BEAT BRAND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Skin antiseptics — choose with anatomy, not loyalty</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1800" b="1">
                <a:solidFill>
                  <a:srgbClr val="FFFFFF"/>
                </a:solidFill>
                <a:latin typeface="Calibri"/>
              </a:rPr>
              <a:t>Chlorhexidine</a:t>
            </a:r>
          </a:p>
        </p:txBody>
      </p:sp>
      <p:sp>
        <p:nvSpPr>
          <p:cNvPr id="11" name="TextBox 10"/>
          <p:cNvSpPr txBox="1"/>
          <p:nvPr/>
        </p:nvSpPr>
        <p:spPr>
          <a:xfrm>
            <a:off x="640080" y="1874519"/>
            <a:ext cx="3291840" cy="4023360"/>
          </a:xfrm>
          <a:prstGeom prst="rect">
            <a:avLst/>
          </a:prstGeom>
          <a:noFill/>
        </p:spPr>
        <p:txBody>
          <a:bodyPr wrap="square" anchor="t"/>
          <a:lstStyle/>
          <a:p>
            <a:pPr algn="l"/>
            <a:r>
              <a:rPr sz="1400" b="0">
                <a:solidFill>
                  <a:srgbClr val="1C1C1C"/>
                </a:solidFill>
                <a:latin typeface="Calibri"/>
              </a:rPr>
              <a:t>Broad Gram+ / Gram−, residual 24 h on skin.
Best with alcohol (CHG–alcohol).
Inactivated by organic debris if too dilute.
TOXIC to cornea. Ototoxic in the middle ear. Not for peritoneum, bladder, joints, meninges.
Do not store homemade dilute jugs.</a:t>
            </a:r>
          </a:p>
        </p:txBody>
      </p:sp>
      <p:sp>
        <p:nvSpPr>
          <p:cNvPr id="12" name="Rounded Rectangle 11"/>
          <p:cNvSpPr/>
          <p:nvPr/>
        </p:nvSpPr>
        <p:spPr>
          <a:xfrm>
            <a:off x="425196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5196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51960" y="1097280"/>
            <a:ext cx="3703320" cy="640080"/>
          </a:xfrm>
          <a:prstGeom prst="rect">
            <a:avLst/>
          </a:prstGeom>
          <a:noFill/>
        </p:spPr>
        <p:txBody>
          <a:bodyPr wrap="square" anchor="ctr"/>
          <a:lstStyle/>
          <a:p>
            <a:pPr algn="ctr"/>
            <a:r>
              <a:rPr sz="1800" b="1">
                <a:solidFill>
                  <a:srgbClr val="0B2C4A"/>
                </a:solidFill>
                <a:latin typeface="Calibri"/>
              </a:rPr>
              <a:t>Povidone-iodine</a:t>
            </a:r>
          </a:p>
        </p:txBody>
      </p:sp>
      <p:sp>
        <p:nvSpPr>
          <p:cNvPr id="15" name="TextBox 14"/>
          <p:cNvSpPr txBox="1"/>
          <p:nvPr/>
        </p:nvSpPr>
        <p:spPr>
          <a:xfrm>
            <a:off x="4480560" y="1874519"/>
            <a:ext cx="3291840" cy="4023360"/>
          </a:xfrm>
          <a:prstGeom prst="rect">
            <a:avLst/>
          </a:prstGeom>
          <a:noFill/>
        </p:spPr>
        <p:txBody>
          <a:bodyPr wrap="square" anchor="t"/>
          <a:lstStyle/>
          <a:p>
            <a:pPr algn="l"/>
            <a:r>
              <a:rPr sz="1400" b="0">
                <a:solidFill>
                  <a:srgbClr val="1C1C1C"/>
                </a:solidFill>
                <a:latin typeface="Calibri"/>
              </a:rPr>
              <a:t>Broad spectrum including spores at right conc./time.
Better near mucous membranes / some ocular protocols (dilute, veterinarian-directed).
Inactivated by organic matter and alcohol in some sequences.
Skin/thyroid/iodine sensitivity. Stains.
Must dry / contact time to work.</a:t>
            </a:r>
          </a:p>
        </p:txBody>
      </p:sp>
      <p:sp>
        <p:nvSpPr>
          <p:cNvPr id="16" name="Rounded Rectangle 15"/>
          <p:cNvSpPr/>
          <p:nvPr/>
        </p:nvSpPr>
        <p:spPr>
          <a:xfrm>
            <a:off x="8092440" y="1097280"/>
            <a:ext cx="365760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1097280"/>
            <a:ext cx="365760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92440" y="1097280"/>
            <a:ext cx="3657600" cy="640080"/>
          </a:xfrm>
          <a:prstGeom prst="rect">
            <a:avLst/>
          </a:prstGeom>
          <a:noFill/>
        </p:spPr>
        <p:txBody>
          <a:bodyPr wrap="square" anchor="ctr"/>
          <a:lstStyle/>
          <a:p>
            <a:pPr algn="ctr"/>
            <a:r>
              <a:rPr sz="1800" b="1">
                <a:solidFill>
                  <a:srgbClr val="C5A35A"/>
                </a:solidFill>
                <a:latin typeface="Calibri"/>
              </a:rPr>
              <a:t>Alcohol &amp; others</a:t>
            </a:r>
          </a:p>
        </p:txBody>
      </p:sp>
      <p:sp>
        <p:nvSpPr>
          <p:cNvPr id="19" name="TextBox 18"/>
          <p:cNvSpPr txBox="1"/>
          <p:nvPr/>
        </p:nvSpPr>
        <p:spPr>
          <a:xfrm>
            <a:off x="8321040" y="1874519"/>
            <a:ext cx="3246120" cy="4023360"/>
          </a:xfrm>
          <a:prstGeom prst="rect">
            <a:avLst/>
          </a:prstGeom>
          <a:noFill/>
        </p:spPr>
        <p:txBody>
          <a:bodyPr wrap="square" anchor="t"/>
          <a:lstStyle/>
          <a:p>
            <a:pPr algn="l"/>
            <a:r>
              <a:rPr sz="1400" b="0">
                <a:solidFill>
                  <a:srgbClr val="1C1C1C"/>
                </a:solidFill>
                <a:latin typeface="Calibri"/>
              </a:rPr>
              <a:t>Isopropyl/ethyl alcohol: rapid, no residual, flammable — no pooling near cautery.
Often the ‘paint’ between CHG scrubs.
Do not use alcohol on open wounds, mucous membranes, or laser/cautery pools.
Hydrogen peroxide is not a surgical prep.</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27  /  49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CONTACT TIME AND DIRECTION MATTER MORE THAN THE NUMBER OF ‘PASSES’ YOU BRAG ABOUT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How to scrub the patient</a:t>
            </a:r>
          </a:p>
        </p:txBody>
      </p:sp>
      <p:sp>
        <p:nvSpPr>
          <p:cNvPr id="8" name="TextBox 7"/>
          <p:cNvSpPr txBox="1"/>
          <p:nvPr/>
        </p:nvSpPr>
        <p:spPr>
          <a:xfrm>
            <a:off x="457200" y="1051560"/>
            <a:ext cx="7315200" cy="4297680"/>
          </a:xfrm>
          <a:prstGeom prst="rect">
            <a:avLst/>
          </a:prstGeom>
          <a:noFill/>
        </p:spPr>
        <p:txBody>
          <a:bodyPr wrap="square">
            <a:spAutoFit/>
          </a:bodyPr>
          <a:lstStyle/>
          <a:p>
            <a:pPr algn="l">
              <a:spcAft>
                <a:spcPts val="800"/>
              </a:spcAft>
            </a:pPr>
            <a:r>
              <a:rPr sz="1600" b="0">
                <a:solidFill>
                  <a:srgbClr val="1C1C1C"/>
                </a:solidFill>
                <a:latin typeface="Calibri"/>
              </a:rPr>
              <a:t>▸  Dirty prep (prep room): remove grease and gross contamination. Wear clean exam gloves. Discard gauze when it leaves the center.</a:t>
            </a:r>
          </a:p>
          <a:p>
            <a:pPr algn="l">
              <a:spcAft>
                <a:spcPts val="800"/>
              </a:spcAft>
            </a:pPr>
            <a:r>
              <a:rPr sz="1600" b="0">
                <a:solidFill>
                  <a:srgbClr val="1C1C1C"/>
                </a:solidFill>
                <a:latin typeface="Calibri"/>
              </a:rPr>
              <a:t>▸  Sterile prep (OR): sterile gloves, sterile gauze or applicator. New sponge every time you leave the incision line.</a:t>
            </a:r>
          </a:p>
          <a:p>
            <a:pPr algn="l">
              <a:spcAft>
                <a:spcPts val="800"/>
              </a:spcAft>
            </a:pPr>
            <a:r>
              <a:rPr sz="1600" b="0">
                <a:solidFill>
                  <a:srgbClr val="1C1C1C"/>
                </a:solidFill>
                <a:latin typeface="Calibri"/>
              </a:rPr>
              <a:t>▸  Start at the planned incision and spiral / wipe outward. Never bring a dirty sponge back to the center.</a:t>
            </a:r>
          </a:p>
          <a:p>
            <a:pPr algn="l">
              <a:spcAft>
                <a:spcPts val="800"/>
              </a:spcAft>
            </a:pPr>
            <a:r>
              <a:rPr sz="1600" b="0">
                <a:solidFill>
                  <a:srgbClr val="1C1C1C"/>
                </a:solidFill>
                <a:latin typeface="Calibri"/>
              </a:rPr>
              <a:t>▸  Honor manufacturer contact time. Typical working teaching: at least 3 cycles or a timed 3–5 minute contact, then a final paint. Follow the product in your lab.</a:t>
            </a:r>
          </a:p>
          <a:p>
            <a:pPr algn="l">
              <a:spcAft>
                <a:spcPts val="800"/>
              </a:spcAft>
            </a:pPr>
            <a:r>
              <a:rPr sz="1600" b="0">
                <a:solidFill>
                  <a:srgbClr val="1C1C1C"/>
                </a:solidFill>
                <a:latin typeface="Calibri"/>
              </a:rPr>
              <a:t>▸  The site should be damp-to-dry, not a lake. Puddles wick bacteria under drapes and soak the patient (hypothermia).</a:t>
            </a:r>
          </a:p>
        </p:txBody>
      </p:sp>
      <p:sp>
        <p:nvSpPr>
          <p:cNvPr id="9" name="Rounded Rectangle 8"/>
          <p:cNvSpPr/>
          <p:nvPr/>
        </p:nvSpPr>
        <p:spPr>
          <a:xfrm>
            <a:off x="7955279" y="1097280"/>
            <a:ext cx="3749039"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3879" y="1325880"/>
            <a:ext cx="3383280" cy="457200"/>
          </a:xfrm>
          <a:prstGeom prst="rect">
            <a:avLst/>
          </a:prstGeom>
          <a:noFill/>
        </p:spPr>
        <p:txBody>
          <a:bodyPr wrap="square" anchor="t"/>
          <a:lstStyle/>
          <a:p>
            <a:pPr algn="l"/>
            <a:r>
              <a:rPr sz="1600" b="1">
                <a:solidFill>
                  <a:srgbClr val="C5A35A"/>
                </a:solidFill>
                <a:latin typeface="Calibri"/>
              </a:rPr>
              <a:t>High-risk mistakes</a:t>
            </a:r>
          </a:p>
        </p:txBody>
      </p:sp>
      <p:sp>
        <p:nvSpPr>
          <p:cNvPr id="11" name="TextBox 10"/>
          <p:cNvSpPr txBox="1"/>
          <p:nvPr/>
        </p:nvSpPr>
        <p:spPr>
          <a:xfrm>
            <a:off x="8183879" y="1920240"/>
            <a:ext cx="3383280" cy="3931920"/>
          </a:xfrm>
          <a:prstGeom prst="rect">
            <a:avLst/>
          </a:prstGeom>
          <a:noFill/>
        </p:spPr>
        <p:txBody>
          <a:bodyPr wrap="square" anchor="t"/>
          <a:lstStyle/>
          <a:p>
            <a:pPr algn="l"/>
            <a:r>
              <a:rPr sz="1500" b="0">
                <a:solidFill>
                  <a:srgbClr val="FFFFFF"/>
                </a:solidFill>
                <a:latin typeface="Calibri"/>
              </a:rPr>
              <a:t>• Scrubbing back and forth like washing a car
• Using the same gauze on anus and incision
• CHG in the eye or ear canal
• Alcohol pooling + electrocautery
• ‘One quick wipe’ and draping wet
• Contaminating the site while moving the dog</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28  /  49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PRESSURE, STRETCH, AND ASPIRATION LIVE HERE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Positioning is physiology, not just ‘on its back’</a:t>
            </a:r>
          </a:p>
        </p:txBody>
      </p:sp>
      <p:sp>
        <p:nvSpPr>
          <p:cNvPr id="8" name="Rounded Rectangle 7"/>
          <p:cNvSpPr/>
          <p:nvPr/>
        </p:nvSpPr>
        <p:spPr>
          <a:xfrm>
            <a:off x="411480" y="1097280"/>
            <a:ext cx="57150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2331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349240" cy="347472"/>
          </a:xfrm>
          <a:prstGeom prst="rect">
            <a:avLst/>
          </a:prstGeom>
          <a:noFill/>
        </p:spPr>
        <p:txBody>
          <a:bodyPr wrap="square" anchor="t"/>
          <a:lstStyle/>
          <a:p>
            <a:pPr algn="l"/>
            <a:r>
              <a:rPr sz="1500" b="1">
                <a:solidFill>
                  <a:srgbClr val="0B2C4A"/>
                </a:solidFill>
                <a:latin typeface="Calibri"/>
              </a:rPr>
              <a:t>Dorsal recumbency</a:t>
            </a:r>
          </a:p>
        </p:txBody>
      </p:sp>
      <p:sp>
        <p:nvSpPr>
          <p:cNvPr id="11" name="TextBox 10"/>
          <p:cNvSpPr txBox="1"/>
          <p:nvPr/>
        </p:nvSpPr>
        <p:spPr>
          <a:xfrm>
            <a:off x="667512" y="1536192"/>
            <a:ext cx="5349240" cy="1801368"/>
          </a:xfrm>
          <a:prstGeom prst="rect">
            <a:avLst/>
          </a:prstGeom>
          <a:noFill/>
        </p:spPr>
        <p:txBody>
          <a:bodyPr wrap="square" anchor="t"/>
          <a:lstStyle/>
          <a:p>
            <a:pPr algn="l"/>
            <a:r>
              <a:rPr sz="1300" b="0">
                <a:solidFill>
                  <a:srgbClr val="3D4A57"/>
                </a:solidFill>
                <a:latin typeface="Calibri"/>
              </a:rPr>
              <a:t>OHE, most celiotomies. Straight spine, hind limbs caudal not forced into a split that strains the hips of a dysplastic dog. V-trough or sandbags. Head/neck neutral for the airway.</a:t>
            </a:r>
          </a:p>
        </p:txBody>
      </p:sp>
      <p:sp>
        <p:nvSpPr>
          <p:cNvPr id="12" name="Rounded Rectangle 11"/>
          <p:cNvSpPr/>
          <p:nvPr/>
        </p:nvSpPr>
        <p:spPr>
          <a:xfrm>
            <a:off x="6309360" y="1097280"/>
            <a:ext cx="57150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97280"/>
            <a:ext cx="91440" cy="2331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207008"/>
            <a:ext cx="5349240" cy="347472"/>
          </a:xfrm>
          <a:prstGeom prst="rect">
            <a:avLst/>
          </a:prstGeom>
          <a:noFill/>
        </p:spPr>
        <p:txBody>
          <a:bodyPr wrap="square" anchor="t"/>
          <a:lstStyle/>
          <a:p>
            <a:pPr algn="l"/>
            <a:r>
              <a:rPr sz="1500" b="1">
                <a:solidFill>
                  <a:srgbClr val="0B2C4A"/>
                </a:solidFill>
                <a:latin typeface="Calibri"/>
              </a:rPr>
              <a:t>Lateral</a:t>
            </a:r>
          </a:p>
        </p:txBody>
      </p:sp>
      <p:sp>
        <p:nvSpPr>
          <p:cNvPr id="15" name="TextBox 14"/>
          <p:cNvSpPr txBox="1"/>
          <p:nvPr/>
        </p:nvSpPr>
        <p:spPr>
          <a:xfrm>
            <a:off x="6565392" y="1536192"/>
            <a:ext cx="5349240" cy="1801368"/>
          </a:xfrm>
          <a:prstGeom prst="rect">
            <a:avLst/>
          </a:prstGeom>
          <a:noFill/>
        </p:spPr>
        <p:txBody>
          <a:bodyPr wrap="square" anchor="t"/>
          <a:lstStyle/>
          <a:p>
            <a:pPr algn="l"/>
            <a:r>
              <a:rPr sz="1300" b="0">
                <a:solidFill>
                  <a:srgbClr val="3D4A57"/>
                </a:solidFill>
                <a:latin typeface="Calibri"/>
              </a:rPr>
              <a:t>Thoracotomy, some mass removals, GDV sometimes after decompression. Down lung, down vessels, down muscles — pad the elbow, greater trochanter, acromion.</a:t>
            </a:r>
          </a:p>
        </p:txBody>
      </p:sp>
      <p:sp>
        <p:nvSpPr>
          <p:cNvPr id="16" name="Rounded Rectangle 15"/>
          <p:cNvSpPr/>
          <p:nvPr/>
        </p:nvSpPr>
        <p:spPr>
          <a:xfrm>
            <a:off x="411480" y="3611880"/>
            <a:ext cx="57150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6118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3721608"/>
            <a:ext cx="5349240" cy="347472"/>
          </a:xfrm>
          <a:prstGeom prst="rect">
            <a:avLst/>
          </a:prstGeom>
          <a:noFill/>
        </p:spPr>
        <p:txBody>
          <a:bodyPr wrap="square" anchor="t"/>
          <a:lstStyle/>
          <a:p>
            <a:pPr algn="l"/>
            <a:r>
              <a:rPr sz="1500" b="1">
                <a:solidFill>
                  <a:srgbClr val="0B2C4A"/>
                </a:solidFill>
                <a:latin typeface="Calibri"/>
              </a:rPr>
              <a:t>Sternal / perineal</a:t>
            </a:r>
          </a:p>
        </p:txBody>
      </p:sp>
      <p:sp>
        <p:nvSpPr>
          <p:cNvPr id="19" name="TextBox 18"/>
          <p:cNvSpPr txBox="1"/>
          <p:nvPr/>
        </p:nvSpPr>
        <p:spPr>
          <a:xfrm>
            <a:off x="667512" y="4050792"/>
            <a:ext cx="5349240" cy="1801368"/>
          </a:xfrm>
          <a:prstGeom prst="rect">
            <a:avLst/>
          </a:prstGeom>
          <a:noFill/>
        </p:spPr>
        <p:txBody>
          <a:bodyPr wrap="square" anchor="t"/>
          <a:lstStyle/>
          <a:p>
            <a:pPr algn="l"/>
            <a:r>
              <a:rPr sz="1300" b="0">
                <a:solidFill>
                  <a:srgbClr val="3D4A57"/>
                </a:solidFill>
                <a:latin typeface="Calibri"/>
              </a:rPr>
              <a:t>Anal sac, some urinary, dorsal spinal. Do not over-flex the neck of brachycephalics. Purse-string the anus when indicated — and remove it at the end.</a:t>
            </a:r>
          </a:p>
        </p:txBody>
      </p:sp>
      <p:sp>
        <p:nvSpPr>
          <p:cNvPr id="20" name="Rounded Rectangle 19"/>
          <p:cNvSpPr/>
          <p:nvPr/>
        </p:nvSpPr>
        <p:spPr>
          <a:xfrm>
            <a:off x="6309360" y="3611880"/>
            <a:ext cx="57150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36118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3721608"/>
            <a:ext cx="5349240" cy="347472"/>
          </a:xfrm>
          <a:prstGeom prst="rect">
            <a:avLst/>
          </a:prstGeom>
          <a:noFill/>
        </p:spPr>
        <p:txBody>
          <a:bodyPr wrap="square" anchor="t"/>
          <a:lstStyle/>
          <a:p>
            <a:pPr algn="l"/>
            <a:r>
              <a:rPr sz="1500" b="1">
                <a:solidFill>
                  <a:srgbClr val="0B2C4A"/>
                </a:solidFill>
                <a:latin typeface="Calibri"/>
              </a:rPr>
              <a:t>Padding &amp; safety</a:t>
            </a:r>
          </a:p>
        </p:txBody>
      </p:sp>
      <p:sp>
        <p:nvSpPr>
          <p:cNvPr id="23" name="TextBox 22"/>
          <p:cNvSpPr txBox="1"/>
          <p:nvPr/>
        </p:nvSpPr>
        <p:spPr>
          <a:xfrm>
            <a:off x="6565392" y="4050792"/>
            <a:ext cx="5349240" cy="1801368"/>
          </a:xfrm>
          <a:prstGeom prst="rect">
            <a:avLst/>
          </a:prstGeom>
          <a:noFill/>
        </p:spPr>
        <p:txBody>
          <a:bodyPr wrap="square" anchor="t"/>
          <a:lstStyle/>
          <a:p>
            <a:pPr algn="l"/>
            <a:r>
              <a:rPr sz="1300" b="0">
                <a:solidFill>
                  <a:srgbClr val="3D4A57"/>
                </a:solidFill>
                <a:latin typeface="Calibri"/>
              </a:rPr>
              <a:t>Hypothermia: warming devices that cannot burn. Eyes lubricated. Endotracheal tube not kinked. Electrosurgery pad contact. Ties not tourniquets.</a:t>
            </a:r>
          </a:p>
        </p:txBody>
      </p:sp>
      <p:sp>
        <p:nvSpPr>
          <p:cNvPr id="24" name="Rectangle 2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6" name="TextBox 2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29  /  49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GOWN, GLOVE, BOX THE FIELD, THEN THE LARGE DRAPE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Four-quadrant draping</a:t>
            </a:r>
          </a:p>
        </p:txBody>
      </p:sp>
      <p:sp>
        <p:nvSpPr>
          <p:cNvPr id="8" name="TextBox 7"/>
          <p:cNvSpPr txBox="1"/>
          <p:nvPr/>
        </p:nvSpPr>
        <p:spPr>
          <a:xfrm>
            <a:off x="457200" y="1051560"/>
            <a:ext cx="7040880" cy="5120640"/>
          </a:xfrm>
          <a:prstGeom prst="rect">
            <a:avLst/>
          </a:prstGeom>
          <a:noFill/>
        </p:spPr>
        <p:txBody>
          <a:bodyPr wrap="square">
            <a:spAutoFit/>
          </a:bodyPr>
          <a:lstStyle/>
          <a:p>
            <a:pPr algn="l">
              <a:spcAft>
                <a:spcPts val="800"/>
              </a:spcAft>
            </a:pPr>
            <a:r>
              <a:rPr sz="1500" b="0">
                <a:solidFill>
                  <a:srgbClr val="1C1C1C"/>
                </a:solidFill>
                <a:latin typeface="Calibri"/>
              </a:rPr>
              <a:t>▸  Four sterile towels (or equivalent) placed to box the field: cranial, caudal, left, right. Place the near towel first so you do not reach across the dog.</a:t>
            </a:r>
          </a:p>
          <a:p>
            <a:pPr algn="l">
              <a:spcAft>
                <a:spcPts val="800"/>
              </a:spcAft>
            </a:pPr>
            <a:r>
              <a:rPr sz="1500" b="0">
                <a:solidFill>
                  <a:srgbClr val="1C1C1C"/>
                </a:solidFill>
                <a:latin typeface="Calibri"/>
              </a:rPr>
              <a:t>▸  Towel edges cover all hair. If hair is visible, the drape is wrong — re-clip or re-drape, do not ‘tuck and hope.’</a:t>
            </a:r>
          </a:p>
          <a:p>
            <a:pPr algn="l">
              <a:spcAft>
                <a:spcPts val="800"/>
              </a:spcAft>
            </a:pPr>
            <a:r>
              <a:rPr sz="1500" b="0">
                <a:solidFill>
                  <a:srgbClr val="1C1C1C"/>
                </a:solidFill>
                <a:latin typeface="Calibri"/>
              </a:rPr>
              <a:t>▸  Secure (Backhaus clamps or atraumatic alternatives). Do not tent the skin into the incision. Do not puncture the patient’s skin carelessly with clamps.</a:t>
            </a:r>
          </a:p>
          <a:p>
            <a:pPr algn="l">
              <a:spcAft>
                <a:spcPts val="800"/>
              </a:spcAft>
            </a:pPr>
            <a:r>
              <a:rPr sz="1500" b="0">
                <a:solidFill>
                  <a:srgbClr val="1C1C1C"/>
                </a:solidFill>
                <a:latin typeface="Calibri"/>
              </a:rPr>
              <a:t>▸  Large fenestrated or four-corner large drape over the towels. Cuff your hands. Never shake drapes over the field.</a:t>
            </a:r>
          </a:p>
          <a:p>
            <a:pPr algn="l">
              <a:spcAft>
                <a:spcPts val="800"/>
              </a:spcAft>
            </a:pPr>
            <a:r>
              <a:rPr sz="1500" b="0">
                <a:solidFill>
                  <a:srgbClr val="1C1C1C"/>
                </a:solidFill>
                <a:latin typeface="Calibri"/>
              </a:rPr>
              <a:t>▸  Once down, the top surface is sterile; table edges and below table height are not. Hands stay on the field.</a:t>
            </a:r>
          </a:p>
          <a:p>
            <a:pPr algn="l">
              <a:spcAft>
                <a:spcPts val="800"/>
              </a:spcAft>
            </a:pPr>
            <a:r>
              <a:rPr sz="1500" b="0">
                <a:solidFill>
                  <a:srgbClr val="1C1C1C"/>
                </a:solidFill>
                <a:latin typeface="Calibri"/>
              </a:rPr>
              <a:t>▸  If a drape is wet through (strikethrough), it is contaminated. Cover or replace.</a:t>
            </a:r>
          </a:p>
        </p:txBody>
      </p:sp>
      <p:sp>
        <p:nvSpPr>
          <p:cNvPr id="9" name="Rounded Rectangle 8"/>
          <p:cNvSpPr/>
          <p:nvPr/>
        </p:nvSpPr>
        <p:spPr>
          <a:xfrm>
            <a:off x="7680960" y="1097280"/>
            <a:ext cx="4023360" cy="502920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09560" y="1280160"/>
            <a:ext cx="3657600" cy="457200"/>
          </a:xfrm>
          <a:prstGeom prst="rect">
            <a:avLst/>
          </a:prstGeom>
          <a:noFill/>
        </p:spPr>
        <p:txBody>
          <a:bodyPr wrap="square" anchor="t"/>
          <a:lstStyle/>
          <a:p>
            <a:pPr algn="l"/>
            <a:r>
              <a:rPr sz="1600" b="1">
                <a:solidFill>
                  <a:srgbClr val="0B2C4A"/>
                </a:solidFill>
                <a:latin typeface="Calibri"/>
              </a:rPr>
              <a:t>Order of operations</a:t>
            </a:r>
          </a:p>
        </p:txBody>
      </p:sp>
      <p:sp>
        <p:nvSpPr>
          <p:cNvPr id="11" name="TextBox 10"/>
          <p:cNvSpPr txBox="1"/>
          <p:nvPr/>
        </p:nvSpPr>
        <p:spPr>
          <a:xfrm>
            <a:off x="7909560" y="1874519"/>
            <a:ext cx="3657600" cy="3931920"/>
          </a:xfrm>
          <a:prstGeom prst="rect">
            <a:avLst/>
          </a:prstGeom>
          <a:noFill/>
        </p:spPr>
        <p:txBody>
          <a:bodyPr wrap="square" anchor="t"/>
          <a:lstStyle/>
          <a:p>
            <a:pPr algn="l"/>
            <a:r>
              <a:rPr sz="1500" b="0">
                <a:solidFill>
                  <a:srgbClr val="1C1C1C"/>
                </a:solidFill>
                <a:latin typeface="Calibri"/>
              </a:rPr>
              <a:t>1. You are gowned/gloved
   (or a sterile assistant drapes)
2. Towels — four quadrants
3. Clamps
4. Large drape
5. Organize instruments on a sterile table
6. Timeout
7. Announce: ready to incise
Tell your assistant before the incision.</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30  /  49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YOU ARE A FOMITE UNTIL YOU ARE NOT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Surgeon preparation</a:t>
            </a:r>
          </a:p>
        </p:txBody>
      </p:sp>
      <p:sp>
        <p:nvSpPr>
          <p:cNvPr id="8" name="Rounded Rectangle 7"/>
          <p:cNvSpPr/>
          <p:nvPr/>
        </p:nvSpPr>
        <p:spPr>
          <a:xfrm>
            <a:off x="457200" y="109728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10789920" cy="868680"/>
          </a:xfrm>
          <a:prstGeom prst="rect">
            <a:avLst/>
          </a:prstGeom>
          <a:noFill/>
        </p:spPr>
        <p:txBody>
          <a:bodyPr wrap="square" anchor="t"/>
          <a:lstStyle/>
          <a:p>
            <a:pPr algn="l"/>
            <a:r>
              <a:rPr sz="1600" b="0">
                <a:solidFill>
                  <a:srgbClr val="1C1C1C"/>
                </a:solidFill>
                <a:latin typeface="Calibri"/>
              </a:rPr>
              <a:t>Clean scrubs, cap covering all hair, mask over nose and mouth, no jewelry, nails short, no polish/gels in most ORs. Shoes closed-toe. Eat/drink/bathroom before you scrub — leaving the field is a bigger sin than a slightly longer scrub.</a:t>
            </a:r>
          </a:p>
        </p:txBody>
      </p:sp>
      <p:sp>
        <p:nvSpPr>
          <p:cNvPr id="10" name="Rounded Rectangle 9"/>
          <p:cNvSpPr/>
          <p:nvPr/>
        </p:nvSpPr>
        <p:spPr>
          <a:xfrm>
            <a:off x="457200" y="2468880"/>
            <a:ext cx="3657600" cy="3657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468880"/>
            <a:ext cx="91440" cy="36576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578608"/>
            <a:ext cx="3291840" cy="347472"/>
          </a:xfrm>
          <a:prstGeom prst="rect">
            <a:avLst/>
          </a:prstGeom>
          <a:noFill/>
        </p:spPr>
        <p:txBody>
          <a:bodyPr wrap="square" anchor="t"/>
          <a:lstStyle/>
          <a:p>
            <a:pPr algn="l"/>
            <a:r>
              <a:rPr sz="1500" b="1">
                <a:solidFill>
                  <a:srgbClr val="0B2C4A"/>
                </a:solidFill>
                <a:latin typeface="Calibri"/>
              </a:rPr>
              <a:t>Surgical scrub</a:t>
            </a:r>
          </a:p>
        </p:txBody>
      </p:sp>
      <p:sp>
        <p:nvSpPr>
          <p:cNvPr id="13" name="TextBox 12"/>
          <p:cNvSpPr txBox="1"/>
          <p:nvPr/>
        </p:nvSpPr>
        <p:spPr>
          <a:xfrm>
            <a:off x="713232" y="2907792"/>
            <a:ext cx="3291840" cy="3127248"/>
          </a:xfrm>
          <a:prstGeom prst="rect">
            <a:avLst/>
          </a:prstGeom>
          <a:noFill/>
        </p:spPr>
        <p:txBody>
          <a:bodyPr wrap="square" anchor="t"/>
          <a:lstStyle/>
          <a:p>
            <a:pPr algn="l"/>
            <a:r>
              <a:rPr sz="1300" b="0">
                <a:solidFill>
                  <a:srgbClr val="3D4A57"/>
                </a:solidFill>
                <a:latin typeface="Calibri"/>
              </a:rPr>
              <a:t>Timed ~3–5 min or counted brushless CHG/alcohol per product. Fingers → hands → wrists → elbows. Rinse fingertips-up. Hands above elbows walking to the OR.</a:t>
            </a:r>
          </a:p>
        </p:txBody>
      </p:sp>
      <p:sp>
        <p:nvSpPr>
          <p:cNvPr id="14" name="Rounded Rectangle 13"/>
          <p:cNvSpPr/>
          <p:nvPr/>
        </p:nvSpPr>
        <p:spPr>
          <a:xfrm>
            <a:off x="4297680" y="2468880"/>
            <a:ext cx="3657600" cy="3657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468880"/>
            <a:ext cx="91440" cy="36576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578608"/>
            <a:ext cx="3291840" cy="347472"/>
          </a:xfrm>
          <a:prstGeom prst="rect">
            <a:avLst/>
          </a:prstGeom>
          <a:noFill/>
        </p:spPr>
        <p:txBody>
          <a:bodyPr wrap="square" anchor="t"/>
          <a:lstStyle/>
          <a:p>
            <a:pPr algn="l"/>
            <a:r>
              <a:rPr sz="1500" b="1">
                <a:solidFill>
                  <a:srgbClr val="0B2C4A"/>
                </a:solidFill>
                <a:latin typeface="Calibri"/>
              </a:rPr>
              <a:t>Gowning</a:t>
            </a:r>
          </a:p>
        </p:txBody>
      </p:sp>
      <p:sp>
        <p:nvSpPr>
          <p:cNvPr id="17" name="TextBox 16"/>
          <p:cNvSpPr txBox="1"/>
          <p:nvPr/>
        </p:nvSpPr>
        <p:spPr>
          <a:xfrm>
            <a:off x="4553712" y="2907792"/>
            <a:ext cx="3291840" cy="3127248"/>
          </a:xfrm>
          <a:prstGeom prst="rect">
            <a:avLst/>
          </a:prstGeom>
          <a:noFill/>
        </p:spPr>
        <p:txBody>
          <a:bodyPr wrap="square" anchor="t"/>
          <a:lstStyle/>
          <a:p>
            <a:pPr algn="l"/>
            <a:r>
              <a:rPr sz="1300" b="0">
                <a:solidFill>
                  <a:srgbClr val="3D4A57"/>
                </a:solidFill>
                <a:latin typeface="Calibri"/>
              </a:rPr>
              <a:t>Dry with sterile towel without contaminating. Gown without touching the outer surface. Assistant ties. Keep hands in cuffs for closed gloving.</a:t>
            </a:r>
          </a:p>
        </p:txBody>
      </p:sp>
      <p:sp>
        <p:nvSpPr>
          <p:cNvPr id="18" name="Rounded Rectangle 17"/>
          <p:cNvSpPr/>
          <p:nvPr/>
        </p:nvSpPr>
        <p:spPr>
          <a:xfrm>
            <a:off x="8138160" y="2468880"/>
            <a:ext cx="3657600" cy="3657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468880"/>
            <a:ext cx="91440" cy="36576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578608"/>
            <a:ext cx="3291840" cy="347472"/>
          </a:xfrm>
          <a:prstGeom prst="rect">
            <a:avLst/>
          </a:prstGeom>
          <a:noFill/>
        </p:spPr>
        <p:txBody>
          <a:bodyPr wrap="square" anchor="t"/>
          <a:lstStyle/>
          <a:p>
            <a:pPr algn="l"/>
            <a:r>
              <a:rPr sz="1500" b="1">
                <a:solidFill>
                  <a:srgbClr val="0B2C4A"/>
                </a:solidFill>
                <a:latin typeface="Calibri"/>
              </a:rPr>
              <a:t>Gloving</a:t>
            </a:r>
          </a:p>
        </p:txBody>
      </p:sp>
      <p:sp>
        <p:nvSpPr>
          <p:cNvPr id="21" name="TextBox 20"/>
          <p:cNvSpPr txBox="1"/>
          <p:nvPr/>
        </p:nvSpPr>
        <p:spPr>
          <a:xfrm>
            <a:off x="8394192" y="2907792"/>
            <a:ext cx="3291840" cy="3127248"/>
          </a:xfrm>
          <a:prstGeom prst="rect">
            <a:avLst/>
          </a:prstGeom>
          <a:noFill/>
        </p:spPr>
        <p:txBody>
          <a:bodyPr wrap="square" anchor="t"/>
          <a:lstStyle/>
          <a:p>
            <a:pPr algn="l"/>
            <a:r>
              <a:rPr sz="1300" b="0">
                <a:solidFill>
                  <a:srgbClr val="3D4A57"/>
                </a:solidFill>
                <a:latin typeface="Calibri"/>
              </a:rPr>
              <a:t>Closed gloving after gowning is preferred. Open gloving to replace a contaminated glove. If in doubt, both gloves come off and you start over.</a:t>
            </a:r>
          </a:p>
        </p:txBody>
      </p:sp>
      <p:sp>
        <p:nvSpPr>
          <p:cNvPr id="22" name="Rectangle 2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4" name="TextBox 2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31  /  49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CONTAMINATE AND STAY SILENT, THE PATIENT PAYS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Breaks in asepsis — recognize, announce, fix</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1B6B7A"/>
                </a:solidFill>
                <a:latin typeface="Calibri"/>
              </a:rPr>
              <a:t>Before the incision (prep / drape)</a:t>
            </a:r>
          </a:p>
        </p:txBody>
      </p:sp>
      <p:sp>
        <p:nvSpPr>
          <p:cNvPr id="10" name="TextBox 9"/>
          <p:cNvSpPr txBox="1"/>
          <p:nvPr/>
        </p:nvSpPr>
        <p:spPr>
          <a:xfrm>
            <a:off x="685800" y="1783080"/>
            <a:ext cx="5120640" cy="4023360"/>
          </a:xfrm>
          <a:prstGeom prst="rect">
            <a:avLst/>
          </a:prstGeom>
          <a:noFill/>
        </p:spPr>
        <p:txBody>
          <a:bodyPr wrap="square" anchor="t"/>
          <a:lstStyle/>
          <a:p>
            <a:pPr algn="l"/>
            <a:r>
              <a:rPr sz="1500" b="0">
                <a:solidFill>
                  <a:srgbClr val="1C1C1C"/>
                </a:solidFill>
                <a:latin typeface="Calibri"/>
              </a:rPr>
              <a:t>If YOU contaminate yourself or the field: say it immediately and correct (re-glove, re-gown, re-drape).
Name it once, fix it completely.
A second unrecognized break means you cannot maintain an aseptic field — stop.
This is how we protect a client-owned animal, not a game of gotcha.</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8B2E2E"/>
                </a:solidFill>
                <a:latin typeface="Calibri"/>
              </a:rPr>
              <a:t>After the incision is made</a:t>
            </a:r>
          </a:p>
        </p:txBody>
      </p:sp>
      <p:sp>
        <p:nvSpPr>
          <p:cNvPr id="13" name="TextBox 12"/>
          <p:cNvSpPr txBox="1"/>
          <p:nvPr/>
        </p:nvSpPr>
        <p:spPr>
          <a:xfrm>
            <a:off x="6492240" y="1783080"/>
            <a:ext cx="5029200" cy="4023360"/>
          </a:xfrm>
          <a:prstGeom prst="rect">
            <a:avLst/>
          </a:prstGeom>
          <a:noFill/>
        </p:spPr>
        <p:txBody>
          <a:bodyPr wrap="square" anchor="t"/>
          <a:lstStyle/>
          <a:p>
            <a:pPr algn="l"/>
            <a:r>
              <a:rPr sz="1500" b="0">
                <a:solidFill>
                  <a:srgbClr val="1C1C1C"/>
                </a:solidFill>
                <a:latin typeface="Calibri"/>
              </a:rPr>
              <a:t>Once the incision is made, there is no free pass.
You must notice, announce, and completely correct.
If you do not, or if you correct incompletely, you have put the animal at risk.
Examples: sleeve in the abdomen, instrument off the table used again, hole in glove ignored, dripping sweat onto the field.</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32  /  49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DVM 612 PROFESSIONAL STANDARD  ·  PATIENT SAFETY, NOT A TRIVIA LIST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Never-events — these stop the surgery</a:t>
            </a:r>
          </a:p>
        </p:txBody>
      </p:sp>
      <p:sp>
        <p:nvSpPr>
          <p:cNvPr id="8" name="TextBox 7"/>
          <p:cNvSpPr txBox="1"/>
          <p:nvPr/>
        </p:nvSpPr>
        <p:spPr>
          <a:xfrm>
            <a:off x="502920" y="1097280"/>
            <a:ext cx="11155680" cy="3840480"/>
          </a:xfrm>
          <a:prstGeom prst="rect">
            <a:avLst/>
          </a:prstGeom>
          <a:noFill/>
        </p:spPr>
        <p:txBody>
          <a:bodyPr wrap="square">
            <a:spAutoFit/>
          </a:bodyPr>
          <a:lstStyle/>
          <a:p>
            <a:pPr algn="l">
              <a:spcAft>
                <a:spcPts val="1200"/>
              </a:spcAft>
            </a:pPr>
            <a:r>
              <a:rPr sz="1800" b="0">
                <a:solidFill>
                  <a:srgbClr val="1C1C1C"/>
                </a:solidFill>
                <a:latin typeface="Calibri"/>
              </a:rPr>
              <a:t>▸  1. Fail to control significant hemorrhage.</a:t>
            </a:r>
          </a:p>
          <a:p>
            <a:pPr algn="l">
              <a:spcAft>
                <a:spcPts val="1200"/>
              </a:spcAft>
            </a:pPr>
            <a:r>
              <a:rPr sz="1800" b="0">
                <a:solidFill>
                  <a:srgbClr val="1C1C1C"/>
                </a:solidFill>
                <a:latin typeface="Calibri"/>
              </a:rPr>
              <a:t>▸  2. Fail to create a secure abdominal wall closure.</a:t>
            </a:r>
          </a:p>
          <a:p>
            <a:pPr algn="l">
              <a:spcAft>
                <a:spcPts val="1200"/>
              </a:spcAft>
            </a:pPr>
            <a:r>
              <a:rPr sz="1800" b="0">
                <a:solidFill>
                  <a:srgbClr val="1C1C1C"/>
                </a:solidFill>
                <a:latin typeface="Calibri"/>
              </a:rPr>
              <a:t>▸  3. Unable to achieve and maintain an aseptic field (patient and surgeon preparation included).</a:t>
            </a:r>
          </a:p>
          <a:p>
            <a:pPr algn="l">
              <a:spcAft>
                <a:spcPts val="1200"/>
              </a:spcAft>
            </a:pPr>
            <a:r>
              <a:rPr sz="1800" b="0">
                <a:solidFill>
                  <a:srgbClr val="1C1C1C"/>
                </a:solidFill>
                <a:latin typeface="Calibri"/>
              </a:rPr>
              <a:t>▸  4. Significant damage to other organs (e.g., ureter in a clamp or ligature; removing cervix inappropriately).</a:t>
            </a:r>
          </a:p>
          <a:p>
            <a:pPr algn="l">
              <a:spcAft>
                <a:spcPts val="1200"/>
              </a:spcAft>
            </a:pPr>
            <a:r>
              <a:rPr sz="1800" b="0">
                <a:solidFill>
                  <a:srgbClr val="1C1C1C"/>
                </a:solidFill>
                <a:latin typeface="Calibri"/>
              </a:rPr>
              <a:t>▸  5. Any other behavior that puts the animal’s life at risk (retained sponge/instrument is the classic example).</a:t>
            </a:r>
          </a:p>
        </p:txBody>
      </p:sp>
      <p:sp>
        <p:nvSpPr>
          <p:cNvPr id="9" name="Rounded Rectangle 8"/>
          <p:cNvSpPr/>
          <p:nvPr/>
        </p:nvSpPr>
        <p:spPr>
          <a:xfrm>
            <a:off x="457200" y="5120640"/>
            <a:ext cx="1124712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257800"/>
            <a:ext cx="10789920" cy="960120"/>
          </a:xfrm>
          <a:prstGeom prst="rect">
            <a:avLst/>
          </a:prstGeom>
          <a:noFill/>
        </p:spPr>
        <p:txBody>
          <a:bodyPr wrap="square" anchor="t"/>
          <a:lstStyle/>
          <a:p>
            <a:pPr algn="l"/>
            <a:r>
              <a:rPr sz="1500" b="0">
                <a:solidFill>
                  <a:srgbClr val="0B2C4A"/>
                </a:solidFill>
                <a:latin typeface="Calibri"/>
              </a:rPr>
              <a:t>The operation is not over when the last skin suture is placed. Intra-abdominal hemorrhage from poor ligation, or herniation from a weak linea, can kill the patient after you have left the OR. That is why postoperative care is part of this lecture.</a:t>
            </a:r>
          </a:p>
        </p:txBody>
      </p:sp>
      <p:sp>
        <p:nvSpPr>
          <p:cNvPr id="11" name="Rectangle 10"/>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3" name="TextBox 12"/>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33  /  49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WHICH OF THESE IS ACCEPTABLE?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Knowledge check — preparation</a:t>
            </a:r>
          </a:p>
        </p:txBody>
      </p:sp>
      <p:sp>
        <p:nvSpPr>
          <p:cNvPr id="8" name="Rounded Rectangle 7"/>
          <p:cNvSpPr/>
          <p:nvPr/>
        </p:nvSpPr>
        <p:spPr>
          <a:xfrm>
            <a:off x="457200" y="105156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640080" cy="1170432"/>
          </a:xfrm>
          <a:prstGeom prst="rect">
            <a:avLst/>
          </a:prstGeom>
          <a:noFill/>
        </p:spPr>
        <p:txBody>
          <a:bodyPr wrap="square" anchor="ctr"/>
          <a:lstStyle/>
          <a:p>
            <a:pPr algn="ctr"/>
            <a:r>
              <a:rPr sz="2000" b="1">
                <a:solidFill>
                  <a:srgbClr val="C5A35A"/>
                </a:solidFill>
                <a:latin typeface="Calibri"/>
              </a:rPr>
              <a:t>A</a:t>
            </a:r>
          </a:p>
        </p:txBody>
      </p:sp>
      <p:sp>
        <p:nvSpPr>
          <p:cNvPr id="11" name="TextBox 10"/>
          <p:cNvSpPr txBox="1"/>
          <p:nvPr/>
        </p:nvSpPr>
        <p:spPr>
          <a:xfrm>
            <a:off x="1280160" y="1143000"/>
            <a:ext cx="10149840" cy="457200"/>
          </a:xfrm>
          <a:prstGeom prst="rect">
            <a:avLst/>
          </a:prstGeom>
          <a:noFill/>
        </p:spPr>
        <p:txBody>
          <a:bodyPr wrap="square" anchor="t"/>
          <a:lstStyle/>
          <a:p>
            <a:pPr algn="l"/>
            <a:r>
              <a:rPr sz="1500" b="1">
                <a:solidFill>
                  <a:srgbClr val="1C1C1C"/>
                </a:solidFill>
                <a:latin typeface="Calibri"/>
              </a:rPr>
              <a:t>Clip the OHE field the night before to save time at induction.</a:t>
            </a:r>
          </a:p>
        </p:txBody>
      </p:sp>
      <p:sp>
        <p:nvSpPr>
          <p:cNvPr id="12" name="TextBox 11"/>
          <p:cNvSpPr txBox="1"/>
          <p:nvPr/>
        </p:nvSpPr>
        <p:spPr>
          <a:xfrm>
            <a:off x="1280160" y="1645920"/>
            <a:ext cx="10149840" cy="457200"/>
          </a:xfrm>
          <a:prstGeom prst="rect">
            <a:avLst/>
          </a:prstGeom>
          <a:noFill/>
        </p:spPr>
        <p:txBody>
          <a:bodyPr wrap="square" anchor="t"/>
          <a:lstStyle/>
          <a:p>
            <a:pPr algn="l"/>
            <a:r>
              <a:rPr sz="1400" b="0">
                <a:solidFill>
                  <a:srgbClr val="1B6B7A"/>
                </a:solidFill>
                <a:latin typeface="Calibri"/>
              </a:rPr>
              <a:t>No. Increases bacterial load and clipper injury.</a:t>
            </a:r>
          </a:p>
        </p:txBody>
      </p:sp>
      <p:sp>
        <p:nvSpPr>
          <p:cNvPr id="13" name="Rounded Rectangle 12"/>
          <p:cNvSpPr/>
          <p:nvPr/>
        </p:nvSpPr>
        <p:spPr>
          <a:xfrm>
            <a:off x="457200" y="233172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3172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31720"/>
            <a:ext cx="640080" cy="1170432"/>
          </a:xfrm>
          <a:prstGeom prst="rect">
            <a:avLst/>
          </a:prstGeom>
          <a:noFill/>
        </p:spPr>
        <p:txBody>
          <a:bodyPr wrap="square" anchor="ctr"/>
          <a:lstStyle/>
          <a:p>
            <a:pPr algn="ctr"/>
            <a:r>
              <a:rPr sz="2000" b="1">
                <a:solidFill>
                  <a:srgbClr val="C5A35A"/>
                </a:solidFill>
                <a:latin typeface="Calibri"/>
              </a:rPr>
              <a:t>B</a:t>
            </a:r>
          </a:p>
        </p:txBody>
      </p:sp>
      <p:sp>
        <p:nvSpPr>
          <p:cNvPr id="16" name="TextBox 15"/>
          <p:cNvSpPr txBox="1"/>
          <p:nvPr/>
        </p:nvSpPr>
        <p:spPr>
          <a:xfrm>
            <a:off x="1280160" y="2423160"/>
            <a:ext cx="10149840" cy="457200"/>
          </a:xfrm>
          <a:prstGeom prst="rect">
            <a:avLst/>
          </a:prstGeom>
          <a:noFill/>
        </p:spPr>
        <p:txBody>
          <a:bodyPr wrap="square" anchor="t"/>
          <a:lstStyle/>
          <a:p>
            <a:pPr algn="l"/>
            <a:r>
              <a:rPr sz="1500" b="1">
                <a:solidFill>
                  <a:srgbClr val="1C1C1C"/>
                </a:solidFill>
                <a:latin typeface="Calibri"/>
              </a:rPr>
              <a:t>Razor the incision line for a ‘closer shave.’</a:t>
            </a:r>
          </a:p>
        </p:txBody>
      </p:sp>
      <p:sp>
        <p:nvSpPr>
          <p:cNvPr id="17" name="TextBox 16"/>
          <p:cNvSpPr txBox="1"/>
          <p:nvPr/>
        </p:nvSpPr>
        <p:spPr>
          <a:xfrm>
            <a:off x="1280160" y="2926080"/>
            <a:ext cx="10149840" cy="457200"/>
          </a:xfrm>
          <a:prstGeom prst="rect">
            <a:avLst/>
          </a:prstGeom>
          <a:noFill/>
        </p:spPr>
        <p:txBody>
          <a:bodyPr wrap="square" anchor="t"/>
          <a:lstStyle/>
          <a:p>
            <a:pPr algn="l"/>
            <a:r>
              <a:rPr sz="1400" b="0">
                <a:solidFill>
                  <a:srgbClr val="1B6B7A"/>
                </a:solidFill>
                <a:latin typeface="Calibri"/>
              </a:rPr>
              <a:t>No. Micro-nicks, higher SSI.</a:t>
            </a:r>
          </a:p>
        </p:txBody>
      </p:sp>
      <p:sp>
        <p:nvSpPr>
          <p:cNvPr id="18" name="Rounded Rectangle 17"/>
          <p:cNvSpPr/>
          <p:nvPr/>
        </p:nvSpPr>
        <p:spPr>
          <a:xfrm>
            <a:off x="457200" y="361188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1188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11880"/>
            <a:ext cx="640080" cy="1170432"/>
          </a:xfrm>
          <a:prstGeom prst="rect">
            <a:avLst/>
          </a:prstGeom>
          <a:noFill/>
        </p:spPr>
        <p:txBody>
          <a:bodyPr wrap="square" anchor="ctr"/>
          <a:lstStyle/>
          <a:p>
            <a:pPr algn="ctr"/>
            <a:r>
              <a:rPr sz="2000" b="1">
                <a:solidFill>
                  <a:srgbClr val="C5A35A"/>
                </a:solidFill>
                <a:latin typeface="Calibri"/>
              </a:rPr>
              <a:t>C</a:t>
            </a:r>
          </a:p>
        </p:txBody>
      </p:sp>
      <p:sp>
        <p:nvSpPr>
          <p:cNvPr id="21" name="TextBox 20"/>
          <p:cNvSpPr txBox="1"/>
          <p:nvPr/>
        </p:nvSpPr>
        <p:spPr>
          <a:xfrm>
            <a:off x="1280160" y="3703320"/>
            <a:ext cx="10149840" cy="457200"/>
          </a:xfrm>
          <a:prstGeom prst="rect">
            <a:avLst/>
          </a:prstGeom>
          <a:noFill/>
        </p:spPr>
        <p:txBody>
          <a:bodyPr wrap="square" anchor="t"/>
          <a:lstStyle/>
          <a:p>
            <a:pPr algn="l"/>
            <a:r>
              <a:rPr sz="1500" b="1">
                <a:solidFill>
                  <a:srgbClr val="1C1C1C"/>
                </a:solidFill>
                <a:latin typeface="Calibri"/>
              </a:rPr>
              <a:t>CHG scrub, then a drop of CHG runs into the eye — rinse and continue.</a:t>
            </a:r>
          </a:p>
        </p:txBody>
      </p:sp>
      <p:sp>
        <p:nvSpPr>
          <p:cNvPr id="22" name="TextBox 21"/>
          <p:cNvSpPr txBox="1"/>
          <p:nvPr/>
        </p:nvSpPr>
        <p:spPr>
          <a:xfrm>
            <a:off x="1280160" y="4206240"/>
            <a:ext cx="10149840" cy="457200"/>
          </a:xfrm>
          <a:prstGeom prst="rect">
            <a:avLst/>
          </a:prstGeom>
          <a:noFill/>
        </p:spPr>
        <p:txBody>
          <a:bodyPr wrap="square" anchor="t"/>
          <a:lstStyle/>
          <a:p>
            <a:pPr algn="l"/>
            <a:r>
              <a:rPr sz="1400" b="0">
                <a:solidFill>
                  <a:srgbClr val="1B6B7A"/>
                </a:solidFill>
                <a:latin typeface="Calibri"/>
              </a:rPr>
              <a:t>Emergency for the eye. CHG is corneal-toxic. Irrigate immediately; do not ‘continue.’</a:t>
            </a:r>
          </a:p>
        </p:txBody>
      </p:sp>
      <p:sp>
        <p:nvSpPr>
          <p:cNvPr id="23" name="Rounded Rectangle 22"/>
          <p:cNvSpPr/>
          <p:nvPr/>
        </p:nvSpPr>
        <p:spPr>
          <a:xfrm>
            <a:off x="457200" y="4892039"/>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892039"/>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92039"/>
            <a:ext cx="640080" cy="1170432"/>
          </a:xfrm>
          <a:prstGeom prst="rect">
            <a:avLst/>
          </a:prstGeom>
          <a:noFill/>
        </p:spPr>
        <p:txBody>
          <a:bodyPr wrap="square" anchor="ctr"/>
          <a:lstStyle/>
          <a:p>
            <a:pPr algn="ctr"/>
            <a:r>
              <a:rPr sz="2000" b="1">
                <a:solidFill>
                  <a:srgbClr val="C5A35A"/>
                </a:solidFill>
                <a:latin typeface="Calibri"/>
              </a:rPr>
              <a:t>D</a:t>
            </a:r>
          </a:p>
        </p:txBody>
      </p:sp>
      <p:sp>
        <p:nvSpPr>
          <p:cNvPr id="26" name="TextBox 25"/>
          <p:cNvSpPr txBox="1"/>
          <p:nvPr/>
        </p:nvSpPr>
        <p:spPr>
          <a:xfrm>
            <a:off x="1280160" y="4983479"/>
            <a:ext cx="10149840" cy="457200"/>
          </a:xfrm>
          <a:prstGeom prst="rect">
            <a:avLst/>
          </a:prstGeom>
          <a:noFill/>
        </p:spPr>
        <p:txBody>
          <a:bodyPr wrap="square" anchor="t"/>
          <a:lstStyle/>
          <a:p>
            <a:pPr algn="l"/>
            <a:r>
              <a:rPr sz="1500" b="1">
                <a:solidFill>
                  <a:srgbClr val="1C1C1C"/>
                </a:solidFill>
                <a:latin typeface="Calibri"/>
              </a:rPr>
              <a:t>Hair visible at the drape edge; you add another towel to cover it.</a:t>
            </a:r>
          </a:p>
        </p:txBody>
      </p:sp>
      <p:sp>
        <p:nvSpPr>
          <p:cNvPr id="27" name="TextBox 26"/>
          <p:cNvSpPr txBox="1"/>
          <p:nvPr/>
        </p:nvSpPr>
        <p:spPr>
          <a:xfrm>
            <a:off x="1280160" y="5486399"/>
            <a:ext cx="10149840" cy="457200"/>
          </a:xfrm>
          <a:prstGeom prst="rect">
            <a:avLst/>
          </a:prstGeom>
          <a:noFill/>
        </p:spPr>
        <p:txBody>
          <a:bodyPr wrap="square" anchor="t"/>
          <a:lstStyle/>
          <a:p>
            <a:pPr algn="l"/>
            <a:r>
              <a:rPr sz="1400" b="0">
                <a:solidFill>
                  <a:srgbClr val="1B6B7A"/>
                </a:solidFill>
                <a:latin typeface="Calibri"/>
              </a:rPr>
              <a:t>Yes — if the added drape is sterile and the field is truly covered. Best is an adequate clip.</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34  /  49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III  ·  42–57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Postoperative care</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Recovery · pain · warmth · wound · 24-hour complications · report · discharge</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~15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35  /  49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AIRWAY, BREATHING, CIRCULATION, TEMPERATURE, PAIN — THEN THE KENNEL</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Immediate recovery — the surgery is not over</a:t>
            </a:r>
          </a:p>
        </p:txBody>
      </p:sp>
      <p:sp>
        <p:nvSpPr>
          <p:cNvPr id="8" name="Rounded Rectangle 7"/>
          <p:cNvSpPr/>
          <p:nvPr/>
        </p:nvSpPr>
        <p:spPr>
          <a:xfrm>
            <a:off x="4114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3337560" cy="347472"/>
          </a:xfrm>
          <a:prstGeom prst="rect">
            <a:avLst/>
          </a:prstGeom>
          <a:noFill/>
        </p:spPr>
        <p:txBody>
          <a:bodyPr wrap="square" anchor="t"/>
          <a:lstStyle/>
          <a:p>
            <a:pPr algn="l"/>
            <a:r>
              <a:rPr sz="1500" b="1">
                <a:solidFill>
                  <a:srgbClr val="0B2C4A"/>
                </a:solidFill>
                <a:latin typeface="Calibri"/>
              </a:rPr>
              <a:t>Airway</a:t>
            </a:r>
          </a:p>
        </p:txBody>
      </p:sp>
      <p:sp>
        <p:nvSpPr>
          <p:cNvPr id="11" name="TextBox 10"/>
          <p:cNvSpPr txBox="1"/>
          <p:nvPr/>
        </p:nvSpPr>
        <p:spPr>
          <a:xfrm>
            <a:off x="667512" y="1536192"/>
            <a:ext cx="3337560" cy="1801368"/>
          </a:xfrm>
          <a:prstGeom prst="rect">
            <a:avLst/>
          </a:prstGeom>
          <a:noFill/>
        </p:spPr>
        <p:txBody>
          <a:bodyPr wrap="square" anchor="t"/>
          <a:lstStyle/>
          <a:p>
            <a:pPr algn="l"/>
            <a:r>
              <a:rPr sz="1300" b="0">
                <a:solidFill>
                  <a:srgbClr val="3D4A57"/>
                </a:solidFill>
                <a:latin typeface="Calibri"/>
              </a:rPr>
              <a:t>Extubate when swallow/gag returns (species-specific). Brachycephalics: later, oxygen-ready, watch stertor. Never leave a recovering patient.</a:t>
            </a:r>
          </a:p>
        </p:txBody>
      </p:sp>
      <p:sp>
        <p:nvSpPr>
          <p:cNvPr id="12" name="Rounded Rectangle 11"/>
          <p:cNvSpPr/>
          <p:nvPr/>
        </p:nvSpPr>
        <p:spPr>
          <a:xfrm>
            <a:off x="42976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337560" cy="347472"/>
          </a:xfrm>
          <a:prstGeom prst="rect">
            <a:avLst/>
          </a:prstGeom>
          <a:noFill/>
        </p:spPr>
        <p:txBody>
          <a:bodyPr wrap="square" anchor="t"/>
          <a:lstStyle/>
          <a:p>
            <a:pPr algn="l"/>
            <a:r>
              <a:rPr sz="1500" b="1">
                <a:solidFill>
                  <a:srgbClr val="0B2C4A"/>
                </a:solidFill>
                <a:latin typeface="Calibri"/>
              </a:rPr>
              <a:t>Breathing</a:t>
            </a:r>
          </a:p>
        </p:txBody>
      </p:sp>
      <p:sp>
        <p:nvSpPr>
          <p:cNvPr id="15" name="TextBox 14"/>
          <p:cNvSpPr txBox="1"/>
          <p:nvPr/>
        </p:nvSpPr>
        <p:spPr>
          <a:xfrm>
            <a:off x="4553712" y="1536192"/>
            <a:ext cx="3337560" cy="1801368"/>
          </a:xfrm>
          <a:prstGeom prst="rect">
            <a:avLst/>
          </a:prstGeom>
          <a:noFill/>
        </p:spPr>
        <p:txBody>
          <a:bodyPr wrap="square" anchor="t"/>
          <a:lstStyle/>
          <a:p>
            <a:pPr algn="l"/>
            <a:r>
              <a:rPr sz="1300" b="0">
                <a:solidFill>
                  <a:srgbClr val="3D4A57"/>
                </a:solidFill>
                <a:latin typeface="Calibri"/>
              </a:rPr>
              <a:t>SpO2, mucus membranes, effort. Reverse residual drugs if appropriate. Aspiration risk if regurg occurred.</a:t>
            </a:r>
          </a:p>
        </p:txBody>
      </p:sp>
      <p:sp>
        <p:nvSpPr>
          <p:cNvPr id="16" name="Rounded Rectangle 15"/>
          <p:cNvSpPr/>
          <p:nvPr/>
        </p:nvSpPr>
        <p:spPr>
          <a:xfrm>
            <a:off x="81838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39912" y="1207008"/>
            <a:ext cx="3337560" cy="347472"/>
          </a:xfrm>
          <a:prstGeom prst="rect">
            <a:avLst/>
          </a:prstGeom>
          <a:noFill/>
        </p:spPr>
        <p:txBody>
          <a:bodyPr wrap="square" anchor="t"/>
          <a:lstStyle/>
          <a:p>
            <a:pPr algn="l"/>
            <a:r>
              <a:rPr sz="1500" b="1">
                <a:solidFill>
                  <a:srgbClr val="0B2C4A"/>
                </a:solidFill>
                <a:latin typeface="Calibri"/>
              </a:rPr>
              <a:t>Circulation</a:t>
            </a:r>
          </a:p>
        </p:txBody>
      </p:sp>
      <p:sp>
        <p:nvSpPr>
          <p:cNvPr id="19" name="TextBox 18"/>
          <p:cNvSpPr txBox="1"/>
          <p:nvPr/>
        </p:nvSpPr>
        <p:spPr>
          <a:xfrm>
            <a:off x="8439912" y="1536192"/>
            <a:ext cx="3337560" cy="1801368"/>
          </a:xfrm>
          <a:prstGeom prst="rect">
            <a:avLst/>
          </a:prstGeom>
          <a:noFill/>
        </p:spPr>
        <p:txBody>
          <a:bodyPr wrap="square" anchor="t"/>
          <a:lstStyle/>
          <a:p>
            <a:pPr algn="l"/>
            <a:r>
              <a:rPr sz="1300" b="0">
                <a:solidFill>
                  <a:srgbClr val="3D4A57"/>
                </a:solidFill>
                <a:latin typeface="Calibri"/>
              </a:rPr>
              <a:t>HR, pulse, mm, CRT, BP if indicated. Pale + tachycardia after celiotomy is hemorrhage until proven otherwise.</a:t>
            </a:r>
          </a:p>
        </p:txBody>
      </p:sp>
      <p:sp>
        <p:nvSpPr>
          <p:cNvPr id="20" name="Rounded Rectangle 19"/>
          <p:cNvSpPr/>
          <p:nvPr/>
        </p:nvSpPr>
        <p:spPr>
          <a:xfrm>
            <a:off x="4114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6118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3721608"/>
            <a:ext cx="3337560" cy="347472"/>
          </a:xfrm>
          <a:prstGeom prst="rect">
            <a:avLst/>
          </a:prstGeom>
          <a:noFill/>
        </p:spPr>
        <p:txBody>
          <a:bodyPr wrap="square" anchor="t"/>
          <a:lstStyle/>
          <a:p>
            <a:pPr algn="l"/>
            <a:r>
              <a:rPr sz="1500" b="1">
                <a:solidFill>
                  <a:srgbClr val="0B2C4A"/>
                </a:solidFill>
                <a:latin typeface="Calibri"/>
              </a:rPr>
              <a:t>Temperature</a:t>
            </a:r>
          </a:p>
        </p:txBody>
      </p:sp>
      <p:sp>
        <p:nvSpPr>
          <p:cNvPr id="23" name="TextBox 22"/>
          <p:cNvSpPr txBox="1"/>
          <p:nvPr/>
        </p:nvSpPr>
        <p:spPr>
          <a:xfrm>
            <a:off x="667512" y="4050792"/>
            <a:ext cx="3337560" cy="1801368"/>
          </a:xfrm>
          <a:prstGeom prst="rect">
            <a:avLst/>
          </a:prstGeom>
          <a:noFill/>
        </p:spPr>
        <p:txBody>
          <a:bodyPr wrap="square" anchor="t"/>
          <a:lstStyle/>
          <a:p>
            <a:pPr algn="l"/>
            <a:r>
              <a:rPr sz="1300" b="0">
                <a:solidFill>
                  <a:srgbClr val="3D4A57"/>
                </a:solidFill>
                <a:latin typeface="Calibri"/>
              </a:rPr>
              <a:t>Most surgical patients are hypothermic. Rewarm actively but do not burn. Hypothermia → delayed recovery, coagulopathy, SSI.</a:t>
            </a:r>
          </a:p>
        </p:txBody>
      </p:sp>
      <p:sp>
        <p:nvSpPr>
          <p:cNvPr id="24" name="Rounded Rectangle 23"/>
          <p:cNvSpPr/>
          <p:nvPr/>
        </p:nvSpPr>
        <p:spPr>
          <a:xfrm>
            <a:off x="42976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97680" y="36118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53712" y="3721608"/>
            <a:ext cx="3337560" cy="347472"/>
          </a:xfrm>
          <a:prstGeom prst="rect">
            <a:avLst/>
          </a:prstGeom>
          <a:noFill/>
        </p:spPr>
        <p:txBody>
          <a:bodyPr wrap="square" anchor="t"/>
          <a:lstStyle/>
          <a:p>
            <a:pPr algn="l"/>
            <a:r>
              <a:rPr sz="1500" b="1">
                <a:solidFill>
                  <a:srgbClr val="0B2C4A"/>
                </a:solidFill>
                <a:latin typeface="Calibri"/>
              </a:rPr>
              <a:t>Pain &amp; nausea</a:t>
            </a:r>
          </a:p>
        </p:txBody>
      </p:sp>
      <p:sp>
        <p:nvSpPr>
          <p:cNvPr id="27" name="TextBox 26"/>
          <p:cNvSpPr txBox="1"/>
          <p:nvPr/>
        </p:nvSpPr>
        <p:spPr>
          <a:xfrm>
            <a:off x="4553712" y="4050792"/>
            <a:ext cx="3337560" cy="1801368"/>
          </a:xfrm>
          <a:prstGeom prst="rect">
            <a:avLst/>
          </a:prstGeom>
          <a:noFill/>
        </p:spPr>
        <p:txBody>
          <a:bodyPr wrap="square" anchor="t"/>
          <a:lstStyle/>
          <a:p>
            <a:pPr algn="l"/>
            <a:r>
              <a:rPr sz="1300" b="0">
                <a:solidFill>
                  <a:srgbClr val="3D4A57"/>
                </a:solidFill>
                <a:latin typeface="Calibri"/>
              </a:rPr>
              <a:t>Score pain. Give the analgesic you planned. Antiemetic if indicated. A ‘quiet’ animal may be cold, hypotensive, or painful — look.</a:t>
            </a:r>
          </a:p>
        </p:txBody>
      </p:sp>
      <p:sp>
        <p:nvSpPr>
          <p:cNvPr id="28" name="Rounded Rectangle 27"/>
          <p:cNvSpPr/>
          <p:nvPr/>
        </p:nvSpPr>
        <p:spPr>
          <a:xfrm>
            <a:off x="81838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83880" y="36118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39912" y="3721608"/>
            <a:ext cx="3337560" cy="347472"/>
          </a:xfrm>
          <a:prstGeom prst="rect">
            <a:avLst/>
          </a:prstGeom>
          <a:noFill/>
        </p:spPr>
        <p:txBody>
          <a:bodyPr wrap="square" anchor="t"/>
          <a:lstStyle/>
          <a:p>
            <a:pPr algn="l"/>
            <a:r>
              <a:rPr sz="1500" b="1">
                <a:solidFill>
                  <a:srgbClr val="0B2C4A"/>
                </a:solidFill>
                <a:latin typeface="Calibri"/>
              </a:rPr>
              <a:t>Incision &amp; pee</a:t>
            </a:r>
          </a:p>
        </p:txBody>
      </p:sp>
      <p:sp>
        <p:nvSpPr>
          <p:cNvPr id="31" name="TextBox 30"/>
          <p:cNvSpPr txBox="1"/>
          <p:nvPr/>
        </p:nvSpPr>
        <p:spPr>
          <a:xfrm>
            <a:off x="8439912" y="4050792"/>
            <a:ext cx="3337560" cy="1801368"/>
          </a:xfrm>
          <a:prstGeom prst="rect">
            <a:avLst/>
          </a:prstGeom>
          <a:noFill/>
        </p:spPr>
        <p:txBody>
          <a:bodyPr wrap="square" anchor="t"/>
          <a:lstStyle/>
          <a:p>
            <a:pPr algn="l"/>
            <a:r>
              <a:rPr sz="1300" b="0">
                <a:solidFill>
                  <a:srgbClr val="3D4A57"/>
                </a:solidFill>
                <a:latin typeface="Calibri"/>
              </a:rPr>
              <a:t>Spot-check for bleed-through. Know when they last urinated. E-collar before they are awake enough to lick.</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36  /  49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DO NOT SCORE IT, YOU WILL NOT TREAT IT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Pain assessment is a vital sign</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Use a scale. Write the number.</a:t>
            </a:r>
          </a:p>
        </p:txBody>
      </p:sp>
      <p:sp>
        <p:nvSpPr>
          <p:cNvPr id="10" name="TextBox 9"/>
          <p:cNvSpPr txBox="1"/>
          <p:nvPr/>
        </p:nvSpPr>
        <p:spPr>
          <a:xfrm>
            <a:off x="640080" y="1783080"/>
            <a:ext cx="5212080" cy="4114800"/>
          </a:xfrm>
          <a:prstGeom prst="rect">
            <a:avLst/>
          </a:prstGeom>
          <a:noFill/>
        </p:spPr>
        <p:txBody>
          <a:bodyPr wrap="square">
            <a:spAutoFit/>
          </a:bodyPr>
          <a:lstStyle/>
          <a:p>
            <a:pPr algn="l">
              <a:spcAft>
                <a:spcPts val="800"/>
              </a:spcAft>
            </a:pPr>
            <a:r>
              <a:rPr sz="1500" b="0">
                <a:solidFill>
                  <a:srgbClr val="1C1C1C"/>
                </a:solidFill>
                <a:latin typeface="Calibri"/>
              </a:rPr>
              <a:t>▸  Dogs: Glasgow Composite Measure Pain Scale (short form) is a common teaching standard.</a:t>
            </a:r>
          </a:p>
          <a:p>
            <a:pPr algn="l">
              <a:spcAft>
                <a:spcPts val="800"/>
              </a:spcAft>
            </a:pPr>
            <a:r>
              <a:rPr sz="1500" b="0">
                <a:solidFill>
                  <a:srgbClr val="1C1C1C"/>
                </a:solidFill>
                <a:latin typeface="Calibri"/>
              </a:rPr>
              <a:t>▸  Cats: Feline Grimace Scale + behavior (hide, hunched, no groom).</a:t>
            </a:r>
          </a:p>
          <a:p>
            <a:pPr algn="l">
              <a:spcAft>
                <a:spcPts val="800"/>
              </a:spcAft>
            </a:pPr>
            <a:r>
              <a:rPr sz="1500" b="0">
                <a:solidFill>
                  <a:srgbClr val="1C1C1C"/>
                </a:solidFill>
                <a:latin typeface="Calibri"/>
              </a:rPr>
              <a:t>▸  Colorado State University scales are also widely used in teaching hospitals.</a:t>
            </a:r>
          </a:p>
          <a:p>
            <a:pPr algn="l">
              <a:spcAft>
                <a:spcPts val="800"/>
              </a:spcAft>
            </a:pPr>
            <a:r>
              <a:rPr sz="1500" b="0">
                <a:solidFill>
                  <a:srgbClr val="1C1C1C"/>
                </a:solidFill>
                <a:latin typeface="Calibri"/>
              </a:rPr>
              <a:t>▸  Re-score after intervention. A single ‘looks comfortable’ at 10 pm is not a plan.</a:t>
            </a:r>
          </a:p>
          <a:p>
            <a:pPr algn="l">
              <a:spcAft>
                <a:spcPts val="800"/>
              </a:spcAft>
            </a:pPr>
            <a:r>
              <a:rPr sz="1500" b="0">
                <a:solidFill>
                  <a:srgbClr val="1C1C1C"/>
                </a:solidFill>
                <a:latin typeface="Calibri"/>
              </a:rPr>
              <a:t>▸  Large animals: species-specific (horse: pawing, flank watching, reduced appetite; cattle: isolation, bruxism).</a:t>
            </a:r>
          </a:p>
        </p:txBody>
      </p:sp>
      <p:sp>
        <p:nvSpPr>
          <p:cNvPr id="11" name="Rounded Rectangle 10"/>
          <p:cNvSpPr/>
          <p:nvPr/>
        </p:nvSpPr>
        <p:spPr>
          <a:xfrm>
            <a:off x="6263640" y="1097280"/>
            <a:ext cx="544068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0B2C4A"/>
                </a:solidFill>
                <a:latin typeface="Calibri"/>
              </a:rPr>
              <a:t>Treat to the surgery you did</a:t>
            </a:r>
          </a:p>
        </p:txBody>
      </p:sp>
      <p:sp>
        <p:nvSpPr>
          <p:cNvPr id="13" name="TextBox 12"/>
          <p:cNvSpPr txBox="1"/>
          <p:nvPr/>
        </p:nvSpPr>
        <p:spPr>
          <a:xfrm>
            <a:off x="6446520" y="1783080"/>
            <a:ext cx="5074920" cy="4114800"/>
          </a:xfrm>
          <a:prstGeom prst="rect">
            <a:avLst/>
          </a:prstGeom>
          <a:noFill/>
        </p:spPr>
        <p:txBody>
          <a:bodyPr wrap="square">
            <a:spAutoFit/>
          </a:bodyPr>
          <a:lstStyle/>
          <a:p>
            <a:pPr algn="l">
              <a:spcAft>
                <a:spcPts val="800"/>
              </a:spcAft>
            </a:pPr>
            <a:r>
              <a:rPr sz="1500" b="0">
                <a:solidFill>
                  <a:srgbClr val="1C1C1C"/>
                </a:solidFill>
                <a:latin typeface="Calibri"/>
              </a:rPr>
              <a:t>▸  Soft tissue elective: opioid ± NSAID ± local is often enough.</a:t>
            </a:r>
          </a:p>
          <a:p>
            <a:pPr algn="l">
              <a:spcAft>
                <a:spcPts val="800"/>
              </a:spcAft>
            </a:pPr>
            <a:r>
              <a:rPr sz="1500" b="0">
                <a:solidFill>
                  <a:srgbClr val="1C1C1C"/>
                </a:solidFill>
                <a:latin typeface="Calibri"/>
              </a:rPr>
              <a:t>▸  Celiotomy / orthopedic: expect more — CRIs, additional locals, overnight monitoring.</a:t>
            </a:r>
          </a:p>
          <a:p>
            <a:pPr algn="l">
              <a:spcAft>
                <a:spcPts val="800"/>
              </a:spcAft>
            </a:pPr>
            <a:r>
              <a:rPr sz="1500" b="0">
                <a:solidFill>
                  <a:srgbClr val="1C1C1C"/>
                </a:solidFill>
                <a:latin typeface="Calibri"/>
              </a:rPr>
              <a:t>▸  Do not send home only tramadol and hope (dogs: weak evidence).</a:t>
            </a:r>
          </a:p>
          <a:p>
            <a:pPr algn="l">
              <a:spcAft>
                <a:spcPts val="800"/>
              </a:spcAft>
            </a:pPr>
            <a:r>
              <a:rPr sz="1500" b="0">
                <a:solidFill>
                  <a:srgbClr val="1C1C1C"/>
                </a:solidFill>
                <a:latin typeface="Calibri"/>
              </a:rPr>
              <a:t>▸  Client: how to give meds, what sedation vs. pain looks like, when to call.</a:t>
            </a:r>
          </a:p>
          <a:p>
            <a:pPr algn="l">
              <a:spcAft>
                <a:spcPts val="800"/>
              </a:spcAft>
            </a:pPr>
            <a:r>
              <a:rPr sz="1500" b="0">
                <a:solidFill>
                  <a:srgbClr val="1C1C1C"/>
                </a:solidFill>
                <a:latin typeface="Calibri"/>
              </a:rPr>
              <a:t>▸  Dysphoria ≠ pain, but treat pain first if unsure.</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37  /  49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PROTECT THE APPOSITION YOU JUST CREATED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incision after you leave it</a:t>
            </a:r>
          </a:p>
        </p:txBody>
      </p:sp>
      <p:sp>
        <p:nvSpPr>
          <p:cNvPr id="8" name="Rounded Rectangle 7"/>
          <p:cNvSpPr/>
          <p:nvPr/>
        </p:nvSpPr>
        <p:spPr>
          <a:xfrm>
            <a:off x="4114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3337560" cy="347472"/>
          </a:xfrm>
          <a:prstGeom prst="rect">
            <a:avLst/>
          </a:prstGeom>
          <a:noFill/>
        </p:spPr>
        <p:txBody>
          <a:bodyPr wrap="square" anchor="t"/>
          <a:lstStyle/>
          <a:p>
            <a:pPr algn="l"/>
            <a:r>
              <a:rPr sz="1500" b="1">
                <a:solidFill>
                  <a:srgbClr val="0B2C4A"/>
                </a:solidFill>
                <a:latin typeface="Calibri"/>
              </a:rPr>
              <a:t>Look</a:t>
            </a:r>
          </a:p>
        </p:txBody>
      </p:sp>
      <p:sp>
        <p:nvSpPr>
          <p:cNvPr id="11" name="TextBox 10"/>
          <p:cNvSpPr txBox="1"/>
          <p:nvPr/>
        </p:nvSpPr>
        <p:spPr>
          <a:xfrm>
            <a:off x="667512" y="1536192"/>
            <a:ext cx="3337560" cy="1801368"/>
          </a:xfrm>
          <a:prstGeom prst="rect">
            <a:avLst/>
          </a:prstGeom>
          <a:noFill/>
        </p:spPr>
        <p:txBody>
          <a:bodyPr wrap="square" anchor="t"/>
          <a:lstStyle/>
          <a:p>
            <a:pPr algn="l"/>
            <a:r>
              <a:rPr sz="1300" b="0">
                <a:solidFill>
                  <a:srgbClr val="3D4A57"/>
                </a:solidFill>
                <a:latin typeface="Calibri"/>
              </a:rPr>
              <a:t>Twice daily: swelling, discharge, gapping, smell, heat, bruise vs. hematoma. Photograph if the client is anxious.</a:t>
            </a:r>
          </a:p>
        </p:txBody>
      </p:sp>
      <p:sp>
        <p:nvSpPr>
          <p:cNvPr id="12" name="Rounded Rectangle 11"/>
          <p:cNvSpPr/>
          <p:nvPr/>
        </p:nvSpPr>
        <p:spPr>
          <a:xfrm>
            <a:off x="42976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337560" cy="347472"/>
          </a:xfrm>
          <a:prstGeom prst="rect">
            <a:avLst/>
          </a:prstGeom>
          <a:noFill/>
        </p:spPr>
        <p:txBody>
          <a:bodyPr wrap="square" anchor="t"/>
          <a:lstStyle/>
          <a:p>
            <a:pPr algn="l"/>
            <a:r>
              <a:rPr sz="1500" b="1">
                <a:solidFill>
                  <a:srgbClr val="0B2C4A"/>
                </a:solidFill>
                <a:latin typeface="Calibri"/>
              </a:rPr>
              <a:t>Lick</a:t>
            </a:r>
          </a:p>
        </p:txBody>
      </p:sp>
      <p:sp>
        <p:nvSpPr>
          <p:cNvPr id="15" name="TextBox 14"/>
          <p:cNvSpPr txBox="1"/>
          <p:nvPr/>
        </p:nvSpPr>
        <p:spPr>
          <a:xfrm>
            <a:off x="4553712" y="1536192"/>
            <a:ext cx="3337560" cy="1801368"/>
          </a:xfrm>
          <a:prstGeom prst="rect">
            <a:avLst/>
          </a:prstGeom>
          <a:noFill/>
        </p:spPr>
        <p:txBody>
          <a:bodyPr wrap="square" anchor="t"/>
          <a:lstStyle/>
          <a:p>
            <a:pPr algn="l"/>
            <a:r>
              <a:rPr sz="1300" b="0">
                <a:solidFill>
                  <a:srgbClr val="3D4A57"/>
                </a:solidFill>
                <a:latin typeface="Calibri"/>
              </a:rPr>
              <a:t>E-collar, suit, or inflatable — whatever actually stays on. Licking is the leading cause of dehiscence in student surgeries.</a:t>
            </a:r>
          </a:p>
        </p:txBody>
      </p:sp>
      <p:sp>
        <p:nvSpPr>
          <p:cNvPr id="16" name="Rounded Rectangle 15"/>
          <p:cNvSpPr/>
          <p:nvPr/>
        </p:nvSpPr>
        <p:spPr>
          <a:xfrm>
            <a:off x="81838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39912" y="1207008"/>
            <a:ext cx="3337560" cy="347472"/>
          </a:xfrm>
          <a:prstGeom prst="rect">
            <a:avLst/>
          </a:prstGeom>
          <a:noFill/>
        </p:spPr>
        <p:txBody>
          <a:bodyPr wrap="square" anchor="t"/>
          <a:lstStyle/>
          <a:p>
            <a:pPr algn="l"/>
            <a:r>
              <a:rPr sz="1500" b="1">
                <a:solidFill>
                  <a:srgbClr val="0B2C4A"/>
                </a:solidFill>
                <a:latin typeface="Calibri"/>
              </a:rPr>
              <a:t>Motion</a:t>
            </a:r>
          </a:p>
        </p:txBody>
      </p:sp>
      <p:sp>
        <p:nvSpPr>
          <p:cNvPr id="19" name="TextBox 18"/>
          <p:cNvSpPr txBox="1"/>
          <p:nvPr/>
        </p:nvSpPr>
        <p:spPr>
          <a:xfrm>
            <a:off x="8439912" y="1536192"/>
            <a:ext cx="3337560" cy="1801368"/>
          </a:xfrm>
          <a:prstGeom prst="rect">
            <a:avLst/>
          </a:prstGeom>
          <a:noFill/>
        </p:spPr>
        <p:txBody>
          <a:bodyPr wrap="square" anchor="t"/>
          <a:lstStyle/>
          <a:p>
            <a:pPr algn="l"/>
            <a:r>
              <a:rPr sz="1300" b="0">
                <a:solidFill>
                  <a:srgbClr val="3D4A57"/>
                </a:solidFill>
                <a:latin typeface="Calibri"/>
              </a:rPr>
              <a:t>Leash only. No running, jumping, wrestling, stairs unsupervised. Exercise restriction is a prescription, not a suggestion.</a:t>
            </a:r>
          </a:p>
        </p:txBody>
      </p:sp>
      <p:sp>
        <p:nvSpPr>
          <p:cNvPr id="20" name="Rounded Rectangle 19"/>
          <p:cNvSpPr/>
          <p:nvPr/>
        </p:nvSpPr>
        <p:spPr>
          <a:xfrm>
            <a:off x="4114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6118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3721608"/>
            <a:ext cx="3337560" cy="347472"/>
          </a:xfrm>
          <a:prstGeom prst="rect">
            <a:avLst/>
          </a:prstGeom>
          <a:noFill/>
        </p:spPr>
        <p:txBody>
          <a:bodyPr wrap="square" anchor="t"/>
          <a:lstStyle/>
          <a:p>
            <a:pPr algn="l"/>
            <a:r>
              <a:rPr sz="1500" b="1">
                <a:solidFill>
                  <a:srgbClr val="0B2C4A"/>
                </a:solidFill>
                <a:latin typeface="Calibri"/>
              </a:rPr>
              <a:t>Clean</a:t>
            </a:r>
          </a:p>
        </p:txBody>
      </p:sp>
      <p:sp>
        <p:nvSpPr>
          <p:cNvPr id="23" name="TextBox 22"/>
          <p:cNvSpPr txBox="1"/>
          <p:nvPr/>
        </p:nvSpPr>
        <p:spPr>
          <a:xfrm>
            <a:off x="667512" y="4050792"/>
            <a:ext cx="3337560" cy="1801368"/>
          </a:xfrm>
          <a:prstGeom prst="rect">
            <a:avLst/>
          </a:prstGeom>
          <a:noFill/>
        </p:spPr>
        <p:txBody>
          <a:bodyPr wrap="square" anchor="t"/>
          <a:lstStyle/>
          <a:p>
            <a:pPr algn="l"/>
            <a:r>
              <a:rPr sz="1300" b="0">
                <a:solidFill>
                  <a:srgbClr val="3D4A57"/>
                </a:solidFill>
                <a:latin typeface="Calibri"/>
              </a:rPr>
              <a:t>Usually no topical ointment unless directed. Do not scrub with CHG daily. Clean dirt with saline if needed.</a:t>
            </a:r>
          </a:p>
        </p:txBody>
      </p:sp>
      <p:sp>
        <p:nvSpPr>
          <p:cNvPr id="24" name="Rounded Rectangle 23"/>
          <p:cNvSpPr/>
          <p:nvPr/>
        </p:nvSpPr>
        <p:spPr>
          <a:xfrm>
            <a:off x="42976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97680" y="36118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53712" y="3721608"/>
            <a:ext cx="3337560" cy="347472"/>
          </a:xfrm>
          <a:prstGeom prst="rect">
            <a:avLst/>
          </a:prstGeom>
          <a:noFill/>
        </p:spPr>
        <p:txBody>
          <a:bodyPr wrap="square" anchor="t"/>
          <a:lstStyle/>
          <a:p>
            <a:pPr algn="l"/>
            <a:r>
              <a:rPr sz="1500" b="1">
                <a:solidFill>
                  <a:srgbClr val="0B2C4A"/>
                </a:solidFill>
                <a:latin typeface="Calibri"/>
              </a:rPr>
              <a:t>Drain</a:t>
            </a:r>
          </a:p>
        </p:txBody>
      </p:sp>
      <p:sp>
        <p:nvSpPr>
          <p:cNvPr id="27" name="TextBox 26"/>
          <p:cNvSpPr txBox="1"/>
          <p:nvPr/>
        </p:nvSpPr>
        <p:spPr>
          <a:xfrm>
            <a:off x="4553712" y="4050792"/>
            <a:ext cx="3337560" cy="1801368"/>
          </a:xfrm>
          <a:prstGeom prst="rect">
            <a:avLst/>
          </a:prstGeom>
          <a:noFill/>
        </p:spPr>
        <p:txBody>
          <a:bodyPr wrap="square" anchor="t"/>
          <a:lstStyle/>
          <a:p>
            <a:pPr algn="l"/>
            <a:r>
              <a:rPr sz="1300" b="0">
                <a:solidFill>
                  <a:srgbClr val="3D4A57"/>
                </a:solidFill>
                <a:latin typeface="Calibri"/>
              </a:rPr>
              <a:t>If placed: record output, site, and when to pull. Never send a drain without a written plan.</a:t>
            </a:r>
          </a:p>
        </p:txBody>
      </p:sp>
      <p:sp>
        <p:nvSpPr>
          <p:cNvPr id="28" name="Rounded Rectangle 27"/>
          <p:cNvSpPr/>
          <p:nvPr/>
        </p:nvSpPr>
        <p:spPr>
          <a:xfrm>
            <a:off x="81838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83880" y="36118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39912" y="3721608"/>
            <a:ext cx="3337560" cy="347472"/>
          </a:xfrm>
          <a:prstGeom prst="rect">
            <a:avLst/>
          </a:prstGeom>
          <a:noFill/>
        </p:spPr>
        <p:txBody>
          <a:bodyPr wrap="square" anchor="t"/>
          <a:lstStyle/>
          <a:p>
            <a:pPr algn="l"/>
            <a:r>
              <a:rPr sz="1500" b="1">
                <a:solidFill>
                  <a:srgbClr val="0B2C4A"/>
                </a:solidFill>
                <a:latin typeface="Calibri"/>
              </a:rPr>
              <a:t>Suture/staple</a:t>
            </a:r>
          </a:p>
        </p:txBody>
      </p:sp>
      <p:sp>
        <p:nvSpPr>
          <p:cNvPr id="31" name="TextBox 30"/>
          <p:cNvSpPr txBox="1"/>
          <p:nvPr/>
        </p:nvSpPr>
        <p:spPr>
          <a:xfrm>
            <a:off x="8439912" y="4050792"/>
            <a:ext cx="3337560" cy="1801368"/>
          </a:xfrm>
          <a:prstGeom prst="rect">
            <a:avLst/>
          </a:prstGeom>
          <a:noFill/>
        </p:spPr>
        <p:txBody>
          <a:bodyPr wrap="square" anchor="t"/>
          <a:lstStyle/>
          <a:p>
            <a:pPr algn="l"/>
            <a:r>
              <a:rPr sz="1300" b="0">
                <a:solidFill>
                  <a:srgbClr val="3D4A57"/>
                </a:solidFill>
                <a:latin typeface="Calibri"/>
              </a:rPr>
              <a:t>Typically 10–14 days for skin in small animals if healing is routine. Absorbable intradermal: still recheck.</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38  /  49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HEMORRHAGE, HERNIA, AND DEHISCENCE SHOW UP AFTER YOU HAVE GONE HOME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first 24 hours — what fails a surgery after the OR</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6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300" b="0">
                <a:solidFill>
                  <a:srgbClr val="3D4A57"/>
                </a:solidFill>
                <a:latin typeface="Calibri"/>
              </a:rPr>
              <a:t>Pale mm, tachycardia, distending abdomen, drip from incision, collapsing. Return to OR. Do not ‘watch overnight’ if unstable.</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6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3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6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3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6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300" b="0">
                <a:solidFill>
                  <a:srgbClr val="3D4A57"/>
                </a:solidFill>
                <a:latin typeface="Calibri"/>
              </a:rPr>
              <a:t>Often day 3–5 as inflammation peaks and the patient licks. Skin vs. fascia — fascia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6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300" b="0">
                <a:solidFill>
                  <a:srgbClr val="3D4A57"/>
                </a:solidFill>
                <a:latin typeface="Calibri"/>
              </a:rPr>
              <a:t>Redness, pain, discharge, fever, usually after day 3. Culture if indicated. Open, lavage, do not just add a random antibiotic.</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6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300" b="0">
                <a:solidFill>
                  <a:srgbClr val="3D4A57"/>
                </a:solidFill>
                <a:latin typeface="Calibri"/>
              </a:rPr>
              <a:t>Dead space + motion. Usually not an emergency. Restrict, bandage sometimes. Do not drain casually.</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39  /  49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THE NEXT DOCTOR AT 2 A.M. IS YOUR AUDIENCE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Surgical report — if it is not written, it was not done</a:t>
            </a:r>
          </a:p>
        </p:txBody>
      </p:sp>
      <p:sp>
        <p:nvSpPr>
          <p:cNvPr id="8" name="Rounded Rectangle 7"/>
          <p:cNvSpPr/>
          <p:nvPr/>
        </p:nvSpPr>
        <p:spPr>
          <a:xfrm>
            <a:off x="457200" y="1097280"/>
            <a:ext cx="57607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303520" cy="365760"/>
          </a:xfrm>
          <a:prstGeom prst="rect">
            <a:avLst/>
          </a:prstGeom>
          <a:noFill/>
        </p:spPr>
        <p:txBody>
          <a:bodyPr wrap="square" anchor="t"/>
          <a:lstStyle/>
          <a:p>
            <a:pPr algn="l"/>
            <a:r>
              <a:rPr sz="1600" b="1">
                <a:solidFill>
                  <a:srgbClr val="0B2C4A"/>
                </a:solidFill>
                <a:latin typeface="Calibri"/>
              </a:rPr>
              <a:t>Minimum elements</a:t>
            </a:r>
          </a:p>
        </p:txBody>
      </p:sp>
      <p:sp>
        <p:nvSpPr>
          <p:cNvPr id="10" name="TextBox 9"/>
          <p:cNvSpPr txBox="1"/>
          <p:nvPr/>
        </p:nvSpPr>
        <p:spPr>
          <a:xfrm>
            <a:off x="640080" y="1737360"/>
            <a:ext cx="5394960" cy="4114800"/>
          </a:xfrm>
          <a:prstGeom prst="rect">
            <a:avLst/>
          </a:prstGeom>
          <a:noFill/>
        </p:spPr>
        <p:txBody>
          <a:bodyPr wrap="square">
            <a:spAutoFit/>
          </a:bodyPr>
          <a:lstStyle/>
          <a:p>
            <a:pPr algn="l">
              <a:spcAft>
                <a:spcPts val="500"/>
              </a:spcAft>
            </a:pPr>
            <a:r>
              <a:rPr sz="1500" b="0">
                <a:solidFill>
                  <a:srgbClr val="1C1C1C"/>
                </a:solidFill>
                <a:latin typeface="Calibri"/>
              </a:rPr>
              <a:t>▸  Date/time, patient ID, surgeon, assistant, anesthesia.</a:t>
            </a:r>
          </a:p>
          <a:p>
            <a:pPr algn="l">
              <a:spcAft>
                <a:spcPts val="500"/>
              </a:spcAft>
            </a:pPr>
            <a:r>
              <a:rPr sz="1500" b="0">
                <a:solidFill>
                  <a:srgbClr val="1C1C1C"/>
                </a:solidFill>
                <a:latin typeface="Calibri"/>
              </a:rPr>
              <a:t>▸  Preop diagnosis and ASA.</a:t>
            </a:r>
          </a:p>
          <a:p>
            <a:pPr algn="l">
              <a:spcAft>
                <a:spcPts val="500"/>
              </a:spcAft>
            </a:pPr>
            <a:r>
              <a:rPr sz="1500" b="0">
                <a:solidFill>
                  <a:srgbClr val="1C1C1C"/>
                </a:solidFill>
                <a:latin typeface="Calibri"/>
              </a:rPr>
              <a:t>▸  Procedure name (and side).</a:t>
            </a:r>
          </a:p>
          <a:p>
            <a:pPr algn="l">
              <a:spcAft>
                <a:spcPts val="500"/>
              </a:spcAft>
            </a:pPr>
            <a:r>
              <a:rPr sz="1500" b="0">
                <a:solidFill>
                  <a:srgbClr val="1C1C1C"/>
                </a:solidFill>
                <a:latin typeface="Calibri"/>
              </a:rPr>
              <a:t>▸  Position, clip/prep, approach.</a:t>
            </a:r>
          </a:p>
          <a:p>
            <a:pPr algn="l">
              <a:spcAft>
                <a:spcPts val="500"/>
              </a:spcAft>
            </a:pPr>
            <a:r>
              <a:rPr sz="1500" b="0">
                <a:solidFill>
                  <a:srgbClr val="1C1C1C"/>
                </a:solidFill>
                <a:latin typeface="Calibri"/>
              </a:rPr>
              <a:t>▸  Findings in order of encounter.</a:t>
            </a:r>
          </a:p>
          <a:p>
            <a:pPr algn="l">
              <a:spcAft>
                <a:spcPts val="500"/>
              </a:spcAft>
            </a:pPr>
            <a:r>
              <a:rPr sz="1500" b="0">
                <a:solidFill>
                  <a:srgbClr val="1C1C1C"/>
                </a:solidFill>
                <a:latin typeface="Calibri"/>
              </a:rPr>
              <a:t>▸  What was done — ligatures, implants, samples.</a:t>
            </a:r>
          </a:p>
          <a:p>
            <a:pPr algn="l">
              <a:spcAft>
                <a:spcPts val="500"/>
              </a:spcAft>
            </a:pPr>
            <a:r>
              <a:rPr sz="1500" b="0">
                <a:solidFill>
                  <a:srgbClr val="1C1C1C"/>
                </a:solidFill>
                <a:latin typeface="Calibri"/>
              </a:rPr>
              <a:t>▸  Suture: layer, material, size, pattern.</a:t>
            </a:r>
          </a:p>
          <a:p>
            <a:pPr algn="l">
              <a:spcAft>
                <a:spcPts val="500"/>
              </a:spcAft>
            </a:pPr>
            <a:r>
              <a:rPr sz="1500" b="0">
                <a:solidFill>
                  <a:srgbClr val="1C1C1C"/>
                </a:solidFill>
                <a:latin typeface="Calibri"/>
              </a:rPr>
              <a:t>▸  Hemostasis, estimated blood loss, complications.</a:t>
            </a:r>
          </a:p>
          <a:p>
            <a:pPr algn="l">
              <a:spcAft>
                <a:spcPts val="500"/>
              </a:spcAft>
            </a:pPr>
            <a:r>
              <a:rPr sz="1500" b="0">
                <a:solidFill>
                  <a:srgbClr val="1C1C1C"/>
                </a:solidFill>
                <a:latin typeface="Calibri"/>
              </a:rPr>
              <a:t>▸  Specimens to pathology / culture.</a:t>
            </a:r>
          </a:p>
          <a:p>
            <a:pPr algn="l">
              <a:spcAft>
                <a:spcPts val="500"/>
              </a:spcAft>
            </a:pPr>
            <a:r>
              <a:rPr sz="1500" b="0">
                <a:solidFill>
                  <a:srgbClr val="1C1C1C"/>
                </a:solidFill>
                <a:latin typeface="Calibri"/>
              </a:rPr>
              <a:t>▸  Postop plan: fluids, pain, feeding, urinary, recheck.</a:t>
            </a:r>
          </a:p>
        </p:txBody>
      </p:sp>
      <p:sp>
        <p:nvSpPr>
          <p:cNvPr id="11" name="Rounded Rectangle 10"/>
          <p:cNvSpPr/>
          <p:nvPr/>
        </p:nvSpPr>
        <p:spPr>
          <a:xfrm>
            <a:off x="6446520" y="1097280"/>
            <a:ext cx="525780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0" y="1325880"/>
            <a:ext cx="4846320" cy="365760"/>
          </a:xfrm>
          <a:prstGeom prst="rect">
            <a:avLst/>
          </a:prstGeom>
          <a:noFill/>
        </p:spPr>
        <p:txBody>
          <a:bodyPr wrap="square" anchor="t"/>
          <a:lstStyle/>
          <a:p>
            <a:pPr algn="l"/>
            <a:r>
              <a:rPr sz="1600" b="1">
                <a:solidFill>
                  <a:srgbClr val="C5A35A"/>
                </a:solidFill>
                <a:latin typeface="Calibri"/>
              </a:rPr>
              <a:t>Why the next doctor cares</a:t>
            </a:r>
          </a:p>
        </p:txBody>
      </p:sp>
      <p:sp>
        <p:nvSpPr>
          <p:cNvPr id="13" name="TextBox 12"/>
          <p:cNvSpPr txBox="1"/>
          <p:nvPr/>
        </p:nvSpPr>
        <p:spPr>
          <a:xfrm>
            <a:off x="6675120" y="1874519"/>
            <a:ext cx="4846320" cy="3931920"/>
          </a:xfrm>
          <a:prstGeom prst="rect">
            <a:avLst/>
          </a:prstGeom>
          <a:noFill/>
        </p:spPr>
        <p:txBody>
          <a:bodyPr wrap="square" anchor="t"/>
          <a:lstStyle/>
          <a:p>
            <a:pPr algn="l"/>
            <a:r>
              <a:rPr sz="1600" b="0">
                <a:solidFill>
                  <a:srgbClr val="FFFFFF"/>
                </a:solidFill>
                <a:latin typeface="Calibri"/>
              </a:rPr>
              <a:t>At 2 a.m. someone will open this record because the abdomen is swelling.
They need: how the pedicles were ligated, whether a sponge count was complete, what suture is in the linea, and whether the client was already called.
Operate as if that night-call is tonight.</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40  /  49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VERBAL + WRITTEN. TEACH-BACK. ONE CAREGIVER DEMONSTRATES THE E-COLLAR.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Discharge instructions — in the client’s language</a:t>
            </a:r>
          </a:p>
        </p:txBody>
      </p:sp>
      <p:sp>
        <p:nvSpPr>
          <p:cNvPr id="8" name="Rounded Rectangle 7"/>
          <p:cNvSpPr/>
          <p:nvPr/>
        </p:nvSpPr>
        <p:spPr>
          <a:xfrm>
            <a:off x="411480" y="109728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097280"/>
            <a:ext cx="5212080" cy="1115568"/>
          </a:xfrm>
          <a:prstGeom prst="rect">
            <a:avLst/>
          </a:prstGeom>
          <a:noFill/>
        </p:spPr>
        <p:txBody>
          <a:bodyPr wrap="square" anchor="ctr"/>
          <a:lstStyle/>
          <a:p>
            <a:pPr algn="l"/>
            <a:r>
              <a:rPr sz="1500" b="0">
                <a:solidFill>
                  <a:srgbClr val="1C1C1C"/>
                </a:solidFill>
                <a:latin typeface="Calibri"/>
              </a:rPr>
              <a:t>What we did, in one sentence.</a:t>
            </a:r>
          </a:p>
        </p:txBody>
      </p:sp>
      <p:sp>
        <p:nvSpPr>
          <p:cNvPr id="11" name="Rounded Rectangle 10"/>
          <p:cNvSpPr/>
          <p:nvPr/>
        </p:nvSpPr>
        <p:spPr>
          <a:xfrm>
            <a:off x="6309360" y="109728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9728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0" y="1097280"/>
            <a:ext cx="5212080" cy="1115568"/>
          </a:xfrm>
          <a:prstGeom prst="rect">
            <a:avLst/>
          </a:prstGeom>
          <a:noFill/>
        </p:spPr>
        <p:txBody>
          <a:bodyPr wrap="square" anchor="ctr"/>
          <a:lstStyle/>
          <a:p>
            <a:pPr algn="l"/>
            <a:r>
              <a:rPr sz="1500" b="0">
                <a:solidFill>
                  <a:srgbClr val="1C1C1C"/>
                </a:solidFill>
                <a:latin typeface="Calibri"/>
              </a:rPr>
              <a:t>When to start food and water, and how much.</a:t>
            </a:r>
          </a:p>
        </p:txBody>
      </p:sp>
      <p:sp>
        <p:nvSpPr>
          <p:cNvPr id="14" name="Rounded Rectangle 13"/>
          <p:cNvSpPr/>
          <p:nvPr/>
        </p:nvSpPr>
        <p:spPr>
          <a:xfrm>
            <a:off x="411480" y="233172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33172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331720"/>
            <a:ext cx="5212080" cy="1115568"/>
          </a:xfrm>
          <a:prstGeom prst="rect">
            <a:avLst/>
          </a:prstGeom>
          <a:noFill/>
        </p:spPr>
        <p:txBody>
          <a:bodyPr wrap="square" anchor="ctr"/>
          <a:lstStyle/>
          <a:p>
            <a:pPr algn="l"/>
            <a:r>
              <a:rPr sz="1500" b="0">
                <a:solidFill>
                  <a:srgbClr val="1C1C1C"/>
                </a:solidFill>
                <a:latin typeface="Calibri"/>
              </a:rPr>
              <a:t>Every medication: name, dose, time, with food?, what if a dose is missed.</a:t>
            </a:r>
          </a:p>
        </p:txBody>
      </p:sp>
      <p:sp>
        <p:nvSpPr>
          <p:cNvPr id="17" name="Rounded Rectangle 16"/>
          <p:cNvSpPr/>
          <p:nvPr/>
        </p:nvSpPr>
        <p:spPr>
          <a:xfrm>
            <a:off x="6309360" y="233172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09360" y="233172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0" y="2331720"/>
            <a:ext cx="5212080" cy="1115568"/>
          </a:xfrm>
          <a:prstGeom prst="rect">
            <a:avLst/>
          </a:prstGeom>
          <a:noFill/>
        </p:spPr>
        <p:txBody>
          <a:bodyPr wrap="square" anchor="ctr"/>
          <a:lstStyle/>
          <a:p>
            <a:pPr algn="l"/>
            <a:r>
              <a:rPr sz="1500" b="0">
                <a:solidFill>
                  <a:srgbClr val="1C1C1C"/>
                </a:solidFill>
                <a:latin typeface="Calibri"/>
              </a:rPr>
              <a:t>Incision care and activity restriction — specific, timed (e.g., 14 days leash-only).</a:t>
            </a:r>
          </a:p>
        </p:txBody>
      </p:sp>
      <p:sp>
        <p:nvSpPr>
          <p:cNvPr id="20" name="Rounded Rectangle 19"/>
          <p:cNvSpPr/>
          <p:nvPr/>
        </p:nvSpPr>
        <p:spPr>
          <a:xfrm>
            <a:off x="411480" y="356616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56616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3566160"/>
            <a:ext cx="5212080" cy="1115568"/>
          </a:xfrm>
          <a:prstGeom prst="rect">
            <a:avLst/>
          </a:prstGeom>
          <a:noFill/>
        </p:spPr>
        <p:txBody>
          <a:bodyPr wrap="square" anchor="ctr"/>
          <a:lstStyle/>
          <a:p>
            <a:pPr algn="l"/>
            <a:r>
              <a:rPr sz="1500" b="0">
                <a:solidFill>
                  <a:srgbClr val="1C1C1C"/>
                </a:solidFill>
                <a:latin typeface="Calibri"/>
              </a:rPr>
              <a:t>E-collar on except when directly watching.</a:t>
            </a:r>
          </a:p>
        </p:txBody>
      </p:sp>
      <p:sp>
        <p:nvSpPr>
          <p:cNvPr id="23" name="Rounded Rectangle 22"/>
          <p:cNvSpPr/>
          <p:nvPr/>
        </p:nvSpPr>
        <p:spPr>
          <a:xfrm>
            <a:off x="6309360" y="356616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356616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0" y="3566160"/>
            <a:ext cx="5212080" cy="1115568"/>
          </a:xfrm>
          <a:prstGeom prst="rect">
            <a:avLst/>
          </a:prstGeom>
          <a:noFill/>
        </p:spPr>
        <p:txBody>
          <a:bodyPr wrap="square" anchor="ctr"/>
          <a:lstStyle/>
          <a:p>
            <a:pPr algn="l"/>
            <a:r>
              <a:rPr sz="1500" b="0">
                <a:solidFill>
                  <a:srgbClr val="1C1C1C"/>
                </a:solidFill>
                <a:latin typeface="Calibri"/>
              </a:rPr>
              <a:t>Next appointment (recheck / suture removal / histopath call).</a:t>
            </a:r>
          </a:p>
        </p:txBody>
      </p:sp>
      <p:sp>
        <p:nvSpPr>
          <p:cNvPr id="26" name="Rounded Rectangle 25"/>
          <p:cNvSpPr/>
          <p:nvPr/>
        </p:nvSpPr>
        <p:spPr>
          <a:xfrm>
            <a:off x="411480" y="480060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80060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4800600"/>
            <a:ext cx="5212080" cy="1115568"/>
          </a:xfrm>
          <a:prstGeom prst="rect">
            <a:avLst/>
          </a:prstGeom>
          <a:noFill/>
        </p:spPr>
        <p:txBody>
          <a:bodyPr wrap="square" anchor="ctr"/>
          <a:lstStyle/>
          <a:p>
            <a:pPr algn="l"/>
            <a:r>
              <a:rPr sz="1500" b="0">
                <a:solidFill>
                  <a:srgbClr val="1C1C1C"/>
                </a:solidFill>
                <a:latin typeface="Calibri"/>
              </a:rPr>
              <a:t>ER criteria (next slide) with a phone number that answers.</a:t>
            </a:r>
          </a:p>
        </p:txBody>
      </p:sp>
      <p:sp>
        <p:nvSpPr>
          <p:cNvPr id="29" name="Rounded Rectangle 28"/>
          <p:cNvSpPr/>
          <p:nvPr/>
        </p:nvSpPr>
        <p:spPr>
          <a:xfrm>
            <a:off x="6309360" y="480060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309360" y="480060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0" y="4800600"/>
            <a:ext cx="5212080" cy="1115568"/>
          </a:xfrm>
          <a:prstGeom prst="rect">
            <a:avLst/>
          </a:prstGeom>
          <a:noFill/>
        </p:spPr>
        <p:txBody>
          <a:bodyPr wrap="square" anchor="ctr"/>
          <a:lstStyle/>
          <a:p>
            <a:pPr algn="l"/>
            <a:r>
              <a:rPr sz="1500" b="0">
                <a:solidFill>
                  <a:srgbClr val="1C1C1C"/>
                </a:solidFill>
                <a:latin typeface="Calibri"/>
              </a:rPr>
              <a:t>Your name. The hospital number. After-hours number.</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41  /  49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THE CLIENT CANNOT REPEAT THESE, YOU DID NOT DISCHARGE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When to come back tonight — teach this verbatim</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18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500" b="0">
                <a:solidFill>
                  <a:srgbClr val="1C1C1C"/>
                </a:solidFill>
                <a:latin typeface="Calibri"/>
              </a:rPr>
              <a:t>Collapse, pale gums, distended/painful abdomen, unstoppable bleeding, vomiting that prevents meds, difficulty breathing, inability to urinate, evisceration, uncontrolled pain, or you are frightened.</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18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500" b="0">
                <a:solidFill>
                  <a:srgbClr val="1C1C1C"/>
                </a:solidFill>
                <a:latin typeface="Calibri"/>
              </a:rPr>
              <a:t>Not eating by the next morning (species/procedure dependent), a few episodes of vomiting, mild incision redness, diarrhea, e-collar problems, constipation vs. straining.</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18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500" b="0">
                <a:solidFill>
                  <a:srgbClr val="1C1C1C"/>
                </a:solidFill>
                <a:latin typeface="Calibri"/>
              </a:rPr>
              <a:t>Sleepiness tonight, a small bruise near the incision, a slightly tacky incision, a reduced appetite the evening of surgery.</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42  /  49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SURGERY IS A WHOLE-PATIENT EVENT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Fluids, feeding, and the rest of the animal</a:t>
            </a:r>
          </a:p>
        </p:txBody>
      </p:sp>
      <p:sp>
        <p:nvSpPr>
          <p:cNvPr id="8" name="Rounded Rectangle 7"/>
          <p:cNvSpPr/>
          <p:nvPr/>
        </p:nvSpPr>
        <p:spPr>
          <a:xfrm>
            <a:off x="457200" y="1097280"/>
            <a:ext cx="365760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502920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47472"/>
          </a:xfrm>
          <a:prstGeom prst="rect">
            <a:avLst/>
          </a:prstGeom>
          <a:noFill/>
        </p:spPr>
        <p:txBody>
          <a:bodyPr wrap="square" anchor="t"/>
          <a:lstStyle/>
          <a:p>
            <a:pPr algn="l"/>
            <a:r>
              <a:rPr sz="1500" b="1">
                <a:solidFill>
                  <a:srgbClr val="0B2C4A"/>
                </a:solidFill>
                <a:latin typeface="Calibri"/>
              </a:rPr>
              <a:t>Fluids</a:t>
            </a:r>
          </a:p>
        </p:txBody>
      </p:sp>
      <p:sp>
        <p:nvSpPr>
          <p:cNvPr id="11" name="TextBox 10"/>
          <p:cNvSpPr txBox="1"/>
          <p:nvPr/>
        </p:nvSpPr>
        <p:spPr>
          <a:xfrm>
            <a:off x="713232" y="1536192"/>
            <a:ext cx="3291840" cy="4498848"/>
          </a:xfrm>
          <a:prstGeom prst="rect">
            <a:avLst/>
          </a:prstGeom>
          <a:noFill/>
        </p:spPr>
        <p:txBody>
          <a:bodyPr wrap="square" anchor="t"/>
          <a:lstStyle/>
          <a:p>
            <a:pPr algn="l"/>
            <a:r>
              <a:rPr sz="1300" b="0">
                <a:solidFill>
                  <a:srgbClr val="3D4A57"/>
                </a:solidFill>
                <a:latin typeface="Calibri"/>
              </a:rPr>
              <a:t>Continue until eating/drinking and not hypotensive. Match losses (vomiting, drains). Do not fluid-overload heart or kidney patients. Recheck PCV/TS if hemorrhage suspected.</a:t>
            </a:r>
          </a:p>
        </p:txBody>
      </p:sp>
      <p:sp>
        <p:nvSpPr>
          <p:cNvPr id="12" name="Rounded Rectangle 11"/>
          <p:cNvSpPr/>
          <p:nvPr/>
        </p:nvSpPr>
        <p:spPr>
          <a:xfrm>
            <a:off x="4297680" y="1097280"/>
            <a:ext cx="365760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47472"/>
          </a:xfrm>
          <a:prstGeom prst="rect">
            <a:avLst/>
          </a:prstGeom>
          <a:noFill/>
        </p:spPr>
        <p:txBody>
          <a:bodyPr wrap="square" anchor="t"/>
          <a:lstStyle/>
          <a:p>
            <a:pPr algn="l"/>
            <a:r>
              <a:rPr sz="1500" b="1">
                <a:solidFill>
                  <a:srgbClr val="0B2C4A"/>
                </a:solidFill>
                <a:latin typeface="Calibri"/>
              </a:rPr>
              <a:t>Nutrition</a:t>
            </a:r>
          </a:p>
        </p:txBody>
      </p:sp>
      <p:sp>
        <p:nvSpPr>
          <p:cNvPr id="15" name="TextBox 14"/>
          <p:cNvSpPr txBox="1"/>
          <p:nvPr/>
        </p:nvSpPr>
        <p:spPr>
          <a:xfrm>
            <a:off x="4553712" y="1536192"/>
            <a:ext cx="3291840" cy="4498848"/>
          </a:xfrm>
          <a:prstGeom prst="rect">
            <a:avLst/>
          </a:prstGeom>
          <a:noFill/>
        </p:spPr>
        <p:txBody>
          <a:bodyPr wrap="square" anchor="t"/>
          <a:lstStyle/>
          <a:p>
            <a:pPr algn="l"/>
            <a:r>
              <a:rPr sz="1300" b="0">
                <a:solidFill>
                  <a:srgbClr val="3D4A57"/>
                </a:solidFill>
                <a:latin typeface="Calibri"/>
              </a:rPr>
              <a:t>Offer water, then a small bland or usual meal when fully awake (procedure-dependent). GI surgery: surgeon specifies. Cats: prevent hepatic lipidosis — do not ‘wait and see’ for days. Consider mirtazapine/capromorelin as directed.</a:t>
            </a:r>
          </a:p>
        </p:txBody>
      </p:sp>
      <p:sp>
        <p:nvSpPr>
          <p:cNvPr id="16" name="Rounded Rectangle 15"/>
          <p:cNvSpPr/>
          <p:nvPr/>
        </p:nvSpPr>
        <p:spPr>
          <a:xfrm>
            <a:off x="8138160" y="1097280"/>
            <a:ext cx="35661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502920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47472"/>
          </a:xfrm>
          <a:prstGeom prst="rect">
            <a:avLst/>
          </a:prstGeom>
          <a:noFill/>
        </p:spPr>
        <p:txBody>
          <a:bodyPr wrap="square" anchor="t"/>
          <a:lstStyle/>
          <a:p>
            <a:pPr algn="l"/>
            <a:r>
              <a:rPr sz="1500" b="1">
                <a:solidFill>
                  <a:srgbClr val="0B2C4A"/>
                </a:solidFill>
                <a:latin typeface="Calibri"/>
              </a:rPr>
              <a:t>Other systems</a:t>
            </a:r>
          </a:p>
        </p:txBody>
      </p:sp>
      <p:sp>
        <p:nvSpPr>
          <p:cNvPr id="19" name="TextBox 18"/>
          <p:cNvSpPr txBox="1"/>
          <p:nvPr/>
        </p:nvSpPr>
        <p:spPr>
          <a:xfrm>
            <a:off x="8394192" y="1536192"/>
            <a:ext cx="3200400" cy="4498848"/>
          </a:xfrm>
          <a:prstGeom prst="rect">
            <a:avLst/>
          </a:prstGeom>
          <a:noFill/>
        </p:spPr>
        <p:txBody>
          <a:bodyPr wrap="square" anchor="t"/>
          <a:lstStyle/>
          <a:p>
            <a:pPr algn="l"/>
            <a:r>
              <a:rPr sz="1300" b="0">
                <a:solidFill>
                  <a:srgbClr val="3D4A57"/>
                </a:solidFill>
                <a:latin typeface="Calibri"/>
              </a:rPr>
              <a:t>Urinate before discharge. Bowel movements after laparotomy may lag. Eyes: lubrication after anesthesia. Recheck glucose in diabetics. Walk the dog out — do not assume the crate is fine.</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43  /  49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FIELD SURGERY IS STILL HALSTED; IT IS NOT AN EXCUSE TO SKIP CLIP, GLOVES, AND A DRAPE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Large animal — same principles, different dirt</a:t>
            </a:r>
          </a:p>
        </p:txBody>
      </p:sp>
      <p:sp>
        <p:nvSpPr>
          <p:cNvPr id="8" name="TextBox 7"/>
          <p:cNvSpPr txBox="1"/>
          <p:nvPr/>
        </p:nvSpPr>
        <p:spPr>
          <a:xfrm>
            <a:off x="502920" y="1097280"/>
            <a:ext cx="11155680" cy="5029200"/>
          </a:xfrm>
          <a:prstGeom prst="rect">
            <a:avLst/>
          </a:prstGeom>
          <a:noFill/>
        </p:spPr>
        <p:txBody>
          <a:bodyPr wrap="square">
            <a:spAutoFit/>
          </a:bodyPr>
          <a:lstStyle/>
          <a:p>
            <a:pPr algn="l">
              <a:spcAft>
                <a:spcPts val="1000"/>
              </a:spcAft>
            </a:pPr>
            <a:r>
              <a:rPr sz="1700" b="0">
                <a:solidFill>
                  <a:srgbClr val="1C1C1C"/>
                </a:solidFill>
                <a:latin typeface="Calibri"/>
              </a:rPr>
              <a:t>▸  Field surgery can be aseptic, not ‘sterile theater.’ Clip, wash, sterile gloves/instruments, and a drape still prevent SSI in a castration or displaced abomasum.</a:t>
            </a:r>
          </a:p>
          <a:p>
            <a:pPr algn="l">
              <a:spcAft>
                <a:spcPts val="1000"/>
              </a:spcAft>
            </a:pPr>
            <a:r>
              <a:rPr sz="1700" b="0">
                <a:solidFill>
                  <a:srgbClr val="1C1C1C"/>
                </a:solidFill>
                <a:latin typeface="Calibri"/>
              </a:rPr>
              <a:t>▸  Standing sedation vs. general anesthesia changes aspiration, padding, and recovery risk (especially horses).</a:t>
            </a:r>
          </a:p>
          <a:p>
            <a:pPr algn="l">
              <a:spcAft>
                <a:spcPts val="1000"/>
              </a:spcAft>
            </a:pPr>
            <a:r>
              <a:rPr sz="1700" b="0">
                <a:solidFill>
                  <a:srgbClr val="1C1C1C"/>
                </a:solidFill>
                <a:latin typeface="Calibri"/>
              </a:rPr>
              <a:t>▸  Tetanus prophylaxis is part of equine/farm-animal postop planning, not an afterthought.</a:t>
            </a:r>
          </a:p>
          <a:p>
            <a:pPr algn="l">
              <a:spcAft>
                <a:spcPts val="1000"/>
              </a:spcAft>
            </a:pPr>
            <a:r>
              <a:rPr sz="1700" b="0">
                <a:solidFill>
                  <a:srgbClr val="1C1C1C"/>
                </a:solidFill>
                <a:latin typeface="Calibri"/>
              </a:rPr>
              <a:t>▸  Recovery in a stall: head/eye protection, assist, do not rush to trailering.</a:t>
            </a:r>
          </a:p>
          <a:p>
            <a:pPr algn="l">
              <a:spcAft>
                <a:spcPts val="1000"/>
              </a:spcAft>
            </a:pPr>
            <a:r>
              <a:rPr sz="1700" b="0">
                <a:solidFill>
                  <a:srgbClr val="1C1C1C"/>
                </a:solidFill>
                <a:latin typeface="Calibri"/>
              </a:rPr>
              <a:t>▸  Antimicrobial use in food animals has residue and regulatory obligations — prophylaxis is not a default pour-on.</a:t>
            </a:r>
          </a:p>
          <a:p>
            <a:pPr algn="l">
              <a:spcAft>
                <a:spcPts val="1000"/>
              </a:spcAft>
            </a:pPr>
            <a:r>
              <a:rPr sz="1700" b="0">
                <a:solidFill>
                  <a:srgbClr val="1C1C1C"/>
                </a:solidFill>
                <a:latin typeface="Calibri"/>
              </a:rPr>
              <a:t>▸  Discharge is often a producer conversation: milk withhold, slaughter withhold, when the animal can rejoin the group.</a:t>
            </a:r>
          </a:p>
        </p:txBody>
      </p:sp>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44  /  49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YOU ARE THE SURGEON. THE OWNER IS IN RECEPTION.</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Walk Willie through the whole hour</a:t>
            </a:r>
          </a:p>
        </p:txBody>
      </p:sp>
      <p:sp>
        <p:nvSpPr>
          <p:cNvPr id="8" name="Rounded Rectangle 7"/>
          <p:cNvSpPr/>
          <p:nvPr/>
        </p:nvSpPr>
        <p:spPr>
          <a:xfrm>
            <a:off x="457200" y="1051560"/>
            <a:ext cx="11247120" cy="14173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88720"/>
            <a:ext cx="10789920" cy="1143000"/>
          </a:xfrm>
          <a:prstGeom prst="rect">
            <a:avLst/>
          </a:prstGeom>
          <a:noFill/>
        </p:spPr>
        <p:txBody>
          <a:bodyPr wrap="square" anchor="t"/>
          <a:lstStyle/>
          <a:p>
            <a:pPr algn="l"/>
            <a:r>
              <a:rPr sz="1500" b="0">
                <a:solidFill>
                  <a:srgbClr val="0B2C4A"/>
                </a:solidFill>
                <a:latin typeface="Calibri"/>
              </a:rPr>
              <a:t>Willie, 6 y 11 mo MN Cavalier, 13.7 kg. Acute vestibular crisis. Severe AS otitis, TM visible/swollen. Circling left, nystagmus fast-left, right knuckling. Grade II murmur. CBC WNL. This is ASA III-E. Client-owned.</a:t>
            </a:r>
          </a:p>
        </p:txBody>
      </p:sp>
      <p:sp>
        <p:nvSpPr>
          <p:cNvPr id="10" name="Rounded Rectangle 9"/>
          <p:cNvSpPr/>
          <p:nvPr/>
        </p:nvSpPr>
        <p:spPr>
          <a:xfrm>
            <a:off x="41148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2651760"/>
            <a:ext cx="2788920" cy="502920"/>
          </a:xfrm>
          <a:prstGeom prst="rect">
            <a:avLst/>
          </a:prstGeom>
          <a:noFill/>
        </p:spPr>
        <p:txBody>
          <a:bodyPr wrap="square" anchor="ctr"/>
          <a:lstStyle/>
          <a:p>
            <a:pPr algn="ctr"/>
            <a:r>
              <a:rPr sz="1400" b="1">
                <a:solidFill>
                  <a:srgbClr val="C5A35A"/>
                </a:solidFill>
                <a:latin typeface="Calibri"/>
              </a:rPr>
              <a:t>Pre-op</a:t>
            </a:r>
          </a:p>
        </p:txBody>
      </p:sp>
      <p:sp>
        <p:nvSpPr>
          <p:cNvPr id="13" name="TextBox 12"/>
          <p:cNvSpPr txBox="1"/>
          <p:nvPr/>
        </p:nvSpPr>
        <p:spPr>
          <a:xfrm>
            <a:off x="548640" y="3246120"/>
            <a:ext cx="2514600" cy="2743200"/>
          </a:xfrm>
          <a:prstGeom prst="rect">
            <a:avLst/>
          </a:prstGeom>
          <a:noFill/>
        </p:spPr>
        <p:txBody>
          <a:bodyPr wrap="square" anchor="t"/>
          <a:lstStyle/>
          <a:p>
            <a:pPr algn="l"/>
            <a:r>
              <a:rPr sz="1200" b="0">
                <a:solidFill>
                  <a:srgbClr val="1C1C1C"/>
                </a:solidFill>
                <a:latin typeface="Calibri"/>
              </a:rPr>
              <a:t>ASA III-E. Neuro exam. No NSAID (DexSP). IVF, Cerenia, meclizine. Culture the ear. Radiographs ≠ MRI. Central until proven otherwise.</a:t>
            </a:r>
          </a:p>
        </p:txBody>
      </p:sp>
      <p:sp>
        <p:nvSpPr>
          <p:cNvPr id="14" name="Rounded Rectangle 13"/>
          <p:cNvSpPr/>
          <p:nvPr/>
        </p:nvSpPr>
        <p:spPr>
          <a:xfrm>
            <a:off x="333756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2651760"/>
            <a:ext cx="2788920" cy="502920"/>
          </a:xfrm>
          <a:prstGeom prst="rect">
            <a:avLst/>
          </a:prstGeom>
          <a:noFill/>
        </p:spPr>
        <p:txBody>
          <a:bodyPr wrap="square" anchor="ctr"/>
          <a:lstStyle/>
          <a:p>
            <a:pPr algn="ctr"/>
            <a:r>
              <a:rPr sz="1400" b="1">
                <a:solidFill>
                  <a:srgbClr val="C5A35A"/>
                </a:solidFill>
                <a:latin typeface="Calibri"/>
              </a:rPr>
              <a:t>Prep</a:t>
            </a:r>
          </a:p>
        </p:txBody>
      </p:sp>
      <p:sp>
        <p:nvSpPr>
          <p:cNvPr id="17" name="TextBox 16"/>
          <p:cNvSpPr txBox="1"/>
          <p:nvPr/>
        </p:nvSpPr>
        <p:spPr>
          <a:xfrm>
            <a:off x="3474720" y="3246120"/>
            <a:ext cx="2514600" cy="2743200"/>
          </a:xfrm>
          <a:prstGeom prst="rect">
            <a:avLst/>
          </a:prstGeom>
          <a:noFill/>
        </p:spPr>
        <p:txBody>
          <a:bodyPr wrap="square" anchor="t"/>
          <a:lstStyle/>
          <a:p>
            <a:pPr algn="l"/>
            <a:r>
              <a:rPr sz="1200" b="0">
                <a:solidFill>
                  <a:srgbClr val="1C1C1C"/>
                </a:solidFill>
                <a:latin typeface="Calibri"/>
              </a:rPr>
              <a:t>Alfaxalone only after a surgical plane. Clip/prep the ear if you flush. CHG off the eye and drum. Pad him — he falls. Maintain the airway.</a:t>
            </a:r>
          </a:p>
        </p:txBody>
      </p:sp>
      <p:sp>
        <p:nvSpPr>
          <p:cNvPr id="18" name="Rounded Rectangle 17"/>
          <p:cNvSpPr/>
          <p:nvPr/>
        </p:nvSpPr>
        <p:spPr>
          <a:xfrm>
            <a:off x="626364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2651760"/>
            <a:ext cx="2788920" cy="502920"/>
          </a:xfrm>
          <a:prstGeom prst="rect">
            <a:avLst/>
          </a:prstGeom>
          <a:noFill/>
        </p:spPr>
        <p:txBody>
          <a:bodyPr wrap="square" anchor="ctr"/>
          <a:lstStyle/>
          <a:p>
            <a:pPr algn="ctr"/>
            <a:r>
              <a:rPr sz="1400" b="1">
                <a:solidFill>
                  <a:srgbClr val="C5A35A"/>
                </a:solidFill>
                <a:latin typeface="Calibri"/>
              </a:rPr>
              <a:t>Intra</a:t>
            </a:r>
          </a:p>
        </p:txBody>
      </p:sp>
      <p:sp>
        <p:nvSpPr>
          <p:cNvPr id="21" name="TextBox 20"/>
          <p:cNvSpPr txBox="1"/>
          <p:nvPr/>
        </p:nvSpPr>
        <p:spPr>
          <a:xfrm>
            <a:off x="6400800" y="3246120"/>
            <a:ext cx="2514600" cy="2743200"/>
          </a:xfrm>
          <a:prstGeom prst="rect">
            <a:avLst/>
          </a:prstGeom>
          <a:noFill/>
        </p:spPr>
        <p:txBody>
          <a:bodyPr wrap="square" anchor="t"/>
          <a:lstStyle/>
          <a:p>
            <a:pPr algn="l"/>
            <a:r>
              <a:rPr sz="1200" b="0">
                <a:solidFill>
                  <a:srgbClr val="1C1C1C"/>
                </a:solidFill>
                <a:latin typeface="Calibri"/>
              </a:rPr>
              <a:t>Deep clean + cytology. Timeout. If you contaminate, say it. Do not treat this like a 20-minute spay.</a:t>
            </a:r>
          </a:p>
        </p:txBody>
      </p:sp>
      <p:sp>
        <p:nvSpPr>
          <p:cNvPr id="22" name="Rounded Rectangle 21"/>
          <p:cNvSpPr/>
          <p:nvPr/>
        </p:nvSpPr>
        <p:spPr>
          <a:xfrm>
            <a:off x="918972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2651760"/>
            <a:ext cx="2788920" cy="502920"/>
          </a:xfrm>
          <a:prstGeom prst="rect">
            <a:avLst/>
          </a:prstGeom>
          <a:noFill/>
        </p:spPr>
        <p:txBody>
          <a:bodyPr wrap="square" anchor="ctr"/>
          <a:lstStyle/>
          <a:p>
            <a:pPr algn="ctr"/>
            <a:r>
              <a:rPr sz="1400" b="1">
                <a:solidFill>
                  <a:srgbClr val="C5A35A"/>
                </a:solidFill>
                <a:latin typeface="Calibri"/>
              </a:rPr>
              <a:t>Post</a:t>
            </a:r>
          </a:p>
        </p:txBody>
      </p:sp>
      <p:sp>
        <p:nvSpPr>
          <p:cNvPr id="25" name="TextBox 24"/>
          <p:cNvSpPr txBox="1"/>
          <p:nvPr/>
        </p:nvSpPr>
        <p:spPr>
          <a:xfrm>
            <a:off x="9326880" y="3246120"/>
            <a:ext cx="2514600" cy="2743200"/>
          </a:xfrm>
          <a:prstGeom prst="rect">
            <a:avLst/>
          </a:prstGeom>
          <a:noFill/>
        </p:spPr>
        <p:txBody>
          <a:bodyPr wrap="square" anchor="t"/>
          <a:lstStyle/>
          <a:p>
            <a:pPr algn="l"/>
            <a:r>
              <a:rPr sz="1200" b="0">
                <a:solidFill>
                  <a:srgbClr val="1C1C1C"/>
                </a:solidFill>
                <a:latin typeface="Calibri"/>
              </a:rPr>
              <a:t>Confine, no stairs. Watch neuro signs, vomiting, seizures. MRI next. TECA-LBO only after culture if medical therapy fails. You own hour 23.</a:t>
            </a:r>
          </a:p>
        </p:txBody>
      </p:sp>
      <p:sp>
        <p:nvSpPr>
          <p:cNvPr id="26" name="Rectangle 2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8" name="TextBox 2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45  /  49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REMEMBER SIX THINGS, REMEMBER THESE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Key points from this hour</a:t>
            </a:r>
          </a:p>
        </p:txBody>
      </p:sp>
      <p:sp>
        <p:nvSpPr>
          <p:cNvPr id="8" name="Rounded Rectangle 7"/>
          <p:cNvSpPr/>
          <p:nvPr/>
        </p:nvSpPr>
        <p:spPr>
          <a:xfrm>
            <a:off x="457200" y="105156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640080" cy="731520"/>
          </a:xfrm>
          <a:prstGeom prst="rect">
            <a:avLst/>
          </a:prstGeom>
          <a:noFill/>
        </p:spPr>
        <p:txBody>
          <a:bodyPr wrap="square" anchor="ctr"/>
          <a:lstStyle/>
          <a:p>
            <a:pPr algn="ctr"/>
            <a:r>
              <a:rPr sz="1800" b="1">
                <a:solidFill>
                  <a:srgbClr val="0B2C4A"/>
                </a:solidFill>
                <a:latin typeface="Calibri"/>
              </a:rPr>
              <a:t>1</a:t>
            </a:r>
          </a:p>
        </p:txBody>
      </p:sp>
      <p:sp>
        <p:nvSpPr>
          <p:cNvPr id="11" name="TextBox 10"/>
          <p:cNvSpPr txBox="1"/>
          <p:nvPr/>
        </p:nvSpPr>
        <p:spPr>
          <a:xfrm>
            <a:off x="1280160" y="1051560"/>
            <a:ext cx="10149840" cy="731520"/>
          </a:xfrm>
          <a:prstGeom prst="rect">
            <a:avLst/>
          </a:prstGeom>
          <a:noFill/>
        </p:spPr>
        <p:txBody>
          <a:bodyPr wrap="square" anchor="ctr"/>
          <a:lstStyle/>
          <a:p>
            <a:pPr algn="l"/>
            <a:r>
              <a:rPr sz="1600" b="0">
                <a:solidFill>
                  <a:srgbClr val="1C1C1C"/>
                </a:solidFill>
                <a:latin typeface="Calibri"/>
              </a:rPr>
              <a:t>ASA is assigned after today’s PE and labs. Willie (vestibular Cavalier + AS otitis + murmur) is ASA III-E, not a healthy ear flush.</a:t>
            </a:r>
          </a:p>
        </p:txBody>
      </p:sp>
      <p:sp>
        <p:nvSpPr>
          <p:cNvPr id="12" name="Rounded Rectangle 11"/>
          <p:cNvSpPr/>
          <p:nvPr/>
        </p:nvSpPr>
        <p:spPr>
          <a:xfrm>
            <a:off x="457200" y="187452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87452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1874520"/>
            <a:ext cx="640080" cy="731520"/>
          </a:xfrm>
          <a:prstGeom prst="rect">
            <a:avLst/>
          </a:prstGeom>
          <a:noFill/>
        </p:spPr>
        <p:txBody>
          <a:bodyPr wrap="square" anchor="ctr"/>
          <a:lstStyle/>
          <a:p>
            <a:pPr algn="ctr"/>
            <a:r>
              <a:rPr sz="1800" b="1">
                <a:solidFill>
                  <a:srgbClr val="0B2C4A"/>
                </a:solidFill>
                <a:latin typeface="Calibri"/>
              </a:rPr>
              <a:t>2</a:t>
            </a:r>
          </a:p>
        </p:txBody>
      </p:sp>
      <p:sp>
        <p:nvSpPr>
          <p:cNvPr id="15" name="TextBox 14"/>
          <p:cNvSpPr txBox="1"/>
          <p:nvPr/>
        </p:nvSpPr>
        <p:spPr>
          <a:xfrm>
            <a:off x="1280160" y="1874520"/>
            <a:ext cx="10149840" cy="731520"/>
          </a:xfrm>
          <a:prstGeom prst="rect">
            <a:avLst/>
          </a:prstGeom>
          <a:noFill/>
        </p:spPr>
        <p:txBody>
          <a:bodyPr wrap="square" anchor="ctr"/>
          <a:lstStyle/>
          <a:p>
            <a:pPr algn="l"/>
            <a:r>
              <a:rPr sz="1600" b="0">
                <a:solidFill>
                  <a:srgbClr val="1C1C1C"/>
                </a:solidFill>
                <a:latin typeface="Calibri"/>
              </a:rPr>
              <a:t>Elective clean OHE: no routine postoperative antibiotics.</a:t>
            </a:r>
          </a:p>
        </p:txBody>
      </p:sp>
      <p:sp>
        <p:nvSpPr>
          <p:cNvPr id="16" name="Rounded Rectangle 15"/>
          <p:cNvSpPr/>
          <p:nvPr/>
        </p:nvSpPr>
        <p:spPr>
          <a:xfrm>
            <a:off x="457200" y="269748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69748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697480"/>
            <a:ext cx="640080" cy="731520"/>
          </a:xfrm>
          <a:prstGeom prst="rect">
            <a:avLst/>
          </a:prstGeom>
          <a:noFill/>
        </p:spPr>
        <p:txBody>
          <a:bodyPr wrap="square" anchor="ctr"/>
          <a:lstStyle/>
          <a:p>
            <a:pPr algn="ctr"/>
            <a:r>
              <a:rPr sz="1800" b="1">
                <a:solidFill>
                  <a:srgbClr val="0B2C4A"/>
                </a:solidFill>
                <a:latin typeface="Calibri"/>
              </a:rPr>
              <a:t>3</a:t>
            </a:r>
          </a:p>
        </p:txBody>
      </p:sp>
      <p:sp>
        <p:nvSpPr>
          <p:cNvPr id="19" name="TextBox 18"/>
          <p:cNvSpPr txBox="1"/>
          <p:nvPr/>
        </p:nvSpPr>
        <p:spPr>
          <a:xfrm>
            <a:off x="1280160" y="2697480"/>
            <a:ext cx="10149840" cy="731520"/>
          </a:xfrm>
          <a:prstGeom prst="rect">
            <a:avLst/>
          </a:prstGeom>
          <a:noFill/>
        </p:spPr>
        <p:txBody>
          <a:bodyPr wrap="square" anchor="ctr"/>
          <a:lstStyle/>
          <a:p>
            <a:pPr algn="l"/>
            <a:r>
              <a:rPr sz="1600" b="0">
                <a:solidFill>
                  <a:srgbClr val="1C1C1C"/>
                </a:solidFill>
                <a:latin typeface="Calibri"/>
              </a:rPr>
              <a:t>Clip after induction, #40, not razor, not the night before; spiral prep center → out.</a:t>
            </a:r>
          </a:p>
        </p:txBody>
      </p:sp>
      <p:sp>
        <p:nvSpPr>
          <p:cNvPr id="20" name="Rounded Rectangle 19"/>
          <p:cNvSpPr/>
          <p:nvPr/>
        </p:nvSpPr>
        <p:spPr>
          <a:xfrm>
            <a:off x="457200" y="352044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52044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3520440"/>
            <a:ext cx="640080" cy="731520"/>
          </a:xfrm>
          <a:prstGeom prst="rect">
            <a:avLst/>
          </a:prstGeom>
          <a:noFill/>
        </p:spPr>
        <p:txBody>
          <a:bodyPr wrap="square" anchor="ctr"/>
          <a:lstStyle/>
          <a:p>
            <a:pPr algn="ctr"/>
            <a:r>
              <a:rPr sz="1800" b="1">
                <a:solidFill>
                  <a:srgbClr val="0B2C4A"/>
                </a:solidFill>
                <a:latin typeface="Calibri"/>
              </a:rPr>
              <a:t>4</a:t>
            </a:r>
          </a:p>
        </p:txBody>
      </p:sp>
      <p:sp>
        <p:nvSpPr>
          <p:cNvPr id="23" name="TextBox 22"/>
          <p:cNvSpPr txBox="1"/>
          <p:nvPr/>
        </p:nvSpPr>
        <p:spPr>
          <a:xfrm>
            <a:off x="1280160" y="3520440"/>
            <a:ext cx="10149840" cy="731520"/>
          </a:xfrm>
          <a:prstGeom prst="rect">
            <a:avLst/>
          </a:prstGeom>
          <a:noFill/>
        </p:spPr>
        <p:txBody>
          <a:bodyPr wrap="square" anchor="ctr"/>
          <a:lstStyle/>
          <a:p>
            <a:pPr algn="l"/>
            <a:r>
              <a:rPr sz="1600" b="0">
                <a:solidFill>
                  <a:srgbClr val="1C1C1C"/>
                </a:solidFill>
                <a:latin typeface="Calibri"/>
              </a:rPr>
              <a:t>CHG off the cornea and out of the middle ear.</a:t>
            </a:r>
          </a:p>
        </p:txBody>
      </p:sp>
      <p:sp>
        <p:nvSpPr>
          <p:cNvPr id="24" name="Rounded Rectangle 23"/>
          <p:cNvSpPr/>
          <p:nvPr/>
        </p:nvSpPr>
        <p:spPr>
          <a:xfrm>
            <a:off x="457200" y="434340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434340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343400"/>
            <a:ext cx="640080" cy="731520"/>
          </a:xfrm>
          <a:prstGeom prst="rect">
            <a:avLst/>
          </a:prstGeom>
          <a:noFill/>
        </p:spPr>
        <p:txBody>
          <a:bodyPr wrap="square" anchor="ctr"/>
          <a:lstStyle/>
          <a:p>
            <a:pPr algn="ctr"/>
            <a:r>
              <a:rPr sz="1800" b="1">
                <a:solidFill>
                  <a:srgbClr val="0B2C4A"/>
                </a:solidFill>
                <a:latin typeface="Calibri"/>
              </a:rPr>
              <a:t>5</a:t>
            </a:r>
          </a:p>
        </p:txBody>
      </p:sp>
      <p:sp>
        <p:nvSpPr>
          <p:cNvPr id="27" name="TextBox 26"/>
          <p:cNvSpPr txBox="1"/>
          <p:nvPr/>
        </p:nvSpPr>
        <p:spPr>
          <a:xfrm>
            <a:off x="1280160" y="4343400"/>
            <a:ext cx="10149840" cy="731520"/>
          </a:xfrm>
          <a:prstGeom prst="rect">
            <a:avLst/>
          </a:prstGeom>
          <a:noFill/>
        </p:spPr>
        <p:txBody>
          <a:bodyPr wrap="square" anchor="ctr"/>
          <a:lstStyle/>
          <a:p>
            <a:pPr algn="l"/>
            <a:r>
              <a:rPr sz="1600" b="0">
                <a:solidFill>
                  <a:srgbClr val="1C1C1C"/>
                </a:solidFill>
                <a:latin typeface="Calibri"/>
              </a:rPr>
              <a:t>Four-quadrant drape + closed glove; announce contamination; after incision there is no free warning.</a:t>
            </a:r>
          </a:p>
        </p:txBody>
      </p:sp>
      <p:sp>
        <p:nvSpPr>
          <p:cNvPr id="28" name="Rounded Rectangle 27"/>
          <p:cNvSpPr/>
          <p:nvPr/>
        </p:nvSpPr>
        <p:spPr>
          <a:xfrm>
            <a:off x="457200" y="516636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516636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5166360"/>
            <a:ext cx="640080" cy="731520"/>
          </a:xfrm>
          <a:prstGeom prst="rect">
            <a:avLst/>
          </a:prstGeom>
          <a:noFill/>
        </p:spPr>
        <p:txBody>
          <a:bodyPr wrap="square" anchor="ctr"/>
          <a:lstStyle/>
          <a:p>
            <a:pPr algn="ctr"/>
            <a:r>
              <a:rPr sz="1800" b="1">
                <a:solidFill>
                  <a:srgbClr val="0B2C4A"/>
                </a:solidFill>
                <a:latin typeface="Calibri"/>
              </a:rPr>
              <a:t>6</a:t>
            </a:r>
          </a:p>
        </p:txBody>
      </p:sp>
      <p:sp>
        <p:nvSpPr>
          <p:cNvPr id="31" name="TextBox 30"/>
          <p:cNvSpPr txBox="1"/>
          <p:nvPr/>
        </p:nvSpPr>
        <p:spPr>
          <a:xfrm>
            <a:off x="1280160" y="5166360"/>
            <a:ext cx="10149840" cy="731520"/>
          </a:xfrm>
          <a:prstGeom prst="rect">
            <a:avLst/>
          </a:prstGeom>
          <a:noFill/>
        </p:spPr>
        <p:txBody>
          <a:bodyPr wrap="square" anchor="ctr"/>
          <a:lstStyle/>
          <a:p>
            <a:pPr algn="l"/>
            <a:r>
              <a:rPr sz="1600" b="0">
                <a:solidFill>
                  <a:srgbClr val="1C1C1C"/>
                </a:solidFill>
                <a:latin typeface="Calibri"/>
              </a:rPr>
              <a:t>Pale + tachycardic after celiotomy = hemorrhage until proven otherwise; fascia failure is an emergency; the first 24 hours still count.</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46  /  49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PREPARE THE PATIENT. PREPARE YOURSELF. OWN THE NEXT 24 HOURS.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Take-home</a:t>
            </a:r>
          </a:p>
        </p:txBody>
      </p:sp>
      <p:sp>
        <p:nvSpPr>
          <p:cNvPr id="8" name="Rounded Rectangle 7"/>
          <p:cNvSpPr/>
          <p:nvPr/>
        </p:nvSpPr>
        <p:spPr>
          <a:xfrm>
            <a:off x="457200" y="1143000"/>
            <a:ext cx="11247120" cy="4937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463040"/>
            <a:ext cx="10607040" cy="4389120"/>
          </a:xfrm>
          <a:prstGeom prst="rect">
            <a:avLst/>
          </a:prstGeom>
          <a:noFill/>
        </p:spPr>
        <p:txBody>
          <a:bodyPr wrap="square" anchor="t"/>
          <a:lstStyle/>
          <a:p>
            <a:pPr algn="l"/>
            <a:r>
              <a:rPr sz="2000" b="0">
                <a:solidFill>
                  <a:srgbClr val="0B2C4A"/>
                </a:solidFill>
                <a:latin typeface="Calibri"/>
              </a:rPr>
              <a:t>Preoperative evaluation is a decision to proceed, delay, stabilize, or refer.
Patient and surgeon preparation is teachable and unforgiving — technique, not luck, prevents SSI.
Postoperative care is part of the operation: pain, warmth, the incision, the record, and the client.
Halsted does not stop when the last throw is buried.</a:t>
            </a:r>
          </a:p>
        </p:txBody>
      </p:sp>
      <p:sp>
        <p:nvSpPr>
          <p:cNvPr id="10" name="Rectangle 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2" name="TextBox 1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47  /  49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SOURCES USED IN THIS LECTURE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References</a:t>
            </a:r>
          </a:p>
        </p:txBody>
      </p:sp>
      <p:sp>
        <p:nvSpPr>
          <p:cNvPr id="8" name="TextBox 7"/>
          <p:cNvSpPr txBox="1"/>
          <p:nvPr/>
        </p:nvSpPr>
        <p:spPr>
          <a:xfrm>
            <a:off x="457200" y="1051560"/>
            <a:ext cx="11155680" cy="5120640"/>
          </a:xfrm>
          <a:prstGeom prst="rect">
            <a:avLst/>
          </a:prstGeom>
          <a:noFill/>
        </p:spPr>
        <p:txBody>
          <a:bodyPr wrap="square">
            <a:spAutoFit/>
          </a:bodyPr>
          <a:lstStyle/>
          <a:p>
            <a:pPr algn="l">
              <a:spcAft>
                <a:spcPts val="800"/>
              </a:spcAft>
            </a:pPr>
            <a:r>
              <a:rPr sz="1500" b="0">
                <a:solidFill>
                  <a:srgbClr val="1C1C1C"/>
                </a:solidFill>
                <a:latin typeface="Calibri"/>
              </a:rPr>
              <a:t>▸  Fossum T.W. Small Animal Surgery. 5th ed. Elsevier; 2018. Preoperative evaluation, patient preparation, postoperative care.</a:t>
            </a:r>
          </a:p>
          <a:p>
            <a:pPr algn="l">
              <a:spcAft>
                <a:spcPts val="800"/>
              </a:spcAft>
            </a:pPr>
            <a:r>
              <a:rPr sz="1500" b="0">
                <a:solidFill>
                  <a:srgbClr val="1C1C1C"/>
                </a:solidFill>
                <a:latin typeface="Calibri"/>
              </a:rPr>
              <a:t>▸  Hendrickson D.A., Baird A.N. Turner and McIlwraith’s Techniques in Large Animal Surgery. 4th ed. Wiley-Blackwell; 2013.</a:t>
            </a:r>
          </a:p>
          <a:p>
            <a:pPr algn="l">
              <a:spcAft>
                <a:spcPts val="800"/>
              </a:spcAft>
            </a:pPr>
            <a:r>
              <a:rPr sz="1500" b="0">
                <a:solidFill>
                  <a:srgbClr val="1C1C1C"/>
                </a:solidFill>
                <a:latin typeface="Calibri"/>
              </a:rPr>
              <a:t>▸  Johnston S.A., Tobias K.M. Veterinary Surgery: Small Animal. 2nd ed. Elsevier; 2017.</a:t>
            </a:r>
          </a:p>
          <a:p>
            <a:pPr algn="l">
              <a:spcAft>
                <a:spcPts val="800"/>
              </a:spcAft>
            </a:pPr>
            <a:r>
              <a:rPr sz="1500" b="0">
                <a:solidFill>
                  <a:srgbClr val="1C1C1C"/>
                </a:solidFill>
                <a:latin typeface="Calibri"/>
              </a:rPr>
              <a:t>▸  AAHA/AAFP Antimicrobial Stewardship Guidelines, 2022 — surgical prophylaxis.</a:t>
            </a:r>
          </a:p>
          <a:p>
            <a:pPr algn="l">
              <a:spcAft>
                <a:spcPts val="800"/>
              </a:spcAft>
            </a:pPr>
            <a:r>
              <a:rPr sz="1500" b="0">
                <a:solidFill>
                  <a:srgbClr val="1C1C1C"/>
                </a:solidFill>
                <a:latin typeface="Calibri"/>
              </a:rPr>
              <a:t>▸  AAHA Anesthesia and Monitoring Guidelines (current edition) — fasting, PE, monitoring, recovery.</a:t>
            </a:r>
          </a:p>
        </p:txBody>
      </p:sp>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48  /  49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03120"/>
            <a:ext cx="10972800" cy="457200"/>
          </a:xfrm>
          <a:prstGeom prst="rect">
            <a:avLst/>
          </a:prstGeom>
          <a:noFill/>
        </p:spPr>
        <p:txBody>
          <a:bodyPr wrap="square" anchor="t"/>
          <a:lstStyle/>
          <a:p>
            <a:pPr algn="l"/>
            <a:r>
              <a:rPr sz="1600" b="1">
                <a:solidFill>
                  <a:srgbClr val="C5A35A"/>
                </a:solidFill>
                <a:latin typeface="Calibri"/>
              </a:rPr>
              <a:t>DVM 612  ·  PRINCIPLES OF SURGERY</a:t>
            </a:r>
          </a:p>
        </p:txBody>
      </p:sp>
      <p:sp>
        <p:nvSpPr>
          <p:cNvPr id="6" name="TextBox 5"/>
          <p:cNvSpPr txBox="1"/>
          <p:nvPr/>
        </p:nvSpPr>
        <p:spPr>
          <a:xfrm>
            <a:off x="685800" y="2606040"/>
            <a:ext cx="10972800" cy="1097280"/>
          </a:xfrm>
          <a:prstGeom prst="rect">
            <a:avLst/>
          </a:prstGeom>
          <a:noFill/>
        </p:spPr>
        <p:txBody>
          <a:bodyPr wrap="square" anchor="t"/>
          <a:lstStyle/>
          <a:p>
            <a:pPr algn="l"/>
            <a:r>
              <a:rPr sz="5400" b="1">
                <a:solidFill>
                  <a:srgbClr val="FFFFFF"/>
                </a:solidFill>
                <a:latin typeface="Calibri"/>
              </a:rPr>
              <a:t>Questions</a:t>
            </a:r>
          </a:p>
        </p:txBody>
      </p:sp>
      <p:sp>
        <p:nvSpPr>
          <p:cNvPr id="7" name="TextBox 6"/>
          <p:cNvSpPr txBox="1"/>
          <p:nvPr/>
        </p:nvSpPr>
        <p:spPr>
          <a:xfrm>
            <a:off x="685800" y="3931920"/>
            <a:ext cx="10972800" cy="914400"/>
          </a:xfrm>
          <a:prstGeom prst="rect">
            <a:avLst/>
          </a:prstGeom>
          <a:noFill/>
        </p:spPr>
        <p:txBody>
          <a:bodyPr wrap="square" anchor="t"/>
          <a:lstStyle/>
          <a:p>
            <a:pPr algn="l"/>
            <a:r>
              <a:rPr sz="1800" b="0">
                <a:solidFill>
                  <a:srgbClr val="F4EBD3"/>
                </a:solidFill>
                <a:latin typeface="Calibri"/>
              </a:rPr>
              <a:t>If there are no questions: what would you do differently for Willie
than for a healthy Labrador spay?</a:t>
            </a:r>
          </a:p>
        </p:txBody>
      </p:sp>
      <p:sp>
        <p:nvSpPr>
          <p:cNvPr id="8" name="TextBox 7"/>
          <p:cNvSpPr txBox="1"/>
          <p:nvPr/>
        </p:nvSpPr>
        <p:spPr>
          <a:xfrm>
            <a:off x="685800" y="5760720"/>
            <a:ext cx="10972800" cy="365760"/>
          </a:xfrm>
          <a:prstGeom prst="rect">
            <a:avLst/>
          </a:prstGeom>
          <a:noFill/>
        </p:spPr>
        <p:txBody>
          <a:bodyPr wrap="square" anchor="t"/>
          <a:lstStyle/>
          <a:p>
            <a:pPr algn="l"/>
            <a:r>
              <a:rPr sz="1400" b="0">
                <a:solidFill>
                  <a:srgbClr val="C5A35A"/>
                </a:solidFill>
                <a:latin typeface="Calibri"/>
              </a:rPr>
              <a:t>Lewyt College of Veterinary Medicine  ·  Long Island University</a:t>
            </a:r>
          </a:p>
        </p:txBody>
      </p:sp>
      <p:sp>
        <p:nvSpPr>
          <p:cNvPr id="9" name="TextBox 8"/>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49  /  49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