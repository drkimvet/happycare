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Know your hospital policy and be able to defend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yellow box is the field. If the drape later shows hair, the clip failed. Willie: if you only flush an ear you still clip what you will contaminate; a TECA field is the whole pinna and lateral skull, not this abdomen. MoMo never reached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choice for trunk skin when not contraindicated. Willie’s left ear is exactly where CHG and aminoglycosides can harm a swollen drum and middle 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The picture is abdomen; the rule is the same on an ear or a limb. CHG in Willie’s ear is a real harm.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90 seconds on the two pictures. Students remember the hairy window. Then: gown/glove before you drape,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the correct closed-glove mechanic. The workstation picture is the minimum monitoring set. Students should name SpO2, ETCO2, ECG, temp, fluids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is a Cavalier in recovery — that is Willie. Pulse ox on the tongue is correct in recovery.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and why only Willie was anesthetized.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Dr. Yujin Kim, D.V.M., Ph.D., FFCP  ·  Lecture  |  60 minutes</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 — this is the wording to memorize</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 vestibular +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#40 BLADE  ·  CLIPPER, NOT RAZOR  ·  FIELD WIDE ENOUGH TO EXTEND THE INCISION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pic>
        <p:nvPicPr>
          <p:cNvPr id="8" name="Picture 7" descr="prep_ohe_clip_wide.png"/>
          <p:cNvPicPr>
            <a:picLocks noChangeAspect="1"/>
          </p:cNvPicPr>
          <p:nvPr/>
        </p:nvPicPr>
        <p:blipFill>
          <a:blip r:embed="rId2"/>
          <a:stretch>
            <a:fillRect/>
          </a:stretch>
        </p:blipFill>
        <p:spPr>
          <a:xfrm>
            <a:off x="365760" y="1051560"/>
            <a:ext cx="6675120" cy="5394960"/>
          </a:xfrm>
          <a:prstGeom prst="rect">
            <a:avLst/>
          </a:prstGeom>
        </p:spPr>
      </p:pic>
      <p:sp>
        <p:nvSpPr>
          <p:cNvPr id="9" name="Rounded Rectangle 8"/>
          <p:cNvSpPr/>
          <p:nvPr/>
        </p:nvSpPr>
        <p:spPr>
          <a:xfrm>
            <a:off x="7178040" y="1051560"/>
            <a:ext cx="457200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1188720"/>
            <a:ext cx="4160520" cy="365760"/>
          </a:xfrm>
          <a:prstGeom prst="rect">
            <a:avLst/>
          </a:prstGeom>
          <a:noFill/>
        </p:spPr>
        <p:txBody>
          <a:bodyPr wrap="square" anchor="t"/>
          <a:lstStyle/>
          <a:p>
            <a:pPr algn="l"/>
            <a:r>
              <a:rPr sz="1600" b="1">
                <a:solidFill>
                  <a:srgbClr val="0B2C4A"/>
                </a:solidFill>
                <a:latin typeface="Calibri"/>
              </a:rPr>
              <a:t>OHE / celiotomy field</a:t>
            </a:r>
          </a:p>
        </p:txBody>
      </p:sp>
      <p:sp>
        <p:nvSpPr>
          <p:cNvPr id="11" name="TextBox 10"/>
          <p:cNvSpPr txBox="1"/>
          <p:nvPr/>
        </p:nvSpPr>
        <p:spPr>
          <a:xfrm>
            <a:off x="7360920" y="1600200"/>
            <a:ext cx="4206240" cy="4572000"/>
          </a:xfrm>
          <a:prstGeom prst="rect">
            <a:avLst/>
          </a:prstGeom>
          <a:noFill/>
        </p:spPr>
        <p:txBody>
          <a:bodyPr wrap="square">
            <a:spAutoFit/>
          </a:bodyPr>
          <a:lstStyle/>
          <a:p>
            <a:pPr algn="l">
              <a:spcAft>
                <a:spcPts val="600"/>
              </a:spcAft>
            </a:pPr>
            <a:r>
              <a:rPr sz="1300" b="0">
                <a:solidFill>
                  <a:srgbClr val="1C1C1C"/>
                </a:solidFill>
                <a:latin typeface="Calibri"/>
              </a:rPr>
              <a:t>▸  Xiphoid (or slightly cranial) to pubis, widely lateral past the nipples — a rectangle, not a bikini strip.</a:t>
            </a:r>
          </a:p>
          <a:p>
            <a:pPr algn="l">
              <a:spcAft>
                <a:spcPts val="600"/>
              </a:spcAft>
            </a:pPr>
            <a:r>
              <a:rPr sz="1300" b="0">
                <a:solidFill>
                  <a:srgbClr val="1C1C1C"/>
                </a:solidFill>
                <a:latin typeface="Calibri"/>
              </a:rPr>
              <a:t>▸  Clip with the grain, then against, to the skin. Vacuum the hair.</a:t>
            </a:r>
          </a:p>
          <a:p>
            <a:pPr algn="l">
              <a:spcAft>
                <a:spcPts val="600"/>
              </a:spcAft>
            </a:pPr>
            <a:r>
              <a:rPr sz="1300" b="0">
                <a:solidFill>
                  <a:srgbClr val="1C1C1C"/>
                </a:solidFill>
                <a:latin typeface="Calibri"/>
              </a:rPr>
              <a:t>▸  ~20 cm beyond the planned incision is a Fossum-style working rule.</a:t>
            </a:r>
          </a:p>
          <a:p>
            <a:pPr algn="l">
              <a:spcAft>
                <a:spcPts val="600"/>
              </a:spcAft>
            </a:pPr>
            <a:r>
              <a:rPr sz="1300" b="0">
                <a:solidFill>
                  <a:srgbClr val="1C1C1C"/>
                </a:solidFill>
                <a:latin typeface="Calibri"/>
              </a:rPr>
              <a:t>▸  Do not clip the night before: bacterial load rises.</a:t>
            </a:r>
          </a:p>
          <a:p>
            <a:pPr algn="l">
              <a:spcAft>
                <a:spcPts val="600"/>
              </a:spcAft>
            </a:pPr>
            <a:r>
              <a:rPr sz="1300" b="0">
                <a:solidFill>
                  <a:srgbClr val="1C1C1C"/>
                </a:solidFill>
                <a:latin typeface="Calibri"/>
              </a:rPr>
              <a:t>▸  Razor = micro-nicks = higher SSI. Clipper burn is a wound.</a:t>
            </a:r>
          </a:p>
          <a:p>
            <a:pPr algn="l">
              <a:spcAft>
                <a:spcPts val="600"/>
              </a:spcAft>
            </a:pPr>
            <a:r>
              <a:rPr sz="1300" b="0">
                <a:solidFill>
                  <a:srgbClr val="1C1C1C"/>
                </a:solidFill>
                <a:latin typeface="Calibri"/>
              </a:rPr>
              <a:t>▸  Airway in and depth adequate BEFORE the clippers start.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CENTER → PERIPHERY  ·  NEW SPONGE EVERY TIME YOU LEAVE THE INCISION  ·  HONOR CONTACT TIME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Typical teaching: timed 3–5 min or product cycles, then a final paint. Follow the bottle in your lab.</a:t>
            </a:r>
          </a:p>
          <a:p>
            <a:pPr algn="l">
              <a:spcAft>
                <a:spcPts val="600"/>
              </a:spcAft>
            </a:pPr>
            <a:r>
              <a:rPr sz="1300" b="0">
                <a:solidFill>
                  <a:srgbClr val="1C1C1C"/>
                </a:solidFill>
                <a:latin typeface="Calibri"/>
              </a:rPr>
              <a:t>▸  Damp-to-dry, not a lake. Puddles wick bacteria and soak the patient cold.</a:t>
            </a:r>
          </a:p>
          <a:p>
            <a:pPr algn="l">
              <a:spcAft>
                <a:spcPts val="600"/>
              </a:spcAft>
            </a:pPr>
            <a:r>
              <a:rPr sz="1300" b="0">
                <a:solidFill>
                  <a:srgbClr val="1C1C1C"/>
                </a:solidFill>
                <a:latin typeface="Calibri"/>
              </a:rPr>
              <a:t>▸  CHG off the cornea and out of the middle ear — Willie’s swollen drum.</a:t>
            </a:r>
          </a:p>
          <a:p>
            <a:pPr algn="l">
              <a:spcAft>
                <a:spcPts val="600"/>
              </a:spcAft>
            </a:pPr>
            <a:r>
              <a:rPr sz="1300" b="0">
                <a:solidFill>
                  <a:srgbClr val="1C1C1C"/>
                </a:solidFill>
                <a:latin typeface="Calibri"/>
              </a:rPr>
              <a:t>▸  Hanging limb: prep from incision toward the dirty foot, never reverse.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LEFT PICTURE IS WRONG  ·  RIGHT PICTURE IS THE FIELD YOU ACTUALLY WANT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 — hair in the window fails the prep</a:t>
            </a:r>
          </a:p>
        </p:txBody>
      </p:sp>
      <p:sp>
        <p:nvSpPr>
          <p:cNvPr id="8" name="Rounded Rectangle 7"/>
          <p:cNvSpPr/>
          <p:nvPr/>
        </p:nvSpPr>
        <p:spPr>
          <a:xfrm>
            <a:off x="365760" y="1024128"/>
            <a:ext cx="5669280" cy="384048"/>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24128"/>
            <a:ext cx="5669280" cy="384048"/>
          </a:xfrm>
          <a:prstGeom prst="rect">
            <a:avLst/>
          </a:prstGeom>
          <a:noFill/>
        </p:spPr>
        <p:txBody>
          <a:bodyPr wrap="square" anchor="ctr"/>
          <a:lstStyle/>
          <a:p>
            <a:pPr algn="ctr"/>
            <a:r>
              <a:rPr sz="1400" b="1">
                <a:solidFill>
                  <a:srgbClr val="FFFFFF"/>
                </a:solidFill>
                <a:latin typeface="Calibri"/>
              </a:rPr>
              <a:t>WRONG — hair in the field</a:t>
            </a:r>
          </a:p>
        </p:txBody>
      </p:sp>
      <p:pic>
        <p:nvPicPr>
          <p:cNvPr id="10" name="Picture 9" descr="prep_four_quadrant_drape.png"/>
          <p:cNvPicPr>
            <a:picLocks noChangeAspect="1"/>
          </p:cNvPicPr>
          <p:nvPr/>
        </p:nvPicPr>
        <p:blipFill>
          <a:blip r:embed="rId2"/>
          <a:stretch>
            <a:fillRect/>
          </a:stretch>
        </p:blipFill>
        <p:spPr>
          <a:xfrm>
            <a:off x="365760" y="1444752"/>
            <a:ext cx="5669280" cy="3246120"/>
          </a:xfrm>
          <a:prstGeom prst="rect">
            <a:avLst/>
          </a:prstGeom>
        </p:spPr>
      </p:pic>
      <p:sp>
        <p:nvSpPr>
          <p:cNvPr id="11" name="Rounded Rectangle 10"/>
          <p:cNvSpPr/>
          <p:nvPr/>
        </p:nvSpPr>
        <p:spPr>
          <a:xfrm>
            <a:off x="6172200" y="1024128"/>
            <a:ext cx="5669280" cy="384048"/>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24128"/>
            <a:ext cx="5669280" cy="384048"/>
          </a:xfrm>
          <a:prstGeom prst="rect">
            <a:avLst/>
          </a:prstGeom>
          <a:noFill/>
        </p:spPr>
        <p:txBody>
          <a:bodyPr wrap="square" anchor="ctr"/>
          <a:lstStyle/>
          <a:p>
            <a:pPr algn="ctr"/>
            <a:r>
              <a:rPr sz="1400" b="1">
                <a:solidFill>
                  <a:srgbClr val="FFFFFF"/>
                </a:solidFill>
                <a:latin typeface="Calibri"/>
              </a:rPr>
              <a:t>CORRECT — clipped skin, hair covered</a:t>
            </a:r>
          </a:p>
        </p:txBody>
      </p:sp>
      <p:pic>
        <p:nvPicPr>
          <p:cNvPr id="13" name="Picture 12" descr="prep_four_quadrant_drape_correct.png"/>
          <p:cNvPicPr>
            <a:picLocks noChangeAspect="1"/>
          </p:cNvPicPr>
          <p:nvPr/>
        </p:nvPicPr>
        <p:blipFill>
          <a:blip r:embed="rId3"/>
          <a:stretch>
            <a:fillRect/>
          </a:stretch>
        </p:blipFill>
        <p:spPr>
          <a:xfrm>
            <a:off x="6172200" y="1444752"/>
            <a:ext cx="5669280" cy="3246120"/>
          </a:xfrm>
          <a:prstGeom prst="rect">
            <a:avLst/>
          </a:prstGeom>
        </p:spPr>
      </p:pic>
      <p:sp>
        <p:nvSpPr>
          <p:cNvPr id="14" name="Rounded Rectangle 13"/>
          <p:cNvSpPr/>
          <p:nvPr/>
        </p:nvSpPr>
        <p:spPr>
          <a:xfrm>
            <a:off x="365760" y="4828032"/>
            <a:ext cx="11475720"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956048"/>
            <a:ext cx="11155680" cy="1371600"/>
          </a:xfrm>
          <a:prstGeom prst="rect">
            <a:avLst/>
          </a:prstGeom>
          <a:noFill/>
        </p:spPr>
        <p:txBody>
          <a:bodyPr wrap="square" anchor="t"/>
          <a:lstStyle/>
          <a:p>
            <a:pPr algn="l"/>
            <a:r>
              <a:rPr sz="1500" b="0">
                <a:solidFill>
                  <a:srgbClr val="1C1C1C"/>
                </a:solidFill>
                <a:latin typeface="Calibri"/>
              </a:rPr>
              <a:t>Four towels box the field (near towel first). Hair must not show at any edge — re-clip or re-drape. Clamp without tenting skin. Large drape over towels; cuff your hands; never shake a drape over the field. Wet-through (strikethrough) is contaminated. Hands stay on the field; below table height is not sterile.</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  ·  MONITORING IS ON BEFORE THE FIRST DRUG</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prep_gown_glove_anesthesia.pn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Closed gloving: hands stay inside the gown cuffs while the glove is pulled on (use the inset, not a bare-hand pull). Open gloving is for replacing a contaminated glove. Cap, mask, short nails, no jewelry. Timed or brushless scrub, fingertips-up. Anesthesia: SpO2, capnograph, ECG, temperature, IV fluids, airway — on before induction. Willie needed this for an ear clean. MoMo never reached induction.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postop_recovery_monitoring.pn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61772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Score pain. Give the analgesic you planned. Willie: no NSAID after DexSP.</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A ‘quiet’ animal may be cold, hypotensive, or painful.</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record output, site, and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Alfaxalone only after a surgical plane. Clip/prep the ear if you flush. CHG off the eye and drum. Pad him — he falls. Maintain the airway.</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Closed glove; CHG off the cornea and out of the middle ear; announce contamination.</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Preoperative evaluation, patient preparation, postoperative care.</a:t>
            </a:r>
          </a:p>
          <a:p>
            <a:pPr algn="l">
              <a:spcAft>
                <a:spcPts val="800"/>
              </a:spcAft>
            </a:pPr>
            <a:r>
              <a:rPr sz="1500" b="0">
                <a:solidFill>
                  <a:srgbClr val="1C1C1C"/>
                </a:solidFill>
                <a:latin typeface="Calibri"/>
              </a:rPr>
              <a:t>▸  Hendrickson D.A., Baird A.N. Turner and McIlwraith’s Techniques in Large Animal Surgery. 4th ed. Wiley-Blackwell; 2013.</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why did only one of them get anesthetized?</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