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 we sedated him. MoMo, a 6-year SF DSH, 4.25 kg, vomiting that looked like a foreign-body surgery — imaging cancelled the cut. Assign both ASA statuses. Owner identifiers stay off these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Willie is the running surgical/sedation case. MoMo is the ASA IV-E cat whose preoperative evaluation cancelled an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pictures) and both cases. Skip the large-animal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DVM 612 will hold you to this: a beautiful closure that bleeds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Anesthesia gets the dog ready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Status 1, then 3, then 4 slowly. This is the wording to memorize. E means emergency. Next: four 60-second cases, then Willie (3-E, we sedated) and MoMo (4-E, we did not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 we will unpack the sedation. D is MoMo — the preoperative evaluation cancelled the exploratory. The hyperkalemic blocked cat still appears in the knowledge check; do not lose that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Willie. Do not skip the murmur. Right-sided knuckling with left circling is why you cannot call this just an ear flush. Mentation was quiet/dull.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drum was seen, then ointment was infused. Aminoglycosides are a risk if the middle or inner ear is involved even when the drum looks present and swollen. Cavaliers also bring mitral valve disease and Chiari-like malformation to the vestibular list. Mention both, then return to the ear as the leading infectious cause. No NSAID after DexSP. Next patient: MoMo, the cat we did not take to surgery.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 identifiers stay off the slide. MoMo is the cat whose films looked like ‘maybe GI’ and were kidneys. Cold-call: who would have clipped her for an exploratory on history alone? That is the mistake this hour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NSAIDs are contraindicated. Diuresis will not fix a destroyed kidney. If someone still wants to ‘just look inside,’ that is not surgery — that is harm. Be respectful; this cat died. The teaching point is judgment, not spectacle.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MoMo’s rising creatinine is the example of not ignoring a test you ordered. Next two slides: CBC/chem and EPOC numbers mapped onto ASA Status. They inform the number; they do not replace the 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PCV, platelets, creatinine, potassium. Willie: CBC essentially Status 1, phosphorus mild up. His Status 3-E is the vestibular exam, not the chemistry. MoMo: WBC ~26 and creatinine 3.0 then 4.71 push the lab picture into Status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MoMo’s EPOC: pH 7.255 is Status 3; base excess −7.4 is Status 2; lactate 2.05 is Status 1. Do not call a venous pO2 of 33 an arterial Status 4. Whole-patient Status was still 4-E from the kidneys. Willie did not need an EPOC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slide. Students want to average the columns. Teach: the worst compensated vital-system problem that is a constant threat sets the floor.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 MoMo is the other direction: do not take a medical kidney cat to an exploratory because FB was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 explain aspiration vs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 Next slides: the kit, then the anesthesia record you actually fill.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Pre-op, then Prep, then Post-op. Ask: what is missing in your teaching lab today? MoMo never needed the clippers. Willie needed monitoring even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no NSAID. Grid every 5 minutes while sedated. Recovery boxes are part of the same page. Blank template lives with this lecture if they want to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point of the hour. The form is not only for patients who get clipped. Recording the decision not to operate is a surgical document. NSAIDs contraindicated. Rising creatinine. Owner elected euthanasia — say it once, respectfully, then move.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 do not invent a 14-day cephalexin prescription. Willie’s left ear is infected, so antimicrobials are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adequate anesthetic depth — the patient wakes, contaminates, and is lacerated. Step 5: 10% PVP-I on intact skin is 5 minutes of wet contact — lather the 7.5% scrub for 5 minutes, rinse, paint 10% solution, dry before you drape. Mucosa and eye: 1 to 20 to 1 to 50. Eye at 1:50 is a 2-minute scrub plus a 2-minute soak.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a real clip in progress and still too narrow — that is the teaching point. Right photo is a real 24-hour OHE: the clip is the field you needed yesterday. Willie: TECA field is pinna and skull, not abdomen. MoMo never reached clippers.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numbers on the board. Intact skin, 7.5% povidone-iodine scrub: lather 5 minutes, rinse, paint 10% solution, dry before draping — that is the veterinary Betadine label. Mucosa, conjunctiva, prepuce: 10% SOLUTION diluted 1 to 20 to 1 to 50. Eye at 1:50: 2-minute scrub plus 2-minute soak (Roberts, AJVR 1986). 1:2 (5%) caused corneal edema; do not use it on cornea. Aqueous chlorhexidine: 3 minutes wet contact; residual 6 hours. CHG–alcohol 2%/70%: 30 seconds dry skin, 2 minutes moist skin. Alcohol 70%: 30 seconds, then dry. PVP-I is not sporicidal at 5 minutes. Willie: swollen tympanum — not a chlorhexidine ear.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5 minutes for povidone-iodine on intact skin. Recite the 1 to 20 to 1 to 50 arithmetic. Eye: 2 minutes plus 2 minutes. No open-license spiral-prep photograph was available; this stays a diagram.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dog in dorsal recumbency. Point: airway and monitoring are on before the clip. Over-splitting femurs is a student habit. GDV positioning can worsen caval compression.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gown/mask/drape are present, but hair is still at the window — that is the fail. Right is a real sterile field.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inset as closed gloving. Students name SpO2, ETCO2, ECG, temp, fluids off the real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1 to 20 to 1 to 50, 5 minutes wet on intact skin, 2 minutes plus 2 minutes on the eye. Hair at the drape edge is still a fail — an adequate clip, not a salvage towel.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Do not send a pale OHE to the kennel because she looks groggy.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Call-the-surgeon line at the bottom is the discharge talk they will repeat to clients.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 Willie already received DexSP.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24-hour OHE. Licking and unsupervised running are the two discharge failures I see after otherwise adequate closure. Be concrete: no off-leash activity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Willie: neuro exam, ASA III-E, TM visible but swollen, DexSP given, no NSAID, murmur, films, MRI plan.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Willie.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decided not to clip her. A healthy Lab OHE is ASA I and gets no routine antibiotics. Willie is III-E. MoMo is IV-E and not a surgical abdomen.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vs MoMo ASA, then iodine — 1 to 20 to 1 to 50, 5 minutes wet on intact skin, 2 minutes plus 2 minutes on the eye.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617720"/>
            <a:ext cx="10972800" cy="411480"/>
          </a:xfrm>
          <a:prstGeom prst="rect">
            <a:avLst/>
          </a:prstGeom>
          <a:noFill/>
        </p:spPr>
        <p:txBody>
          <a:bodyPr wrap="square" anchor="t"/>
          <a:lstStyle/>
          <a:p>
            <a:pPr algn="l"/>
            <a:r>
              <a:rPr sz="2200" b="1">
                <a:solidFill>
                  <a:srgbClr val="C5A35A"/>
                </a:solidFill>
                <a:latin typeface="Calibri"/>
              </a:rPr>
              <a:t>Dr. Yujin Kim, D.V.M., Ph.D., FFCP</a:t>
            </a:r>
          </a:p>
        </p:txBody>
      </p:sp>
      <p:sp>
        <p:nvSpPr>
          <p:cNvPr id="9" name="TextBox 8"/>
          <p:cNvSpPr txBox="1"/>
          <p:nvPr/>
        </p:nvSpPr>
        <p:spPr>
          <a:xfrm>
            <a:off x="685800" y="5029200"/>
            <a:ext cx="10972800" cy="320040"/>
          </a:xfrm>
          <a:prstGeom prst="rect">
            <a:avLst/>
          </a:prstGeom>
          <a:noFill/>
        </p:spPr>
        <p:txBody>
          <a:bodyPr wrap="square" anchor="t"/>
          <a:lstStyle/>
          <a:p>
            <a:pPr algn="l"/>
            <a:r>
              <a:rPr sz="1600" b="0">
                <a:solidFill>
                  <a:srgbClr val="F4EBD3"/>
                </a:solidFill>
                <a:latin typeface="Calibri"/>
              </a:rPr>
              <a:t>Lecture  |  60 minutes</a:t>
            </a:r>
          </a:p>
        </p:txBody>
      </p:sp>
      <p:sp>
        <p:nvSpPr>
          <p:cNvPr id="10" name="TextBox 9"/>
          <p:cNvSpPr txBox="1"/>
          <p:nvPr/>
        </p:nvSpPr>
        <p:spPr>
          <a:xfrm>
            <a:off x="685800" y="539496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Two real hospital cases: Willie (Cavalier, ASA III-E) and MoMo (cat, ASA IV-E — surgery cancelled).</a:t>
            </a:r>
          </a:p>
        </p:txBody>
      </p:sp>
      <p:sp>
        <p:nvSpPr>
          <p:cNvPr id="11" name="TextBox 10"/>
          <p:cNvSpPr txBox="1"/>
          <p:nvPr/>
        </p:nvSpPr>
        <p:spPr>
          <a:xfrm>
            <a:off x="685800" y="6053328"/>
            <a:ext cx="10972800" cy="292608"/>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2" name="TextBox 11"/>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correct antiseptic concentrations (including povidone-iodine 1 to 20 to 1 to 50),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Today is judgment, asepsis, and aftercare. Poor prep cannot be rescued by elegant suture. Willie is the patient we prepare. MoMo is the patient we do not cut.</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3–24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ASA, both cases, the record</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24–44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 — with pictures</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44–57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flowsheet,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Willie vs MoMo,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living animal (often an elective OHE) that is going home. Operate, document, and speak as if that client is waiting in reception.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Three verbs for this hour — and they are all yours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a beautiful closure that bleeds or herniates in recovery is still a failed surgery. The first 24 hours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EVERY PRINCIPLE HAS A PREOP OR POSTOP ACTION, NOT ONLY AN INTRAOPERATIVE 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two real cases · labs · stabilize · the anesthesia record</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~21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PREANESTHETIC PE,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clinician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Premedicating before the exam is a never-event.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(ASA) CLASSIFICATION SYSTEM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this wording</a:t>
            </a:r>
          </a:p>
        </p:txBody>
      </p:sp>
      <p:sp>
        <p:nvSpPr>
          <p:cNvPr id="8" name="Rectangle 7"/>
          <p:cNvSpPr/>
          <p:nvPr/>
        </p:nvSpPr>
        <p:spPr>
          <a:xfrm>
            <a:off x="411480" y="1024128"/>
            <a:ext cx="1133856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2194560" cy="365760"/>
          </a:xfrm>
          <a:prstGeom prst="rect">
            <a:avLst/>
          </a:prstGeom>
          <a:noFill/>
        </p:spPr>
        <p:txBody>
          <a:bodyPr wrap="square" anchor="ctr"/>
          <a:lstStyle/>
          <a:p>
            <a:pPr algn="l"/>
            <a:r>
              <a:rPr sz="1300" b="1">
                <a:solidFill>
                  <a:srgbClr val="C5A35A"/>
                </a:solidFill>
                <a:latin typeface="Calibri"/>
              </a:rPr>
              <a:t>ASA status</a:t>
            </a:r>
          </a:p>
        </p:txBody>
      </p:sp>
      <p:sp>
        <p:nvSpPr>
          <p:cNvPr id="10" name="TextBox 9"/>
          <p:cNvSpPr txBox="1"/>
          <p:nvPr/>
        </p:nvSpPr>
        <p:spPr>
          <a:xfrm>
            <a:off x="2743200" y="1024128"/>
            <a:ext cx="5852160" cy="365760"/>
          </a:xfrm>
          <a:prstGeom prst="rect">
            <a:avLst/>
          </a:prstGeom>
          <a:noFill/>
        </p:spPr>
        <p:txBody>
          <a:bodyPr wrap="square" anchor="ctr"/>
          <a:lstStyle/>
          <a:p>
            <a:pPr algn="l"/>
            <a:r>
              <a:rPr sz="1300" b="1">
                <a:solidFill>
                  <a:srgbClr val="FFFFFF"/>
                </a:solidFill>
                <a:latin typeface="Calibri"/>
              </a:rPr>
              <a:t>Definition — this is the wording to memorize</a:t>
            </a:r>
          </a:p>
        </p:txBody>
      </p:sp>
      <p:sp>
        <p:nvSpPr>
          <p:cNvPr id="11" name="TextBox 10"/>
          <p:cNvSpPr txBox="1"/>
          <p:nvPr/>
        </p:nvSpPr>
        <p:spPr>
          <a:xfrm>
            <a:off x="8595360" y="1024128"/>
            <a:ext cx="3017520" cy="365760"/>
          </a:xfrm>
          <a:prstGeom prst="rect">
            <a:avLst/>
          </a:prstGeom>
          <a:noFill/>
        </p:spPr>
        <p:txBody>
          <a:bodyPr wrap="square" anchor="ctr"/>
          <a:lstStyle/>
          <a:p>
            <a:pPr algn="l"/>
            <a:r>
              <a:rPr sz="1300" b="1">
                <a:solidFill>
                  <a:srgbClr val="FFFFFF"/>
                </a:solidFill>
                <a:latin typeface="Calibri"/>
              </a:rPr>
              <a:t>Example</a:t>
            </a:r>
          </a:p>
        </p:txBody>
      </p:sp>
      <p:sp>
        <p:nvSpPr>
          <p:cNvPr id="12" name="Rounded Rectangle 11"/>
          <p:cNvSpPr/>
          <p:nvPr/>
        </p:nvSpPr>
        <p:spPr>
          <a:xfrm>
            <a:off x="411480" y="14264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426464"/>
            <a:ext cx="2148840" cy="768096"/>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426464"/>
            <a:ext cx="2148840" cy="768096"/>
          </a:xfrm>
          <a:prstGeom prst="rect">
            <a:avLst/>
          </a:prstGeom>
          <a:noFill/>
        </p:spPr>
        <p:txBody>
          <a:bodyPr wrap="square" anchor="ctr"/>
          <a:lstStyle/>
          <a:p>
            <a:pPr algn="ctr"/>
            <a:r>
              <a:rPr sz="1800" b="1">
                <a:solidFill>
                  <a:srgbClr val="FFFFFF"/>
                </a:solidFill>
                <a:latin typeface="Calibri"/>
              </a:rPr>
              <a:t>Status 1</a:t>
            </a:r>
          </a:p>
        </p:txBody>
      </p:sp>
      <p:sp>
        <p:nvSpPr>
          <p:cNvPr id="15" name="TextBox 14"/>
          <p:cNvSpPr txBox="1"/>
          <p:nvPr/>
        </p:nvSpPr>
        <p:spPr>
          <a:xfrm>
            <a:off x="2697480" y="1481328"/>
            <a:ext cx="580644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8595360" y="1481328"/>
            <a:ext cx="2971800" cy="658368"/>
          </a:xfrm>
          <a:prstGeom prst="rect">
            <a:avLst/>
          </a:prstGeom>
          <a:noFill/>
        </p:spPr>
        <p:txBody>
          <a:bodyPr wrap="square" anchor="ctr"/>
          <a:lstStyle/>
          <a:p>
            <a:pPr algn="l"/>
            <a:r>
              <a:rPr sz="1200" b="0">
                <a:solidFill>
                  <a:srgbClr val="3D4A57"/>
                </a:solidFill>
                <a:latin typeface="Calibri"/>
              </a:rPr>
              <a:t>Healthy 1-year-old OHE</a:t>
            </a:r>
          </a:p>
        </p:txBody>
      </p:sp>
      <p:sp>
        <p:nvSpPr>
          <p:cNvPr id="17" name="Rounded Rectangle 16"/>
          <p:cNvSpPr/>
          <p:nvPr/>
        </p:nvSpPr>
        <p:spPr>
          <a:xfrm>
            <a:off x="411480" y="224942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249424"/>
            <a:ext cx="2148840" cy="7680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249424"/>
            <a:ext cx="2148840" cy="768096"/>
          </a:xfrm>
          <a:prstGeom prst="rect">
            <a:avLst/>
          </a:prstGeom>
          <a:noFill/>
        </p:spPr>
        <p:txBody>
          <a:bodyPr wrap="square" anchor="ctr"/>
          <a:lstStyle/>
          <a:p>
            <a:pPr algn="ctr"/>
            <a:r>
              <a:rPr sz="1800" b="1">
                <a:solidFill>
                  <a:srgbClr val="FFFFFF"/>
                </a:solidFill>
                <a:latin typeface="Calibri"/>
              </a:rPr>
              <a:t>Status 2</a:t>
            </a:r>
          </a:p>
        </p:txBody>
      </p:sp>
      <p:sp>
        <p:nvSpPr>
          <p:cNvPr id="20" name="TextBox 19"/>
          <p:cNvSpPr txBox="1"/>
          <p:nvPr/>
        </p:nvSpPr>
        <p:spPr>
          <a:xfrm>
            <a:off x="2697480" y="2304288"/>
            <a:ext cx="580644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8595360" y="2304288"/>
            <a:ext cx="2971800" cy="658368"/>
          </a:xfrm>
          <a:prstGeom prst="rect">
            <a:avLst/>
          </a:prstGeom>
          <a:noFill/>
        </p:spPr>
        <p:txBody>
          <a:bodyPr wrap="square" anchor="ctr"/>
          <a:lstStyle/>
          <a:p>
            <a:pPr algn="l"/>
            <a:r>
              <a:rPr sz="1200" b="0">
                <a:solidFill>
                  <a:srgbClr val="3D4A57"/>
                </a:solidFill>
                <a:latin typeface="Calibri"/>
              </a:rPr>
              <a:t>Obesity; asymptomatic murmur; controlled diabetes</a:t>
            </a:r>
          </a:p>
        </p:txBody>
      </p:sp>
      <p:sp>
        <p:nvSpPr>
          <p:cNvPr id="22" name="Rounded Rectangle 21"/>
          <p:cNvSpPr/>
          <p:nvPr/>
        </p:nvSpPr>
        <p:spPr>
          <a:xfrm>
            <a:off x="411480" y="307238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072384"/>
            <a:ext cx="21488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072384"/>
            <a:ext cx="2148840" cy="768096"/>
          </a:xfrm>
          <a:prstGeom prst="rect">
            <a:avLst/>
          </a:prstGeom>
          <a:noFill/>
        </p:spPr>
        <p:txBody>
          <a:bodyPr wrap="square" anchor="ctr"/>
          <a:lstStyle/>
          <a:p>
            <a:pPr algn="ctr"/>
            <a:r>
              <a:rPr sz="1800" b="1">
                <a:solidFill>
                  <a:srgbClr val="FFFFFF"/>
                </a:solidFill>
                <a:latin typeface="Calibri"/>
              </a:rPr>
              <a:t>Status 3</a:t>
            </a:r>
          </a:p>
        </p:txBody>
      </p:sp>
      <p:sp>
        <p:nvSpPr>
          <p:cNvPr id="25" name="TextBox 24"/>
          <p:cNvSpPr txBox="1"/>
          <p:nvPr/>
        </p:nvSpPr>
        <p:spPr>
          <a:xfrm>
            <a:off x="2697480" y="3127248"/>
            <a:ext cx="5806440" cy="658368"/>
          </a:xfrm>
          <a:prstGeom prst="rect">
            <a:avLst/>
          </a:prstGeom>
          <a:noFill/>
        </p:spPr>
        <p:txBody>
          <a:bodyPr wrap="square" anchor="ctr"/>
          <a:lstStyle/>
          <a:p>
            <a:pPr algn="l"/>
            <a:r>
              <a:rPr sz="1300" b="0">
                <a:solidFill>
                  <a:srgbClr val="1C1C1C"/>
                </a:solidFill>
                <a:latin typeface="Calibri"/>
              </a:rPr>
              <a:t>Moderate systemic disease that is ongoing but compensated; some functional limitations exist that increase the risk of anesthesia</a:t>
            </a:r>
          </a:p>
        </p:txBody>
      </p:sp>
      <p:sp>
        <p:nvSpPr>
          <p:cNvPr id="26" name="TextBox 25"/>
          <p:cNvSpPr txBox="1"/>
          <p:nvPr/>
        </p:nvSpPr>
        <p:spPr>
          <a:xfrm>
            <a:off x="8595360" y="3127248"/>
            <a:ext cx="2971800" cy="658368"/>
          </a:xfrm>
          <a:prstGeom prst="rect">
            <a:avLst/>
          </a:prstGeom>
          <a:noFill/>
        </p:spPr>
        <p:txBody>
          <a:bodyPr wrap="square" anchor="ctr"/>
          <a:lstStyle/>
          <a:p>
            <a:pPr algn="l"/>
            <a:r>
              <a:rPr sz="1200" b="0">
                <a:solidFill>
                  <a:srgbClr val="3D4A57"/>
                </a:solidFill>
                <a:latin typeface="Calibri"/>
              </a:rPr>
              <a:t>Willie — vestibular + otitis, walking, compensated murmur</a:t>
            </a:r>
          </a:p>
        </p:txBody>
      </p:sp>
      <p:sp>
        <p:nvSpPr>
          <p:cNvPr id="27" name="Rounded Rectangle 26"/>
          <p:cNvSpPr/>
          <p:nvPr/>
        </p:nvSpPr>
        <p:spPr>
          <a:xfrm>
            <a:off x="411480" y="389534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895344"/>
            <a:ext cx="2148840" cy="76809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3895344"/>
            <a:ext cx="2148840" cy="768096"/>
          </a:xfrm>
          <a:prstGeom prst="rect">
            <a:avLst/>
          </a:prstGeom>
          <a:noFill/>
        </p:spPr>
        <p:txBody>
          <a:bodyPr wrap="square" anchor="ctr"/>
          <a:lstStyle/>
          <a:p>
            <a:pPr algn="ctr"/>
            <a:r>
              <a:rPr sz="1800" b="1">
                <a:solidFill>
                  <a:srgbClr val="FFFFFF"/>
                </a:solidFill>
                <a:latin typeface="Calibri"/>
              </a:rPr>
              <a:t>Status 4</a:t>
            </a:r>
          </a:p>
        </p:txBody>
      </p:sp>
      <p:sp>
        <p:nvSpPr>
          <p:cNvPr id="30" name="TextBox 29"/>
          <p:cNvSpPr txBox="1"/>
          <p:nvPr/>
        </p:nvSpPr>
        <p:spPr>
          <a:xfrm>
            <a:off x="2697480" y="3950208"/>
            <a:ext cx="580644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 disease, high anesthetic risk because vital body systems involved</a:t>
            </a:r>
          </a:p>
        </p:txBody>
      </p:sp>
      <p:sp>
        <p:nvSpPr>
          <p:cNvPr id="31" name="TextBox 30"/>
          <p:cNvSpPr txBox="1"/>
          <p:nvPr/>
        </p:nvSpPr>
        <p:spPr>
          <a:xfrm>
            <a:off x="8595360" y="3950208"/>
            <a:ext cx="2971800" cy="658368"/>
          </a:xfrm>
          <a:prstGeom prst="rect">
            <a:avLst/>
          </a:prstGeom>
          <a:noFill/>
        </p:spPr>
        <p:txBody>
          <a:bodyPr wrap="square" anchor="ctr"/>
          <a:lstStyle/>
          <a:p>
            <a:pPr algn="l"/>
            <a:r>
              <a:rPr sz="1200" b="0">
                <a:solidFill>
                  <a:srgbClr val="3D4A57"/>
                </a:solidFill>
                <a:latin typeface="Calibri"/>
              </a:rPr>
              <a:t>MoMo — rising azotemia, non-functional kidney; GDV; septic abdomen</a:t>
            </a:r>
          </a:p>
        </p:txBody>
      </p:sp>
      <p:sp>
        <p:nvSpPr>
          <p:cNvPr id="32" name="Rounded Rectangle 31"/>
          <p:cNvSpPr/>
          <p:nvPr/>
        </p:nvSpPr>
        <p:spPr>
          <a:xfrm>
            <a:off x="411480" y="471830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4718304"/>
            <a:ext cx="2148840" cy="7680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4718304"/>
            <a:ext cx="2148840" cy="768096"/>
          </a:xfrm>
          <a:prstGeom prst="rect">
            <a:avLst/>
          </a:prstGeom>
          <a:noFill/>
        </p:spPr>
        <p:txBody>
          <a:bodyPr wrap="square" anchor="ctr"/>
          <a:lstStyle/>
          <a:p>
            <a:pPr algn="ctr"/>
            <a:r>
              <a:rPr sz="1800" b="1">
                <a:solidFill>
                  <a:srgbClr val="FFFFFF"/>
                </a:solidFill>
                <a:latin typeface="Calibri"/>
              </a:rPr>
              <a:t>Status 5</a:t>
            </a:r>
          </a:p>
        </p:txBody>
      </p:sp>
      <p:sp>
        <p:nvSpPr>
          <p:cNvPr id="35" name="TextBox 34"/>
          <p:cNvSpPr txBox="1"/>
          <p:nvPr/>
        </p:nvSpPr>
        <p:spPr>
          <a:xfrm>
            <a:off x="2697480" y="4773168"/>
            <a:ext cx="5806440" cy="658368"/>
          </a:xfrm>
          <a:prstGeom prst="rect">
            <a:avLst/>
          </a:prstGeom>
          <a:noFill/>
        </p:spPr>
        <p:txBody>
          <a:bodyPr wrap="square" anchor="ctr"/>
          <a:lstStyle/>
          <a:p>
            <a:pPr algn="l"/>
            <a:r>
              <a:rPr sz="1300" b="0">
                <a:solidFill>
                  <a:srgbClr val="1C1C1C"/>
                </a:solidFill>
                <a:latin typeface="Calibri"/>
              </a:rPr>
              <a:t>Moribund patient not expected to live more than 24 hours with or without surgery</a:t>
            </a:r>
          </a:p>
        </p:txBody>
      </p:sp>
      <p:sp>
        <p:nvSpPr>
          <p:cNvPr id="36" name="TextBox 35"/>
          <p:cNvSpPr txBox="1"/>
          <p:nvPr/>
        </p:nvSpPr>
        <p:spPr>
          <a:xfrm>
            <a:off x="8595360" y="4773168"/>
            <a:ext cx="2971800" cy="658368"/>
          </a:xfrm>
          <a:prstGeom prst="rect">
            <a:avLst/>
          </a:prstGeom>
          <a:noFill/>
        </p:spPr>
        <p:txBody>
          <a:bodyPr wrap="square" anchor="ctr"/>
          <a:lstStyle/>
          <a:p>
            <a:pPr algn="l"/>
            <a:r>
              <a:rPr sz="1200" b="0">
                <a:solidFill>
                  <a:srgbClr val="3D4A57"/>
                </a:solidFill>
                <a:latin typeface="Calibri"/>
              </a:rPr>
              <a:t>Gastric rupture; catastrophic trauma; end-stage disease</a:t>
            </a:r>
          </a:p>
        </p:txBody>
      </p:sp>
      <p:sp>
        <p:nvSpPr>
          <p:cNvPr id="37" name="Rounded Rectangle 36"/>
          <p:cNvSpPr/>
          <p:nvPr/>
        </p:nvSpPr>
        <p:spPr>
          <a:xfrm>
            <a:off x="411480" y="5596128"/>
            <a:ext cx="11338560" cy="8686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687568"/>
            <a:ext cx="11018520" cy="685800"/>
          </a:xfrm>
          <a:prstGeom prst="rect">
            <a:avLst/>
          </a:prstGeom>
          <a:noFill/>
        </p:spPr>
        <p:txBody>
          <a:bodyPr wrap="square" anchor="t"/>
          <a:lstStyle/>
          <a:p>
            <a:pPr algn="l"/>
            <a:r>
              <a:rPr sz="1400" b="0">
                <a:solidFill>
                  <a:srgbClr val="0B2C4A"/>
                </a:solidFill>
                <a:latin typeface="Calibri"/>
              </a:rPr>
              <a:t>E = emergency (written Status 3-E or 4-E). Willie is Status 3-E: acute, still compensated. MoMo is Status 4-E: acute, uncompensated, vital systems involved. Assign the number after today’s PE and labs, not from the appointment book.</a:t>
            </a:r>
          </a:p>
        </p:txBody>
      </p:sp>
      <p:sp>
        <p:nvSpPr>
          <p:cNvPr id="39" name="Rectangle 3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1" name="TextBox 4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Status 1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Status 2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Willie: 6 y 11 mo MN Cavalier, 13.7 kg. Acute ataxia 1 h. AS otitis, TM visible/swollen. Circling left, nystagmus fast-left, right knuckling. Grade II murmur.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Status 3-E  ·  not ‘just dirty ears’ — next slides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MoMo: 6 yo SF DSH, 4.25 kg. Acute vomiting ×2, lethargy, construction at home — possible FB. T 98.0 °F, HR 200, mm pink tacky. Mildly enlarged abdomen.</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Do not cut yet. Imaging + labs first  ·  this became ASA Status 4-E, not a surgical abdomen</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 11 MO MN CAVALIER KING CHARLES SPANIEL  ·  13.7 KG  ·  BCS 6/9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III case — Willie</a:t>
            </a:r>
          </a:p>
        </p:txBody>
      </p:sp>
      <p:sp>
        <p:nvSpPr>
          <p:cNvPr id="8" name="Rounded Rectangle 7"/>
          <p:cNvSpPr/>
          <p:nvPr/>
        </p:nvSpPr>
        <p:spPr>
          <a:xfrm>
            <a:off x="457200" y="1051560"/>
            <a:ext cx="11247120" cy="13258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ataxia ~1 hour. Fell off the couch twice. Abnormal paw placement. Appetite/thirst normal. Cytopoint for allergies. No prior vestibular signs. Vitals: T 100.8 °F, HR 132, RR 52, mm pink, CRT 2 s, quiet/dull.</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Left ear (AS)</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Neuro exam</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Circling left. Horizontal nystagmus — fast left, slow right. Right knuckling and delayed proprioception. Wheelbarrow absent on the right. That is not a simple peripheral ear.</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Also on PE</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Grade II/VI left systolic murmur (Cavaliers). Heavy tartar. Nasal crusts. Soft non-painful abdomen. Compensated tonight.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  FUNCTIONAL LIMITATION  ·  ACUTE  ·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Willie is ASA III-E — and what we actually did</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2E6B4F"/>
                </a:solidFill>
                <a:latin typeface="Calibri"/>
              </a:rPr>
              <a:t>ASA III-E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 murmur alone, or dirty ears without neuro signs.
III = acute vestibular disease plus severe AS otitis, still pink, walking, kidneys normal.
E = started an hour ago; sedation tonight.
IV = recumbent, seizing, septic, or in heart failure. He was not.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and peri-op plan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CBC WNL. Phosphorus 6.0 (high), glucose 130 (stress). Kidneys, liver, electrolytes normal.</a:t>
            </a:r>
          </a:p>
          <a:p>
            <a:pPr algn="l">
              <a:spcAft>
                <a:spcPts val="500"/>
              </a:spcAft>
            </a:pPr>
            <a:r>
              <a:rPr sz="1300" b="0">
                <a:solidFill>
                  <a:srgbClr val="1C1C1C"/>
                </a:solidFill>
                <a:latin typeface="Calibri"/>
              </a:rPr>
              <a:t>▸  IV fluids, Cerenia IV, DexSP 0.68 mL SQ. No NSAID after the steroid.</a:t>
            </a:r>
          </a:p>
          <a:p>
            <a:pPr algn="l">
              <a:spcAft>
                <a:spcPts val="500"/>
              </a:spcAft>
            </a:pPr>
            <a:r>
              <a:rPr sz="1300" b="0">
                <a:solidFill>
                  <a:srgbClr val="1C1C1C"/>
                </a:solidFill>
                <a:latin typeface="Calibri"/>
              </a:rPr>
              <a:t>▸  Alfaxalone sedation: deep left-ear clean, cytology/culture, 3-view skull/spine films.</a:t>
            </a:r>
          </a:p>
          <a:p>
            <a:pPr algn="l">
              <a:spcAft>
                <a:spcPts val="500"/>
              </a:spcAft>
            </a:pPr>
            <a:r>
              <a:rPr sz="1300" b="0">
                <a:solidFill>
                  <a:srgbClr val="1C1C1C"/>
                </a:solidFill>
                <a:latin typeface="Calibri"/>
              </a:rPr>
              <a:t>▸  Films: bullae radiographically intact, skull intact, L7–S1 discospondylosis — that does not explain acute circling.</a:t>
            </a:r>
          </a:p>
          <a:p>
            <a:pPr algn="l">
              <a:spcAft>
                <a:spcPts val="500"/>
              </a:spcAft>
            </a:pPr>
            <a:r>
              <a:rPr sz="1300" b="0">
                <a:solidFill>
                  <a:srgbClr val="1C1C1C"/>
                </a:solidFill>
                <a:latin typeface="Calibri"/>
              </a:rPr>
              <a:t>▸  Left circling + left-fast nystagmus + right proprioceptive deficit → central until MRI says otherwise.</a:t>
            </a:r>
          </a:p>
          <a:p>
            <a:pPr algn="l">
              <a:spcAft>
                <a:spcPts val="500"/>
              </a:spcAft>
            </a:pPr>
            <a:r>
              <a:rPr sz="1300" b="0">
                <a:solidFill>
                  <a:srgbClr val="1C1C1C"/>
                </a:solidFill>
                <a:latin typeface="Calibri"/>
              </a:rPr>
              <a:t>▸  Home: meclizine 25 mg PO BID × 5 d, Cerenia 60 mg PO SID × 4 d, confine, no stairs. MRI recommended. TECA-LBO if culture-guided medical therapy fails.</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YO SF DSH  ·  4.25 KG  ·  BCS 5/9  ·  SAME HOSPITAL, SAME WEEK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IV-E case — MoMo</a:t>
            </a:r>
          </a:p>
        </p:txBody>
      </p:sp>
      <p:sp>
        <p:nvSpPr>
          <p:cNvPr id="8" name="Rounded Rectangle 7"/>
          <p:cNvSpPr/>
          <p:nvPr/>
        </p:nvSpPr>
        <p:spPr>
          <a:xfrm>
            <a:off x="457200" y="1051560"/>
            <a:ext cx="11247120" cy="132588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vomiting and lethargy this morning. Two vomits (food, then liquid). Ate normally yesterday. Household construction — possible foreign material or toxin. Refused a favored treat. Vaccines uncertain; last wellness ~2 years. Vitals: T 98.0 °F, HR 200, RR 30, mm pink tacky, CRT &lt;2 s, QAR.</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Why this looked surgical</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FB obstruction was on the list. Discussed IV fluids, serial imaging, and surgery if indicated. Mildly enlarged abdomen. That is how cats get booked for an exploratory.</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What the PE actually showed</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Heart/lungs normal. No murmur. Abdomen mildly enlarged. Ambulatory ×4. No oral, ear, or neuro deficits. Dehydrated. Generalized small stature. The PE did not prove a foreign body.</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Do not skip labs/imaging</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POCUS: abnormal right kidney, left kidney enlarged, bladder intact. 3-view abdomen STAT. CBC/chem. This is why ‘booked for surgery’ is not an ASA.</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UNCOMPENSATED  ·  CONSTANT THREAT  ·  ACUTE  ·  NOT A SURGICAL ABDOMEN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MoMo is ASA IV-E — and why we did not cut</a:t>
            </a:r>
          </a:p>
        </p:txBody>
      </p:sp>
      <p:sp>
        <p:nvSpPr>
          <p:cNvPr id="8" name="Rounded Rectangle 7"/>
          <p:cNvSpPr/>
          <p:nvPr/>
        </p:nvSpPr>
        <p:spPr>
          <a:xfrm>
            <a:off x="411480" y="1078992"/>
            <a:ext cx="370332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8B2E2E"/>
                </a:solidFill>
                <a:latin typeface="Calibri"/>
              </a:rPr>
              <a:t>ASA IV-E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III = compensated disease you can still anesthetize with a plan.
IV = severe systemic disease that is a constant threat — here, rising azotemia and a non-functional kidney.
She was QAR and walking, so not ASA V (moribund).
E = acute presentation.
A cancelled exploratory is a successful preoperative evaluation.</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that cancelled surgery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Admit: IVC, IVF 1.5× maintenance, Cerenia, ondansetron, Unasyn, aluminum hydroxide if eating.</a:t>
            </a:r>
          </a:p>
          <a:p>
            <a:pPr algn="l">
              <a:spcAft>
                <a:spcPts val="500"/>
              </a:spcAft>
            </a:pPr>
            <a:r>
              <a:rPr sz="1300" b="0">
                <a:solidFill>
                  <a:srgbClr val="1C1C1C"/>
                </a:solidFill>
                <a:latin typeface="Calibri"/>
              </a:rPr>
              <a:t>▸  CBC: WBC ~26K with neutrophilia. Platelets variable (74 then 123). Stress glucose.</a:t>
            </a:r>
          </a:p>
          <a:p>
            <a:pPr algn="l">
              <a:spcAft>
                <a:spcPts val="500"/>
              </a:spcAft>
            </a:pPr>
            <a:r>
              <a:rPr sz="1300" b="0">
                <a:solidFill>
                  <a:srgbClr val="1C1C1C"/>
                </a:solidFill>
                <a:latin typeface="Calibri"/>
              </a:rPr>
              <a:t>▸  Chem day 0: BUN 49.7, creatinine 3.0, phosphorus 8.0. USG 1.042 — concentrating, so this is not ‘end-stage CKD, ignore it.’</a:t>
            </a:r>
          </a:p>
          <a:p>
            <a:pPr algn="l">
              <a:spcAft>
                <a:spcPts val="500"/>
              </a:spcAft>
            </a:pPr>
            <a:r>
              <a:rPr sz="1300" b="0">
                <a:solidFill>
                  <a:srgbClr val="1C1C1C"/>
                </a:solidFill>
                <a:latin typeface="Calibri"/>
              </a:rPr>
              <a:t>▸  Repeat on fluids: BUN 100, creatinine 4.71. Do not ignore a rising value you ordered.</a:t>
            </a:r>
          </a:p>
          <a:p>
            <a:pPr algn="l">
              <a:spcAft>
                <a:spcPts val="500"/>
              </a:spcAft>
            </a:pPr>
            <a:r>
              <a:rPr sz="1300" b="0">
                <a:solidFill>
                  <a:srgbClr val="1C1C1C"/>
                </a:solidFill>
                <a:latin typeface="Calibri"/>
              </a:rPr>
              <a:t>▸  AUS: right kidney severely fluid-filled and non-functional; left kidney reduced corticomedullary architecture. Not an FNA target on the right.</a:t>
            </a:r>
          </a:p>
          <a:p>
            <a:pPr algn="l">
              <a:spcAft>
                <a:spcPts val="500"/>
              </a:spcAft>
            </a:pPr>
            <a:r>
              <a:rPr sz="1300" b="0">
                <a:solidFill>
                  <a:srgbClr val="1C1C1C"/>
                </a:solidFill>
                <a:latin typeface="Calibri"/>
              </a:rPr>
              <a:t>▸  Options: IM referral (FNA left kidney) vs palliative vs euthanasia. Prognosis guarded to poor. Owner elected humane euthanasia.</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REQUEST THE MINIMUM TESTS THIS PATIENT AND THIS PROCEDURE ACTUALLY NEED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 MoMo: POCUS/AUS cancelled the cut.</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WORKING TEACHING TABLE  ·  THESE BANDS INFORM STATUS; THEY DO NOT ASSIGN IT BY THEMSELVES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CBC and chemistry → ASA Status</a:t>
            </a:r>
          </a:p>
        </p:txBody>
      </p:sp>
      <p:pic>
        <p:nvPicPr>
          <p:cNvPr id="8" name="Picture 7" descr="asa_cbc_chem.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PH, LACTATE, GASES, BICARBONATE, BASE EXCESS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EPOC / blood gas → ASA Status</a:t>
            </a:r>
          </a:p>
        </p:txBody>
      </p:sp>
      <p:pic>
        <p:nvPicPr>
          <p:cNvPr id="8" name="Picture 7" descr="asa_epoc.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LABS INFORM ASA. THE PHYSICAL EXAM STILL OWNS THE NUMBER.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Put both patients on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47472"/>
          </a:xfrm>
          <a:prstGeom prst="rect">
            <a:avLst/>
          </a:prstGeom>
          <a:noFill/>
        </p:spPr>
        <p:txBody>
          <a:bodyPr wrap="square" anchor="t"/>
          <a:lstStyle/>
          <a:p>
            <a:pPr algn="l"/>
            <a:r>
              <a:rPr sz="1500" b="1">
                <a:solidFill>
                  <a:srgbClr val="0B2C4A"/>
                </a:solidFill>
                <a:latin typeface="Calibri"/>
              </a:rPr>
              <a:t>Willie — labs look quieter than the dog</a:t>
            </a:r>
          </a:p>
        </p:txBody>
      </p:sp>
      <p:sp>
        <p:nvSpPr>
          <p:cNvPr id="11" name="TextBox 10"/>
          <p:cNvSpPr txBox="1"/>
          <p:nvPr/>
        </p:nvSpPr>
        <p:spPr>
          <a:xfrm>
            <a:off x="667512" y="1490472"/>
            <a:ext cx="5257800" cy="4544568"/>
          </a:xfrm>
          <a:prstGeom prst="rect">
            <a:avLst/>
          </a:prstGeom>
          <a:noFill/>
        </p:spPr>
        <p:txBody>
          <a:bodyPr wrap="square" anchor="t"/>
          <a:lstStyle/>
          <a:p>
            <a:pPr algn="l"/>
            <a:r>
              <a:rPr sz="1300" b="0">
                <a:solidFill>
                  <a:srgbClr val="3D4A57"/>
                </a:solidFill>
                <a:latin typeface="Calibri"/>
              </a:rPr>
              <a:t>CBC WNL (Status 1 band).
Phosphorus 6.0 — mild ↑ (Status 2).
Glucose 130 — stress (Status 2 band).
Kidneys, liver, electrolytes normal.
No EPOC indicated for this ear clean.
ASA Status 3-E anyway: acute vestibular disease, severe AS otitis, murmur. An unremarkable chemistry does not down-stage a neurologic patient.</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47472"/>
          </a:xfrm>
          <a:prstGeom prst="rect">
            <a:avLst/>
          </a:prstGeom>
          <a:noFill/>
        </p:spPr>
        <p:txBody>
          <a:bodyPr wrap="square" anchor="t"/>
          <a:lstStyle/>
          <a:p>
            <a:pPr algn="l"/>
            <a:r>
              <a:rPr sz="1500" b="1">
                <a:solidFill>
                  <a:srgbClr val="0B2C4A"/>
                </a:solidFill>
                <a:latin typeface="Calibri"/>
              </a:rPr>
              <a:t>MoMo — labs and EPOC support Status 4-E</a:t>
            </a:r>
          </a:p>
        </p:txBody>
      </p:sp>
      <p:sp>
        <p:nvSpPr>
          <p:cNvPr id="15" name="TextBox 14"/>
          <p:cNvSpPr txBox="1"/>
          <p:nvPr/>
        </p:nvSpPr>
        <p:spPr>
          <a:xfrm>
            <a:off x="6428232" y="1490472"/>
            <a:ext cx="5257800" cy="4544568"/>
          </a:xfrm>
          <a:prstGeom prst="rect">
            <a:avLst/>
          </a:prstGeom>
          <a:noFill/>
        </p:spPr>
        <p:txBody>
          <a:bodyPr wrap="square" anchor="t"/>
          <a:lstStyle/>
          <a:p>
            <a:pPr algn="l"/>
            <a:r>
              <a:rPr sz="1300" b="0">
                <a:solidFill>
                  <a:srgbClr val="3D4A57"/>
                </a:solidFill>
                <a:latin typeface="Calibri"/>
              </a:rPr>
              <a:t>WBC ~26K with neutrophilia — Status 3–4 inflammatory band.
Platelets 74 K — Status 3.
Creatinine 3.0 → 4.71; BUN 49.7 → 100 — Status 4 (severe ↑ + uremia).
Phosphorus 8.0 — Status 3–4.
EPOC pH 7.255 (Status 3); BE −7.4 (Status 2); lactate 2.05 (Status 1).
Venous pO2 33 is not arterial hypoxemia.
Whole patient = Status 4-E.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used in some hospitals; be able to discuss aspiration versus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DID NOT SAY IT, YOU DID NOT CONSENT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Urinary incontinence after OHE is a real risk in some bitches, especially large-breed — quote it; do not omit it and do not inflate it.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 in the lobby</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 — because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 minutes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HERE BEFORE INDUCTION, YOU ARE NOT READY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must be in the room</a:t>
            </a:r>
          </a:p>
        </p:txBody>
      </p:sp>
      <p:pic>
        <p:nvPicPr>
          <p:cNvPr id="8" name="Picture 7" descr="what_you_need.png"/>
          <p:cNvPicPr>
            <a:picLocks noChangeAspect="1"/>
          </p:cNvPicPr>
          <p:nvPr/>
        </p:nvPicPr>
        <p:blipFill>
          <a:blip r:embed="rId2"/>
          <a:stretch>
            <a:fillRect/>
          </a:stretch>
        </p:blipFill>
        <p:spPr>
          <a:xfrm>
            <a:off x="320040" y="1024128"/>
            <a:ext cx="11521440" cy="553212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FILL IT BEFORE THE FIRST DRUG  ·  THIS IS A TEACHING FORM, NOT A HOSPITAL ORIGINAL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 sedation record — Willie</a:t>
            </a:r>
          </a:p>
        </p:txBody>
      </p:sp>
      <p:pic>
        <p:nvPicPr>
          <p:cNvPr id="8" name="Picture 7" descr="anesthesia_record_willie.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 COMPLETED PREOPERATIVE EVALUATION CAN END WITH DO NOT INDUCE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same record — MoMo</a:t>
            </a:r>
          </a:p>
        </p:txBody>
      </p:sp>
      <p:pic>
        <p:nvPicPr>
          <p:cNvPr id="8" name="Picture 7" descr="anesthesia_record_momo.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IV cefazolin 22 mg/kg 30 minutes before incision; redose every 90 minutes if the surgery is still open or blood loss is large.
Consider if:
• Clean-contaminated / contaminated / dirty
• Implant (orthopedic, mesh)
• Hollow viscus entry
• Surgery &gt;90 minutes or a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24–44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SAME SIX BOXES EVERY TIME YOU TAKE A PATIENT TO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we actually check in patient and surgeon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then sterile. PVP-I: 5 minutes wet contact. Mucosa/eye: 1 to 20 to 1 to 50.</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PVP-I 5 min wet contact. Mucosa/eye: 1 to 20 – 1 to 50</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CLINIC PHOTOGRAPHS  ·  #40 CLIPPER, NOT RAZOR  ·  FIELD WIDE ENOUGH TO EXTEND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 — clip after induction, not last night</a:t>
            </a:r>
          </a:p>
        </p:txBody>
      </p:sp>
      <p:sp>
        <p:nvSpPr>
          <p:cNvPr id="8" name="Rounded Rectangle 7"/>
          <p:cNvSpPr/>
          <p:nvPr/>
        </p:nvSpPr>
        <p:spPr>
          <a:xfrm>
            <a:off x="365760" y="1005840"/>
            <a:ext cx="56692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347472"/>
          </a:xfrm>
          <a:prstGeom prst="rect">
            <a:avLst/>
          </a:prstGeom>
          <a:noFill/>
        </p:spPr>
        <p:txBody>
          <a:bodyPr wrap="square" anchor="ctr"/>
          <a:lstStyle/>
          <a:p>
            <a:pPr algn="ctr"/>
            <a:r>
              <a:rPr sz="1300" b="1">
                <a:solidFill>
                  <a:srgbClr val="FFFFFF"/>
                </a:solidFill>
                <a:latin typeface="Calibri"/>
              </a:rPr>
              <a:t>Too narrow — hair still at the margin</a:t>
            </a:r>
          </a:p>
        </p:txBody>
      </p:sp>
      <p:pic>
        <p:nvPicPr>
          <p:cNvPr id="10" name="Picture 9" descr="clip_cat.jpg"/>
          <p:cNvPicPr>
            <a:picLocks noChangeAspect="1"/>
          </p:cNvPicPr>
          <p:nvPr/>
        </p:nvPicPr>
        <p:blipFill>
          <a:blip r:embed="rId2"/>
          <a:stretch>
            <a:fillRect/>
          </a:stretch>
        </p:blipFill>
        <p:spPr>
          <a:xfrm>
            <a:off x="365760" y="1371600"/>
            <a:ext cx="5669280" cy="3246120"/>
          </a:xfrm>
          <a:prstGeom prst="rect">
            <a:avLst/>
          </a:prstGeom>
        </p:spPr>
      </p:pic>
      <p:sp>
        <p:nvSpPr>
          <p:cNvPr id="11" name="Rounded Rectangle 10"/>
          <p:cNvSpPr/>
          <p:nvPr/>
        </p:nvSpPr>
        <p:spPr>
          <a:xfrm>
            <a:off x="6172200" y="1005840"/>
            <a:ext cx="5669280" cy="347472"/>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347472"/>
          </a:xfrm>
          <a:prstGeom prst="rect">
            <a:avLst/>
          </a:prstGeom>
          <a:noFill/>
        </p:spPr>
        <p:txBody>
          <a:bodyPr wrap="square" anchor="ctr"/>
          <a:lstStyle/>
          <a:p>
            <a:pPr algn="ctr"/>
            <a:r>
              <a:rPr sz="1300" b="1">
                <a:solidFill>
                  <a:srgbClr val="FFFFFF"/>
                </a:solidFill>
                <a:latin typeface="Calibri"/>
              </a:rPr>
              <a:t>24 h after OHE — this is the clip you needed</a:t>
            </a:r>
          </a:p>
        </p:txBody>
      </p:sp>
      <p:pic>
        <p:nvPicPr>
          <p:cNvPr id="13" name="Picture 12" descr="spay_incision.jpg"/>
          <p:cNvPicPr>
            <a:picLocks noChangeAspect="1"/>
          </p:cNvPicPr>
          <p:nvPr/>
        </p:nvPicPr>
        <p:blipFill>
          <a:blip r:embed="rId3"/>
          <a:stretch>
            <a:fillRect/>
          </a:stretch>
        </p:blipFill>
        <p:spPr>
          <a:xfrm>
            <a:off x="6172200" y="1371600"/>
            <a:ext cx="5669280" cy="3246120"/>
          </a:xfrm>
          <a:prstGeom prst="rect">
            <a:avLst/>
          </a:prstGeom>
        </p:spPr>
      </p:pic>
      <p:sp>
        <p:nvSpPr>
          <p:cNvPr id="14" name="Rounded Rectangle 13"/>
          <p:cNvSpPr/>
          <p:nvPr/>
        </p:nvSpPr>
        <p:spPr>
          <a:xfrm>
            <a:off x="365760" y="4736592"/>
            <a:ext cx="11475720" cy="1737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64608"/>
            <a:ext cx="11155680" cy="1463040"/>
          </a:xfrm>
          <a:prstGeom prst="rect">
            <a:avLst/>
          </a:prstGeom>
          <a:noFill/>
        </p:spPr>
        <p:txBody>
          <a:bodyPr wrap="square" anchor="t"/>
          <a:lstStyle/>
          <a:p>
            <a:pPr algn="l"/>
            <a:r>
              <a:rPr sz="1400" b="0">
                <a:solidFill>
                  <a:srgbClr val="1C1C1C"/>
                </a:solidFill>
                <a:latin typeface="Calibri"/>
              </a:rPr>
              <a:t>Xiphoid, or slightly cranial to it, to the pubis, and widely lateral past the nipples — a rectangle, not a narrow strip of hair. Clip with the grain, then against, to the skin. Vacuum. 20 cm beyond the planned incision. Do not clip the night before. Razors create micro-nicks and raise SSI risk. Airway in and a surgical plane before the clippers start.
Photos: Uwe Gille, CC0 (cat clip); Liannadavis, CC BY-SA 4.0 (OHE incision).</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THIS IS DVM 612, NOT A CLIENT HANDOUT. YOU ARE THE VETERINARIAN AT THE 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you mix the iodine. Memorize the ratio.</a:t>
            </a:r>
          </a:p>
        </p:txBody>
      </p:sp>
      <p:sp>
        <p:nvSpPr>
          <p:cNvPr id="8" name="Rounded Rectangle 7"/>
          <p:cNvSpPr/>
          <p:nvPr/>
        </p:nvSpPr>
        <p:spPr>
          <a:xfrm>
            <a:off x="365760" y="987552"/>
            <a:ext cx="11448288" cy="1298448"/>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155680" cy="384048"/>
          </a:xfrm>
          <a:prstGeom prst="rect">
            <a:avLst/>
          </a:prstGeom>
          <a:noFill/>
        </p:spPr>
        <p:txBody>
          <a:bodyPr wrap="square" anchor="ctr"/>
          <a:lstStyle/>
          <a:p>
            <a:pPr algn="ctr"/>
            <a:r>
              <a:rPr sz="1600" b="1">
                <a:solidFill>
                  <a:srgbClr val="0B2C4A"/>
                </a:solidFill>
                <a:latin typeface="Calibri"/>
              </a:rPr>
              <a:t>10% povidone-iodine SOLUTION  ·  mucosa, conjunctiva, prepuce  ·  dilute  1 to 20  through  1 to 50  in sterile saline</a:t>
            </a:r>
          </a:p>
        </p:txBody>
      </p:sp>
      <p:sp>
        <p:nvSpPr>
          <p:cNvPr id="10" name="TextBox 9"/>
          <p:cNvSpPr txBox="1"/>
          <p:nvPr/>
        </p:nvSpPr>
        <p:spPr>
          <a:xfrm>
            <a:off x="502920" y="1389888"/>
            <a:ext cx="11155680" cy="804672"/>
          </a:xfrm>
          <a:prstGeom prst="rect">
            <a:avLst/>
          </a:prstGeom>
          <a:noFill/>
        </p:spPr>
        <p:txBody>
          <a:bodyPr wrap="square" anchor="t"/>
          <a:lstStyle/>
          <a:p>
            <a:pPr algn="ctr"/>
            <a:r>
              <a:rPr sz="1400" b="0">
                <a:solidFill>
                  <a:srgbClr val="1C1C1C"/>
                </a:solidFill>
                <a:latin typeface="Calibri"/>
              </a:rPr>
              <a:t>1 mL stock + 19 mL saline = 1:20 = 0.5% PVP-I        ·        1 mL stock + 49 mL saline = 1:50 = 0.2% PVP-I
Intact skin: 5 minutes wet contact.  Eye at 1:50: 2-minute scrub + 2-minute soak.  Never the 7.5% detergent scrub in an eye.</a:t>
            </a:r>
          </a:p>
        </p:txBody>
      </p:sp>
      <p:sp>
        <p:nvSpPr>
          <p:cNvPr id="11" name="Rounded Rectangle 10"/>
          <p:cNvSpPr/>
          <p:nvPr/>
        </p:nvSpPr>
        <p:spPr>
          <a:xfrm>
            <a:off x="365760" y="2395728"/>
            <a:ext cx="3749039"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395728"/>
            <a:ext cx="3749039" cy="457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395728"/>
            <a:ext cx="3749039" cy="457200"/>
          </a:xfrm>
          <a:prstGeom prst="rect">
            <a:avLst/>
          </a:prstGeom>
          <a:noFill/>
        </p:spPr>
        <p:txBody>
          <a:bodyPr wrap="square" anchor="ctr"/>
          <a:lstStyle/>
          <a:p>
            <a:pPr algn="ctr"/>
            <a:r>
              <a:rPr sz="1500" b="1">
                <a:solidFill>
                  <a:srgbClr val="FFFFFF"/>
                </a:solidFill>
                <a:latin typeface="Calibri"/>
              </a:rPr>
              <a:t>Chlorhexidine — 3 minutes</a:t>
            </a:r>
          </a:p>
        </p:txBody>
      </p:sp>
      <p:sp>
        <p:nvSpPr>
          <p:cNvPr id="14" name="TextBox 13"/>
          <p:cNvSpPr txBox="1"/>
          <p:nvPr/>
        </p:nvSpPr>
        <p:spPr>
          <a:xfrm>
            <a:off x="502920" y="2944368"/>
            <a:ext cx="3474720" cy="3337560"/>
          </a:xfrm>
          <a:prstGeom prst="rect">
            <a:avLst/>
          </a:prstGeom>
          <a:noFill/>
        </p:spPr>
        <p:txBody>
          <a:bodyPr wrap="square" anchor="t"/>
          <a:lstStyle/>
          <a:p>
            <a:pPr algn="l"/>
            <a:r>
              <a:rPr sz="1200" b="0">
                <a:solidFill>
                  <a:srgbClr val="1C1C1C"/>
                </a:solidFill>
                <a:latin typeface="Calibri"/>
              </a:rPr>
              <a:t>Intact skin: 2% or 4% CHG.
Aqueous CHG: 3 minutes of wet contact.
CHG–alcohol (2% / 70%): 30 seconds on dry skin, 2 minutes on moist skin.
Residual activity 6 hours.
Destroys cornea. Ototoxic in the middle ear. Not for meninges, synovium, or open viscera.
Do not mix with povidone-iodine on the same field.
Do not store homemade dilute jugs (outbreak risk).</a:t>
            </a:r>
          </a:p>
        </p:txBody>
      </p:sp>
      <p:sp>
        <p:nvSpPr>
          <p:cNvPr id="15" name="Rounded Rectangle 14"/>
          <p:cNvSpPr/>
          <p:nvPr/>
        </p:nvSpPr>
        <p:spPr>
          <a:xfrm>
            <a:off x="4224528" y="2395728"/>
            <a:ext cx="3749039"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4528" y="2395728"/>
            <a:ext cx="3749039" cy="457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24528" y="2395728"/>
            <a:ext cx="3749039" cy="457200"/>
          </a:xfrm>
          <a:prstGeom prst="rect">
            <a:avLst/>
          </a:prstGeom>
          <a:noFill/>
        </p:spPr>
        <p:txBody>
          <a:bodyPr wrap="square" anchor="ctr"/>
          <a:lstStyle/>
          <a:p>
            <a:pPr algn="ctr"/>
            <a:r>
              <a:rPr sz="1500" b="1">
                <a:solidFill>
                  <a:srgbClr val="0B2C4A"/>
                </a:solidFill>
                <a:latin typeface="Calibri"/>
              </a:rPr>
              <a:t>Povidone-iodine — 5 minutes</a:t>
            </a:r>
          </a:p>
        </p:txBody>
      </p:sp>
      <p:sp>
        <p:nvSpPr>
          <p:cNvPr id="18" name="TextBox 17"/>
          <p:cNvSpPr txBox="1"/>
          <p:nvPr/>
        </p:nvSpPr>
        <p:spPr>
          <a:xfrm>
            <a:off x="4361688" y="2944368"/>
            <a:ext cx="3474720" cy="3337560"/>
          </a:xfrm>
          <a:prstGeom prst="rect">
            <a:avLst/>
          </a:prstGeom>
          <a:noFill/>
        </p:spPr>
        <p:txBody>
          <a:bodyPr wrap="square" anchor="t"/>
          <a:lstStyle/>
          <a:p>
            <a:pPr algn="l"/>
            <a:r>
              <a:rPr sz="1200" b="0">
                <a:solidFill>
                  <a:srgbClr val="1C1C1C"/>
                </a:solidFill>
                <a:latin typeface="Calibri"/>
              </a:rPr>
              <a:t>Intact skin: 7.5% scrub, lather 5 minutes, rinse, paint 10% solution, dry before you drape. Do not invent a skin dilution.
Mucosa / eye / prepuce: 10% SOLUTION only, 1 to 20 to 1 to 50.
Eye at 1:50: 2-minute scrub + 2-minute soak.
Organic matter inactivates it — dirty prep first.
Not sporicidal at 5 minutes. Residual 90 minutes after dry. Hypersensitivity. Stains.</a:t>
            </a:r>
          </a:p>
        </p:txBody>
      </p:sp>
      <p:sp>
        <p:nvSpPr>
          <p:cNvPr id="19" name="Rounded Rectangle 18"/>
          <p:cNvSpPr/>
          <p:nvPr/>
        </p:nvSpPr>
        <p:spPr>
          <a:xfrm>
            <a:off x="8083296" y="2395728"/>
            <a:ext cx="3730752" cy="40416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2395728"/>
            <a:ext cx="3730752" cy="4572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2395728"/>
            <a:ext cx="3730752" cy="457200"/>
          </a:xfrm>
          <a:prstGeom prst="rect">
            <a:avLst/>
          </a:prstGeom>
          <a:noFill/>
        </p:spPr>
        <p:txBody>
          <a:bodyPr wrap="square" anchor="ctr"/>
          <a:lstStyle/>
          <a:p>
            <a:pPr algn="ctr"/>
            <a:r>
              <a:rPr sz="1500" b="1">
                <a:solidFill>
                  <a:srgbClr val="C5A35A"/>
                </a:solidFill>
                <a:latin typeface="Calibri"/>
              </a:rPr>
              <a:t>Alcohol — 30 seconds</a:t>
            </a:r>
          </a:p>
        </p:txBody>
      </p:sp>
      <p:sp>
        <p:nvSpPr>
          <p:cNvPr id="22" name="TextBox 21"/>
          <p:cNvSpPr txBox="1"/>
          <p:nvPr/>
        </p:nvSpPr>
        <p:spPr>
          <a:xfrm>
            <a:off x="8220456" y="2944368"/>
            <a:ext cx="3456432" cy="3337560"/>
          </a:xfrm>
          <a:prstGeom prst="rect">
            <a:avLst/>
          </a:prstGeom>
          <a:noFill/>
        </p:spPr>
        <p:txBody>
          <a:bodyPr wrap="square" anchor="t"/>
          <a:lstStyle/>
          <a:p>
            <a:pPr algn="l"/>
            <a:r>
              <a:rPr sz="1300" b="0">
                <a:solidFill>
                  <a:srgbClr val="1C1C1C"/>
                </a:solidFill>
                <a:latin typeface="Calibri"/>
              </a:rPr>
              <a:t>70% isopropyl or ethyl: 30 seconds, then dry. No residual.
Flammable — no pooling near cautery.
Rinse or paint between CHG cycles on intact skin.
Not for open wounds, mucous membranes, or the eye.
Hydrogen peroxide is not a surgical antiseptic.</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TECHNIQUE DIAGRAM  ·  CENTER → PERIPHERY  ·  REAL PHOTOS ARE ON THE CLIP AND DRAPE SLIDES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6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600"/>
              </a:spcAft>
            </a:pPr>
            <a:r>
              <a:rPr sz="1300" b="0">
                <a:solidFill>
                  <a:srgbClr val="1C1C1C"/>
                </a:solidFill>
                <a:latin typeface="Calibri"/>
              </a:rPr>
              <a:t>▸  Dirty prep in the prep room; sterile prep in the OR.</a:t>
            </a:r>
          </a:p>
          <a:p>
            <a:pPr algn="l">
              <a:spcAft>
                <a:spcPts val="600"/>
              </a:spcAft>
            </a:pPr>
            <a:r>
              <a:rPr sz="1300" b="0">
                <a:solidFill>
                  <a:srgbClr val="1C1C1C"/>
                </a:solidFill>
                <a:latin typeface="Calibri"/>
              </a:rPr>
              <a:t>▸  Start at the planned incision. Spiral out. Never bring a dirty sponge back to the center.</a:t>
            </a:r>
          </a:p>
          <a:p>
            <a:pPr algn="l">
              <a:spcAft>
                <a:spcPts val="600"/>
              </a:spcAft>
            </a:pPr>
            <a:r>
              <a:rPr sz="1300" b="0">
                <a:solidFill>
                  <a:srgbClr val="1C1C1C"/>
                </a:solidFill>
                <a:latin typeface="Calibri"/>
              </a:rPr>
              <a:t>▸  PVP-I: 5 minutes wet contact, rinse, paint 10% solution, dry. Aqueous CHG: 3 minutes. Damp-to-dry, not a lake.</a:t>
            </a:r>
          </a:p>
          <a:p>
            <a:pPr algn="l">
              <a:spcAft>
                <a:spcPts val="600"/>
              </a:spcAft>
            </a:pPr>
            <a:r>
              <a:rPr sz="1300" b="0">
                <a:solidFill>
                  <a:srgbClr val="1C1C1C"/>
                </a:solidFill>
                <a:latin typeface="Calibri"/>
              </a:rPr>
              <a:t>▸  Mucosa, conjunctiva, prepuce: 10% PVP-I solution, 1 to 20 to 1 to 50. Eye at 1:50: 2-minute scrub + 2-minute soak.</a:t>
            </a:r>
          </a:p>
          <a:p>
            <a:pPr algn="l">
              <a:spcAft>
                <a:spcPts val="600"/>
              </a:spcAft>
            </a:pPr>
            <a:r>
              <a:rPr sz="1300" b="0">
                <a:solidFill>
                  <a:srgbClr val="1C1C1C"/>
                </a:solidFill>
                <a:latin typeface="Calibri"/>
              </a:rPr>
              <a:t>▸  Never CHG in the eye or middle ear — Willie’s swollen drum.</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OR PHOTOGRAPH  ·  DORSAL RECUMBENCY, AIRWAY, IV, MONITORING, V-TROUGH</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600" b="1">
                <a:solidFill>
                  <a:srgbClr val="0B2C4A"/>
                </a:solidFill>
                <a:latin typeface="Calibri"/>
              </a:rPr>
              <a:t>Name what you see</a:t>
            </a:r>
          </a:p>
        </p:txBody>
      </p:sp>
      <p:sp>
        <p:nvSpPr>
          <p:cNvPr id="11" name="TextBox 10"/>
          <p:cNvSpPr txBox="1"/>
          <p:nvPr/>
        </p:nvSpPr>
        <p:spPr>
          <a:xfrm>
            <a:off x="8275320" y="1645920"/>
            <a:ext cx="3429000" cy="4572000"/>
          </a:xfrm>
          <a:prstGeom prst="rect">
            <a:avLst/>
          </a:prstGeom>
          <a:noFill/>
        </p:spPr>
        <p:txBody>
          <a:bodyPr wrap="square" anchor="t"/>
          <a:lstStyle/>
          <a:p>
            <a:pPr algn="l"/>
            <a:r>
              <a:rPr sz="1400" b="0">
                <a:solidFill>
                  <a:srgbClr val="1C1C1C"/>
                </a:solidFill>
                <a:latin typeface="Calibri"/>
              </a:rPr>
              <a:t>• ET tube + pulse ox
• IV catheter + fluids
• Anesthesia machine
• V-trough / padding
• Ties that are not tourniquets
• Abdomen not yet clipped — that is next, after a surgical plane
Do not over-split the hips.
Eyes lubricated. Tube not kinked.
Photo: Anja, CC BY-SA 4.0.</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CLINIC PHOTOGRAPHS  ·  GOWN, GLOVE, BOX THE FIELD, THEN THE LARGE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Draping — hair at the edge fails the prep</a:t>
            </a:r>
          </a:p>
        </p:txBody>
      </p:sp>
      <p:sp>
        <p:nvSpPr>
          <p:cNvPr id="8" name="Rounded Rectangle 7"/>
          <p:cNvSpPr/>
          <p:nvPr/>
        </p:nvSpPr>
        <p:spPr>
          <a:xfrm>
            <a:off x="365760" y="1005840"/>
            <a:ext cx="56692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347472"/>
          </a:xfrm>
          <a:prstGeom prst="rect">
            <a:avLst/>
          </a:prstGeom>
          <a:noFill/>
        </p:spPr>
        <p:txBody>
          <a:bodyPr wrap="square" anchor="ctr"/>
          <a:lstStyle/>
          <a:p>
            <a:pPr algn="ctr"/>
            <a:r>
              <a:rPr sz="1300" b="1">
                <a:solidFill>
                  <a:srgbClr val="FFFFFF"/>
                </a:solidFill>
                <a:latin typeface="Calibri"/>
              </a:rPr>
              <a:t>Real OHE — hair still at the drape</a:t>
            </a:r>
          </a:p>
        </p:txBody>
      </p:sp>
      <p:pic>
        <p:nvPicPr>
          <p:cNvPr id="10" name="Picture 9" descr="cherry_point_spay.jpg"/>
          <p:cNvPicPr>
            <a:picLocks noChangeAspect="1"/>
          </p:cNvPicPr>
          <p:nvPr/>
        </p:nvPicPr>
        <p:blipFill>
          <a:blip r:embed="rId2"/>
          <a:stretch>
            <a:fillRect/>
          </a:stretch>
        </p:blipFill>
        <p:spPr>
          <a:xfrm>
            <a:off x="365760" y="1371600"/>
            <a:ext cx="5669280" cy="3246120"/>
          </a:xfrm>
          <a:prstGeom prst="rect">
            <a:avLst/>
          </a:prstGeom>
        </p:spPr>
      </p:pic>
      <p:sp>
        <p:nvSpPr>
          <p:cNvPr id="11" name="Rounded Rectangle 10"/>
          <p:cNvSpPr/>
          <p:nvPr/>
        </p:nvSpPr>
        <p:spPr>
          <a:xfrm>
            <a:off x="6172200" y="1005840"/>
            <a:ext cx="5669280" cy="347472"/>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347472"/>
          </a:xfrm>
          <a:prstGeom prst="rect">
            <a:avLst/>
          </a:prstGeom>
          <a:noFill/>
        </p:spPr>
        <p:txBody>
          <a:bodyPr wrap="square" anchor="ctr"/>
          <a:lstStyle/>
          <a:p>
            <a:pPr algn="ctr"/>
            <a:r>
              <a:rPr sz="1300" b="1">
                <a:solidFill>
                  <a:srgbClr val="FFFFFF"/>
                </a:solidFill>
                <a:latin typeface="Calibri"/>
              </a:rPr>
              <a:t>Real sterile field — gown, glove, drape</a:t>
            </a:r>
          </a:p>
        </p:txBody>
      </p:sp>
      <p:pic>
        <p:nvPicPr>
          <p:cNvPr id="13" name="Picture 12" descr="hektor_drape.jpg"/>
          <p:cNvPicPr>
            <a:picLocks noChangeAspect="1"/>
          </p:cNvPicPr>
          <p:nvPr/>
        </p:nvPicPr>
        <p:blipFill>
          <a:blip r:embed="rId3"/>
          <a:stretch>
            <a:fillRect/>
          </a:stretch>
        </p:blipFill>
        <p:spPr>
          <a:xfrm>
            <a:off x="6172200" y="1371600"/>
            <a:ext cx="5669280" cy="3246120"/>
          </a:xfrm>
          <a:prstGeom prst="rect">
            <a:avLst/>
          </a:prstGeom>
        </p:spPr>
      </p:pic>
      <p:sp>
        <p:nvSpPr>
          <p:cNvPr id="14" name="Rounded Rectangle 13"/>
          <p:cNvSpPr/>
          <p:nvPr/>
        </p:nvSpPr>
        <p:spPr>
          <a:xfrm>
            <a:off x="365760" y="4736592"/>
            <a:ext cx="11475720" cy="1737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64608"/>
            <a:ext cx="11155680" cy="1463040"/>
          </a:xfrm>
          <a:prstGeom prst="rect">
            <a:avLst/>
          </a:prstGeom>
          <a:noFill/>
        </p:spPr>
        <p:txBody>
          <a:bodyPr wrap="square" anchor="t"/>
          <a:lstStyle/>
          <a:p>
            <a:pPr algn="l"/>
            <a:r>
              <a:rPr sz="1400" b="0">
                <a:solidFill>
                  <a:srgbClr val="1C1C1C"/>
                </a:solidFill>
                <a:latin typeface="Calibri"/>
              </a:rPr>
              <a:t>Four towels box the field (near towel first). Hair must not show at any edge — re-clip or re-drape. Large drape over towels; cuff your hands. Wet-through is contaminated. Hands stay on the field.
Photos: Cpl. Samuel A. Nasso, U.S. Marine Corps, public domain (left); MSgt Carlotta Holley, U.S. Air Force, public domain (right).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DIAGRAM FOR THE GLOVE  ·  PHOTOGRAPH FOR THE MACHINE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Closed gloving and a real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400" b="0">
                <a:solidFill>
                  <a:srgbClr val="1C1C1C"/>
                </a:solidFill>
                <a:latin typeface="Calibri"/>
              </a:rPr>
              <a:t>Left: closed-gloving technique diagram (hands stay inside the gown cuffs). Right: real K9 anesthesia — cap, mask, ECG/SpO2/ETCO2 monitors, circle system, IV fluids, airway. Monitoring is on before the first drug. Willie needed this for an ear clean. MoMo never reached induction.
Photo: MSgt Carlotta Holley, U.S. Air Force, public domain.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CONTAMINATE AND STAY SILENT, THE PATIENT PAYS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it — re-glove, re-gown, or re-drape.
Name the break once. Fix it completely.
A second unrecognized break means you cannot maintain an aseptic field. Stop.
This is how we protect a client-owned animal.</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there is no free pass.
You must notice, announce, and completely correct.
If you do not, or if you correct incompletely, you have put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  ·  PATIENT SAFETY, NOT A TRIVIA LIST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 — these stop the surgery</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with sterile saline immediately. Do not continue the prep over a burned cornea.</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For conjunctiva or prepuce, dilute 10% povidone-iodine SOLUTION 1 to 20 to 1 to 50 in sterile saline.</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1:20 = 0.5%; 1:50 = 0.2%. Intact skin: 5 min wet. Eye: 2 min scrub + 2 min soak. Never detergent scrub in an eye.</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44–57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~13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CLINIC PHOTOGRAPH  ·  E-COLLAR, IV, CLIPPED ABDOMEN, NOT LEFT ALONE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stay with the patient</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600" b="1">
                <a:solidFill>
                  <a:srgbClr val="0B2C4A"/>
                </a:solidFill>
                <a:latin typeface="Calibri"/>
              </a:rPr>
              <a:t>Do not leave</a:t>
            </a:r>
          </a:p>
        </p:txBody>
      </p:sp>
      <p:sp>
        <p:nvSpPr>
          <p:cNvPr id="11" name="TextBox 10"/>
          <p:cNvSpPr txBox="1"/>
          <p:nvPr/>
        </p:nvSpPr>
        <p:spPr>
          <a:xfrm>
            <a:off x="8001000" y="1600200"/>
            <a:ext cx="3703320" cy="4023360"/>
          </a:xfrm>
          <a:prstGeom prst="rect">
            <a:avLst/>
          </a:prstGeom>
          <a:noFill/>
        </p:spPr>
        <p:txBody>
          <a:bodyPr wrap="square">
            <a:spAutoFit/>
          </a:bodyPr>
          <a:lstStyle/>
          <a:p>
            <a:pPr algn="l">
              <a:spcAft>
                <a:spcPts val="600"/>
              </a:spcAft>
            </a:pPr>
            <a:r>
              <a:rPr sz="1300" b="0">
                <a:solidFill>
                  <a:srgbClr val="1C1C1C"/>
                </a:solidFill>
                <a:latin typeface="Calibri"/>
              </a:rPr>
              <a:t>▸  Extubate when swallow/gag returns (later in brachycephalics).</a:t>
            </a:r>
          </a:p>
          <a:p>
            <a:pPr algn="l">
              <a:spcAft>
                <a:spcPts val="600"/>
              </a:spcAft>
            </a:pPr>
            <a:r>
              <a:rPr sz="1300" b="0">
                <a:solidFill>
                  <a:srgbClr val="1C1C1C"/>
                </a:solidFill>
                <a:latin typeface="Calibri"/>
              </a:rPr>
              <a:t>▸  SpO2, mm, CRT, pulse. Pale + tachycardia after celiotomy = hemorrhage until proven otherwise.</a:t>
            </a:r>
          </a:p>
          <a:p>
            <a:pPr algn="l">
              <a:spcAft>
                <a:spcPts val="600"/>
              </a:spcAft>
            </a:pPr>
            <a:r>
              <a:rPr sz="1300" b="0">
                <a:solidFill>
                  <a:srgbClr val="1C1C1C"/>
                </a:solidFill>
                <a:latin typeface="Calibri"/>
              </a:rPr>
              <a:t>▸  Rewarm; do not burn.</a:t>
            </a:r>
          </a:p>
          <a:p>
            <a:pPr algn="l">
              <a:spcAft>
                <a:spcPts val="600"/>
              </a:spcAft>
            </a:pPr>
            <a:r>
              <a:rPr sz="1300" b="0">
                <a:solidFill>
                  <a:srgbClr val="1C1C1C"/>
                </a:solidFill>
                <a:latin typeface="Calibri"/>
              </a:rPr>
              <a:t>▸  E-collar on before they can lick.</a:t>
            </a:r>
          </a:p>
          <a:p>
            <a:pPr algn="l">
              <a:spcAft>
                <a:spcPts val="600"/>
              </a:spcAft>
            </a:pPr>
            <a:r>
              <a:rPr sz="1300" b="0">
                <a:solidFill>
                  <a:srgbClr val="1C1C1C"/>
                </a:solidFill>
                <a:latin typeface="Calibri"/>
              </a:rPr>
              <a:t>▸  Willie: no NSAID after DexSP.</a:t>
            </a:r>
          </a:p>
        </p:txBody>
      </p:sp>
      <p:sp>
        <p:nvSpPr>
          <p:cNvPr id="12" name="TextBox 11"/>
          <p:cNvSpPr txBox="1"/>
          <p:nvPr/>
        </p:nvSpPr>
        <p:spPr>
          <a:xfrm>
            <a:off x="8046720" y="5806440"/>
            <a:ext cx="3657600" cy="502920"/>
          </a:xfrm>
          <a:prstGeom prst="rect">
            <a:avLst/>
          </a:prstGeom>
          <a:noFill/>
        </p:spPr>
        <p:txBody>
          <a:bodyPr wrap="square" anchor="t"/>
          <a:lstStyle/>
          <a:p>
            <a:pPr algn="l"/>
            <a:r>
              <a:rPr sz="1100" b="0">
                <a:solidFill>
                  <a:srgbClr val="5B646E"/>
                </a:solidFill>
                <a:latin typeface="Calibri"/>
              </a:rPr>
              <a:t>Photo: Anja, CC BY-SA 4.0.</a:t>
            </a:r>
          </a:p>
        </p:txBody>
      </p:sp>
      <p:sp>
        <p:nvSpPr>
          <p:cNvPr id="13" name="Rectangle 1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5" name="TextBox 1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WRITTEN, IT WAS NOT DONE  ·  TEACHING FORM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Postoperative flowsheet — first 2 hours</a:t>
            </a:r>
          </a:p>
        </p:txBody>
      </p:sp>
      <p:pic>
        <p:nvPicPr>
          <p:cNvPr id="8" name="Picture 7" descr="recovery_flowsheet.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24-HOUR OHE PHOTOGRAPH  ·  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pic>
        <p:nvPicPr>
          <p:cNvPr id="8" name="Picture 7" descr="spay_incision.jpg"/>
          <p:cNvPicPr>
            <a:picLocks noChangeAspect="1"/>
          </p:cNvPicPr>
          <p:nvPr/>
        </p:nvPicPr>
        <p:blipFill>
          <a:blip r:embed="rId2"/>
          <a:stretch>
            <a:fillRect/>
          </a:stretch>
        </p:blipFill>
        <p:spPr>
          <a:xfrm>
            <a:off x="365760" y="1024128"/>
            <a:ext cx="5852160" cy="5440680"/>
          </a:xfrm>
          <a:prstGeom prst="rect">
            <a:avLst/>
          </a:prstGeom>
        </p:spPr>
      </p:pic>
      <p:sp>
        <p:nvSpPr>
          <p:cNvPr id="9" name="Rounded Rectangle 8"/>
          <p:cNvSpPr/>
          <p:nvPr/>
        </p:nvSpPr>
        <p:spPr>
          <a:xfrm>
            <a:off x="6355080" y="1024128"/>
            <a:ext cx="5440680"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1170432"/>
            <a:ext cx="5074920" cy="365760"/>
          </a:xfrm>
          <a:prstGeom prst="rect">
            <a:avLst/>
          </a:prstGeom>
          <a:noFill/>
        </p:spPr>
        <p:txBody>
          <a:bodyPr wrap="square" anchor="t"/>
          <a:lstStyle/>
          <a:p>
            <a:pPr algn="l"/>
            <a:r>
              <a:rPr sz="1600" b="1">
                <a:solidFill>
                  <a:srgbClr val="0B2C4A"/>
                </a:solidFill>
                <a:latin typeface="Calibri"/>
              </a:rPr>
              <a:t>Protect it</a:t>
            </a:r>
          </a:p>
        </p:txBody>
      </p:sp>
      <p:sp>
        <p:nvSpPr>
          <p:cNvPr id="11" name="TextBox 10"/>
          <p:cNvSpPr txBox="1"/>
          <p:nvPr/>
        </p:nvSpPr>
        <p:spPr>
          <a:xfrm>
            <a:off x="6492240" y="1600200"/>
            <a:ext cx="5120640" cy="4297680"/>
          </a:xfrm>
          <a:prstGeom prst="rect">
            <a:avLst/>
          </a:prstGeom>
          <a:noFill/>
        </p:spPr>
        <p:txBody>
          <a:bodyPr wrap="square">
            <a:spAutoFit/>
          </a:bodyPr>
          <a:lstStyle/>
          <a:p>
            <a:pPr algn="l">
              <a:spcAft>
                <a:spcPts val="700"/>
              </a:spcAft>
            </a:pPr>
            <a:r>
              <a:rPr sz="1400" b="0">
                <a:solidFill>
                  <a:srgbClr val="1C1C1C"/>
                </a:solidFill>
                <a:latin typeface="Calibri"/>
              </a:rPr>
              <a:t>▸  Look twice daily: swelling, discharge, gapping, smell, heat.</a:t>
            </a:r>
          </a:p>
          <a:p>
            <a:pPr algn="l">
              <a:spcAft>
                <a:spcPts val="700"/>
              </a:spcAft>
            </a:pPr>
            <a:r>
              <a:rPr sz="1400" b="0">
                <a:solidFill>
                  <a:srgbClr val="1C1C1C"/>
                </a:solidFill>
                <a:latin typeface="Calibri"/>
              </a:rPr>
              <a:t>▸  E-collar that actually stays on. Licking is the most common cause of dehiscence after otherwise adequate closure.</a:t>
            </a:r>
          </a:p>
          <a:p>
            <a:pPr algn="l">
              <a:spcAft>
                <a:spcPts val="700"/>
              </a:spcAft>
            </a:pPr>
            <a:r>
              <a:rPr sz="1400" b="0">
                <a:solidFill>
                  <a:srgbClr val="1C1C1C"/>
                </a:solidFill>
                <a:latin typeface="Calibri"/>
              </a:rPr>
              <a:t>▸  Leash only. No running, jumping, wrestling, unsupervised stairs.</a:t>
            </a:r>
          </a:p>
          <a:p>
            <a:pPr algn="l">
              <a:spcAft>
                <a:spcPts val="700"/>
              </a:spcAft>
            </a:pPr>
            <a:r>
              <a:rPr sz="1400" b="0">
                <a:solidFill>
                  <a:srgbClr val="1C1C1C"/>
                </a:solidFill>
                <a:latin typeface="Calibri"/>
              </a:rPr>
              <a:t>▸  Usually no daily CHG scrub. Saline if dirty.</a:t>
            </a:r>
          </a:p>
          <a:p>
            <a:pPr algn="l">
              <a:spcAft>
                <a:spcPts val="700"/>
              </a:spcAft>
            </a:pPr>
            <a:r>
              <a:rPr sz="1400" b="0">
                <a:solidFill>
                  <a:srgbClr val="1C1C1C"/>
                </a:solidFill>
                <a:latin typeface="Calibri"/>
              </a:rPr>
              <a:t>▸  Skin sutures typically 10–14 days if healing is routine.</a:t>
            </a:r>
          </a:p>
          <a:p>
            <a:pPr algn="l">
              <a:spcAft>
                <a:spcPts val="700"/>
              </a:spcAft>
            </a:pPr>
            <a:r>
              <a:rPr sz="1400" b="0">
                <a:solidFill>
                  <a:srgbClr val="1C1C1C"/>
                </a:solidFill>
                <a:latin typeface="Calibri"/>
              </a:rPr>
              <a:t>▸  Photo: Liannadavis, CC BY-SA 4.0.</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HERNIA, AND DEHISCENCE SHOW UP AFTER YOU HAVE GONE HOME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NEXT DOCTOR AT 2 A.M. IS YOUR AUDIENCE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FIELD SURGERY IS STILL HALSTED; IT IS NOT AN EXCUSE TO SKIP CLIP, GLOVES, AND A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 same principles, different dirt</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THE OWNER IS IN RECEPTION.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Walk Willie through the whole hour</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Willie, 6 y 11 mo MN Cavalier, 13.7 kg. Acute vestibular crisis. Severe AS otitis, TM visible/swollen. Circling left, nystagmus fast-left, right knuckling. Grade II murmur. CBC WNL. This is ASA III-E. Client-owned.</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III-E. Neuro exam. No NSAID (DexSP). IVF, Cerenia, meclizine. Culture the ear. Radiographs ≠ MRI. Central until proven otherwise.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Airway protected, monitors on, then alfaxalone to a depth that is safe to clip and flush. CHG off the eye and drum. Periocular/mucosa: 10% PVP-I 1 to 20 to 1 to 50; eye 2 min scrub + 2 min soak. Pad him — he falls.</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Deep clean + cytology. Timeout. If you contaminate, say it. Do not treat this like a 20-minute spay.</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Confine, no stairs. Watch neuro signs, vomiting, seizures. MRI next. TECA-LBO only after culture if medical therapy fails. You own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BOTH ARE PREOPERATIVE EVALUATION  ·  ONLY ONE REACHES THE CLIPPERS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Same hour, opposite decisions</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47472"/>
          </a:xfrm>
          <a:prstGeom prst="rect">
            <a:avLst/>
          </a:prstGeom>
          <a:noFill/>
        </p:spPr>
        <p:txBody>
          <a:bodyPr wrap="square" anchor="t"/>
          <a:lstStyle/>
          <a:p>
            <a:pPr algn="l"/>
            <a:r>
              <a:rPr sz="1500" b="1">
                <a:solidFill>
                  <a:srgbClr val="0B2C4A"/>
                </a:solidFill>
                <a:latin typeface="Calibri"/>
              </a:rPr>
              <a:t>Willie — ASA III-E — proceed (sedation)</a:t>
            </a:r>
          </a:p>
        </p:txBody>
      </p:sp>
      <p:sp>
        <p:nvSpPr>
          <p:cNvPr id="11" name="TextBox 10"/>
          <p:cNvSpPr txBox="1"/>
          <p:nvPr/>
        </p:nvSpPr>
        <p:spPr>
          <a:xfrm>
            <a:off x="667512" y="1536192"/>
            <a:ext cx="5257800" cy="4498848"/>
          </a:xfrm>
          <a:prstGeom prst="rect">
            <a:avLst/>
          </a:prstGeom>
          <a:noFill/>
        </p:spPr>
        <p:txBody>
          <a:bodyPr wrap="square" anchor="t"/>
          <a:lstStyle/>
          <a:p>
            <a:pPr algn="l"/>
            <a:r>
              <a:rPr sz="1300" b="0">
                <a:solidFill>
                  <a:srgbClr val="3D4A57"/>
                </a:solidFill>
                <a:latin typeface="Calibri"/>
              </a:rPr>
              <a:t>Cavalier, 13.7 kg. Acute vestibular + AS otitis + murmur. Compensated. Fill the anesthesia record. Alfaxalone, monitoring, ear clean, no NSAID after DexSP. Own the next 24 hours. MRI / possible TECA-LBO later — that future surgery still needs a new ASA that day.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47472"/>
          </a:xfrm>
          <a:prstGeom prst="rect">
            <a:avLst/>
          </a:prstGeom>
          <a:noFill/>
        </p:spPr>
        <p:txBody>
          <a:bodyPr wrap="square" anchor="t"/>
          <a:lstStyle/>
          <a:p>
            <a:pPr algn="l"/>
            <a:r>
              <a:rPr sz="1500" b="1">
                <a:solidFill>
                  <a:srgbClr val="0B2C4A"/>
                </a:solidFill>
                <a:latin typeface="Calibri"/>
              </a:rPr>
              <a:t>MoMo — ASA IV-E — do not induce</a:t>
            </a:r>
          </a:p>
        </p:txBody>
      </p:sp>
      <p:sp>
        <p:nvSpPr>
          <p:cNvPr id="15" name="TextBox 14"/>
          <p:cNvSpPr txBox="1"/>
          <p:nvPr/>
        </p:nvSpPr>
        <p:spPr>
          <a:xfrm>
            <a:off x="6428232" y="1536192"/>
            <a:ext cx="5257800" cy="4498848"/>
          </a:xfrm>
          <a:prstGeom prst="rect">
            <a:avLst/>
          </a:prstGeom>
          <a:noFill/>
        </p:spPr>
        <p:txBody>
          <a:bodyPr wrap="square" anchor="t"/>
          <a:lstStyle/>
          <a:p>
            <a:pPr algn="l"/>
            <a:r>
              <a:rPr sz="1300" b="0">
                <a:solidFill>
                  <a:srgbClr val="3D4A57"/>
                </a:solidFill>
                <a:latin typeface="Calibri"/>
              </a:rPr>
              <a:t>DSH, 4.25 kg. Vomiting that looked like FB. Labs + POCUS + AUS: structural renal disease, creatinine 3.0 → 4.71 on fluids. Exploratory cancelled. NSAIDs contraindicated. Record the decision. Supportive care vs referral vs euthanasia is still a surgical conversation — you just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 from this hour</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Willie is III-E (sedate with a plan). MoMo is IV-E (do not explore).</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Imaging and serial creatinine can cancel a surgery. That is a successful preoperative evaluation.</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 Fill the anesthesia record and the 2-hour recovery sheet.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Clip after induction, #40, not razor; spiral prep center → out; hair in the drape window fails the prep.</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Intact skin: PVP-I 5 minutes wet contact (then paint and dry), or aqueous CHG 3 minutes. Mucosa/eye: 10% PVP-I 1 to 20 to 1 to 50; eye 2 min + 2 min. CHG never on cornea or in the middle ear.</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refer — or not to operate.
Patient and surgeon preparation is teachable and unforgiving — technique, not luck, prevents SSI.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SOURCES USED IN THIS LECTURE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700"/>
              </a:spcAft>
            </a:pPr>
            <a:r>
              <a:rPr sz="1400" b="0">
                <a:solidFill>
                  <a:srgbClr val="1C1C1C"/>
                </a:solidFill>
                <a:latin typeface="Calibri"/>
              </a:rPr>
              <a:t>▸  Fossum T.W. Small Animal Surgery. 5th ed. Elsevier; 2018. Preoperative evaluation, patient preparation, postoperative care.</a:t>
            </a:r>
          </a:p>
          <a:p>
            <a:pPr algn="l">
              <a:spcAft>
                <a:spcPts val="700"/>
              </a:spcAft>
            </a:pPr>
            <a:r>
              <a:rPr sz="1400" b="0">
                <a:solidFill>
                  <a:srgbClr val="1C1C1C"/>
                </a:solidFill>
                <a:latin typeface="Calibri"/>
              </a:rPr>
              <a:t>▸  Johnston S.A., Tobias K.M. Veterinary Surgery: Small Animal. 2nd ed. Elsevier; 2017.</a:t>
            </a:r>
          </a:p>
          <a:p>
            <a:pPr algn="l">
              <a:spcAft>
                <a:spcPts val="700"/>
              </a:spcAft>
            </a:pPr>
            <a:r>
              <a:rPr sz="1400" b="0">
                <a:solidFill>
                  <a:srgbClr val="1C1C1C"/>
                </a:solidFill>
                <a:latin typeface="Calibri"/>
              </a:rPr>
              <a:t>▸  Hendrickson D.A., Baird A.N. Turner and McIlwraith’s Techniques in Large Animal Surgery. 4th ed. Wiley-Blackwell; 2013.</a:t>
            </a:r>
          </a:p>
          <a:p>
            <a:pPr algn="l">
              <a:spcAft>
                <a:spcPts val="700"/>
              </a:spcAft>
            </a:pPr>
            <a:r>
              <a:rPr sz="1400" b="0">
                <a:solidFill>
                  <a:srgbClr val="1C1C1C"/>
                </a:solidFill>
                <a:latin typeface="Calibri"/>
              </a:rPr>
              <a:t>▸  Roberts S.M., Severin G.A., Lavach J.D. Am J Vet Res. 1986;47(6):1207–1210. Canine ocular 1:50 (0.2%): 2-minute scrub + 2-minute soak. 1:2 (5%) caused corneal edema.</a:t>
            </a:r>
          </a:p>
          <a:p>
            <a:pPr algn="l">
              <a:spcAft>
                <a:spcPts val="700"/>
              </a:spcAft>
            </a:pPr>
            <a:r>
              <a:rPr sz="1400" b="0">
                <a:solidFill>
                  <a:srgbClr val="1C1C1C"/>
                </a:solidFill>
                <a:latin typeface="Calibri"/>
              </a:rPr>
              <a:t>▸  Betadine Surgical Scrub (povidone-iodine 7.5%), veterinary label: lather 5 minutes, rinse, paint 10% solution, dry.  ·  AAHA/AAFP Antimicrobial Stewardship 2022: cefazolin 22 mg/kg IV 30 minutes before incision; redose every 90 minutes.</a:t>
            </a:r>
          </a:p>
          <a:p>
            <a:pPr algn="l">
              <a:spcAft>
                <a:spcPts val="700"/>
              </a:spcAft>
            </a:pPr>
            <a:r>
              <a:rPr sz="1400" b="0">
                <a:solidFill>
                  <a:srgbClr val="1C1C1C"/>
                </a:solidFill>
                <a:latin typeface="Calibri"/>
              </a:rPr>
              <a:t>▸  Clinical photographs (open license or U.S. government work): Uwe Gille (CC0); Anja (CC BY-SA 4.0); Liannadavis (CC BY-SA 4.0); Cpl. Samuel A. Nasso, USMC (public domain); MSgt Carlotta Holley, USAF (public domain). Closed-gloving and spiral-prep figures are technique diagrams, not clinic photographs.</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1097280"/>
          </a:xfrm>
          <a:prstGeom prst="rect">
            <a:avLst/>
          </a:prstGeom>
          <a:noFill/>
        </p:spPr>
        <p:txBody>
          <a:bodyPr wrap="square" anchor="t"/>
          <a:lstStyle/>
          <a:p>
            <a:pPr algn="l"/>
            <a:r>
              <a:rPr sz="1800" b="0">
                <a:solidFill>
                  <a:srgbClr val="F4EBD3"/>
                </a:solidFill>
                <a:latin typeface="Calibri"/>
              </a:rPr>
              <a:t>If there are no questions: why was Willie ASA III-E and MoMo ASA IV-E —
and how do you dilute 10% povidone-iodine for conjunctiva or prepuce?</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Dr. Yujin Kim, D.V.M., Ph.D., FFCP  ·  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