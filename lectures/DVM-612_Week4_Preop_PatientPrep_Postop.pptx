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The competency list is the 2026 CPE Manual of Administration, Anesthesia and Surgery chapters, taught as DVM 612, not as an exam-prep course. Two hospital patients are only ASA examples: Willie, compensated, Status 3-E; MoMo, uncompensated, Status 4-E, exploratory cancelled. Owner identifiers stay off these slides. Thirty-eight slides. If discussion runs, protect antiseptics, ready-for-prep,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antiseptics, draping, and recovery. The two hospital patients are ASA practice, not the point of the hour.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Surgical competence includes the first 24 hours of physiologic monitoring and complication management. That is not a claim of infinite legal liability for every recovery-ward or owner event. Hemorrhage from a weak ligature is still your technical problem.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teams monitor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Do not premedicate before the examination. Add other labs if the PE says so. A normal CBC does not make a vestibular dog Status 1. Azotemia can cancel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with MOA Appendix 2: Status 1 healthy, Status 2 mild and compensated, Status 3 moderate and compensated, Status 4 a constant threat to life, Status 5 moribund. E means emergency. Then use the two hospital patients only as practice: compensated vestibular crisis is 3-E; uncompensated azotemia that threatens life is 4-E.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compensated Status 3-E. D is uncompensated Status 4-E; labs cancelled the exploratory. The names on later slides are only these ASA examples.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Willie is an ASA example only. Read the PE. Status 3-E: compensated. Do not teach DexSP, alfaxalone, ear clean, or TECA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an ASA example, not the point of the hour. Pause on the photograph. Be respectful; this cat died. Cold-call: who would have clipped her on history alone? Rising creatinine on fluids is a recorded fact. Do not invent a fluid rate or an iatrogenic mechanism. Status 4-E because the disease threatened life. The workup cancelled the cut. The owner then elected euthanasia.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are weight, HR, RR, mucous membranes and CRT, temperature, other PE findings, PCV, TP, BUN, other labs, then ASA 1 through 5. Perform and record the preoperative examination. Request, record, and interpret the minimum labs. Assign ASA. PCV and TP method: EDTA, spin, read PCV, snap the capillary tube, refractometer TP. Do not invent percentages. A normal CBC does not write Status 1. Azotemia can cancel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Do not invent PCV cutoffs as ASA numbers.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as an original record, not the copyrighted form. The filled table is a 25 kilogram ASA 1 elective OHE: carprofen 4.4 milligrams per kilogram SQ, LRS 125 milliliters per hour. It is not a hospital-patient protocol. Students write drug, concentration, dose, volume, and route.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Uncompensated azotemia that is getting worse: do not cut. That is the preoperative evaluation working. It is not a diagnosis of why the creatinine rose.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Pre-oxygenation: 3 minutes of 100 percent oxygen gives almost 6 minutes of saturation. Brachycephalics: delay extubation until they can protect the airway.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A 20 kg example: start 8.5 millimeter, 8.0 and 9.0 in the hand. Bag: kilograms times 60, round up. 1.2 liters is a 2 liter bag, circle. Fluids: Pardo 2024, dog 5 milliliters per kilogram per hour; write 100 milliliters per hour. Circle FGF: 2 to 3 liters per minute at induction, then 20 to 40 milliliters per kilogram per minute, minimum 500 milliliters per minute (Grubb 2020). NRC 200 to 400 milliliters per kilogram per minute. After the tube is in: inhalant to effect. Premed already lowered MAC. Then clip, sterile prep, and drape. Willie is an ASA example only: do not attach tube, bag, or fluid math to that dog.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the ASA header: identity, today’s PE, PCV, TP, BUN, Status 3-E. Compensated. Do not teach a Willie drug list, ear clean, or TECA on this slide.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Rising creatinine on fluids is written as recorded. Do not invent a fluid rate or blame overload.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An infected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room. Do not clip until ready for prep: tube in, cuff to 20 centimeters of water, IV running, surgical plane. Clip and dirty-scrub in the prep area. Shoe covers, hair cap, and mask before the OR door. Gown is after the surgical hand scrub in the room, not in the hallway. Full sterile scrub after positioning. Then drape, then open and count instruments. Timeout. Announce the incision and mark it on the anesthesia chart. Clock to the last skin suture. CPE MOA 2026 Surgery scores hair, skin, position, drape, gown and glove. Veterinary Betadine: 7.5 percent scrub about 5 minutes, rinse, paint 5 percent Solution Veterinary. Eye: Roberts 1986, 1 to 50 of 10 percent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Do not teach a fixed 20 centimeter margin. Teach landmarks that scale with the patient. Protect heat.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 healthy corneas. One case of corneal edema at 1 to 2. Deep ulcer, descemetocele, or open globe: saline only, call ophthalmology. Nolvasan: keep out of eyes. Ear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Dirty scrub is not sterile prep. Full scrub is in the OR after positioning.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the door: shoe covers, cap, mask. Gown after the hand scrub, not in the hallway. Closed glove. Then drape, then open and count the pack. Students name SpO2, ETCO2, ECG, temp, and fluids before the first incision. Do not mix hospital-patient names onto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Teach the clinical rule, not exam scoring. The 24-hour window is why recovery is in this lecture: monitor, recognize hemorrhage and hernia, write the discharge plan.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board math for a 25 kilogram dog: 10 millimeter, 2 liter circle, 125 milliliters per hour. B is Roberts 1986 on an intact cornea; perforation is saline only. A is airway before clippers, dirty scrub in the prep area, full scrub in the 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as an original chart, not the copyrighted form. Gold columns are times you mark: anesthesia start, first incision, last skin suture. Plot the rest every 5 to 10 minutes in real time against the normal operating range (CPE MOA 2026 Anesthesia). Write the number you see. Heart rate: dog 60 to 140 is the intra-op teaching band on this chart. Large dogs often sit in the 60s; small dogs often 100 to 140. Do not cite Grubb for 60 to 140. Ko and Krimins 2012 Table 2 is 60 to 120. Fossum Table 31-1 70 to 140 is the conscious dog, on the PE slide. Tachycardia alert 150 to 190 by size, Grubb 2020. Cat 100 to 180, AAFP 2018. Blood pressure teaching bands: SAP 90 to 140, MAP 70 to 110, DAP 50 to 90. Grubb 2020 floors remain SAP 90, MAP 70, DAP 40; treat MAP under 60 as hypotension. ETCO2 40 to 50, start PPV if over 60. SpO2 at least 95 percent. Temperature at least 98 Fahrenheit. Circle oxygen: 2 to 3 liters, then 20 to 40 milliliters per kilogram per minute, minimum 500 milliliters per minute, Grubb 2020. Fluids: dog 5, cat 3 to 5 milliliters per kilogram per hour, Pardo 2024. Out of range: event, time, correction. Then fluids total, recovery analgesic, and sign. Time cells stay empty until a real patient.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course uses on-label NSAIDs as pre-emptive analgesia: give before incision so levels are on board. Dog: carprofen 4.4 milligrams per kilogram SQ, about 2 hours before incision. Do not use carprofen in cats. Cat: Onsior 2 milligrams per kilogram SQ, about 30 minutes before incision. Do not teach Onsior in the dog. Do not stack an NSAID with a corticosteroid. Skip NSAID if the patient is azotemic.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ASA example only. Why 3-E, why not 1, why not 4. No drugs. No ear clean. No TECA.</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These two patients are ASA examples only. Healthy Lab OHE is the ASA Status 1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six lines are the Appendix 3 record and the Surgery competencies: assessment and ASA, drug protocol and equipment, ready for prep, hair-skin-position-drape, the chart and signature, then the first 24 hours. Do not recap the hospital patients here.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ready for clippers means airway secured, machine on, patent IV running, surgical plane, monitoring started. Before the first premed: today’s PE, PCV, TP, BUN, and ASA.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9.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Exam, labs, ASA, then prep. Then 24 hours of monitoring and complication management.
Two hospital cases are ASA examples only.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7" name="TextBox 6"/>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dirty scrub, OR attire, full scrub, drape, instrument table,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8" name="Rounded Rectangle 7"/>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983480"/>
            <a:ext cx="10881360" cy="594360"/>
          </a:xfrm>
          <a:prstGeom prst="rect">
            <a:avLst/>
          </a:prstGeom>
          <a:noFill/>
        </p:spPr>
        <p:txBody>
          <a:bodyPr wrap="square" anchor="ctr"/>
          <a:lstStyle/>
          <a:p>
            <a:pPr algn="l"/>
            <a:r>
              <a:rPr sz="1600" b="0">
                <a:solidFill>
                  <a:srgbClr val="0B2C4A"/>
                </a:solidFill>
                <a:latin typeface="Calibri"/>
              </a:rPr>
              <a:t>Exam → labs → ASA → ready for prep → clip, dirty scrub, OR, full scrub, drape, instruments → first 24 hours.</a:t>
            </a:r>
          </a:p>
        </p:txBody>
      </p:sp>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Prepare the patient and yourself</a:t>
            </a:r>
          </a:p>
        </p:txBody>
      </p:sp>
      <p:sp>
        <p:nvSpPr>
          <p:cNvPr id="7" name="Rounded Rectangle 6"/>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0" name="TextBox 9"/>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1" name="Rounded Rectangle 10"/>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4" name="TextBox 13"/>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surgical care.</a:t>
            </a:r>
          </a:p>
        </p:txBody>
      </p:sp>
      <p:sp>
        <p:nvSpPr>
          <p:cNvPr id="15" name="Rounded Rectangle 14"/>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Set before you cut</a:t>
            </a:r>
          </a:p>
        </p:txBody>
      </p:sp>
      <p:sp>
        <p:nvSpPr>
          <p:cNvPr id="18" name="TextBox 17"/>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19" name="Rounded Rectangle 18"/>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1" name="TextBox 20"/>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monitor the first 24 hours: a weak ligature or a weak linea is a technical failure you must recognize (CPE MOA 2026 Surgery).</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7" name="Rounded Rectangle 6"/>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0" name="TextBox 9"/>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1" name="Rounded Rectangle 10"/>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4" name="TextBox 13"/>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5" name="Rounded Rectangle 14"/>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8" name="TextBox 17"/>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19" name="Rounded Rectangle 18"/>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2" name="TextBox 21"/>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3" name="Rounded Rectangle 22"/>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6" name="TextBox 25"/>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7" name="Rounded Rectangle 26"/>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0" name="TextBox 29"/>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1" name="Rounded Rectangle 30"/>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4" name="TextBox 33"/>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5" name="Rectangle 3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7" name="TextBox 3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7" name="Rounded Rectangle 6"/>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0" name="TextBox 9"/>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1" name="TextBox 10"/>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2" name="Rounded Rectangle 11"/>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5" name="TextBox 14"/>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Clip, dirty scrub
Shoe covers, cap, mask
OR: full scrub, gown
Drape, instruments</a:t>
            </a:r>
          </a:p>
        </p:txBody>
      </p:sp>
      <p:sp>
        <p:nvSpPr>
          <p:cNvPr id="16" name="TextBox 15"/>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7" name="Rounded Rectangle 16"/>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0" name="TextBox 19"/>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Mark incision
Hold asepsis
Halsted, temp, pain
Chart every 5–10 min</a:t>
            </a:r>
          </a:p>
        </p:txBody>
      </p:sp>
      <p:sp>
        <p:nvSpPr>
          <p:cNvPr id="21" name="TextBox 20"/>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2" name="Rounded Rectangle 21"/>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5" name="TextBox 24"/>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6" name="Rounded Rectangle 25"/>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8" name="TextBox 27"/>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29" name="Rounded Rectangle 28"/>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1" name="TextBox 30"/>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24 hours of monitoring and complication management (CPE MOA 2026 Surgery).</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7" name="Rounded Rectangle 6"/>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0" name="TextBox 9"/>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Write the numbers. Conscious dog: HR 70–140, RR 20–40. Cat: HR 145–200, RR 20–40 (Fossum).</a:t>
            </a:r>
          </a:p>
        </p:txBody>
      </p:sp>
      <p:sp>
        <p:nvSpPr>
          <p:cNvPr id="11" name="Rounded Rectangle 10"/>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4" name="TextBox 13"/>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5" name="Rounded Rectangle 14"/>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8" name="TextBox 17"/>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Record any murmur, arrhythmia, or crackles before you choose drugs.</a:t>
            </a:r>
          </a:p>
        </p:txBody>
      </p:sp>
      <p:sp>
        <p:nvSpPr>
          <p:cNvPr id="19" name="Rounded Rectangle 18"/>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2" name="TextBox 21"/>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3" name="Rectangle 22"/>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5" name="Rounded Rectangle 24"/>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8" name="TextBox 27"/>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29" name="Rounded Rectangle 28"/>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2" name="TextBox 31"/>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3" name="Rounded Rectangle 32"/>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6" name="TextBox 35"/>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7" name="Rectangle 3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9" name="TextBox 3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7" name="Rectangle 6"/>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9" name="TextBox 8"/>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0" name="TextBox 9"/>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1" name="Rounded Rectangle 10"/>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4" name="TextBox 13"/>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5" name="TextBox 14"/>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6" name="Rounded Rectangle 15"/>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19" name="TextBox 18"/>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0" name="TextBox 19"/>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1" name="Rounded Rectangle 20"/>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4" name="TextBox 23"/>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5" name="TextBox 24"/>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6" name="Rounded Rectangle 25"/>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29" name="TextBox 28"/>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0" name="TextBox 29"/>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1" name="Rounded Rectangle 30"/>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4" name="TextBox 33"/>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5" name="TextBox 34"/>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6" name="Rounded Rectangle 35"/>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Status 3 is compensated. Status 4 is uncompensated and a threat to life. Today’s PE writes the number.</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7" name="Rounded Rectangle 6"/>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0" name="TextBox 9"/>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1" name="TextBox 10"/>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2" name="Rounded Rectangle 11"/>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5" name="TextBox 14"/>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6" name="TextBox 15"/>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7" name="Rounded Rectangle 16"/>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0" name="TextBox 19"/>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Cavalier, acute ataxia, AS otitis, murmur. CV stable.</a:t>
            </a:r>
          </a:p>
        </p:txBody>
      </p:sp>
      <p:sp>
        <p:nvSpPr>
          <p:cNvPr id="21" name="TextBox 20"/>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Compensated emergency.</a:t>
            </a:r>
          </a:p>
        </p:txBody>
      </p:sp>
      <p:sp>
        <p:nvSpPr>
          <p:cNvPr id="22" name="Rounded Rectangle 21"/>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5" name="TextBox 24"/>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Vomiting cat. Looks like FB. T 98.0 °F, HR 200, tacky mm.</a:t>
            </a:r>
          </a:p>
        </p:txBody>
      </p:sp>
      <p:sp>
        <p:nvSpPr>
          <p:cNvPr id="26" name="TextBox 25"/>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ASA Status 4-E. Uncompensated emergency. Image and labs first. Do not cut today.</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7" name="Rounded Rectangle 6"/>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that is still compensated (acute vestibular disease plus AS otitis plus murmur). Pink, walking, kidneys normal.</a:t>
            </a:r>
          </a:p>
        </p:txBody>
      </p:sp>
      <p:sp>
        <p:nvSpPr>
          <p:cNvPr id="9" name="Rounded Rectangle 8"/>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2" name="TextBox 11"/>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3" name="Rounded Rectangle 12"/>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6" name="TextBox 15"/>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Acute vestibular disease on today’s PE.</a:t>
            </a:r>
          </a:p>
        </p:txBody>
      </p:sp>
      <p:sp>
        <p:nvSpPr>
          <p:cNvPr id="17" name="Rounded Rectangle 16"/>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0" name="TextBox 19"/>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Lungs clear. Pink, walking, kidneys normal: still compensated.</a:t>
            </a:r>
          </a:p>
        </p:txBody>
      </p:sp>
      <p:sp>
        <p:nvSpPr>
          <p:cNvPr id="21" name="Rounded Rectangle 20"/>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5029200"/>
            <a:ext cx="10789920" cy="1234440"/>
          </a:xfrm>
          <a:prstGeom prst="rect">
            <a:avLst/>
          </a:prstGeom>
          <a:noFill/>
        </p:spPr>
        <p:txBody>
          <a:bodyPr wrap="square" anchor="t"/>
          <a:lstStyle/>
          <a:p>
            <a:pPr algn="l"/>
            <a:r>
              <a:rPr sz="1500" b="0">
                <a:solidFill>
                  <a:srgbClr val="1C1C1C"/>
                </a:solidFill>
                <a:latin typeface="Calibri"/>
              </a:rPr>
              <a:t>This slide is the ASA. Status 3-E because there is moderate systemic disease that is still compensated. Not Status 1: the PE is not normal. Not Status 4: the disease is not a constant threat to life today. Write the status from today’s PE.</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7" name="Picture 6" descr="momo.jpg"/>
          <p:cNvPicPr>
            <a:picLocks noChangeAspect="1"/>
          </p:cNvPicPr>
          <p:nvPr/>
        </p:nvPicPr>
        <p:blipFill>
          <a:blip r:embed="rId2"/>
          <a:stretch>
            <a:fillRect/>
          </a:stretch>
        </p:blipFill>
        <p:spPr>
          <a:xfrm>
            <a:off x="365760" y="1024128"/>
            <a:ext cx="4041648" cy="5394960"/>
          </a:xfrm>
          <a:prstGeom prst="rect">
            <a:avLst/>
          </a:prstGeom>
        </p:spPr>
      </p:pic>
      <p:sp>
        <p:nvSpPr>
          <p:cNvPr id="8" name="Rounded Rectangle 7"/>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uncompensated disease that is a constant threat to life.</a:t>
            </a:r>
          </a:p>
        </p:txBody>
      </p:sp>
      <p:sp>
        <p:nvSpPr>
          <p:cNvPr id="10" name="Rounded Rectangle 9"/>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3" name="TextBox 12"/>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4" name="Rounded Rectangle 13"/>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7" name="TextBox 16"/>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8" name="Rounded Rectangle 17"/>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stop</a:t>
            </a:r>
          </a:p>
        </p:txBody>
      </p:sp>
      <p:sp>
        <p:nvSpPr>
          <p:cNvPr id="21" name="TextBox 20"/>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Right kidney fluid-filled and non-functional on AUS. Creatinine 3.0 → 4.71 on fluids. This record does not assign post-renal versus intrinsic versus hypovolemia. Do not open the abdomen for a suspected FB until that is sorted. Owner elected euthanasia. Record the decision.</a:t>
            </a:r>
          </a:p>
        </p:txBody>
      </p:sp>
      <p:sp>
        <p:nvSpPr>
          <p:cNvPr id="22" name="Rectangle 2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4" name="TextBox 2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7" name="Rounded Rectangle 6"/>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snap the capillary tube → refractometer TP.  BUN: chemistry or Azo stick.  Request, record, interpret. Then ASA. Then premed IM/SQ. Not before the exam.</a:t>
            </a:r>
          </a:p>
        </p:txBody>
      </p:sp>
      <p:pic>
        <p:nvPicPr>
          <p:cNvPr id="9" name="Picture 8"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0" name="Rectangle 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2" name="TextBox 1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7" name="Rectangle 6"/>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9" name="TextBox 8"/>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0" name="TextBox 9"/>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1" name="Rounded Rectangle 10"/>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3" name="TextBox 12"/>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4" name="TextBox 13"/>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Anemia: use severity and chronicity (Grubb 2020)</a:t>
            </a:r>
          </a:p>
        </p:txBody>
      </p:sp>
      <p:sp>
        <p:nvSpPr>
          <p:cNvPr id="15" name="Rounded Rectangle 14"/>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7" name="TextBox 16"/>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8" name="TextBox 17"/>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19" name="Rounded Rectangle 18"/>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1" name="TextBox 20"/>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2" name="TextBox 21"/>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3" name="Rounded Rectangle 22"/>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5" name="TextBox 24"/>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6" name="TextBox 25"/>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7" name="Rounded Rectangle 26"/>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29" name="TextBox 28"/>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0" name="TextBox 29"/>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1" name="TextBox 30"/>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A normal CBC does not assign Status 1. Azotemia can cancel the cut. Low albumin is a deficit, not an ASA number.</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7" name="Rounded Rectangle 6"/>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0" name="TextBox 9"/>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Healthy: DKT or BAA.</a:t>
            </a:r>
          </a:p>
        </p:txBody>
      </p:sp>
      <p:sp>
        <p:nvSpPr>
          <p:cNvPr id="11" name="Rounded Rectangle 10"/>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4" name="TextBox 13"/>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5" name="Rounded Rectangle 14"/>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8" name="TextBox 17"/>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19" name="Picture 18"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0" name="TextBox 9"/>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4" name="TextBox 13"/>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8" name="TextBox 17"/>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Rising creatinine that threatens life: cancel the elective or exploratory cut.</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same fasting as the adult or neonate row. Pre-oxygenate 3 min with 100% O2 (Grubb 2020). Extubate when they can protect the airway, not at the first swallow.</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7" name="Rounded Rectangle 6"/>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0" name="TextBox 9"/>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1" name="TextBox 10"/>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2" name="Rounded Rectangle 11"/>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5" name="TextBox 14"/>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6" name="TextBox 15"/>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7" name="Rounded Rectangle 16"/>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0" name="TextBox 19"/>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1" name="TextBox 20"/>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Example: 20 × 5 = 100 mL/hr.</a:t>
            </a:r>
          </a:p>
        </p:txBody>
      </p:sp>
      <p:pic>
        <p:nvPicPr>
          <p:cNvPr id="22" name="Picture 21"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identity, PE, and ASA</a:t>
            </a:r>
          </a:p>
        </p:txBody>
      </p:sp>
      <p:pic>
        <p:nvPicPr>
          <p:cNvPr id="7" name="Picture 6"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7" name="Picture 6"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7" name="Rounded Rectangle 6"/>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0" name="TextBox 9"/>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1" name="Rounded Rectangle 10"/>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4" name="TextBox 13"/>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5" name="Rounded Rectangle 14"/>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8" name="TextBox 17"/>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19" name="Rounded Rectangle 18"/>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2" name="TextBox 21"/>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Infected ear canal. Pyometra with pus.
This is treatment, not prophylaxis.</a:t>
            </a:r>
          </a:p>
        </p:txBody>
      </p:sp>
      <p:sp>
        <p:nvSpPr>
          <p:cNvPr id="23" name="Rounded Rectangle 22"/>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Clip, dirty scrub, then the OR</a:t>
            </a:r>
          </a:p>
        </p:txBody>
      </p:sp>
      <p:pic>
        <p:nvPicPr>
          <p:cNvPr id="7" name="Picture 6" descr="prep_or_sequence.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9" name="Picture 8" descr="clip_cat.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2" name="Picture 11"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Celiotomy: ~4 cm cranial to the xiphoid, ~4 cm caudal to the pubis, 3–4 cm past the nipples (Thieman Mankin 2019). A 4 kg cat does not have 20 cm of extra body wall. Wide enough to extend or place a drain. Warm the patient (Grubb: hypothermia &lt;98 °F).
Photos: Uwe Gille, CC0; Liannadavis, CC BY-SA 4.0.</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7" name="Rounded Rectangle 6"/>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Eye: intact cornea only. 10% stock 1:50, or 5% bottle 1:25. Both = 0.2% (Roberts 1986).</a:t>
            </a:r>
          </a:p>
        </p:txBody>
      </p:sp>
      <p:sp>
        <p:nvSpPr>
          <p:cNvPr id="9" name="Rounded Rectangle 8"/>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2" name="TextBox 11"/>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3" name="Rounded Rectangle 12"/>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6" name="TextBox 15"/>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7" name="Rounded Rectangle 16"/>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0" name="TextBox 19"/>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Goal: 0.2% on intact cornea
10% stock → dilute 1:50
5% bottle → dilute 1:25
MIN: 2 min + 2 min
Perforation: saline only</a:t>
            </a:r>
          </a:p>
        </p:txBody>
      </p:sp>
      <p:sp>
        <p:nvSpPr>
          <p:cNvPr id="21" name="Rounded Rectangle 20"/>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studied healthy corneas. 1:50 of 10% = 0.2%. 1:2 caused edema in 1/15 eyes. Deep ulcer, descemetocele, or perforation: do not run this prep; saline and ophthalmology.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7" name="Picture 6"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8" name="Rounded Rectangle 7"/>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0" name="TextBox 9"/>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(preliminary) scrub in the prep area, after the clip.</a:t>
            </a:r>
          </a:p>
          <a:p>
            <a:pPr algn="l">
              <a:spcAft>
                <a:spcPts val="1000"/>
              </a:spcAft>
            </a:pPr>
            <a:r>
              <a:rPr sz="1600" b="0">
                <a:solidFill>
                  <a:srgbClr val="1C1C1C"/>
                </a:solidFill>
                <a:latin typeface="Calibri"/>
              </a:rPr>
              <a:t>▸  Move to the OR. Position, pad, tie.</a:t>
            </a:r>
          </a:p>
          <a:p>
            <a:pPr algn="l">
              <a:spcAft>
                <a:spcPts val="1000"/>
              </a:spcAft>
            </a:pPr>
            <a:r>
              <a:rPr sz="1600" b="0">
                <a:solidFill>
                  <a:srgbClr val="1C1C1C"/>
                </a:solidFill>
                <a:latin typeface="Calibri"/>
              </a:rPr>
              <a:t>▸  Full (sterile) scrub in the room.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1:50 or 5% 1:25. Intact cornea. Perforation: saline only.</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7" name="Picture 6" descr="dog_or.jpg"/>
          <p:cNvPicPr>
            <a:picLocks noChangeAspect="1"/>
          </p:cNvPicPr>
          <p:nvPr/>
        </p:nvPicPr>
        <p:blipFill>
          <a:blip r:embed="rId2"/>
          <a:stretch>
            <a:fillRect/>
          </a:stretch>
        </p:blipFill>
        <p:spPr>
          <a:xfrm>
            <a:off x="320040" y="1024128"/>
            <a:ext cx="7635240" cy="5440680"/>
          </a:xfrm>
          <a:prstGeom prst="rect">
            <a:avLst/>
          </a:prstGeom>
        </p:spPr>
      </p:pic>
      <p:sp>
        <p:nvSpPr>
          <p:cNvPr id="8" name="Rounded Rectangle 7"/>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0" name="TextBox 9"/>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7" name="Rounded Rectangle 6"/>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9" name="Picture 8"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0" name="Rounded Rectangle 9"/>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2" name="Picture 11"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3" name="Rounded Rectangle 12"/>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OR attire, gown, glove, instruments</a:t>
            </a:r>
          </a:p>
        </p:txBody>
      </p:sp>
      <p:pic>
        <p:nvPicPr>
          <p:cNvPr id="7" name="Picture 6" descr="prep_closed_gloving.png"/>
          <p:cNvPicPr>
            <a:picLocks noChangeAspect="1"/>
          </p:cNvPicPr>
          <p:nvPr/>
        </p:nvPicPr>
        <p:blipFill>
          <a:blip r:embed="rId2"/>
          <a:stretch>
            <a:fillRect/>
          </a:stretch>
        </p:blipFill>
        <p:spPr>
          <a:xfrm>
            <a:off x="320040" y="1024128"/>
            <a:ext cx="5760720" cy="3794760"/>
          </a:xfrm>
          <a:prstGeom prst="rect">
            <a:avLst/>
          </a:prstGeom>
        </p:spPr>
      </p:pic>
      <p:sp>
        <p:nvSpPr>
          <p:cNvPr id="8" name="Rounded Rectangle 7"/>
          <p:cNvSpPr/>
          <p:nvPr/>
        </p:nvSpPr>
        <p:spPr>
          <a:xfrm>
            <a:off x="6172200" y="1024128"/>
            <a:ext cx="5669280" cy="37947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55080" y="1133856"/>
            <a:ext cx="5349240" cy="365760"/>
          </a:xfrm>
          <a:prstGeom prst="rect">
            <a:avLst/>
          </a:prstGeom>
          <a:noFill/>
        </p:spPr>
        <p:txBody>
          <a:bodyPr wrap="square" anchor="t"/>
          <a:lstStyle/>
          <a:p>
            <a:pPr algn="l"/>
            <a:r>
              <a:rPr sz="1800" b="1">
                <a:solidFill>
                  <a:srgbClr val="0B2C4A"/>
                </a:solidFill>
                <a:latin typeface="Calibri"/>
              </a:rPr>
              <a:t>Before you cut</a:t>
            </a:r>
          </a:p>
        </p:txBody>
      </p:sp>
      <p:sp>
        <p:nvSpPr>
          <p:cNvPr id="10" name="TextBox 9"/>
          <p:cNvSpPr txBox="1"/>
          <p:nvPr/>
        </p:nvSpPr>
        <p:spPr>
          <a:xfrm>
            <a:off x="6309360" y="1554480"/>
            <a:ext cx="5394960" cy="3108960"/>
          </a:xfrm>
          <a:prstGeom prst="rect">
            <a:avLst/>
          </a:prstGeom>
          <a:noFill/>
        </p:spPr>
        <p:txBody>
          <a:bodyPr wrap="square">
            <a:spAutoFit/>
          </a:bodyPr>
          <a:lstStyle/>
          <a:p>
            <a:pPr algn="l">
              <a:spcAft>
                <a:spcPts val="800"/>
              </a:spcAft>
            </a:pPr>
            <a:r>
              <a:rPr sz="1600" b="0">
                <a:solidFill>
                  <a:srgbClr val="1C1C1C"/>
                </a:solidFill>
                <a:latin typeface="Calibri"/>
              </a:rPr>
              <a:t>▸  Door: shoe covers, hair cap, mask. Then enter.</a:t>
            </a:r>
          </a:p>
          <a:p>
            <a:pPr algn="l">
              <a:spcAft>
                <a:spcPts val="800"/>
              </a:spcAft>
            </a:pPr>
            <a:r>
              <a:rPr sz="1600" b="0">
                <a:solidFill>
                  <a:srgbClr val="1C1C1C"/>
                </a:solidFill>
                <a:latin typeface="Calibri"/>
              </a:rPr>
              <a:t>▸  Surgical hand scrub. Gown. Closed glove (hands stay in the cuffs).</a:t>
            </a:r>
          </a:p>
          <a:p>
            <a:pPr algn="l">
              <a:spcAft>
                <a:spcPts val="800"/>
              </a:spcAft>
            </a:pPr>
            <a:r>
              <a:rPr sz="1600" b="0">
                <a:solidFill>
                  <a:srgbClr val="1C1C1C"/>
                </a:solidFill>
                <a:latin typeface="Calibri"/>
              </a:rPr>
              <a:t>▸  Drape. Then open the instrument pack. Check the indicator.</a:t>
            </a:r>
          </a:p>
          <a:p>
            <a:pPr algn="l">
              <a:spcAft>
                <a:spcPts val="800"/>
              </a:spcAft>
            </a:pPr>
            <a:r>
              <a:rPr sz="1600" b="0">
                <a:solidFill>
                  <a:srgbClr val="1C1C1C"/>
                </a:solidFill>
                <a:latin typeface="Calibri"/>
              </a:rPr>
              <a:t>▸  Arrange. Count sponges and instruments. Mayo stand.</a:t>
            </a:r>
          </a:p>
          <a:p>
            <a:pPr algn="l">
              <a:spcAft>
                <a:spcPts val="800"/>
              </a:spcAft>
            </a:pPr>
            <a:r>
              <a:rPr sz="1600" b="0">
                <a:solidFill>
                  <a:srgbClr val="1C1C1C"/>
                </a:solidFill>
                <a:latin typeface="Calibri"/>
              </a:rPr>
              <a:t>▸  Name the monitors: ECG, SpO2, ETCO2, temp, fluids.</a:t>
            </a:r>
          </a:p>
        </p:txBody>
      </p:sp>
      <p:sp>
        <p:nvSpPr>
          <p:cNvPr id="11" name="Rounded Rectangle 10"/>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door attire, then gown, drape, open the pack, count, Mayo stand. Timeout. Announce the incision and mark it on the chart.</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7" name="Rounded Rectangle 6"/>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9" name="TextBox 8"/>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Do not continue with a contaminated field.
After the incision: notice, announce, and fully correct. Sleeve in the abdomen, instrument off the table, hole in a glove: stop and fix it.</a:t>
            </a:r>
          </a:p>
        </p:txBody>
      </p:sp>
      <p:sp>
        <p:nvSpPr>
          <p:cNvPr id="10" name="Rounded Rectangle 9"/>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2" name="TextBox 11"/>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3" name="Rounded Rectangle 12"/>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Surgical competence includes the first 24 hours of physiologic monitoring and complication management (CPE MOA 2026 Surgery). A weak ligature or a weak linea is a technical failure you must recognize. That is not infinite legal liability for every recovery-ward or owner event.</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7" name="Rounded Rectangle 6"/>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0" name="TextBox 9"/>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1" name="TextBox 10"/>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Clip and dirty-scrub in the prep area. Full sterile scrub in the OR after positioning.</a:t>
            </a:r>
          </a:p>
        </p:txBody>
      </p:sp>
      <p:sp>
        <p:nvSpPr>
          <p:cNvPr id="12" name="Rounded Rectangle 11"/>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5" name="TextBox 14"/>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6" name="TextBox 15"/>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Intact cornea: 10% stock 1:50, 2 min + 2 min. 5% bottle: 1:25. Perforation: saline only.</a:t>
            </a:r>
          </a:p>
        </p:txBody>
      </p:sp>
      <p:sp>
        <p:nvSpPr>
          <p:cNvPr id="17" name="Rounded Rectangle 16"/>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0" name="TextBox 19"/>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1" name="TextBox 20"/>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2" name="Rounded Rectangle 21"/>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5" name="TextBox 24"/>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25 kg dog. Tube, bag, and IV fluid rate if you intubate?</a:t>
            </a:r>
          </a:p>
        </p:txBody>
      </p:sp>
      <p:sp>
        <p:nvSpPr>
          <p:cNvPr id="26" name="TextBox 25"/>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10 mm, 2 L circle, LRS 125 mL/hr (5 mL/kg/hr).</a:t>
            </a:r>
          </a:p>
        </p:txBody>
      </p:sp>
      <p:sp>
        <p:nvSpPr>
          <p:cNvPr id="27" name="Rectangle 26"/>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9" name="TextBox 28"/>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7" name="Picture 6"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8" name="Rounded Rectangle 7"/>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0" name="TextBox 9"/>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carprofen in the dog, Onsior in the cat. Do not stack with a steroid.</a:t>
            </a:r>
          </a:p>
          <a:p>
            <a:pPr algn="l">
              <a:spcAft>
                <a:spcPts val="1000"/>
              </a:spcAft>
            </a:pPr>
            <a:r>
              <a:rPr sz="1600" b="0">
                <a:solidFill>
                  <a:srgbClr val="1C1C1C"/>
                </a:solidFill>
                <a:latin typeface="Calibri"/>
              </a:rPr>
              <a:t>▸  E-collar on before they can lick.</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start, incision, criteria</a:t>
            </a:r>
          </a:p>
        </p:txBody>
      </p:sp>
      <p:pic>
        <p:nvPicPr>
          <p:cNvPr id="7" name="Picture 6"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8" name="Rectangle 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0" name="TextBox 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On-label NSAID</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Score pain. Dogs: Glasgow CMPS-SF. Cats: Feline Grimace Scale. Opioid as planned.</a:t>
            </a:r>
          </a:p>
          <a:p>
            <a:pPr algn="l">
              <a:spcAft>
                <a:spcPts val="600"/>
              </a:spcAft>
            </a:pPr>
            <a:r>
              <a:rPr sz="1600" b="0">
                <a:solidFill>
                  <a:srgbClr val="1C1C1C"/>
                </a:solidFill>
                <a:latin typeface="Calibri"/>
              </a:rPr>
              <a:t>▸  Dog: carprofen (Rimadyl) 4.4 mg/kg SQ. Dogs only. Give ~2 hours before incision so levels are on board (pre-emptive; Rimadyl label).</a:t>
            </a:r>
          </a:p>
          <a:p>
            <a:pPr algn="l">
              <a:spcAft>
                <a:spcPts val="600"/>
              </a:spcAft>
            </a:pPr>
            <a:r>
              <a:rPr sz="1600" b="0">
                <a:solidFill>
                  <a:srgbClr val="1C1C1C"/>
                </a:solidFill>
                <a:latin typeface="Calibri"/>
              </a:rPr>
              <a:t>▸  Cat: Onsior (robenacoxib) 2 mg/kg SQ. Cats only. First dose ~30 min before incision so levels are on board. OHE, castration, orthopedic. Up to 3 days.</a:t>
            </a:r>
          </a:p>
          <a:p>
            <a:pPr algn="l">
              <a:spcAft>
                <a:spcPts val="600"/>
              </a:spcAft>
            </a:pPr>
            <a:r>
              <a:rPr sz="1600" b="0">
                <a:solidFill>
                  <a:srgbClr val="1C1C1C"/>
                </a:solidFill>
                <a:latin typeface="Calibri"/>
              </a:rPr>
              <a:t>▸  Dog: carprofen. Cat: Onsior. Do not swap species in this course.</a:t>
            </a:r>
          </a:p>
          <a:p>
            <a:pPr algn="l">
              <a:spcAft>
                <a:spcPts val="600"/>
              </a:spcAft>
            </a:pPr>
            <a:r>
              <a:rPr sz="1600" b="0">
                <a:solidFill>
                  <a:srgbClr val="1C1C1C"/>
                </a:solidFill>
                <a:latin typeface="Calibri"/>
              </a:rPr>
              <a:t>▸  Do not stack an NSAID with a steroid. Skip NSAID if the patient is azotemic.</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A postoperative antibiotic injection is treatment. Write the drug, dose, and why.</a:t>
            </a:r>
          </a:p>
          <a:p>
            <a:pPr algn="l">
              <a:spcAft>
                <a:spcPts val="600"/>
              </a:spcAft>
            </a:pPr>
            <a:r>
              <a:rPr sz="1600" b="0">
                <a:solidFill>
                  <a:srgbClr val="1C1C1C"/>
                </a:solidFill>
                <a:latin typeface="Calibri"/>
              </a:rPr>
              <a:t>▸  Clean elective OHE: skip (Frey 2022). Do not send home 14 days of cephalexin.</a:t>
            </a:r>
          </a:p>
          <a:p>
            <a:pPr algn="l">
              <a:spcAft>
                <a:spcPts val="600"/>
              </a:spcAft>
            </a:pPr>
            <a:r>
              <a:rPr sz="1600" b="0">
                <a:solidFill>
                  <a:srgbClr val="1C1C1C"/>
                </a:solidFill>
                <a:latin typeface="Calibri"/>
              </a:rPr>
              <a:t>▸  Dirty or infected: continue as therapy, not prophylaxis.</a:t>
            </a:r>
          </a:p>
          <a:p>
            <a:pPr algn="l">
              <a:spcAft>
                <a:spcPts val="600"/>
              </a:spcAft>
            </a:pPr>
            <a:r>
              <a:rPr sz="1600" b="0">
                <a:solidFill>
                  <a:srgbClr val="1C1C1C"/>
                </a:solidFill>
                <a:latin typeface="Calibri"/>
              </a:rPr>
              <a:t>▸  Look twice daily: swelling, discharge, gapping, smell, heat.</a:t>
            </a:r>
          </a:p>
          <a:p>
            <a:pPr algn="l">
              <a:spcAft>
                <a:spcPts val="600"/>
              </a:spcAft>
            </a:pPr>
            <a:r>
              <a:rPr sz="1600" b="0">
                <a:solidFill>
                  <a:srgbClr val="1C1C1C"/>
                </a:solidFill>
                <a:latin typeface="Calibri"/>
              </a:rPr>
              <a:t>▸  E-collar that stays on. Leash walks 14 days.</a:t>
            </a:r>
          </a:p>
          <a:p>
            <a:pPr algn="l">
              <a:spcAft>
                <a:spcPts val="600"/>
              </a:spcAft>
            </a:pPr>
            <a:r>
              <a:rPr sz="1600" b="0">
                <a:solidFill>
                  <a:srgbClr val="1C1C1C"/>
                </a:solidFill>
                <a:latin typeface="Calibri"/>
              </a:rPr>
              <a:t>▸  Skin sutures typically 10–14 days.</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7" name="Rounded Rectangle 6"/>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0" name="TextBox 9"/>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1" name="Rounded Rectangle 10"/>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4" name="TextBox 13"/>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5" name="Rounded Rectangle 14"/>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8" name="TextBox 17"/>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19" name="Rounded Rectangle 18"/>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2" name="TextBox 21"/>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3" name="Rounded Rectangle 22"/>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6" name="TextBox 25"/>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7" name="Rounded Rectangle 26"/>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0" name="TextBox 29"/>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7" name="Rounded Rectangle 6"/>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9" name="TextBox 8"/>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0" name="Rounded Rectangle 9"/>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2" name="TextBox 11"/>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3" name="Rectangle 1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5" name="TextBox 1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7" name="Rounded Rectangle 6"/>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0" name="TextBox 9"/>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1" name="Rounded Rectangle 10"/>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4" name="TextBox 13"/>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5" name="Rounded Rectangle 14"/>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8" name="TextBox 17"/>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19" name="Rectangle 1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1" name="TextBox 2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why ASA Status 3-E</a:t>
            </a:r>
          </a:p>
        </p:txBody>
      </p:sp>
      <p:sp>
        <p:nvSpPr>
          <p:cNvPr id="7" name="Rounded Rectangle 6"/>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today’s PE writes the status</a:t>
            </a:r>
          </a:p>
        </p:txBody>
      </p:sp>
      <p:sp>
        <p:nvSpPr>
          <p:cNvPr id="9" name="Rounded Rectangle 8"/>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Disease</a:t>
            </a:r>
          </a:p>
        </p:txBody>
      </p:sp>
      <p:sp>
        <p:nvSpPr>
          <p:cNvPr id="12" name="TextBox 11"/>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Acute vestibular disease. AS otitis. Grade II/VI murmur. That is moderate systemic disease, not a normal PE.</a:t>
            </a:r>
          </a:p>
        </p:txBody>
      </p:sp>
      <p:sp>
        <p:nvSpPr>
          <p:cNvPr id="13" name="Rounded Rectangle 12"/>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Compensated</a:t>
            </a:r>
          </a:p>
        </p:txBody>
      </p:sp>
      <p:sp>
        <p:nvSpPr>
          <p:cNvPr id="16" name="TextBox 15"/>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Pink, walking, CRT 2 s, kidneys normal. The disease is not a constant threat to life today.</a:t>
            </a:r>
          </a:p>
        </p:txBody>
      </p:sp>
      <p:sp>
        <p:nvSpPr>
          <p:cNvPr id="17" name="Rounded Rectangle 16"/>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Not Status 1</a:t>
            </a:r>
          </a:p>
        </p:txBody>
      </p:sp>
      <p:sp>
        <p:nvSpPr>
          <p:cNvPr id="20" name="TextBox 19"/>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A normal CBC does not write Status 1. Otitis plus vestibular disease plus a murmur is not Status 1.</a:t>
            </a:r>
          </a:p>
        </p:txBody>
      </p:sp>
      <p:sp>
        <p:nvSpPr>
          <p:cNvPr id="21" name="Rounded Rectangle 20"/>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Not Status 4</a:t>
            </a:r>
          </a:p>
        </p:txBody>
      </p:sp>
      <p:sp>
        <p:nvSpPr>
          <p:cNvPr id="24" name="TextBox 23"/>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Uncompensated disease that threatens life is Status 4. That is the other example, not this dog.</a:t>
            </a:r>
          </a:p>
        </p:txBody>
      </p:sp>
      <p:sp>
        <p:nvSpPr>
          <p:cNvPr id="25" name="Rectangle 2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7" name="TextBox 2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7" name="Rounded Rectangle 6"/>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a:t>
            </a:r>
          </a:p>
        </p:txBody>
      </p:sp>
      <p:sp>
        <p:nvSpPr>
          <p:cNvPr id="10" name="TextBox 9"/>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disease + AS otitis + murmur. Compensated: pink, walking, kidneys normal. Status 3-E from today’s PE.</a:t>
            </a:r>
          </a:p>
        </p:txBody>
      </p:sp>
      <p:sp>
        <p:nvSpPr>
          <p:cNvPr id="11" name="Rounded Rectangle 10"/>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a:t>
            </a:r>
          </a:p>
        </p:txBody>
      </p:sp>
      <p:sp>
        <p:nvSpPr>
          <p:cNvPr id="14" name="TextBox 13"/>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Do not cut today. DSH, 4.25 kg. Vomiting that looked like FB. Right kidney fluid-filled and non-functional on AUS. Creatinine 3.0 → 4.71 on fluids; mechanism not assigned from this record. NSAIDs contraindicated. Record the decision. Offer supportive care, referral, or euthanasia.</a:t>
            </a:r>
          </a:p>
        </p:txBody>
      </p:sp>
      <p:sp>
        <p:nvSpPr>
          <p:cNvPr id="15" name="Rectangle 14"/>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7" name="TextBox 16"/>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Pre-anesthetic assessment: TPR, mm/CRT, then PCV, TP, BUN. Interpret. Circle ASA. Then IM or SQ premed.</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Write drug, concentration, dose, volume, and route. Then IV fluid name and rate, ETT size, circuit, and fresh-gas flow.</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Ready for surgical prep: airway secured, machine on, patent IV running, surgical plane, monitoring started.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Patient: clip, dirty scrub, move, full scrub, drape. Surgeon: shoe covers, cap, mask, then gown and closed glove. Instrument table, then announce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Mark anesthesia start and first incision. Fill the chart every 5–10 min against the operating range. Then complications, recovery analgesics, and sign.</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First 24 hours: monitor and manage complications. A weak ligature or a weak linea is still your technical problem.</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When is the patient ready for clippers?
What do you write before the first IM or SQ premed?</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 Intact cornea.
14. Epstein ME, et al. 2015 AAHA/AAFP Pain. JAAHA 2015;51:67–84.</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10. BETADINE Solution Veterinary. 5% povidone-iodine (not 10%). DailyMed NDC 67618-155.
11. Nolvasan Surgical Scrub. 2% chlorhexidine acetate. DailyMed NDC 54771-8701.
12. ECFVG. CPE Manual of Administration. 2026 ed. Anesthesia; Surgery.
13. Pardo et al. 2024 AAHA Fluid Therapy. JAAHA. 2024;60:131–163.
15. Thieman Mankin K. Exploratory celiotomy. Clinician’s Brief. 2019. Clip to landmarks, not 20 cm.</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