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 we sedated him. MoMo, a 6-year SF DSH, 4.25 kg, vomiting that looked like a foreign-body surgery — imaging cancelled the cut. Assign both ASA statuses. Owner identifiers stay off these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Willie is the running surgical/sedation case. MoMo is the ASA IV-E cat whose preoperative evaluation cancelled an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pictures) and both cases. Skip the large-animal slide if you are behind.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DVM 612 will hold you to this: a beautiful closure that bleeds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thread: you do not hand off responsibility at the OR door. Anesthesia gets the dog ready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as exam favorites. Never premedicate before you have examined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skip PE because the technician already did vitals.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statuses 1 and 3 slowly, then 4. This is the wording to memorize. E means emergency. Next: four 60-second cases, then the two real records — Willie (3-E, we sedated) and MoMo (4-E, we did not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 we will unpack the sedation. D is MoMo — the preoperative evaluation cancelled the exploratory. The hyperkalemic blocked cat still appears in the knowledge check; do not lose that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Willie. Do not skip the murmur. Right-sided knuckling with left circling is why you cannot call this just an ear flush. Mentation was quiet/dull.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drum was seen, then ointment was infused. Aminoglycosides are a risk if the middle or inner ear is involved even when the drum looks present and swollen. Cavaliers also bring mitral valve disease and Chiari-like malformation to the vestibular list. Mention both, then return to the ear as the leading infectious cause. No NSAID after DexSP. Next patient: MoMo, the cat we did not take to surgery.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 identifiers stay off the slide. MoMo is the cat whose films looked like ‘maybe GI’ and were kidneys. Cold-call: who would have clipped her for an exploratory on history alone? That is the mistake this hour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NSAIDs are contraindicated. Diuresis will not fix a destroyed kidney. If someone still wants to ‘just look inside,’ that is not surgery — that is harm. Be respectful; this cat died. The teaching point is judgment, not spectacle.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Requesting nothing in a geriatric patient is as wrong as a $800 panel on every puppy. MoMo’s rising creatinine is the example of not ignoring a test you ordered. Know your hospital policy and be able to defend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 MoMo is the other direction: do not take a medical kidney cat to an exploratory because FB was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AAHA-style 4–6 h for healthy small animals as best practice. Older sources still say overnight NPO — explain aspiration vs hypoglycemia. Ruminants are a different physiology, not a different lecture.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 Next slides: the kit, then the anesthesia record you actually fill.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Pre-op, then Prep, then Post-op. Ask: what is missing in your teaching lab today? MoMo never needed the clippers. Willie needed monitoring even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no NSAID. Grid every 5 minutes while sedated. Recovery boxes are part of the same page. Blank template lives with this lecture if they want to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point of the hour. The form is not only for patients who get clipped. Recording the decision not to operate is a surgical document. NSAIDs contraindicated. Rising creatinine. Owner elected euthanasia — say it once, respectfully, then move.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Elective canine OHE is a clean procedure — do not invent a 14-day cephalexin prescription. Willie’s left ear is infected, so antimicrobials are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for this hour: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boxes. Students should be able to name them without mixing in the cutting steps.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 surgical plane — patient wakes, contaminates, gets clipper lacerations.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yellow box is the field. If the drape later shows hair, the clip failed. Willie: if you only flush an ear you still clip what you will contaminate; a TECA field is the whole pinna and lateral skull, not this abdomen. MoMo never reached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CHG–alcohol is a common choice for trunk skin when not contraindicated. Willie’s left ear is exactly where CHG and aminoglycosides can harm a swollen drum and middle ear.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The picture is abdomen; the rule is the same on an ear or a limb. CHG in Willie’s ear is a real harm.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Canine OHE is dorsal recumbency. Over-splitting femurs of a large dog is a student habit. Mention GDV: even positioning can worsen caval compression — communicate with anesthesia.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90 seconds on the two pictures. Students remember the hairy window. Then: gown/glove before you drape,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inset as the correct closed-glove mechanic. The workstation picture is the minimum monitoring set. Students should name SpO2, ETCO2, ECG, temp, fluids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hemorrhage, closure, and asepsis to this hour. Ureter injury is a calm, well-prepped,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is the nuanced yes.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is a Cavalier in recovery — that is Willie. Pulse ox on the tongue is correct in recovery. Do not send a pale OHE to the kennel because she looks groggy.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Call-the-surgeon line at the bottom is the discharge talk they will repeat to clients.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pain. NSAIDs: not in hypovolemia, kidney injury, GI ulcer, or concurrent steroids — Willie already received DexSP.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basketball-with-the-dog are the two discharge failures. Be concrete: ‘no off-leash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Willie: neuro exam, ASA III-E, TM visible but swollen, DexSP given, no NSAID, murmur, films, MRI plan.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Halsted travels to the barn. Then get back to Willie.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decided not to clip her. A healthy Lab OHE is ASA I and gets no routine antibiotics. Willie is III-E. MoMo is IV-E and not a surgical abdomen.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Fossum is the text behind this hour.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vs MoMo ASA and why only Willie was anesthetized.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709160"/>
            <a:ext cx="10972800" cy="365760"/>
          </a:xfrm>
          <a:prstGeom prst="rect">
            <a:avLst/>
          </a:prstGeom>
          <a:noFill/>
        </p:spPr>
        <p:txBody>
          <a:bodyPr wrap="square" anchor="t"/>
          <a:lstStyle/>
          <a:p>
            <a:pPr algn="l"/>
            <a:r>
              <a:rPr sz="1600" b="0">
                <a:solidFill>
                  <a:srgbClr val="F4EBD3"/>
                </a:solidFill>
                <a:latin typeface="Calibri"/>
              </a:rPr>
              <a:t>Dr. Yujin Kim, D.V.M., Ph.D., FFCP  ·  Lecture  |  60 minutes</a:t>
            </a:r>
          </a:p>
        </p:txBody>
      </p:sp>
      <p:sp>
        <p:nvSpPr>
          <p:cNvPr id="9" name="TextBox 8"/>
          <p:cNvSpPr txBox="1"/>
          <p:nvPr/>
        </p:nvSpPr>
        <p:spPr>
          <a:xfrm>
            <a:off x="685800" y="5120640"/>
            <a:ext cx="10972800" cy="640080"/>
          </a:xfrm>
          <a:prstGeom prst="rect">
            <a:avLst/>
          </a:prstGeom>
          <a:noFill/>
        </p:spPr>
        <p:txBody>
          <a:bodyPr wrap="square" anchor="t"/>
          <a:lstStyle/>
          <a:p>
            <a:pPr algn="l"/>
            <a:r>
              <a:rPr sz="1400" b="0">
                <a:solidFill>
                  <a:srgbClr val="FFFFFF"/>
                </a:solidFill>
                <a:latin typeface="Calibri"/>
              </a:rPr>
              <a:t>Preoperative evaluation · patient and surgeon preparation · postoperative care.
Two real hospital cases: Willie (Cavalier, ASA III-E) and MoMo (cat, ASA IV-E — surgery cancelled).</a:t>
            </a:r>
          </a:p>
        </p:txBody>
      </p:sp>
      <p:sp>
        <p:nvSpPr>
          <p:cNvPr id="10" name="TextBox 9"/>
          <p:cNvSpPr txBox="1"/>
          <p:nvPr/>
        </p:nvSpPr>
        <p:spPr>
          <a:xfrm>
            <a:off x="685800" y="5989320"/>
            <a:ext cx="10972800" cy="320040"/>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1" name="TextBox 10"/>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LEARNING OBJECTIVES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By the end of this hour you will be able to</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antiseptic prep,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Today is judgment, asepsis, and aftercare. Poor prep cannot be rescued by elegant suture. Willie is the patient we prepare. MoMo is the patient we do not cut.</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HOW WE WILL SPEND THE HOUR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Sixty-minute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Frame + Halsted as the through-line</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3–24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ASA, both cases, the record</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24–44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 — with pictures</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44–57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flowsheet,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Willie vs MoMo, key points,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SURGICAL SITE INFECTION, HARM, AND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hour is not optional</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Most SSIs are preventable</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broken asepsis — not ‘bad luck’ — drive surgical site infection.</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The incision is a contract</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The client trusts you with a living animal (often an elective OHE) that is going home. Operate, document, and speak as if that client is waiting in reception.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Postop starts in preop</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and client expectations are decided before the scalpel, not at discharge.</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Three verbs for this hour — and they are all yours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surgical procedure — and a beautiful closure that bleeds or herniates in recovery is still a failed surgery. The first 24 hours count.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EVERY PRINCIPLE HAS A PREOP OR POSTOP ACTION, NOT ONLY AN INTRAOPERATIVE 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 — the through-line for today</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 surgeon prep, draping — today’s center of gravity.</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Plan dead space now: sutures, bandage, or a drain with a written pull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ONE PATIENT, THREE ROOMS, ONE SURGEON’S RESPONSIBILITY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two real cases · labs · stabilize · the anesthesia record</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~21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DECIDE: PROCEED  ·  DELAY  ·  STABILIZE  ·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the right tool — not just ‘the next appointment.’</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yourself after today’s exam and labs. Do not inherit it from the appointment book.</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ASK, YOU WILL DISCOVER IT UNDER THE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History that actually changes the plan</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PREANESTHETIC PE,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 — do it yourself</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 and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person (and the exam)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Then premedicate
Premedicating before the exam is a never-event.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(ASA) CLASSIFICATION SYSTEM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 — memorize this wording</a:t>
            </a:r>
          </a:p>
        </p:txBody>
      </p:sp>
      <p:sp>
        <p:nvSpPr>
          <p:cNvPr id="8" name="Rectangle 7"/>
          <p:cNvSpPr/>
          <p:nvPr/>
        </p:nvSpPr>
        <p:spPr>
          <a:xfrm>
            <a:off x="457200" y="1078992"/>
            <a:ext cx="11247120" cy="411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078992"/>
            <a:ext cx="1097280" cy="411480"/>
          </a:xfrm>
          <a:prstGeom prst="rect">
            <a:avLst/>
          </a:prstGeom>
          <a:noFill/>
        </p:spPr>
        <p:txBody>
          <a:bodyPr wrap="square" anchor="ctr"/>
          <a:lstStyle/>
          <a:p>
            <a:pPr algn="l"/>
            <a:r>
              <a:rPr sz="1400" b="1">
                <a:solidFill>
                  <a:srgbClr val="C5A35A"/>
                </a:solidFill>
                <a:latin typeface="Calibri"/>
              </a:rPr>
              <a:t>ASA</a:t>
            </a:r>
          </a:p>
        </p:txBody>
      </p:sp>
      <p:sp>
        <p:nvSpPr>
          <p:cNvPr id="10" name="TextBox 9"/>
          <p:cNvSpPr txBox="1"/>
          <p:nvPr/>
        </p:nvSpPr>
        <p:spPr>
          <a:xfrm>
            <a:off x="1737360" y="1078992"/>
            <a:ext cx="5120640" cy="411480"/>
          </a:xfrm>
          <a:prstGeom prst="rect">
            <a:avLst/>
          </a:prstGeom>
          <a:noFill/>
        </p:spPr>
        <p:txBody>
          <a:bodyPr wrap="square" anchor="ctr"/>
          <a:lstStyle/>
          <a:p>
            <a:pPr algn="l"/>
            <a:r>
              <a:rPr sz="1400" b="1">
                <a:solidFill>
                  <a:srgbClr val="FFFFFF"/>
                </a:solidFill>
                <a:latin typeface="Calibri"/>
              </a:rPr>
              <a:t>Definition</a:t>
            </a:r>
          </a:p>
        </p:txBody>
      </p:sp>
      <p:sp>
        <p:nvSpPr>
          <p:cNvPr id="11" name="TextBox 10"/>
          <p:cNvSpPr txBox="1"/>
          <p:nvPr/>
        </p:nvSpPr>
        <p:spPr>
          <a:xfrm>
            <a:off x="6949440" y="1078992"/>
            <a:ext cx="4572000" cy="411480"/>
          </a:xfrm>
          <a:prstGeom prst="rect">
            <a:avLst/>
          </a:prstGeom>
          <a:noFill/>
        </p:spPr>
        <p:txBody>
          <a:bodyPr wrap="square" anchor="ctr"/>
          <a:lstStyle/>
          <a:p>
            <a:pPr algn="l"/>
            <a:r>
              <a:rPr sz="1400" b="1">
                <a:solidFill>
                  <a:srgbClr val="FFFFFF"/>
                </a:solidFill>
                <a:latin typeface="Calibri"/>
              </a:rPr>
              <a:t>Typical example</a:t>
            </a:r>
          </a:p>
        </p:txBody>
      </p:sp>
      <p:sp>
        <p:nvSpPr>
          <p:cNvPr id="12" name="Rounded Rectangle 11"/>
          <p:cNvSpPr/>
          <p:nvPr/>
        </p:nvSpPr>
        <p:spPr>
          <a:xfrm>
            <a:off x="457200" y="1490472"/>
            <a:ext cx="11247120" cy="7498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490472"/>
            <a:ext cx="1097280" cy="74980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490472"/>
            <a:ext cx="1097280" cy="749808"/>
          </a:xfrm>
          <a:prstGeom prst="rect">
            <a:avLst/>
          </a:prstGeom>
          <a:noFill/>
        </p:spPr>
        <p:txBody>
          <a:bodyPr wrap="square" anchor="ctr"/>
          <a:lstStyle/>
          <a:p>
            <a:pPr algn="ctr"/>
            <a:r>
              <a:rPr sz="2200" b="1">
                <a:solidFill>
                  <a:srgbClr val="FFFFFF"/>
                </a:solidFill>
                <a:latin typeface="Calibri"/>
              </a:rPr>
              <a:t>1</a:t>
            </a:r>
          </a:p>
        </p:txBody>
      </p:sp>
      <p:sp>
        <p:nvSpPr>
          <p:cNvPr id="15" name="TextBox 14"/>
          <p:cNvSpPr txBox="1"/>
          <p:nvPr/>
        </p:nvSpPr>
        <p:spPr>
          <a:xfrm>
            <a:off x="1737360" y="1545336"/>
            <a:ext cx="5029200" cy="640080"/>
          </a:xfrm>
          <a:prstGeom prst="rect">
            <a:avLst/>
          </a:prstGeom>
          <a:noFill/>
        </p:spPr>
        <p:txBody>
          <a:bodyPr wrap="square" anchor="ctr"/>
          <a:lstStyle/>
          <a:p>
            <a:pPr algn="l"/>
            <a:r>
              <a:rPr sz="1200" b="0">
                <a:solidFill>
                  <a:srgbClr val="1C1C1C"/>
                </a:solidFill>
                <a:latin typeface="Calibri"/>
              </a:rPr>
              <a:t>Normal, healthy patient</a:t>
            </a:r>
          </a:p>
        </p:txBody>
      </p:sp>
      <p:sp>
        <p:nvSpPr>
          <p:cNvPr id="16" name="TextBox 15"/>
          <p:cNvSpPr txBox="1"/>
          <p:nvPr/>
        </p:nvSpPr>
        <p:spPr>
          <a:xfrm>
            <a:off x="6949440" y="1545336"/>
            <a:ext cx="4572000" cy="640080"/>
          </a:xfrm>
          <a:prstGeom prst="rect">
            <a:avLst/>
          </a:prstGeom>
          <a:noFill/>
        </p:spPr>
        <p:txBody>
          <a:bodyPr wrap="square" anchor="ctr"/>
          <a:lstStyle/>
          <a:p>
            <a:pPr algn="l"/>
            <a:r>
              <a:rPr sz="1200" b="0">
                <a:solidFill>
                  <a:srgbClr val="3D4A57"/>
                </a:solidFill>
                <a:latin typeface="Calibri"/>
              </a:rPr>
              <a:t>Elective OHE in a well 1-year-old</a:t>
            </a:r>
          </a:p>
        </p:txBody>
      </p:sp>
      <p:sp>
        <p:nvSpPr>
          <p:cNvPr id="17" name="Rounded Rectangle 16"/>
          <p:cNvSpPr/>
          <p:nvPr/>
        </p:nvSpPr>
        <p:spPr>
          <a:xfrm>
            <a:off x="457200" y="2295144"/>
            <a:ext cx="11247120" cy="7498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2295144"/>
            <a:ext cx="1097280" cy="7498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295144"/>
            <a:ext cx="1097280" cy="749808"/>
          </a:xfrm>
          <a:prstGeom prst="rect">
            <a:avLst/>
          </a:prstGeom>
          <a:noFill/>
        </p:spPr>
        <p:txBody>
          <a:bodyPr wrap="square" anchor="ctr"/>
          <a:lstStyle/>
          <a:p>
            <a:pPr algn="ctr"/>
            <a:r>
              <a:rPr sz="2200" b="1">
                <a:solidFill>
                  <a:srgbClr val="FFFFFF"/>
                </a:solidFill>
                <a:latin typeface="Calibri"/>
              </a:rPr>
              <a:t>2</a:t>
            </a:r>
          </a:p>
        </p:txBody>
      </p:sp>
      <p:sp>
        <p:nvSpPr>
          <p:cNvPr id="20" name="TextBox 19"/>
          <p:cNvSpPr txBox="1"/>
          <p:nvPr/>
        </p:nvSpPr>
        <p:spPr>
          <a:xfrm>
            <a:off x="1737360" y="2350008"/>
            <a:ext cx="5029200" cy="640080"/>
          </a:xfrm>
          <a:prstGeom prst="rect">
            <a:avLst/>
          </a:prstGeom>
          <a:noFill/>
        </p:spPr>
        <p:txBody>
          <a:bodyPr wrap="square" anchor="ctr"/>
          <a:lstStyle/>
          <a:p>
            <a:pPr algn="l"/>
            <a:r>
              <a:rPr sz="1200" b="0">
                <a:solidFill>
                  <a:srgbClr val="1C1C1C"/>
                </a:solidFill>
                <a:latin typeface="Calibri"/>
              </a:rPr>
              <a:t>Mild systemic disease, well compensated</a:t>
            </a:r>
          </a:p>
        </p:txBody>
      </p:sp>
      <p:sp>
        <p:nvSpPr>
          <p:cNvPr id="21" name="TextBox 20"/>
          <p:cNvSpPr txBox="1"/>
          <p:nvPr/>
        </p:nvSpPr>
        <p:spPr>
          <a:xfrm>
            <a:off x="6949440" y="2350008"/>
            <a:ext cx="4572000" cy="640080"/>
          </a:xfrm>
          <a:prstGeom prst="rect">
            <a:avLst/>
          </a:prstGeom>
          <a:noFill/>
        </p:spPr>
        <p:txBody>
          <a:bodyPr wrap="square" anchor="ctr"/>
          <a:lstStyle/>
          <a:p>
            <a:pPr algn="l"/>
            <a:r>
              <a:rPr sz="1200" b="0">
                <a:solidFill>
                  <a:srgbClr val="3D4A57"/>
                </a:solidFill>
                <a:latin typeface="Calibri"/>
              </a:rPr>
              <a:t>Controlled diabetes; obese but stable; asymptomatic murmur</a:t>
            </a:r>
          </a:p>
        </p:txBody>
      </p:sp>
      <p:sp>
        <p:nvSpPr>
          <p:cNvPr id="22" name="Rounded Rectangle 21"/>
          <p:cNvSpPr/>
          <p:nvPr/>
        </p:nvSpPr>
        <p:spPr>
          <a:xfrm>
            <a:off x="457200" y="3099816"/>
            <a:ext cx="11247120" cy="7498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099816"/>
            <a:ext cx="1097280" cy="7498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099816"/>
            <a:ext cx="1097280" cy="749808"/>
          </a:xfrm>
          <a:prstGeom prst="rect">
            <a:avLst/>
          </a:prstGeom>
          <a:noFill/>
        </p:spPr>
        <p:txBody>
          <a:bodyPr wrap="square" anchor="ctr"/>
          <a:lstStyle/>
          <a:p>
            <a:pPr algn="ctr"/>
            <a:r>
              <a:rPr sz="2200" b="1">
                <a:solidFill>
                  <a:srgbClr val="FFFFFF"/>
                </a:solidFill>
                <a:latin typeface="Calibri"/>
              </a:rPr>
              <a:t>3</a:t>
            </a:r>
          </a:p>
        </p:txBody>
      </p:sp>
      <p:sp>
        <p:nvSpPr>
          <p:cNvPr id="25" name="TextBox 24"/>
          <p:cNvSpPr txBox="1"/>
          <p:nvPr/>
        </p:nvSpPr>
        <p:spPr>
          <a:xfrm>
            <a:off x="1737360" y="3154680"/>
            <a:ext cx="5029200" cy="640080"/>
          </a:xfrm>
          <a:prstGeom prst="rect">
            <a:avLst/>
          </a:prstGeom>
          <a:noFill/>
        </p:spPr>
        <p:txBody>
          <a:bodyPr wrap="square" anchor="ctr"/>
          <a:lstStyle/>
          <a:p>
            <a:pPr algn="l"/>
            <a:r>
              <a:rPr sz="1200" b="0">
                <a:solidFill>
                  <a:srgbClr val="1C1C1C"/>
                </a:solidFill>
                <a:latin typeface="Calibri"/>
              </a:rPr>
              <a:t>Moderate systemic disease that is ongoing but compensated; some functional limitations exist that increase the risk of anesthesia</a:t>
            </a:r>
          </a:p>
        </p:txBody>
      </p:sp>
      <p:sp>
        <p:nvSpPr>
          <p:cNvPr id="26" name="TextBox 25"/>
          <p:cNvSpPr txBox="1"/>
          <p:nvPr/>
        </p:nvSpPr>
        <p:spPr>
          <a:xfrm>
            <a:off x="6949440" y="3154680"/>
            <a:ext cx="4572000" cy="640080"/>
          </a:xfrm>
          <a:prstGeom prst="rect">
            <a:avLst/>
          </a:prstGeom>
          <a:noFill/>
        </p:spPr>
        <p:txBody>
          <a:bodyPr wrap="square" anchor="ctr"/>
          <a:lstStyle/>
          <a:p>
            <a:pPr algn="l"/>
            <a:r>
              <a:rPr sz="1200" b="0">
                <a:solidFill>
                  <a:srgbClr val="3D4A57"/>
                </a:solidFill>
                <a:latin typeface="Calibri"/>
              </a:rPr>
              <a:t>Stable CKD; compensated murmur; Willie — vestibular + otitis, walking</a:t>
            </a:r>
          </a:p>
        </p:txBody>
      </p:sp>
      <p:sp>
        <p:nvSpPr>
          <p:cNvPr id="27" name="Rounded Rectangle 26"/>
          <p:cNvSpPr/>
          <p:nvPr/>
        </p:nvSpPr>
        <p:spPr>
          <a:xfrm>
            <a:off x="457200" y="3904488"/>
            <a:ext cx="11247120" cy="7498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3904488"/>
            <a:ext cx="1097280" cy="74980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3904488"/>
            <a:ext cx="1097280" cy="749808"/>
          </a:xfrm>
          <a:prstGeom prst="rect">
            <a:avLst/>
          </a:prstGeom>
          <a:noFill/>
        </p:spPr>
        <p:txBody>
          <a:bodyPr wrap="square" anchor="ctr"/>
          <a:lstStyle/>
          <a:p>
            <a:pPr algn="ctr"/>
            <a:r>
              <a:rPr sz="2200" b="1">
                <a:solidFill>
                  <a:srgbClr val="FFFFFF"/>
                </a:solidFill>
                <a:latin typeface="Calibri"/>
              </a:rPr>
              <a:t>4</a:t>
            </a:r>
          </a:p>
        </p:txBody>
      </p:sp>
      <p:sp>
        <p:nvSpPr>
          <p:cNvPr id="30" name="TextBox 29"/>
          <p:cNvSpPr txBox="1"/>
          <p:nvPr/>
        </p:nvSpPr>
        <p:spPr>
          <a:xfrm>
            <a:off x="1737360" y="3959352"/>
            <a:ext cx="5029200" cy="640080"/>
          </a:xfrm>
          <a:prstGeom prst="rect">
            <a:avLst/>
          </a:prstGeom>
          <a:noFill/>
        </p:spPr>
        <p:txBody>
          <a:bodyPr wrap="square" anchor="ctr"/>
          <a:lstStyle/>
          <a:p>
            <a:pPr algn="l"/>
            <a:r>
              <a:rPr sz="1200" b="0">
                <a:solidFill>
                  <a:srgbClr val="1C1C1C"/>
                </a:solidFill>
                <a:latin typeface="Calibri"/>
              </a:rPr>
              <a:t>Severe systemic disease that is a constant threat to life; uncompensated disease; high anesthetic risk because vital body systems are involved</a:t>
            </a:r>
          </a:p>
        </p:txBody>
      </p:sp>
      <p:sp>
        <p:nvSpPr>
          <p:cNvPr id="31" name="TextBox 30"/>
          <p:cNvSpPr txBox="1"/>
          <p:nvPr/>
        </p:nvSpPr>
        <p:spPr>
          <a:xfrm>
            <a:off x="6949440" y="3959352"/>
            <a:ext cx="4572000" cy="640080"/>
          </a:xfrm>
          <a:prstGeom prst="rect">
            <a:avLst/>
          </a:prstGeom>
          <a:noFill/>
        </p:spPr>
        <p:txBody>
          <a:bodyPr wrap="square" anchor="ctr"/>
          <a:lstStyle/>
          <a:p>
            <a:pPr algn="l"/>
            <a:r>
              <a:rPr sz="1200" b="0">
                <a:solidFill>
                  <a:srgbClr val="3D4A57"/>
                </a:solidFill>
                <a:latin typeface="Calibri"/>
              </a:rPr>
              <a:t>MoMo — rising azotemia, one kidney non-functional; GDV; septic abdomen</a:t>
            </a:r>
          </a:p>
        </p:txBody>
      </p:sp>
      <p:sp>
        <p:nvSpPr>
          <p:cNvPr id="32" name="Rounded Rectangle 31"/>
          <p:cNvSpPr/>
          <p:nvPr/>
        </p:nvSpPr>
        <p:spPr>
          <a:xfrm>
            <a:off x="457200" y="4709160"/>
            <a:ext cx="11247120" cy="7498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709160"/>
            <a:ext cx="1097280" cy="7498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4709160"/>
            <a:ext cx="1097280" cy="749808"/>
          </a:xfrm>
          <a:prstGeom prst="rect">
            <a:avLst/>
          </a:prstGeom>
          <a:noFill/>
        </p:spPr>
        <p:txBody>
          <a:bodyPr wrap="square" anchor="ctr"/>
          <a:lstStyle/>
          <a:p>
            <a:pPr algn="ctr"/>
            <a:r>
              <a:rPr sz="2200" b="1">
                <a:solidFill>
                  <a:srgbClr val="FFFFFF"/>
                </a:solidFill>
                <a:latin typeface="Calibri"/>
              </a:rPr>
              <a:t>5</a:t>
            </a:r>
          </a:p>
        </p:txBody>
      </p:sp>
      <p:sp>
        <p:nvSpPr>
          <p:cNvPr id="35" name="TextBox 34"/>
          <p:cNvSpPr txBox="1"/>
          <p:nvPr/>
        </p:nvSpPr>
        <p:spPr>
          <a:xfrm>
            <a:off x="1737360" y="4764024"/>
            <a:ext cx="5029200" cy="640080"/>
          </a:xfrm>
          <a:prstGeom prst="rect">
            <a:avLst/>
          </a:prstGeom>
          <a:noFill/>
        </p:spPr>
        <p:txBody>
          <a:bodyPr wrap="square" anchor="ctr"/>
          <a:lstStyle/>
          <a:p>
            <a:pPr algn="l"/>
            <a:r>
              <a:rPr sz="1200" b="0">
                <a:solidFill>
                  <a:srgbClr val="1C1C1C"/>
                </a:solidFill>
                <a:latin typeface="Calibri"/>
              </a:rPr>
              <a:t>Moribund patient not expected to live more than 24 hours with or without surgery</a:t>
            </a:r>
          </a:p>
        </p:txBody>
      </p:sp>
      <p:sp>
        <p:nvSpPr>
          <p:cNvPr id="36" name="TextBox 35"/>
          <p:cNvSpPr txBox="1"/>
          <p:nvPr/>
        </p:nvSpPr>
        <p:spPr>
          <a:xfrm>
            <a:off x="6949440" y="4764024"/>
            <a:ext cx="4572000" cy="640080"/>
          </a:xfrm>
          <a:prstGeom prst="rect">
            <a:avLst/>
          </a:prstGeom>
          <a:noFill/>
        </p:spPr>
        <p:txBody>
          <a:bodyPr wrap="square" anchor="ctr"/>
          <a:lstStyle/>
          <a:p>
            <a:pPr algn="l"/>
            <a:r>
              <a:rPr sz="1200" b="0">
                <a:solidFill>
                  <a:srgbClr val="3D4A57"/>
                </a:solidFill>
                <a:latin typeface="Calibri"/>
              </a:rPr>
              <a:t>Gastric rupture, catastrophic trauma, end-stage disease</a:t>
            </a:r>
          </a:p>
        </p:txBody>
      </p:sp>
      <p:sp>
        <p:nvSpPr>
          <p:cNvPr id="37" name="Rounded Rectangle 36"/>
          <p:cNvSpPr/>
          <p:nvPr/>
        </p:nvSpPr>
        <p:spPr>
          <a:xfrm>
            <a:off x="457200" y="5623560"/>
            <a:ext cx="11247120" cy="8229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5742432"/>
            <a:ext cx="10881360" cy="594360"/>
          </a:xfrm>
          <a:prstGeom prst="rect">
            <a:avLst/>
          </a:prstGeom>
          <a:noFill/>
        </p:spPr>
        <p:txBody>
          <a:bodyPr wrap="square" anchor="t"/>
          <a:lstStyle/>
          <a:p>
            <a:pPr algn="l"/>
            <a:r>
              <a:rPr sz="1300" b="0">
                <a:solidFill>
                  <a:srgbClr val="0B2C4A"/>
                </a:solidFill>
                <a:latin typeface="Calibri"/>
              </a:rPr>
              <a:t>E = emergency. Written as 3-E or 4-E. Willie is 3-E (acute, still compensated). MoMo is 4-E (acute, uncompensated vital-system disease). Assign the number after today’s PE and labs, not from the appointment book.</a:t>
            </a:r>
          </a:p>
        </p:txBody>
      </p:sp>
      <p:sp>
        <p:nvSpPr>
          <p:cNvPr id="39" name="Rectangle 3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41" name="TextBox 4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SAY THE NUMBER, THEN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Assign the ASA — 60-second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I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II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Willie: 6 y 11 mo MN Cavalier, 13.7 kg. Acute ataxia 1 h. AS otitis, TM visible/swollen. Circling left, nystagmus fast-left, right knuckling. Grade II murmur.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III-E  ·  not ‘just dirty ears’ — next slides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MoMo: 6 yo SF DSH, 4.25 kg. Acute vomiting ×2, lethargy, construction at home — possible FB. T 98.0 °F, HR 200, mm pink tacky. Mildly enlarged abdomen.</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Do not cut yet. Imaging + labs first  ·  this became ASA IV-E, not a surgical abdomen</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 11 MO MN CAVALIER KING CHARLES SPANIEL  ·  13.7 KG  ·  BCS 6/9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III case — Willie</a:t>
            </a:r>
          </a:p>
        </p:txBody>
      </p:sp>
      <p:sp>
        <p:nvSpPr>
          <p:cNvPr id="8" name="Rounded Rectangle 7"/>
          <p:cNvSpPr/>
          <p:nvPr/>
        </p:nvSpPr>
        <p:spPr>
          <a:xfrm>
            <a:off x="457200" y="1051560"/>
            <a:ext cx="11247120" cy="13258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ataxia ~1 hour. Fell off the couch twice. Abnormal paw placement. Appetite/thirst normal. Cytopoint for allergies. No prior vestibular signs. Vitals: T 100.8 °F, HR 132, RR 52, mm pink, CRT 2 s, quiet/dull.</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Left ear (AS)</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Neuro exam</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Circling left. Horizontal nystagmus — fast left, slow right. Right knuckling and delayed proprioception. Wheelbarrow absent on the right. That is not a simple peripheral ear.</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Also on PE</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Grade II/VI left systolic murmur (Cavaliers). Heavy tartar. Nasal crusts. Soft non-painful abdomen. Compensated tonight.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  FUNCTIONAL LIMITATION  ·  ACUTE  ·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Willie is ASA III-E — and what we actually did</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2E6B4F"/>
                </a:solidFill>
                <a:latin typeface="Calibri"/>
              </a:rPr>
              <a:t>ASA III-E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 murmur alone, or dirty ears without neuro signs.
III = acute vestibular disease plus severe AS otitis, still pink, walking, kidneys normal.
E = started an hour ago; sedation tonight.
IV = recumbent, seizing, septic, or in heart failure. He was not.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and peri-op plan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CBC WNL. Phosphorus 6.0 (high), glucose 130 (stress). Kidneys, liver, electrolytes normal.</a:t>
            </a:r>
          </a:p>
          <a:p>
            <a:pPr algn="l">
              <a:spcAft>
                <a:spcPts val="500"/>
              </a:spcAft>
            </a:pPr>
            <a:r>
              <a:rPr sz="1300" b="0">
                <a:solidFill>
                  <a:srgbClr val="1C1C1C"/>
                </a:solidFill>
                <a:latin typeface="Calibri"/>
              </a:rPr>
              <a:t>▸  IV fluids, Cerenia IV, DexSP 0.68 mL SQ. No NSAID after the steroid.</a:t>
            </a:r>
          </a:p>
          <a:p>
            <a:pPr algn="l">
              <a:spcAft>
                <a:spcPts val="500"/>
              </a:spcAft>
            </a:pPr>
            <a:r>
              <a:rPr sz="1300" b="0">
                <a:solidFill>
                  <a:srgbClr val="1C1C1C"/>
                </a:solidFill>
                <a:latin typeface="Calibri"/>
              </a:rPr>
              <a:t>▸  Alfaxalone sedation: deep left-ear clean, cytology/culture, 3-view skull/spine films.</a:t>
            </a:r>
          </a:p>
          <a:p>
            <a:pPr algn="l">
              <a:spcAft>
                <a:spcPts val="500"/>
              </a:spcAft>
            </a:pPr>
            <a:r>
              <a:rPr sz="1300" b="0">
                <a:solidFill>
                  <a:srgbClr val="1C1C1C"/>
                </a:solidFill>
                <a:latin typeface="Calibri"/>
              </a:rPr>
              <a:t>▸  Films: bullae radiographically intact, skull intact, L7–S1 discospondylosis — that does not explain acute circling.</a:t>
            </a:r>
          </a:p>
          <a:p>
            <a:pPr algn="l">
              <a:spcAft>
                <a:spcPts val="500"/>
              </a:spcAft>
            </a:pPr>
            <a:r>
              <a:rPr sz="1300" b="0">
                <a:solidFill>
                  <a:srgbClr val="1C1C1C"/>
                </a:solidFill>
                <a:latin typeface="Calibri"/>
              </a:rPr>
              <a:t>▸  Left circling + left-fast nystagmus + right proprioceptive deficit → central until MRI says otherwise.</a:t>
            </a:r>
          </a:p>
          <a:p>
            <a:pPr algn="l">
              <a:spcAft>
                <a:spcPts val="500"/>
              </a:spcAft>
            </a:pPr>
            <a:r>
              <a:rPr sz="1300" b="0">
                <a:solidFill>
                  <a:srgbClr val="1C1C1C"/>
                </a:solidFill>
                <a:latin typeface="Calibri"/>
              </a:rPr>
              <a:t>▸  Home: meclizine 25 mg PO BID × 5 d, Cerenia 60 mg PO SID × 4 d, confine, no stairs. MRI recommended. TECA-LBO if culture-guided medical therapy fails.</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YO SF DSH  ·  4.25 KG  ·  BCS 5/9  ·  SAME HOSPITAL, SAME WEEK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IV-E case — MoMo</a:t>
            </a:r>
          </a:p>
        </p:txBody>
      </p:sp>
      <p:sp>
        <p:nvSpPr>
          <p:cNvPr id="8" name="Rounded Rectangle 7"/>
          <p:cNvSpPr/>
          <p:nvPr/>
        </p:nvSpPr>
        <p:spPr>
          <a:xfrm>
            <a:off x="457200" y="1051560"/>
            <a:ext cx="11247120" cy="132588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vomiting and lethargy this morning. Two vomits (food, then liquid). Ate normally yesterday. Household construction — possible foreign material or toxin. Refused a favored treat. Vaccines uncertain; last wellness ~2 years. Vitals: T 98.0 °F, HR 200, RR 30, mm pink tacky, CRT &lt;2 s, QAR.</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Why this looked surgical</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FB obstruction was on the list. Discussed IV fluids, serial imaging, and surgery if indicated. Mildly enlarged abdomen. That is how cats get booked for an exploratory.</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What the PE actually showed</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Heart/lungs normal. No murmur. Abdomen mildly enlarged. Ambulatory ×4. No oral, ear, or neuro deficits. Dehydrated. Generalized small stature. The PE did not prove a foreign body.</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Do not skip labs/imaging</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POCUS: abnormal right kidney, left kidney enlarged, bladder intact. 3-view abdomen STAT. CBC/chem. This is why ‘booked for surgery’ is not an ASA.</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UNCOMPENSATED  ·  CONSTANT THREAT  ·  ACUTE  ·  NOT A SURGICAL ABDOMEN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MoMo is ASA IV-E — and why we did not cut</a:t>
            </a:r>
          </a:p>
        </p:txBody>
      </p:sp>
      <p:sp>
        <p:nvSpPr>
          <p:cNvPr id="8" name="Rounded Rectangle 7"/>
          <p:cNvSpPr/>
          <p:nvPr/>
        </p:nvSpPr>
        <p:spPr>
          <a:xfrm>
            <a:off x="411480" y="1078992"/>
            <a:ext cx="370332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8B2E2E"/>
                </a:solidFill>
                <a:latin typeface="Calibri"/>
              </a:rPr>
              <a:t>ASA IV-E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III = compensated disease you can still anesthetize with a plan.
IV = severe systemic disease that is a constant threat — here, rising azotemia and a non-functional kidney.
She was QAR and walking, so not ASA V (moribund).
E = acute presentation.
A cancelled exploratory is a successful preoperative evaluation.</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that cancelled surgery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Admit: IVC, IVF 1.5× maintenance, Cerenia, ondansetron, Unasyn, aluminum hydroxide if eating.</a:t>
            </a:r>
          </a:p>
          <a:p>
            <a:pPr algn="l">
              <a:spcAft>
                <a:spcPts val="500"/>
              </a:spcAft>
            </a:pPr>
            <a:r>
              <a:rPr sz="1300" b="0">
                <a:solidFill>
                  <a:srgbClr val="1C1C1C"/>
                </a:solidFill>
                <a:latin typeface="Calibri"/>
              </a:rPr>
              <a:t>▸  CBC: WBC ~26K with neutrophilia. Platelets variable (74 then 123). Stress glucose.</a:t>
            </a:r>
          </a:p>
          <a:p>
            <a:pPr algn="l">
              <a:spcAft>
                <a:spcPts val="500"/>
              </a:spcAft>
            </a:pPr>
            <a:r>
              <a:rPr sz="1300" b="0">
                <a:solidFill>
                  <a:srgbClr val="1C1C1C"/>
                </a:solidFill>
                <a:latin typeface="Calibri"/>
              </a:rPr>
              <a:t>▸  Chem day 0: BUN 49.7, creatinine 3.0, phosphorus 8.0. USG 1.042 — concentrating, so this is not ‘end-stage CKD, ignore it.’</a:t>
            </a:r>
          </a:p>
          <a:p>
            <a:pPr algn="l">
              <a:spcAft>
                <a:spcPts val="500"/>
              </a:spcAft>
            </a:pPr>
            <a:r>
              <a:rPr sz="1300" b="0">
                <a:solidFill>
                  <a:srgbClr val="1C1C1C"/>
                </a:solidFill>
                <a:latin typeface="Calibri"/>
              </a:rPr>
              <a:t>▸  Repeat on fluids: BUN 100, creatinine 4.71. Do not ignore a rising value you ordered.</a:t>
            </a:r>
          </a:p>
          <a:p>
            <a:pPr algn="l">
              <a:spcAft>
                <a:spcPts val="500"/>
              </a:spcAft>
            </a:pPr>
            <a:r>
              <a:rPr sz="1300" b="0">
                <a:solidFill>
                  <a:srgbClr val="1C1C1C"/>
                </a:solidFill>
                <a:latin typeface="Calibri"/>
              </a:rPr>
              <a:t>▸  AUS: right kidney severely fluid-filled and non-functional; left kidney reduced corticomedullary architecture. Not an FNA target on the right.</a:t>
            </a:r>
          </a:p>
          <a:p>
            <a:pPr algn="l">
              <a:spcAft>
                <a:spcPts val="500"/>
              </a:spcAft>
            </a:pPr>
            <a:r>
              <a:rPr sz="1300" b="0">
                <a:solidFill>
                  <a:srgbClr val="1C1C1C"/>
                </a:solidFill>
                <a:latin typeface="Calibri"/>
              </a:rPr>
              <a:t>▸  Options: IM referral (FNA left kidney) vs palliative vs euthanasia. Prognosis guarded to poor. Owner elected humane euthanasia.</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REQUEST THE MINIMUM TESTS THIS PATIENT AND THIS PROCEDURE ACTUALLY NEED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 — indicated, not automatic</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 MoMo: POCUS/AUS cancelled the cut.</a:t>
            </a:r>
          </a:p>
          <a:p>
            <a:pPr algn="l">
              <a:spcAft>
                <a:spcPts val="700"/>
              </a:spcAft>
            </a:pPr>
            <a:r>
              <a:rPr sz="1500" b="0">
                <a:solidFill>
                  <a:srgbClr val="1C1C1C"/>
                </a:solidFill>
                <a:latin typeface="Calibri"/>
              </a:rPr>
              <a:t>▸  Large animal: stall-side PCV/TS, fibrinogen, and physical exam often outweigh a full chemistry in the field — still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ELECTIVE SURGERY IS CANCELLED MORE OFTEN BY GOOD JUDGMENT THAN BY BAD LUCK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Stabilize before you sterilize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KNOW BOTH: FOSSUM/TRADITIONAL LANGUAGE AND AAHA-STYLE SHORTER FASTS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Fasting — traditional teaching vs. current practice</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 still appears on some exams; be able to discuss aspiration vs.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 follow hospital/field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DID NOT SAY IT, YOU DID NOT CONSENT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 is a surgical skill</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incontinence (OHE myth vs. data — be honest).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 in the lobby</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 — because they are.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PAIN IS NOT A POSTOPERATIVE SURPRISE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Checklist and the analgesia plan belong in preop</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30–60 min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 — plan it now</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and kidneys/GI allow — often at recovery, not in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HERE BEFORE INDUCTION, YOU ARE NOT READY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must be in the room</a:t>
            </a:r>
          </a:p>
        </p:txBody>
      </p:sp>
      <p:pic>
        <p:nvPicPr>
          <p:cNvPr id="8" name="Picture 7" descr="what_you_need.png"/>
          <p:cNvPicPr>
            <a:picLocks noChangeAspect="1"/>
          </p:cNvPicPr>
          <p:nvPr/>
        </p:nvPicPr>
        <p:blipFill>
          <a:blip r:embed="rId2"/>
          <a:stretch>
            <a:fillRect/>
          </a:stretch>
        </p:blipFill>
        <p:spPr>
          <a:xfrm>
            <a:off x="320040" y="1024128"/>
            <a:ext cx="11521440" cy="553212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FILL IT BEFORE THE FIRST DRUG  ·  THIS IS A TEACHING FORM, NOT A HOSPITAL ORIGINAL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Anesthesia / sedation record — Willie</a:t>
            </a:r>
          </a:p>
        </p:txBody>
      </p:sp>
      <p:pic>
        <p:nvPicPr>
          <p:cNvPr id="8" name="Picture 7" descr="anesthesia_record_willie.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 COMPLETED PREOPERATIVE EVALUATION CAN END WITH DO NOT INDUCE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same record — MoMo</a:t>
            </a:r>
          </a:p>
        </p:txBody>
      </p:sp>
      <p:pic>
        <p:nvPicPr>
          <p:cNvPr id="8" name="Picture 7" descr="anesthesia_record_momo.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 — stewardship, not ritual</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YES —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30–60 min before incision; redose (e.g. cefazolin ~q90 min) if surgery is long or blood loss is large.
Consider if:
• Clean-contaminated / contaminated / dirty
• Implant (orthopedic, mesh)
• Hollow viscus entry
• Prolonged surgery or known break in asepsis
• Patient immunocompromised
• Infection would be catastrophic (some neuro/implant cases — still think, don’t reflex)</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ANSWER BEFORE WE WALK TO THE PREP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preoperative</a:t>
            </a:r>
          </a:p>
        </p:txBody>
      </p:sp>
      <p:sp>
        <p:nvSpPr>
          <p:cNvPr id="8" name="Rounded Rectangle 7"/>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1" name="TextBox 10"/>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2" name="TextBox 11"/>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3" name="Rounded Rectangle 12"/>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6" name="TextBox 15"/>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7" name="TextBox 16"/>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8" name="Rounded Rectangle 17"/>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1" name="TextBox 20"/>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2" name="TextBox 21"/>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24–44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SAME SIX BOXES EVERY TIME YOU TAKE A PATIENT TO SURGERY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we actually check in patient and surgeon prep</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prep then sterile prep. Contact time. Center → periphery. No pooling / wicking.</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IS DIRTY. OR IS STERILE. THE DOG MOVES ONCE.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 do not invert the rooms</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contact time honored</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#40 BLADE  ·  CLIPPER, NOT RAZOR  ·  FIELD WIDE ENOUGH TO EXTEND THE INCISION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 — clip after induction, not last night</a:t>
            </a:r>
          </a:p>
        </p:txBody>
      </p:sp>
      <p:pic>
        <p:nvPicPr>
          <p:cNvPr id="8" name="Picture 7" descr="prep_ohe_clip_wide.png"/>
          <p:cNvPicPr>
            <a:picLocks noChangeAspect="1"/>
          </p:cNvPicPr>
          <p:nvPr/>
        </p:nvPicPr>
        <p:blipFill>
          <a:blip r:embed="rId2"/>
          <a:stretch>
            <a:fillRect/>
          </a:stretch>
        </p:blipFill>
        <p:spPr>
          <a:xfrm>
            <a:off x="365760" y="1051560"/>
            <a:ext cx="6675120" cy="5394960"/>
          </a:xfrm>
          <a:prstGeom prst="rect">
            <a:avLst/>
          </a:prstGeom>
        </p:spPr>
      </p:pic>
      <p:sp>
        <p:nvSpPr>
          <p:cNvPr id="9" name="Rounded Rectangle 8"/>
          <p:cNvSpPr/>
          <p:nvPr/>
        </p:nvSpPr>
        <p:spPr>
          <a:xfrm>
            <a:off x="7178040" y="1051560"/>
            <a:ext cx="457200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1188720"/>
            <a:ext cx="4160520" cy="365760"/>
          </a:xfrm>
          <a:prstGeom prst="rect">
            <a:avLst/>
          </a:prstGeom>
          <a:noFill/>
        </p:spPr>
        <p:txBody>
          <a:bodyPr wrap="square" anchor="t"/>
          <a:lstStyle/>
          <a:p>
            <a:pPr algn="l"/>
            <a:r>
              <a:rPr sz="1600" b="1">
                <a:solidFill>
                  <a:srgbClr val="0B2C4A"/>
                </a:solidFill>
                <a:latin typeface="Calibri"/>
              </a:rPr>
              <a:t>OHE / celiotomy field</a:t>
            </a:r>
          </a:p>
        </p:txBody>
      </p:sp>
      <p:sp>
        <p:nvSpPr>
          <p:cNvPr id="11" name="TextBox 10"/>
          <p:cNvSpPr txBox="1"/>
          <p:nvPr/>
        </p:nvSpPr>
        <p:spPr>
          <a:xfrm>
            <a:off x="7360920" y="1600200"/>
            <a:ext cx="4206240" cy="4572000"/>
          </a:xfrm>
          <a:prstGeom prst="rect">
            <a:avLst/>
          </a:prstGeom>
          <a:noFill/>
        </p:spPr>
        <p:txBody>
          <a:bodyPr wrap="square">
            <a:spAutoFit/>
          </a:bodyPr>
          <a:lstStyle/>
          <a:p>
            <a:pPr algn="l">
              <a:spcAft>
                <a:spcPts val="600"/>
              </a:spcAft>
            </a:pPr>
            <a:r>
              <a:rPr sz="1300" b="0">
                <a:solidFill>
                  <a:srgbClr val="1C1C1C"/>
                </a:solidFill>
                <a:latin typeface="Calibri"/>
              </a:rPr>
              <a:t>▸  Xiphoid (or slightly cranial) to pubis, widely lateral past the nipples — a rectangle, not a bikini strip.</a:t>
            </a:r>
          </a:p>
          <a:p>
            <a:pPr algn="l">
              <a:spcAft>
                <a:spcPts val="600"/>
              </a:spcAft>
            </a:pPr>
            <a:r>
              <a:rPr sz="1300" b="0">
                <a:solidFill>
                  <a:srgbClr val="1C1C1C"/>
                </a:solidFill>
                <a:latin typeface="Calibri"/>
              </a:rPr>
              <a:t>▸  Clip with the grain, then against, to the skin. Vacuum the hair.</a:t>
            </a:r>
          </a:p>
          <a:p>
            <a:pPr algn="l">
              <a:spcAft>
                <a:spcPts val="600"/>
              </a:spcAft>
            </a:pPr>
            <a:r>
              <a:rPr sz="1300" b="0">
                <a:solidFill>
                  <a:srgbClr val="1C1C1C"/>
                </a:solidFill>
                <a:latin typeface="Calibri"/>
              </a:rPr>
              <a:t>▸  ~20 cm beyond the planned incision is a Fossum-style working rule.</a:t>
            </a:r>
          </a:p>
          <a:p>
            <a:pPr algn="l">
              <a:spcAft>
                <a:spcPts val="600"/>
              </a:spcAft>
            </a:pPr>
            <a:r>
              <a:rPr sz="1300" b="0">
                <a:solidFill>
                  <a:srgbClr val="1C1C1C"/>
                </a:solidFill>
                <a:latin typeface="Calibri"/>
              </a:rPr>
              <a:t>▸  Do not clip the night before: bacterial load rises.</a:t>
            </a:r>
          </a:p>
          <a:p>
            <a:pPr algn="l">
              <a:spcAft>
                <a:spcPts val="600"/>
              </a:spcAft>
            </a:pPr>
            <a:r>
              <a:rPr sz="1300" b="0">
                <a:solidFill>
                  <a:srgbClr val="1C1C1C"/>
                </a:solidFill>
                <a:latin typeface="Calibri"/>
              </a:rPr>
              <a:t>▸  Razor = micro-nicks = higher SSI. Clipper burn is a wound.</a:t>
            </a:r>
          </a:p>
          <a:p>
            <a:pPr algn="l">
              <a:spcAft>
                <a:spcPts val="600"/>
              </a:spcAft>
            </a:pPr>
            <a:r>
              <a:rPr sz="1300" b="0">
                <a:solidFill>
                  <a:srgbClr val="1C1C1C"/>
                </a:solidFill>
                <a:latin typeface="Calibri"/>
              </a:rPr>
              <a:t>▸  Airway in and depth adequate BEFORE the clippers start.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CANNOT DESCRIBE THE FIELD, YOU ARE NOT READY TO CUT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 the field before you pick up the clippers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don’t — follow your hospital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NO SINGLE AGENT IS PERFECT; TECHNIQUE AND CONTACT TIME BEAT BRAND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 — choose with anatomy, not loyalty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Chlorhexidine</a:t>
            </a:r>
          </a:p>
        </p:txBody>
      </p:sp>
      <p:sp>
        <p:nvSpPr>
          <p:cNvPr id="11" name="TextBox 10"/>
          <p:cNvSpPr txBox="1"/>
          <p:nvPr/>
        </p:nvSpPr>
        <p:spPr>
          <a:xfrm>
            <a:off x="640080" y="1874519"/>
            <a:ext cx="3291840" cy="4023360"/>
          </a:xfrm>
          <a:prstGeom prst="rect">
            <a:avLst/>
          </a:prstGeom>
          <a:noFill/>
        </p:spPr>
        <p:txBody>
          <a:bodyPr wrap="square" anchor="t"/>
          <a:lstStyle/>
          <a:p>
            <a:pPr algn="l"/>
            <a:r>
              <a:rPr sz="1400" b="0">
                <a:solidFill>
                  <a:srgbClr val="1C1C1C"/>
                </a:solidFill>
                <a:latin typeface="Calibri"/>
              </a:rPr>
              <a:t>Broad Gram+ / Gram−, residual 24 h on skin.
Best with alcohol (CHG–alcohol).
Inactivated by organic debris if too dilute.
TOXIC to cornea. Ototoxic in the middle ear. Not for peritoneum, bladder, joints, meninges.
Do not store homemade dilute jugs.</a:t>
            </a:r>
          </a:p>
        </p:txBody>
      </p:sp>
      <p:sp>
        <p:nvSpPr>
          <p:cNvPr id="12" name="Rounded Rectangle 11"/>
          <p:cNvSpPr/>
          <p:nvPr/>
        </p:nvSpPr>
        <p:spPr>
          <a:xfrm>
            <a:off x="425196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1097280"/>
            <a:ext cx="3703320" cy="640080"/>
          </a:xfrm>
          <a:prstGeom prst="rect">
            <a:avLst/>
          </a:prstGeom>
          <a:noFill/>
        </p:spPr>
        <p:txBody>
          <a:bodyPr wrap="square" anchor="ctr"/>
          <a:lstStyle/>
          <a:p>
            <a:pPr algn="ctr"/>
            <a:r>
              <a:rPr sz="1800" b="1">
                <a:solidFill>
                  <a:srgbClr val="0B2C4A"/>
                </a:solidFill>
                <a:latin typeface="Calibri"/>
              </a:rPr>
              <a:t>Povidone-iodine</a:t>
            </a:r>
          </a:p>
        </p:txBody>
      </p:sp>
      <p:sp>
        <p:nvSpPr>
          <p:cNvPr id="15" name="TextBox 14"/>
          <p:cNvSpPr txBox="1"/>
          <p:nvPr/>
        </p:nvSpPr>
        <p:spPr>
          <a:xfrm>
            <a:off x="4480560" y="1874519"/>
            <a:ext cx="3291840" cy="4023360"/>
          </a:xfrm>
          <a:prstGeom prst="rect">
            <a:avLst/>
          </a:prstGeom>
          <a:noFill/>
        </p:spPr>
        <p:txBody>
          <a:bodyPr wrap="square" anchor="t"/>
          <a:lstStyle/>
          <a:p>
            <a:pPr algn="l"/>
            <a:r>
              <a:rPr sz="1400" b="0">
                <a:solidFill>
                  <a:srgbClr val="1C1C1C"/>
                </a:solidFill>
                <a:latin typeface="Calibri"/>
              </a:rPr>
              <a:t>Broad spectrum including spores at right conc./time.
Better near mucous membranes / some ocular protocols (dilute, veterinarian-directed).
Inactivated by organic matter and alcohol in some sequences.
Skin/thyroid/iodine sensitivity. Stains.
Must dry / contact time to work.</a:t>
            </a:r>
          </a:p>
        </p:txBody>
      </p:sp>
      <p:sp>
        <p:nvSpPr>
          <p:cNvPr id="16" name="Rounded Rectangle 15"/>
          <p:cNvSpPr/>
          <p:nvPr/>
        </p:nvSpPr>
        <p:spPr>
          <a:xfrm>
            <a:off x="809244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097280"/>
            <a:ext cx="36576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097280"/>
            <a:ext cx="3657600" cy="640080"/>
          </a:xfrm>
          <a:prstGeom prst="rect">
            <a:avLst/>
          </a:prstGeom>
          <a:noFill/>
        </p:spPr>
        <p:txBody>
          <a:bodyPr wrap="square" anchor="ctr"/>
          <a:lstStyle/>
          <a:p>
            <a:pPr algn="ctr"/>
            <a:r>
              <a:rPr sz="1800" b="1">
                <a:solidFill>
                  <a:srgbClr val="C5A35A"/>
                </a:solidFill>
                <a:latin typeface="Calibri"/>
              </a:rPr>
              <a:t>Alcohol &amp; others</a:t>
            </a:r>
          </a:p>
        </p:txBody>
      </p:sp>
      <p:sp>
        <p:nvSpPr>
          <p:cNvPr id="19" name="TextBox 18"/>
          <p:cNvSpPr txBox="1"/>
          <p:nvPr/>
        </p:nvSpPr>
        <p:spPr>
          <a:xfrm>
            <a:off x="8321040" y="1874519"/>
            <a:ext cx="3246120" cy="4023360"/>
          </a:xfrm>
          <a:prstGeom prst="rect">
            <a:avLst/>
          </a:prstGeom>
          <a:noFill/>
        </p:spPr>
        <p:txBody>
          <a:bodyPr wrap="square" anchor="t"/>
          <a:lstStyle/>
          <a:p>
            <a:pPr algn="l"/>
            <a:r>
              <a:rPr sz="1400" b="0">
                <a:solidFill>
                  <a:srgbClr val="1C1C1C"/>
                </a:solidFill>
                <a:latin typeface="Calibri"/>
              </a:rPr>
              <a:t>Isopropyl/ethyl alcohol: rapid, no residual, flammable — no pooling near cautery.
Often the ‘paint’ between CHG scrubs.
Do not use alcohol on open wounds, mucous membranes, or laser/cautery pools.
Hydrogen peroxide is not a surgical prep.</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CENTER → PERIPHERY  ·  NEW SPONGE EVERY TIME YOU LEAVE THE INCISION  ·  HONOR CONTACT TIME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How to scrub the patient</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6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600"/>
              </a:spcAft>
            </a:pPr>
            <a:r>
              <a:rPr sz="1300" b="0">
                <a:solidFill>
                  <a:srgbClr val="1C1C1C"/>
                </a:solidFill>
                <a:latin typeface="Calibri"/>
              </a:rPr>
              <a:t>▸  Dirty prep in the prep room; sterile prep in the OR.</a:t>
            </a:r>
          </a:p>
          <a:p>
            <a:pPr algn="l">
              <a:spcAft>
                <a:spcPts val="600"/>
              </a:spcAft>
            </a:pPr>
            <a:r>
              <a:rPr sz="1300" b="0">
                <a:solidFill>
                  <a:srgbClr val="1C1C1C"/>
                </a:solidFill>
                <a:latin typeface="Calibri"/>
              </a:rPr>
              <a:t>▸  Start at the planned incision. Spiral out. Never bring a dirty sponge back to the center.</a:t>
            </a:r>
          </a:p>
          <a:p>
            <a:pPr algn="l">
              <a:spcAft>
                <a:spcPts val="600"/>
              </a:spcAft>
            </a:pPr>
            <a:r>
              <a:rPr sz="1300" b="0">
                <a:solidFill>
                  <a:srgbClr val="1C1C1C"/>
                </a:solidFill>
                <a:latin typeface="Calibri"/>
              </a:rPr>
              <a:t>▸  Typical teaching: timed 3–5 min or product cycles, then a final paint. Follow the bottle in your lab.</a:t>
            </a:r>
          </a:p>
          <a:p>
            <a:pPr algn="l">
              <a:spcAft>
                <a:spcPts val="600"/>
              </a:spcAft>
            </a:pPr>
            <a:r>
              <a:rPr sz="1300" b="0">
                <a:solidFill>
                  <a:srgbClr val="1C1C1C"/>
                </a:solidFill>
                <a:latin typeface="Calibri"/>
              </a:rPr>
              <a:t>▸  Damp-to-dry, not a lake. Puddles wick bacteria and soak the patient cold.</a:t>
            </a:r>
          </a:p>
          <a:p>
            <a:pPr algn="l">
              <a:spcAft>
                <a:spcPts val="600"/>
              </a:spcAft>
            </a:pPr>
            <a:r>
              <a:rPr sz="1300" b="0">
                <a:solidFill>
                  <a:srgbClr val="1C1C1C"/>
                </a:solidFill>
                <a:latin typeface="Calibri"/>
              </a:rPr>
              <a:t>▸  CHG off the cornea and out of the middle ear — Willie’s swollen drum.</a:t>
            </a:r>
          </a:p>
          <a:p>
            <a:pPr algn="l">
              <a:spcAft>
                <a:spcPts val="600"/>
              </a:spcAft>
            </a:pPr>
            <a:r>
              <a:rPr sz="1300" b="0">
                <a:solidFill>
                  <a:srgbClr val="1C1C1C"/>
                </a:solidFill>
                <a:latin typeface="Calibri"/>
              </a:rPr>
              <a:t>▸  Hanging limb: prep from incision toward the dirty foot, never reverse.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PRESSURE, STRETCH, AND ASPIRATION LIVE HERE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Positioning is physiology, not just ‘on its back’</a:t>
            </a:r>
          </a:p>
        </p:txBody>
      </p:sp>
      <p:sp>
        <p:nvSpPr>
          <p:cNvPr id="8" name="Rounded Rectangle 7"/>
          <p:cNvSpPr/>
          <p:nvPr/>
        </p:nvSpPr>
        <p:spPr>
          <a:xfrm>
            <a:off x="41148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349240" cy="347472"/>
          </a:xfrm>
          <a:prstGeom prst="rect">
            <a:avLst/>
          </a:prstGeom>
          <a:noFill/>
        </p:spPr>
        <p:txBody>
          <a:bodyPr wrap="square" anchor="t"/>
          <a:lstStyle/>
          <a:p>
            <a:pPr algn="l"/>
            <a:r>
              <a:rPr sz="1500" b="1">
                <a:solidFill>
                  <a:srgbClr val="0B2C4A"/>
                </a:solidFill>
                <a:latin typeface="Calibri"/>
              </a:rPr>
              <a:t>Dorsal recumbency</a:t>
            </a:r>
          </a:p>
        </p:txBody>
      </p:sp>
      <p:sp>
        <p:nvSpPr>
          <p:cNvPr id="11" name="TextBox 10"/>
          <p:cNvSpPr txBox="1"/>
          <p:nvPr/>
        </p:nvSpPr>
        <p:spPr>
          <a:xfrm>
            <a:off x="667512" y="1536192"/>
            <a:ext cx="5349240" cy="1801368"/>
          </a:xfrm>
          <a:prstGeom prst="rect">
            <a:avLst/>
          </a:prstGeom>
          <a:noFill/>
        </p:spPr>
        <p:txBody>
          <a:bodyPr wrap="square" anchor="t"/>
          <a:lstStyle/>
          <a:p>
            <a:pPr algn="l"/>
            <a:r>
              <a:rPr sz="1300" b="0">
                <a:solidFill>
                  <a:srgbClr val="3D4A57"/>
                </a:solidFill>
                <a:latin typeface="Calibri"/>
              </a:rPr>
              <a:t>OHE, most celiotomies. Straight spine, hind limbs caudal not forced into a split that strains the hips of a dysplastic dog. V-trough or sandbags. Head/neck neutral for the airway.</a:t>
            </a:r>
          </a:p>
        </p:txBody>
      </p:sp>
      <p:sp>
        <p:nvSpPr>
          <p:cNvPr id="12" name="Rounded Rectangle 11"/>
          <p:cNvSpPr/>
          <p:nvPr/>
        </p:nvSpPr>
        <p:spPr>
          <a:xfrm>
            <a:off x="630936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49240" cy="347472"/>
          </a:xfrm>
          <a:prstGeom prst="rect">
            <a:avLst/>
          </a:prstGeom>
          <a:noFill/>
        </p:spPr>
        <p:txBody>
          <a:bodyPr wrap="square" anchor="t"/>
          <a:lstStyle/>
          <a:p>
            <a:pPr algn="l"/>
            <a:r>
              <a:rPr sz="1500" b="1">
                <a:solidFill>
                  <a:srgbClr val="0B2C4A"/>
                </a:solidFill>
                <a:latin typeface="Calibri"/>
              </a:rPr>
              <a:t>Lateral</a:t>
            </a:r>
          </a:p>
        </p:txBody>
      </p:sp>
      <p:sp>
        <p:nvSpPr>
          <p:cNvPr id="15" name="TextBox 14"/>
          <p:cNvSpPr txBox="1"/>
          <p:nvPr/>
        </p:nvSpPr>
        <p:spPr>
          <a:xfrm>
            <a:off x="6565392" y="1536192"/>
            <a:ext cx="5349240" cy="1801368"/>
          </a:xfrm>
          <a:prstGeom prst="rect">
            <a:avLst/>
          </a:prstGeom>
          <a:noFill/>
        </p:spPr>
        <p:txBody>
          <a:bodyPr wrap="square" anchor="t"/>
          <a:lstStyle/>
          <a:p>
            <a:pPr algn="l"/>
            <a:r>
              <a:rPr sz="1300" b="0">
                <a:solidFill>
                  <a:srgbClr val="3D4A57"/>
                </a:solidFill>
                <a:latin typeface="Calibri"/>
              </a:rPr>
              <a:t>Thoracotomy, some mass removals, GDV sometimes after decompression. Down lung, down vessels, down muscles — pad the elbow, greater trochanter, acromion.</a:t>
            </a:r>
          </a:p>
        </p:txBody>
      </p:sp>
      <p:sp>
        <p:nvSpPr>
          <p:cNvPr id="16" name="Rounded Rectangle 15"/>
          <p:cNvSpPr/>
          <p:nvPr/>
        </p:nvSpPr>
        <p:spPr>
          <a:xfrm>
            <a:off x="41148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3721608"/>
            <a:ext cx="5349240" cy="347472"/>
          </a:xfrm>
          <a:prstGeom prst="rect">
            <a:avLst/>
          </a:prstGeom>
          <a:noFill/>
        </p:spPr>
        <p:txBody>
          <a:bodyPr wrap="square" anchor="t"/>
          <a:lstStyle/>
          <a:p>
            <a:pPr algn="l"/>
            <a:r>
              <a:rPr sz="1500" b="1">
                <a:solidFill>
                  <a:srgbClr val="0B2C4A"/>
                </a:solidFill>
                <a:latin typeface="Calibri"/>
              </a:rPr>
              <a:t>Sternal / perineal</a:t>
            </a:r>
          </a:p>
        </p:txBody>
      </p:sp>
      <p:sp>
        <p:nvSpPr>
          <p:cNvPr id="19" name="TextBox 18"/>
          <p:cNvSpPr txBox="1"/>
          <p:nvPr/>
        </p:nvSpPr>
        <p:spPr>
          <a:xfrm>
            <a:off x="667512" y="4050792"/>
            <a:ext cx="5349240" cy="1801368"/>
          </a:xfrm>
          <a:prstGeom prst="rect">
            <a:avLst/>
          </a:prstGeom>
          <a:noFill/>
        </p:spPr>
        <p:txBody>
          <a:bodyPr wrap="square" anchor="t"/>
          <a:lstStyle/>
          <a:p>
            <a:pPr algn="l"/>
            <a:r>
              <a:rPr sz="1300" b="0">
                <a:solidFill>
                  <a:srgbClr val="3D4A57"/>
                </a:solidFill>
                <a:latin typeface="Calibri"/>
              </a:rPr>
              <a:t>Anal sac, some urinary, dorsal spinal. Do not over-flex the neck of brachycephalics. Purse-string the anus when indicated — and remove it at the end.</a:t>
            </a:r>
          </a:p>
        </p:txBody>
      </p:sp>
      <p:sp>
        <p:nvSpPr>
          <p:cNvPr id="20" name="Rounded Rectangle 19"/>
          <p:cNvSpPr/>
          <p:nvPr/>
        </p:nvSpPr>
        <p:spPr>
          <a:xfrm>
            <a:off x="630936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3721608"/>
            <a:ext cx="5349240" cy="347472"/>
          </a:xfrm>
          <a:prstGeom prst="rect">
            <a:avLst/>
          </a:prstGeom>
          <a:noFill/>
        </p:spPr>
        <p:txBody>
          <a:bodyPr wrap="square" anchor="t"/>
          <a:lstStyle/>
          <a:p>
            <a:pPr algn="l"/>
            <a:r>
              <a:rPr sz="1500" b="1">
                <a:solidFill>
                  <a:srgbClr val="0B2C4A"/>
                </a:solidFill>
                <a:latin typeface="Calibri"/>
              </a:rPr>
              <a:t>Padding &amp; safety</a:t>
            </a:r>
          </a:p>
        </p:txBody>
      </p:sp>
      <p:sp>
        <p:nvSpPr>
          <p:cNvPr id="23" name="TextBox 22"/>
          <p:cNvSpPr txBox="1"/>
          <p:nvPr/>
        </p:nvSpPr>
        <p:spPr>
          <a:xfrm>
            <a:off x="6565392" y="4050792"/>
            <a:ext cx="5349240" cy="1801368"/>
          </a:xfrm>
          <a:prstGeom prst="rect">
            <a:avLst/>
          </a:prstGeom>
          <a:noFill/>
        </p:spPr>
        <p:txBody>
          <a:bodyPr wrap="square" anchor="t"/>
          <a:lstStyle/>
          <a:p>
            <a:pPr algn="l"/>
            <a:r>
              <a:rPr sz="1300" b="0">
                <a:solidFill>
                  <a:srgbClr val="3D4A57"/>
                </a:solidFill>
                <a:latin typeface="Calibri"/>
              </a:rPr>
              <a:t>Hypothermia: warming devices that cannot burn. Eyes lubricated. Endotracheal tube not kinked. Electrosurgery pad contact. Ties not tourniquets.</a:t>
            </a:r>
          </a:p>
        </p:txBody>
      </p:sp>
      <p:sp>
        <p:nvSpPr>
          <p:cNvPr id="24" name="Rectangle 2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6" name="TextBox 2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LEFT PICTURE IS WRONG  ·  RIGHT PICTURE IS THE FIELD YOU ACTUALLY WANT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Four-quadrant draping — hair in the window fails the prep</a:t>
            </a:r>
          </a:p>
        </p:txBody>
      </p:sp>
      <p:sp>
        <p:nvSpPr>
          <p:cNvPr id="8" name="Rounded Rectangle 7"/>
          <p:cNvSpPr/>
          <p:nvPr/>
        </p:nvSpPr>
        <p:spPr>
          <a:xfrm>
            <a:off x="365760" y="1024128"/>
            <a:ext cx="5669280" cy="384048"/>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24128"/>
            <a:ext cx="5669280" cy="384048"/>
          </a:xfrm>
          <a:prstGeom prst="rect">
            <a:avLst/>
          </a:prstGeom>
          <a:noFill/>
        </p:spPr>
        <p:txBody>
          <a:bodyPr wrap="square" anchor="ctr"/>
          <a:lstStyle/>
          <a:p>
            <a:pPr algn="ctr"/>
            <a:r>
              <a:rPr sz="1400" b="1">
                <a:solidFill>
                  <a:srgbClr val="FFFFFF"/>
                </a:solidFill>
                <a:latin typeface="Calibri"/>
              </a:rPr>
              <a:t>WRONG — hair in the field</a:t>
            </a:r>
          </a:p>
        </p:txBody>
      </p:sp>
      <p:pic>
        <p:nvPicPr>
          <p:cNvPr id="10" name="Picture 9" descr="prep_four_quadrant_drape.png"/>
          <p:cNvPicPr>
            <a:picLocks noChangeAspect="1"/>
          </p:cNvPicPr>
          <p:nvPr/>
        </p:nvPicPr>
        <p:blipFill>
          <a:blip r:embed="rId2"/>
          <a:stretch>
            <a:fillRect/>
          </a:stretch>
        </p:blipFill>
        <p:spPr>
          <a:xfrm>
            <a:off x="365760" y="1444752"/>
            <a:ext cx="5669280" cy="3246120"/>
          </a:xfrm>
          <a:prstGeom prst="rect">
            <a:avLst/>
          </a:prstGeom>
        </p:spPr>
      </p:pic>
      <p:sp>
        <p:nvSpPr>
          <p:cNvPr id="11" name="Rounded Rectangle 10"/>
          <p:cNvSpPr/>
          <p:nvPr/>
        </p:nvSpPr>
        <p:spPr>
          <a:xfrm>
            <a:off x="6172200" y="1024128"/>
            <a:ext cx="5669280" cy="384048"/>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24128"/>
            <a:ext cx="5669280" cy="384048"/>
          </a:xfrm>
          <a:prstGeom prst="rect">
            <a:avLst/>
          </a:prstGeom>
          <a:noFill/>
        </p:spPr>
        <p:txBody>
          <a:bodyPr wrap="square" anchor="ctr"/>
          <a:lstStyle/>
          <a:p>
            <a:pPr algn="ctr"/>
            <a:r>
              <a:rPr sz="1400" b="1">
                <a:solidFill>
                  <a:srgbClr val="FFFFFF"/>
                </a:solidFill>
                <a:latin typeface="Calibri"/>
              </a:rPr>
              <a:t>CORRECT — clipped skin, hair covered</a:t>
            </a:r>
          </a:p>
        </p:txBody>
      </p:sp>
      <p:pic>
        <p:nvPicPr>
          <p:cNvPr id="13" name="Picture 12" descr="prep_four_quadrant_drape_correct.png"/>
          <p:cNvPicPr>
            <a:picLocks noChangeAspect="1"/>
          </p:cNvPicPr>
          <p:nvPr/>
        </p:nvPicPr>
        <p:blipFill>
          <a:blip r:embed="rId3"/>
          <a:stretch>
            <a:fillRect/>
          </a:stretch>
        </p:blipFill>
        <p:spPr>
          <a:xfrm>
            <a:off x="6172200" y="1444752"/>
            <a:ext cx="5669280" cy="3246120"/>
          </a:xfrm>
          <a:prstGeom prst="rect">
            <a:avLst/>
          </a:prstGeom>
        </p:spPr>
      </p:pic>
      <p:sp>
        <p:nvSpPr>
          <p:cNvPr id="14" name="Rounded Rectangle 13"/>
          <p:cNvSpPr/>
          <p:nvPr/>
        </p:nvSpPr>
        <p:spPr>
          <a:xfrm>
            <a:off x="365760" y="4828032"/>
            <a:ext cx="11475720"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956048"/>
            <a:ext cx="11155680" cy="1371600"/>
          </a:xfrm>
          <a:prstGeom prst="rect">
            <a:avLst/>
          </a:prstGeom>
          <a:noFill/>
        </p:spPr>
        <p:txBody>
          <a:bodyPr wrap="square" anchor="t"/>
          <a:lstStyle/>
          <a:p>
            <a:pPr algn="l"/>
            <a:r>
              <a:rPr sz="1500" b="0">
                <a:solidFill>
                  <a:srgbClr val="1C1C1C"/>
                </a:solidFill>
                <a:latin typeface="Calibri"/>
              </a:rPr>
              <a:t>Four towels box the field (near towel first). Hair must not show at any edge — re-clip or re-drape. Clamp without tenting skin. Large drape over towels; cuff your hands; never shake a drape over the field. Wet-through (strikethrough) is contaminated. Hands stay on the field; below table height is not sterile.</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A FOMITE UNTIL YOU ARE NOT  ·  MONITORING IS ON BEFORE THE FIRST DRUG</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prep_gown_glove_anesthesia.pn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400" b="0">
                <a:solidFill>
                  <a:srgbClr val="1C1C1C"/>
                </a:solidFill>
                <a:latin typeface="Calibri"/>
              </a:rPr>
              <a:t>Closed gloving: hands stay inside the gown cuffs while the glove is pulled on (use the inset, not a bare-hand pull). Open gloving is for replacing a contaminated glove. Cap, mask, short nails, no jewelry. Timed or brushless scrub, fingertips-up. Anesthesia: SpO2, capnograph, ECG, temperature, IV fluids, airway — on before induction. Willie needed this for an ear clean. MoMo never reached induction.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CONTAMINATE AND STAY SILENT, THE PATIENT PAYS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 — recognize, announce, fix</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(re-glove, re-gown, re-drape).
Name it once, fix it completely.
A second unrecognized break means you cannot maintain an aseptic field — stop.
This is how we protect a client-owned animal, not a game of gotcha.</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there is no free pass.
You must notice, announce, and completely correct.
If you do not, or if you correct incompletely, you have put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  ·  PATIENT SAFETY, NOT A TRIVIA LIST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Never-events — these stop the surgery</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WHICH OF THESE IS ACCEPTABLE?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preparation</a:t>
            </a:r>
          </a:p>
        </p:txBody>
      </p:sp>
      <p:sp>
        <p:nvSpPr>
          <p:cNvPr id="8" name="Rounded Rectangle 7"/>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1" name="TextBox 10"/>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2" name="TextBox 11"/>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3" name="Rounded Rectangle 12"/>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6" name="TextBox 15"/>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7" name="TextBox 16"/>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8" name="Rounded Rectangle 17"/>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1" name="TextBox 20"/>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 rinse and continue.</a:t>
            </a:r>
          </a:p>
        </p:txBody>
      </p:sp>
      <p:sp>
        <p:nvSpPr>
          <p:cNvPr id="22" name="TextBox 21"/>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immediately; do not ‘continue.’</a:t>
            </a:r>
          </a:p>
        </p:txBody>
      </p:sp>
      <p:sp>
        <p:nvSpPr>
          <p:cNvPr id="23" name="Rounded Rectangle 22"/>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6" name="TextBox 25"/>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Hair visible at the drape edge; you add another towel to cover it.</a:t>
            </a:r>
          </a:p>
        </p:txBody>
      </p:sp>
      <p:sp>
        <p:nvSpPr>
          <p:cNvPr id="27" name="TextBox 26"/>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 if the added drape is sterile and the field is truly covered. Best is an adequate clip.</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44–57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~13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AIRWAY, BREATHING, CIRCULATION, TEMPERATURE, PAIN — THEN THE KENNEL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 — stay with the patient</a:t>
            </a:r>
          </a:p>
        </p:txBody>
      </p:sp>
      <p:pic>
        <p:nvPicPr>
          <p:cNvPr id="8" name="Picture 7" descr="postop_recovery_monitoring.pn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600" b="1">
                <a:solidFill>
                  <a:srgbClr val="0B2C4A"/>
                </a:solidFill>
                <a:latin typeface="Calibri"/>
              </a:rPr>
              <a:t>Do not leave</a:t>
            </a:r>
          </a:p>
        </p:txBody>
      </p:sp>
      <p:sp>
        <p:nvSpPr>
          <p:cNvPr id="11" name="TextBox 10"/>
          <p:cNvSpPr txBox="1"/>
          <p:nvPr/>
        </p:nvSpPr>
        <p:spPr>
          <a:xfrm>
            <a:off x="8001000" y="1600200"/>
            <a:ext cx="3703320" cy="4617720"/>
          </a:xfrm>
          <a:prstGeom prst="rect">
            <a:avLst/>
          </a:prstGeom>
          <a:noFill/>
        </p:spPr>
        <p:txBody>
          <a:bodyPr wrap="square">
            <a:spAutoFit/>
          </a:bodyPr>
          <a:lstStyle/>
          <a:p>
            <a:pPr algn="l">
              <a:spcAft>
                <a:spcPts val="600"/>
              </a:spcAft>
            </a:pPr>
            <a:r>
              <a:rPr sz="1300" b="0">
                <a:solidFill>
                  <a:srgbClr val="1C1C1C"/>
                </a:solidFill>
                <a:latin typeface="Calibri"/>
              </a:rPr>
              <a:t>▸  Extubate when swallow/gag returns (later in brachycephalics).</a:t>
            </a:r>
          </a:p>
          <a:p>
            <a:pPr algn="l">
              <a:spcAft>
                <a:spcPts val="600"/>
              </a:spcAft>
            </a:pPr>
            <a:r>
              <a:rPr sz="1300" b="0">
                <a:solidFill>
                  <a:srgbClr val="1C1C1C"/>
                </a:solidFill>
                <a:latin typeface="Calibri"/>
              </a:rPr>
              <a:t>▸  SpO2, mm, CRT, pulse. Pale + tachycardia after celiotomy = hemorrhage until proven otherwise.</a:t>
            </a:r>
          </a:p>
          <a:p>
            <a:pPr algn="l">
              <a:spcAft>
                <a:spcPts val="600"/>
              </a:spcAft>
            </a:pPr>
            <a:r>
              <a:rPr sz="1300" b="0">
                <a:solidFill>
                  <a:srgbClr val="1C1C1C"/>
                </a:solidFill>
                <a:latin typeface="Calibri"/>
              </a:rPr>
              <a:t>▸  Rewarm; do not burn.</a:t>
            </a:r>
          </a:p>
          <a:p>
            <a:pPr algn="l">
              <a:spcAft>
                <a:spcPts val="600"/>
              </a:spcAft>
            </a:pPr>
            <a:r>
              <a:rPr sz="1300" b="0">
                <a:solidFill>
                  <a:srgbClr val="1C1C1C"/>
                </a:solidFill>
                <a:latin typeface="Calibri"/>
              </a:rPr>
              <a:t>▸  Score pain. Give the analgesic you planned. Willie: no NSAID after DexSP.</a:t>
            </a:r>
          </a:p>
          <a:p>
            <a:pPr algn="l">
              <a:spcAft>
                <a:spcPts val="600"/>
              </a:spcAft>
            </a:pPr>
            <a:r>
              <a:rPr sz="1300" b="0">
                <a:solidFill>
                  <a:srgbClr val="1C1C1C"/>
                </a:solidFill>
                <a:latin typeface="Calibri"/>
              </a:rPr>
              <a:t>▸  E-collar on before they can lick.</a:t>
            </a:r>
          </a:p>
          <a:p>
            <a:pPr algn="l">
              <a:spcAft>
                <a:spcPts val="600"/>
              </a:spcAft>
            </a:pPr>
            <a:r>
              <a:rPr sz="1300" b="0">
                <a:solidFill>
                  <a:srgbClr val="1C1C1C"/>
                </a:solidFill>
                <a:latin typeface="Calibri"/>
              </a:rPr>
              <a:t>▸  A ‘quiet’ animal may be cold, hypotensive, or painful.</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WRITTEN, IT WAS NOT DONE  ·  TEACHING FORM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Postoperative flowsheet — first 2 hours</a:t>
            </a:r>
          </a:p>
        </p:txBody>
      </p:sp>
      <p:pic>
        <p:nvPicPr>
          <p:cNvPr id="8" name="Picture 7" descr="recovery_flowsheet.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SCORE IT, YOU WILL NOT TREAT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 is a vital sign</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Use a scale. Write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Treat to the surgery you did</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 CRIs, additional locals,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PROTECT THE APPOSITION YOU JUST CREATED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incision after you leave it</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Look</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Twice daily: swelling, discharge, gapping, smell, heat, bruise vs. hematoma. Photograph if the client is anxious.</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Lick</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E-collar, suit, or inflatable — whatever actually stays on. Licking is the leading cause of dehiscence in student surgeries.</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Motion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Leash only. No running, jumping, wrestling, stairs unsupervised. Exercise restriction is a prescription, not a suggestion.</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Clean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Usually no topical ointment unless directed. Do not scrub with CHG daily. Clean dirt with saline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Drain</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If placed: record output, site, and when to pull. Never send a drain without a written plan.</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Suture/staple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Typically 10–14 days for skin in small animals if healing is routine. Absorbable intradermal: still recheck.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HERNIA, AND DEHISCENCE SHOW UP AFTER YOU HAVE GONE HOME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first 24 hours — what fails a surgery after the OR</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vs. fascia — fascia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NEXT DOCTOR AT 2 A.M. IS YOUR AUDIENCE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 — if it is not written, it was not done</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Why the next doctor cares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
Operate as if that night-call is tonight.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 — in the client’s language</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 specific, timed (e.g., 14 days leash-only).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THE CLIENT CANNOT REPEAT THESE, YOU DID NOT DISCHARGE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When to come back tonight — teach this verbatim</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SURGERY IS A WHOLE-PATIENT EVENT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the rest of the animal</a:t>
            </a:r>
          </a:p>
        </p:txBody>
      </p:sp>
      <p:sp>
        <p:nvSpPr>
          <p:cNvPr id="8" name="Rounded Rectangle 7"/>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1" name="TextBox 10"/>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2" name="Rounded Rectangle 11"/>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5" name="TextBox 14"/>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 do not ‘wait and see’ for days. Consider mirtazapine/capromorelin as directed.</a:t>
            </a:r>
          </a:p>
        </p:txBody>
      </p:sp>
      <p:sp>
        <p:nvSpPr>
          <p:cNvPr id="16" name="Rounded Rectangle 15"/>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9" name="TextBox 18"/>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 do not assume the crate is fine.</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FIELD SURGERY IS STILL HALSTED; IT IS NOT AN EXCUSE TO SKIP CLIP, GLOVES, AND A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 same principles, different dirt</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THE SURGEON. THE OWNER IS IN RECEPTION.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Walk Willie through the whole hour</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500" b="0">
                <a:solidFill>
                  <a:srgbClr val="0B2C4A"/>
                </a:solidFill>
                <a:latin typeface="Calibri"/>
              </a:rPr>
              <a:t>Willie, 6 y 11 mo MN Cavalier, 13.7 kg. Acute vestibular crisis. Severe AS otitis, TM visible/swollen. Circling left, nystagmus fast-left, right knuckling. Grade II murmur. CBC WNL. This is ASA III-E. Client-owned.</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200" b="0">
                <a:solidFill>
                  <a:srgbClr val="1C1C1C"/>
                </a:solidFill>
                <a:latin typeface="Calibri"/>
              </a:rPr>
              <a:t>ASA III-E. Neuro exam. No NSAID (DexSP). IVF, Cerenia, meclizine. Culture the ear. Radiographs ≠ MRI. Central until proven otherwise.</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200" b="0">
                <a:solidFill>
                  <a:srgbClr val="1C1C1C"/>
                </a:solidFill>
                <a:latin typeface="Calibri"/>
              </a:rPr>
              <a:t>Alfaxalone only after a surgical plane. Clip/prep the ear if you flush. CHG off the eye and drum. Pad him — he falls. Maintain the airway.</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200" b="0">
                <a:solidFill>
                  <a:srgbClr val="1C1C1C"/>
                </a:solidFill>
                <a:latin typeface="Calibri"/>
              </a:rPr>
              <a:t>Deep clean + cytology. Timeout. If you contaminate, say it. Do not treat this like a 20-minute spay.</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200" b="0">
                <a:solidFill>
                  <a:srgbClr val="1C1C1C"/>
                </a:solidFill>
                <a:latin typeface="Calibri"/>
              </a:rPr>
              <a:t>Confine, no stairs. Watch neuro signs, vomiting, seizures. MRI next. TECA-LBO only after culture if medical therapy fails. You own hour 23.</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BOTH ARE PREOPERATIVE EVALUATION  ·  ONLY ONE REACHES THE CLIPPERS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Same hour, opposite decisions</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47472"/>
          </a:xfrm>
          <a:prstGeom prst="rect">
            <a:avLst/>
          </a:prstGeom>
          <a:noFill/>
        </p:spPr>
        <p:txBody>
          <a:bodyPr wrap="square" anchor="t"/>
          <a:lstStyle/>
          <a:p>
            <a:pPr algn="l"/>
            <a:r>
              <a:rPr sz="1500" b="1">
                <a:solidFill>
                  <a:srgbClr val="0B2C4A"/>
                </a:solidFill>
                <a:latin typeface="Calibri"/>
              </a:rPr>
              <a:t>Willie — ASA III-E — proceed (sedation)</a:t>
            </a:r>
          </a:p>
        </p:txBody>
      </p:sp>
      <p:sp>
        <p:nvSpPr>
          <p:cNvPr id="11" name="TextBox 10"/>
          <p:cNvSpPr txBox="1"/>
          <p:nvPr/>
        </p:nvSpPr>
        <p:spPr>
          <a:xfrm>
            <a:off x="667512" y="1536192"/>
            <a:ext cx="5257800" cy="4498848"/>
          </a:xfrm>
          <a:prstGeom prst="rect">
            <a:avLst/>
          </a:prstGeom>
          <a:noFill/>
        </p:spPr>
        <p:txBody>
          <a:bodyPr wrap="square" anchor="t"/>
          <a:lstStyle/>
          <a:p>
            <a:pPr algn="l"/>
            <a:r>
              <a:rPr sz="1300" b="0">
                <a:solidFill>
                  <a:srgbClr val="3D4A57"/>
                </a:solidFill>
                <a:latin typeface="Calibri"/>
              </a:rPr>
              <a:t>Cavalier, 13.7 kg. Acute vestibular + AS otitis + murmur. Compensated. Fill the anesthesia record. Alfaxalone, monitoring, ear clean, no NSAID after DexSP. Own the next 24 hours. MRI / possible TECA-LBO later — that future surgery still needs a new ASA that day.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47472"/>
          </a:xfrm>
          <a:prstGeom prst="rect">
            <a:avLst/>
          </a:prstGeom>
          <a:noFill/>
        </p:spPr>
        <p:txBody>
          <a:bodyPr wrap="square" anchor="t"/>
          <a:lstStyle/>
          <a:p>
            <a:pPr algn="l"/>
            <a:r>
              <a:rPr sz="1500" b="1">
                <a:solidFill>
                  <a:srgbClr val="0B2C4A"/>
                </a:solidFill>
                <a:latin typeface="Calibri"/>
              </a:rPr>
              <a:t>MoMo — ASA IV-E — do not induce</a:t>
            </a:r>
          </a:p>
        </p:txBody>
      </p:sp>
      <p:sp>
        <p:nvSpPr>
          <p:cNvPr id="15" name="TextBox 14"/>
          <p:cNvSpPr txBox="1"/>
          <p:nvPr/>
        </p:nvSpPr>
        <p:spPr>
          <a:xfrm>
            <a:off x="6428232" y="1536192"/>
            <a:ext cx="5257800" cy="4498848"/>
          </a:xfrm>
          <a:prstGeom prst="rect">
            <a:avLst/>
          </a:prstGeom>
          <a:noFill/>
        </p:spPr>
        <p:txBody>
          <a:bodyPr wrap="square" anchor="t"/>
          <a:lstStyle/>
          <a:p>
            <a:pPr algn="l"/>
            <a:r>
              <a:rPr sz="1300" b="0">
                <a:solidFill>
                  <a:srgbClr val="3D4A57"/>
                </a:solidFill>
                <a:latin typeface="Calibri"/>
              </a:rPr>
              <a:t>DSH, 4.25 kg. Vomiting that looked like FB. Labs + POCUS + AUS: structural renal disease, creatinine 3.0 → 4.71 on fluids. Exploratory cancelled. NSAIDs contraindicated. Record the decision. Supportive care vs referral vs euthanasia is still a surgical conversation — you just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REMEMBER SIX THINGS, REMEMBER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Key points from this hour</a:t>
            </a:r>
          </a:p>
        </p:txBody>
      </p:sp>
      <p:sp>
        <p:nvSpPr>
          <p:cNvPr id="8" name="Rounded Rectangle 7"/>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1" name="TextBox 10"/>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Willie is III-E (sedate with a plan). MoMo is IV-E (do not explore).</a:t>
            </a:r>
          </a:p>
        </p:txBody>
      </p:sp>
      <p:sp>
        <p:nvSpPr>
          <p:cNvPr id="12" name="Rounded Rectangle 11"/>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5" name="TextBox 14"/>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Imaging and serial creatinine can cancel a surgery. That is a successful preoperative evaluation.</a:t>
            </a:r>
          </a:p>
        </p:txBody>
      </p:sp>
      <p:sp>
        <p:nvSpPr>
          <p:cNvPr id="16" name="Rounded Rectangle 15"/>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9" name="TextBox 18"/>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 Fill the anesthesia record and the 2-hour recovery sheet.</a:t>
            </a:r>
          </a:p>
        </p:txBody>
      </p:sp>
      <p:sp>
        <p:nvSpPr>
          <p:cNvPr id="20" name="Rounded Rectangle 19"/>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3" name="TextBox 22"/>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Clip after induction, #40, not razor; spiral prep center → out; hair in the drape window fails the prep.</a:t>
            </a:r>
          </a:p>
        </p:txBody>
      </p:sp>
      <p:sp>
        <p:nvSpPr>
          <p:cNvPr id="24" name="Rounded Rectangle 23"/>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7" name="TextBox 26"/>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Closed glove; CHG off the cornea and out of the middle ear; announce contamination.</a:t>
            </a:r>
          </a:p>
        </p:txBody>
      </p:sp>
      <p:sp>
        <p:nvSpPr>
          <p:cNvPr id="28" name="Rounded Rectangle 27"/>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1" name="TextBox 30"/>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the first 24 hours still count.</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PREPARE THE PATIENT. PREPARE YOURSELF. OWN THE NEXT 24 HOURS.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Take-home</a:t>
            </a:r>
          </a:p>
        </p:txBody>
      </p:sp>
      <p:sp>
        <p:nvSpPr>
          <p:cNvPr id="8" name="Rounded Rectangle 7"/>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refer — or not to operate.
Patient and surgeon preparation is teachable and unforgiving — technique, not luck, prevents SSI.
Postoperative care is part of the operation: pain, warmth, the incision, the record, and the client.
Halsted does not stop when the last throw is buried.</a:t>
            </a:r>
          </a:p>
        </p:txBody>
      </p:sp>
      <p:sp>
        <p:nvSpPr>
          <p:cNvPr id="10" name="Rectangle 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2" name="TextBox 1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SOURCES USED IN THIS LECTURE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a:t>
            </a:r>
          </a:p>
        </p:txBody>
      </p:sp>
      <p:sp>
        <p:nvSpPr>
          <p:cNvPr id="8" name="TextBox 7"/>
          <p:cNvSpPr txBox="1"/>
          <p:nvPr/>
        </p:nvSpPr>
        <p:spPr>
          <a:xfrm>
            <a:off x="457200" y="1051560"/>
            <a:ext cx="11155680" cy="5120640"/>
          </a:xfrm>
          <a:prstGeom prst="rect">
            <a:avLst/>
          </a:prstGeom>
          <a:noFill/>
        </p:spPr>
        <p:txBody>
          <a:bodyPr wrap="square">
            <a:spAutoFit/>
          </a:bodyPr>
          <a:lstStyle/>
          <a:p>
            <a:pPr algn="l">
              <a:spcAft>
                <a:spcPts val="800"/>
              </a:spcAft>
            </a:pPr>
            <a:r>
              <a:rPr sz="1500" b="0">
                <a:solidFill>
                  <a:srgbClr val="1C1C1C"/>
                </a:solidFill>
                <a:latin typeface="Calibri"/>
              </a:rPr>
              <a:t>▸  Fossum T.W. Small Animal Surgery. 5th ed. Elsevier; 2018. Preoperative evaluation, patient preparation, postoperative care.</a:t>
            </a:r>
          </a:p>
          <a:p>
            <a:pPr algn="l">
              <a:spcAft>
                <a:spcPts val="800"/>
              </a:spcAft>
            </a:pPr>
            <a:r>
              <a:rPr sz="1500" b="0">
                <a:solidFill>
                  <a:srgbClr val="1C1C1C"/>
                </a:solidFill>
                <a:latin typeface="Calibri"/>
              </a:rPr>
              <a:t>▸  Hendrickson D.A., Baird A.N. Turner and McIlwraith’s Techniques in Large Animal Surgery. 4th ed. Wiley-Blackwell; 2013.</a:t>
            </a:r>
          </a:p>
          <a:p>
            <a:pPr algn="l">
              <a:spcAft>
                <a:spcPts val="800"/>
              </a:spcAft>
            </a:pPr>
            <a:r>
              <a:rPr sz="1500" b="0">
                <a:solidFill>
                  <a:srgbClr val="1C1C1C"/>
                </a:solidFill>
                <a:latin typeface="Calibri"/>
              </a:rPr>
              <a:t>▸  Johnston S.A., Tobias K.M. Veterinary Surgery: Small Animal. 2nd ed. Elsevier; 2017.</a:t>
            </a:r>
          </a:p>
          <a:p>
            <a:pPr algn="l">
              <a:spcAft>
                <a:spcPts val="800"/>
              </a:spcAft>
            </a:pPr>
            <a:r>
              <a:rPr sz="1500" b="0">
                <a:solidFill>
                  <a:srgbClr val="1C1C1C"/>
                </a:solidFill>
                <a:latin typeface="Calibri"/>
              </a:rPr>
              <a:t>▸  AAHA/AAFP Antimicrobial Stewardship Guidelines, 2022 — surgical prophylaxis.</a:t>
            </a:r>
          </a:p>
          <a:p>
            <a:pPr algn="l">
              <a:spcAft>
                <a:spcPts val="800"/>
              </a:spcAft>
            </a:pPr>
            <a:r>
              <a:rPr sz="1500" b="0">
                <a:solidFill>
                  <a:srgbClr val="1C1C1C"/>
                </a:solidFill>
                <a:latin typeface="Calibri"/>
              </a:rPr>
              <a:t>▸  AAHA Anesthesia and Monitoring Guidelines (current edition) — fasting, PE, monitoring, recovery.</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PRINCIPLES OF SURGERY</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1097280"/>
          </a:xfrm>
          <a:prstGeom prst="rect">
            <a:avLst/>
          </a:prstGeom>
          <a:noFill/>
        </p:spPr>
        <p:txBody>
          <a:bodyPr wrap="square" anchor="t"/>
          <a:lstStyle/>
          <a:p>
            <a:pPr algn="l"/>
            <a:r>
              <a:rPr sz="1800" b="0">
                <a:solidFill>
                  <a:srgbClr val="F4EBD3"/>
                </a:solidFill>
                <a:latin typeface="Calibri"/>
              </a:rPr>
              <a:t>If there are no questions: why was Willie ASA III-E and MoMo ASA IV-E —
and why did only one of them get anesthetized?</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Dr. Yujin Kim, D.V.M., Ph.D., FFCP  ·  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