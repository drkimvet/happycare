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Next two slides: CBC/chem and EPOC numbers mapped onto ASA Status. They inform the number; they do not replace the 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Do not call a venous pO2 of 33 an arterial Status 4. Whole-patient Status was still 4-E from the kidneys. Willie did not need an EPOC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adequate anesthetic depth — the patient wakes, contaminates, and is lacerated. Step 5: they will mix 10% PVP-I 1 to 20 to 1 to 50 for mucosa and eye. That is not a client instruction; it is their job.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a real clip in progress and still too narrow — that is the teaching point. Right photo is a real 24-hour OHE: the clip is the field you needed yesterday. Willie: TECA field is pinna and skull, not abdomen. MoMo never reached clippers.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and have them write the arithmetic. You are not teaching a client handout. Stock is 10% povidone-iodine solution. For mucosa, conjunctiva, and prepuce they dilute that solution — never the 7.5% detergent scrub — one part in twenty to one part in fifty with sterile saline. 1 mL + 19 mL = 1:20 = 0.5%. 1 mL + 49 mL = 1:50 = 0.2%, the classic canine ocular dilution (Roberts, AJVR 1986). Intact skin is labeled 10% solution or 7.5% scrub; do not invent a skin dilution. Chlorhexidine 2–4% with alcohol is the default for intact trunk skin and destroys cornea and middle ear. Willie has a swollen tympanum — that is not a chlorhexidine ear, and aminoglycoside ointment is not a casual choice if the middle ear is involved. Do not mix CHG and iodine. Do not call PVP-I sporicidal at surgical contact times. Organic matter inactivates iodine; dirty prep first, then sterile prep with contact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Have one student recite the iodine arithmetic before you leave this slide. No open-license spiral-prep photograph was available; this stays a diagram. Real clip, drape, anesthesia, and recovery photos are adjacent.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dog in dorsal recumbency. Point: airway and monitoring are on before the clip. Over-splitting femurs is a student habit. GDV positioning can worsen caval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gown/mask/drape are present, but hair is still at the window — that is the fail. Right is a real sterile field.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closed gloving. Students name SpO2, ETCO2, ECG, temp, fluids off the real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arithmetic they must leave with. Hair at the drape edge is still a fail on the draping photographs — salvage with a sterile towel is not the standard; an adequate clip 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24-hour OHE. Licking and unsupervised running are the two discharge failures I see after otherwise adequate closure. Be concrete: no off-leash activity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then the iodine arithmetic — 1 to 20 to 1 to 50.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617720"/>
            <a:ext cx="10972800" cy="411480"/>
          </a:xfrm>
          <a:prstGeom prst="rect">
            <a:avLst/>
          </a:prstGeom>
          <a:noFill/>
        </p:spPr>
        <p:txBody>
          <a:bodyPr wrap="square" anchor="t"/>
          <a:lstStyle/>
          <a:p>
            <a:pPr algn="l"/>
            <a:r>
              <a:rPr sz="2200" b="1">
                <a:solidFill>
                  <a:srgbClr val="C5A35A"/>
                </a:solidFill>
                <a:latin typeface="Calibri"/>
              </a:rPr>
              <a:t>Dr. Yujin Kim, D.V.M., Ph.D., FFCP</a:t>
            </a:r>
          </a:p>
        </p:txBody>
      </p:sp>
      <p:sp>
        <p:nvSpPr>
          <p:cNvPr id="9" name="TextBox 8"/>
          <p:cNvSpPr txBox="1"/>
          <p:nvPr/>
        </p:nvSpPr>
        <p:spPr>
          <a:xfrm>
            <a:off x="685800" y="5029200"/>
            <a:ext cx="10972800" cy="320040"/>
          </a:xfrm>
          <a:prstGeom prst="rect">
            <a:avLst/>
          </a:prstGeom>
          <a:noFill/>
        </p:spPr>
        <p:txBody>
          <a:bodyPr wrap="square" anchor="t"/>
          <a:lstStyle/>
          <a:p>
            <a:pPr algn="l"/>
            <a:r>
              <a:rPr sz="1600" b="0">
                <a:solidFill>
                  <a:srgbClr val="F4EBD3"/>
                </a:solidFill>
                <a:latin typeface="Calibri"/>
              </a:rPr>
              <a:t>Lecture  |  60 minutes</a:t>
            </a:r>
          </a:p>
        </p:txBody>
      </p:sp>
      <p:sp>
        <p:nvSpPr>
          <p:cNvPr id="10" name="TextBox 9"/>
          <p:cNvSpPr txBox="1"/>
          <p:nvPr/>
        </p:nvSpPr>
        <p:spPr>
          <a:xfrm>
            <a:off x="685800" y="539496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1" name="TextBox 10"/>
          <p:cNvSpPr txBox="1"/>
          <p:nvPr/>
        </p:nvSpPr>
        <p:spPr>
          <a:xfrm>
            <a:off x="685800" y="6053328"/>
            <a:ext cx="10972800" cy="292608"/>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2" name="TextBox 11"/>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correct antiseptic concentrations (including povidone-iodine 1 to 20 to 1 to 50),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clinician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 — this is the wording to memorize</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 vestibular +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WORKING TEACHING TABLE  ·  THESE BANDS INFORM STATUS; THEY DO NOT ASSIGN IT BY THEMSELVES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THE PHYSICAL EXAM STILL OWNS THE NUMBER.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Put both patients on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 labs look quieter than the dog</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 mild ↑ (Status 2).
Glucose 130 — stress (Status 2 band).
Kidneys, liver, electrolytes normal.
No EPOC indicated for this ear clean.
ASA Status 3-E anyway: acute vestibular disease, severe AS otitis, murmur. An unremarkable chemistry does not down-stage a neurologic patient.</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 labs and EPOC support Status 4-E</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~26K with neutrophilia — Status 3–4 inflammatory band.
Platelets 74 K — Status 3.
Creatinine 3.0 → 4.71; BUN 49.7 → 100 — Status 4 (severe ↑ + uremia).
Phosphorus 8.0 — Status 3–4.
EPOC pH 7.255 (Status 3); BE −7.4 (Status 2); lactate 2.05 (Status 1).
Venous pO2 33 is not arterial hypoxemia.
Whole patient = Status 4-E.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used in some hospitals; be able to discuss aspiration versus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Urinary incontinence after OHE is a real risk in some bitches, especially large-breed — quote it; do not omit it and do not inflate it.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then sterile prep. Contact time. Intact skin: labeled CHG or 10% PVP-I. Mucosa/eye: 1 to 20 to 1 to 50.</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Mucosa/eye: PVP-I 1 to 20 – 1 to 50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PHOTOGRAPHS  ·  #40 CLIPPER, NOT RAZOR  ·  FIELD WIDE ENOUGH TO EXTEND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Too narrow — hair still at the margin</a:t>
            </a:r>
          </a:p>
        </p:txBody>
      </p:sp>
      <p:pic>
        <p:nvPicPr>
          <p:cNvPr id="10" name="Picture 9" descr="clip_cat.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24 h after OHE — this is the clip you needed</a:t>
            </a:r>
          </a:p>
        </p:txBody>
      </p:sp>
      <p:pic>
        <p:nvPicPr>
          <p:cNvPr id="13" name="Picture 12" descr="spay_incision.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Xiphoid, or slightly cranial to it, to the pubis, and widely lateral past the nipples — a rectangle, not a narrow strip of hair. Clip with the grain, then against, to the skin. Vacuum. Approximately 20 cm beyond the planned incision. Do not clip the night before. Razors create micro-nicks and raise SSI risk. Airway in and a surgical plane before the clippers start.
Photos: Uwe Gille, CC0 (cat clip); Liannadavis, CC BY-SA 4.0 (OHE incision).</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THIS IS DVM 612, NOT A CLIENT HANDOUT. YOU ARE THE VETERINARIAN AT THE 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you mix the iodine. Memorize the ratio.</a:t>
            </a:r>
          </a:p>
        </p:txBody>
      </p:sp>
      <p:sp>
        <p:nvSpPr>
          <p:cNvPr id="8" name="Rounded Rectangle 7"/>
          <p:cNvSpPr/>
          <p:nvPr/>
        </p:nvSpPr>
        <p:spPr>
          <a:xfrm>
            <a:off x="365760" y="987552"/>
            <a:ext cx="11448288" cy="1298448"/>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155680" cy="384048"/>
          </a:xfrm>
          <a:prstGeom prst="rect">
            <a:avLst/>
          </a:prstGeom>
          <a:noFill/>
        </p:spPr>
        <p:txBody>
          <a:bodyPr wrap="square" anchor="ctr"/>
          <a:lstStyle/>
          <a:p>
            <a:pPr algn="ctr"/>
            <a:r>
              <a:rPr sz="1600" b="1">
                <a:solidFill>
                  <a:srgbClr val="0B2C4A"/>
                </a:solidFill>
                <a:latin typeface="Calibri"/>
              </a:rPr>
              <a:t>10% povidone-iodine SOLUTION  ·  mucosa, conjunctiva, prepuce  ·  dilute  1 to 20  through  1 to 50  in sterile saline</a:t>
            </a:r>
          </a:p>
        </p:txBody>
      </p:sp>
      <p:sp>
        <p:nvSpPr>
          <p:cNvPr id="10" name="TextBox 9"/>
          <p:cNvSpPr txBox="1"/>
          <p:nvPr/>
        </p:nvSpPr>
        <p:spPr>
          <a:xfrm>
            <a:off x="502920" y="1389888"/>
            <a:ext cx="11155680" cy="804672"/>
          </a:xfrm>
          <a:prstGeom prst="rect">
            <a:avLst/>
          </a:prstGeom>
          <a:noFill/>
        </p:spPr>
        <p:txBody>
          <a:bodyPr wrap="square" anchor="t"/>
          <a:lstStyle/>
          <a:p>
            <a:pPr algn="ctr"/>
            <a:r>
              <a:rPr sz="1400" b="0">
                <a:solidFill>
                  <a:srgbClr val="1C1C1C"/>
                </a:solidFill>
                <a:latin typeface="Calibri"/>
              </a:rPr>
              <a:t>1 mL stock + 19 mL saline = 1:20 = 0.5% PVP-I        ·        1 mL stock + 49 mL saline = 1:50 = 0.2% PVP-I
1:50 is the evidence-based canine ocular dilution. Do not use 1:2 (5%) on cornea. Never put the 7.5% detergent scrub in an eye.</a:t>
            </a:r>
          </a:p>
        </p:txBody>
      </p:sp>
      <p:sp>
        <p:nvSpPr>
          <p:cNvPr id="11" name="Rounded Rectangle 10"/>
          <p:cNvSpPr/>
          <p:nvPr/>
        </p:nvSpPr>
        <p:spPr>
          <a:xfrm>
            <a:off x="365760"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395728"/>
            <a:ext cx="3749039" cy="457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395728"/>
            <a:ext cx="3749039" cy="457200"/>
          </a:xfrm>
          <a:prstGeom prst="rect">
            <a:avLst/>
          </a:prstGeom>
          <a:noFill/>
        </p:spPr>
        <p:txBody>
          <a:bodyPr wrap="square" anchor="ctr"/>
          <a:lstStyle/>
          <a:p>
            <a:pPr algn="ctr"/>
            <a:r>
              <a:rPr sz="1600" b="1">
                <a:solidFill>
                  <a:srgbClr val="FFFFFF"/>
                </a:solidFill>
                <a:latin typeface="Calibri"/>
              </a:rPr>
              <a:t>Chlorhexidine</a:t>
            </a:r>
          </a:p>
        </p:txBody>
      </p:sp>
      <p:sp>
        <p:nvSpPr>
          <p:cNvPr id="14" name="TextBox 13"/>
          <p:cNvSpPr txBox="1"/>
          <p:nvPr/>
        </p:nvSpPr>
        <p:spPr>
          <a:xfrm>
            <a:off x="502920" y="2944368"/>
            <a:ext cx="3474720" cy="3337560"/>
          </a:xfrm>
          <a:prstGeom prst="rect">
            <a:avLst/>
          </a:prstGeom>
          <a:noFill/>
        </p:spPr>
        <p:txBody>
          <a:bodyPr wrap="square" anchor="t"/>
          <a:lstStyle/>
          <a:p>
            <a:pPr algn="l"/>
            <a:r>
              <a:rPr sz="1300" b="0">
                <a:solidFill>
                  <a:srgbClr val="1C1C1C"/>
                </a:solidFill>
                <a:latin typeface="Calibri"/>
              </a:rPr>
              <a:t>Default for intact haired skin: 2–4% CHG, usually with 70% alcohol. Hours of residual activity.
Rinse gross debris first. Anionic soaps reduce activity.
Destroys cornea. Ototoxic in the middle ear. Not for meninges, synovium, or open viscera.
Do not mix with povidone-iodine on the same field.
Do not store homemade dilute jugs (outbreak risk).</a:t>
            </a:r>
          </a:p>
        </p:txBody>
      </p:sp>
      <p:sp>
        <p:nvSpPr>
          <p:cNvPr id="15" name="Rounded Rectangle 14"/>
          <p:cNvSpPr/>
          <p:nvPr/>
        </p:nvSpPr>
        <p:spPr>
          <a:xfrm>
            <a:off x="4224528"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4528" y="2395728"/>
            <a:ext cx="3749039" cy="457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2395728"/>
            <a:ext cx="3749039" cy="457200"/>
          </a:xfrm>
          <a:prstGeom prst="rect">
            <a:avLst/>
          </a:prstGeom>
          <a:noFill/>
        </p:spPr>
        <p:txBody>
          <a:bodyPr wrap="square" anchor="ctr"/>
          <a:lstStyle/>
          <a:p>
            <a:pPr algn="ctr"/>
            <a:r>
              <a:rPr sz="1600" b="1">
                <a:solidFill>
                  <a:srgbClr val="0B2C4A"/>
                </a:solidFill>
                <a:latin typeface="Calibri"/>
              </a:rPr>
              <a:t>Povidone-iodine</a:t>
            </a:r>
          </a:p>
        </p:txBody>
      </p:sp>
      <p:sp>
        <p:nvSpPr>
          <p:cNvPr id="18" name="TextBox 17"/>
          <p:cNvSpPr txBox="1"/>
          <p:nvPr/>
        </p:nvSpPr>
        <p:spPr>
          <a:xfrm>
            <a:off x="4361688" y="2944368"/>
            <a:ext cx="3474720" cy="3337560"/>
          </a:xfrm>
          <a:prstGeom prst="rect">
            <a:avLst/>
          </a:prstGeom>
          <a:noFill/>
        </p:spPr>
        <p:txBody>
          <a:bodyPr wrap="square" anchor="t"/>
          <a:lstStyle/>
          <a:p>
            <a:pPr algn="l"/>
            <a:r>
              <a:rPr sz="1300" b="0">
                <a:solidFill>
                  <a:srgbClr val="1C1C1C"/>
                </a:solidFill>
                <a:latin typeface="Calibri"/>
              </a:rPr>
              <a:t>Intact skin: 10% solution or 7.5% scrub, used as labeled. Do not invent a skin dilution.
Mucosa / eye / prepuce: 10% SOLUTION only, 1 to 20 to 1 to 50, as above.
Organic matter inactivates it — that is why the dirty prep comes first.
Contact time 2–5 minutes; allow to dry.
Not sporicidal at surgical contact times. Iodine hypersensitivity. Stains.</a:t>
            </a:r>
          </a:p>
        </p:txBody>
      </p:sp>
      <p:sp>
        <p:nvSpPr>
          <p:cNvPr id="19" name="Rounded Rectangle 18"/>
          <p:cNvSpPr/>
          <p:nvPr/>
        </p:nvSpPr>
        <p:spPr>
          <a:xfrm>
            <a:off x="8083296" y="2395728"/>
            <a:ext cx="3730752"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2395728"/>
            <a:ext cx="3730752" cy="4572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2395728"/>
            <a:ext cx="3730752" cy="457200"/>
          </a:xfrm>
          <a:prstGeom prst="rect">
            <a:avLst/>
          </a:prstGeom>
          <a:noFill/>
        </p:spPr>
        <p:txBody>
          <a:bodyPr wrap="square" anchor="ctr"/>
          <a:lstStyle/>
          <a:p>
            <a:pPr algn="ctr"/>
            <a:r>
              <a:rPr sz="1600" b="1">
                <a:solidFill>
                  <a:srgbClr val="C5A35A"/>
                </a:solidFill>
                <a:latin typeface="Calibri"/>
              </a:rPr>
              <a:t>Alcohol &amp; others</a:t>
            </a:r>
          </a:p>
        </p:txBody>
      </p:sp>
      <p:sp>
        <p:nvSpPr>
          <p:cNvPr id="22" name="TextBox 21"/>
          <p:cNvSpPr txBox="1"/>
          <p:nvPr/>
        </p:nvSpPr>
        <p:spPr>
          <a:xfrm>
            <a:off x="8220456" y="2944368"/>
            <a:ext cx="3456432" cy="3337560"/>
          </a:xfrm>
          <a:prstGeom prst="rect">
            <a:avLst/>
          </a:prstGeom>
          <a:noFill/>
        </p:spPr>
        <p:txBody>
          <a:bodyPr wrap="square" anchor="t"/>
          <a:lstStyle/>
          <a:p>
            <a:pPr algn="l"/>
            <a:r>
              <a:rPr sz="1300" b="0">
                <a:solidFill>
                  <a:srgbClr val="1C1C1C"/>
                </a:solidFill>
                <a:latin typeface="Calibri"/>
              </a:rPr>
              <a:t>70% isopropyl or ethyl: rapid kill, no residual. Flammable — no pooling near cautery.
Rinse or paint between CHG cycles on intact skin.
Not for open wounds, mucous membranes, or the eye.
Hydrogen peroxide is not a surgical antiseptic.
Contact time is part of the prep. Follow the labeled product in your hospital.</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TECHNIQUE DIAGRAM  ·  CENTER → PERIPHERY  ·  REAL PHOTOS ARE ON THE CLIP AND DRAPE SLIDES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Timed 3–5 min or labeled product cycles, then a final paint. Damp-to-dry, not a lake.</a:t>
            </a:r>
          </a:p>
          <a:p>
            <a:pPr algn="l">
              <a:spcAft>
                <a:spcPts val="600"/>
              </a:spcAft>
            </a:pPr>
            <a:r>
              <a:rPr sz="1300" b="0">
                <a:solidFill>
                  <a:srgbClr val="1C1C1C"/>
                </a:solidFill>
                <a:latin typeface="Calibri"/>
              </a:rPr>
              <a:t>▸  Intact skin: 2–4% CHG–alcohol or labeled 10% PVP-I.</a:t>
            </a:r>
          </a:p>
          <a:p>
            <a:pPr algn="l">
              <a:spcAft>
                <a:spcPts val="600"/>
              </a:spcAft>
            </a:pPr>
            <a:r>
              <a:rPr sz="1300" b="0">
                <a:solidFill>
                  <a:srgbClr val="1C1C1C"/>
                </a:solidFill>
                <a:latin typeface="Calibri"/>
              </a:rPr>
              <a:t>▸  Mucosa, conjunctiva, prepuce: 10% PVP-I solution, 1 to 20 to 1 to 50. Never CHG in the eye or middle ear — Willie’s swollen drum.</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OR PHOTOGRAPH  ·  DORSAL RECUMBENCY, AIRWAY, IV, MONITORING, V-TROUGH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600" b="1">
                <a:solidFill>
                  <a:srgbClr val="0B2C4A"/>
                </a:solidFill>
                <a:latin typeface="Calibri"/>
              </a:rPr>
              <a:t>Name what you see</a:t>
            </a:r>
          </a:p>
        </p:txBody>
      </p:sp>
      <p:sp>
        <p:nvSpPr>
          <p:cNvPr id="11" name="TextBox 10"/>
          <p:cNvSpPr txBox="1"/>
          <p:nvPr/>
        </p:nvSpPr>
        <p:spPr>
          <a:xfrm>
            <a:off x="8275320" y="1645920"/>
            <a:ext cx="3429000" cy="4572000"/>
          </a:xfrm>
          <a:prstGeom prst="rect">
            <a:avLst/>
          </a:prstGeom>
          <a:noFill/>
        </p:spPr>
        <p:txBody>
          <a:bodyPr wrap="square" anchor="t"/>
          <a:lstStyle/>
          <a:p>
            <a:pPr algn="l"/>
            <a:r>
              <a:rPr sz="1400" b="0">
                <a:solidFill>
                  <a:srgbClr val="1C1C1C"/>
                </a:solidFill>
                <a:latin typeface="Calibri"/>
              </a:rPr>
              <a:t>• ET tube + pulse ox
• IV catheter + fluids
• Anesthesia machine
• V-trough / padding
• Ties that are not tourniquets
• Abdomen not yet clipped — that is next, after a surgical plane
Do not over-split the hips.
Eyes lubricated. Tube not kinked.
Photo: Anja,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PHOTOGRAPHS  ·  GOWN, GLOVE, BOX THE FIELD, THEN THE LARGE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Draping — hair at the edge fails the prep</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Real OHE — hair still at the drape</a:t>
            </a:r>
          </a:p>
        </p:txBody>
      </p:sp>
      <p:pic>
        <p:nvPicPr>
          <p:cNvPr id="10" name="Picture 9" descr="cherry_point_spay.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Real sterile field — gown, glove, drape</a:t>
            </a:r>
          </a:p>
        </p:txBody>
      </p:sp>
      <p:pic>
        <p:nvPicPr>
          <p:cNvPr id="13" name="Picture 12" descr="hektor_drape.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Four towels box the field (near towel first). Hair must not show at any edge — re-clip or re-drape. Large drape over towels; cuff your hands. Wet-through is contaminated. Hands stay on the field.
Photos: Cpl. Samuel A. Nasso, U.S. Marine Corps, public domain (left); MSgt Carlotta Holley, U.S. Air Force, public domain (right).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DIAGRAM FOR THE GLOVE  ·  PHOTOGRAPH FOR THE MACHINE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a real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Left: closed-gloving technique diagram (hands stay inside the gown cuffs). Right: real K9 anesthesia — cap, mask, ECG/SpO2/ETCO2 monitors, circle system, IV fluids, airway. Monitoring is on before the first drug. Willie needed this for an ear clean. MoMo never reached induction.
Photo: MSgt Carlotta Holley, U.S. Air Force, public domain.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it — re-glove, re-gown, or re-drape.
Name the break once. Fix it completely.
A second unrecognized break means you cannot maintain an aseptic field. Stop.
This is how we protect a client-owned animal.</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with sterile saline immediately. Do not continue the prep over a burned cornea.</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For conjunctiva or prepuce, dilute 10% povidone-iodine SOLUTION 1 to 20 to 1 to 50 in sterile saline.</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1 mL + 19 mL = 1:20 (0.5%). 1 mL + 49 mL = 1:50 (0.2%). Never the 7.5% detergent scrub in an eye.</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  ·  E-COLLAR, IV, CLIPPED ABDOMEN, NOT LEFT ALONE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02336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Willie: no NSAID after DexSP.</a:t>
            </a:r>
          </a:p>
        </p:txBody>
      </p:sp>
      <p:sp>
        <p:nvSpPr>
          <p:cNvPr id="12" name="TextBox 11"/>
          <p:cNvSpPr txBox="1"/>
          <p:nvPr/>
        </p:nvSpPr>
        <p:spPr>
          <a:xfrm>
            <a:off x="8046720" y="5806440"/>
            <a:ext cx="3657600" cy="502920"/>
          </a:xfrm>
          <a:prstGeom prst="rect">
            <a:avLst/>
          </a:prstGeom>
          <a:noFill/>
        </p:spPr>
        <p:txBody>
          <a:bodyPr wrap="square" anchor="t"/>
          <a:lstStyle/>
          <a:p>
            <a:pPr algn="l"/>
            <a:r>
              <a:rPr sz="1100" b="0">
                <a:solidFill>
                  <a:srgbClr val="5B646E"/>
                </a:solidFill>
                <a:latin typeface="Calibri"/>
              </a:rPr>
              <a:t>Photo: Anja, CC BY-SA 4.0.</a:t>
            </a:r>
          </a:p>
        </p:txBody>
      </p:sp>
      <p:sp>
        <p:nvSpPr>
          <p:cNvPr id="13" name="Rectangle 1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5" name="TextBox 1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24-HOUR OHE PHOTOGRAPH  ·  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pic>
        <p:nvPicPr>
          <p:cNvPr id="8" name="Picture 7" descr="spay_incision.jpg"/>
          <p:cNvPicPr>
            <a:picLocks noChangeAspect="1"/>
          </p:cNvPicPr>
          <p:nvPr/>
        </p:nvPicPr>
        <p:blipFill>
          <a:blip r:embed="rId2"/>
          <a:stretch>
            <a:fillRect/>
          </a:stretch>
        </p:blipFill>
        <p:spPr>
          <a:xfrm>
            <a:off x="365760" y="1024128"/>
            <a:ext cx="5852160" cy="5440680"/>
          </a:xfrm>
          <a:prstGeom prst="rect">
            <a:avLst/>
          </a:prstGeom>
        </p:spPr>
      </p:pic>
      <p:sp>
        <p:nvSpPr>
          <p:cNvPr id="9" name="Rounded Rectangle 8"/>
          <p:cNvSpPr/>
          <p:nvPr/>
        </p:nvSpPr>
        <p:spPr>
          <a:xfrm>
            <a:off x="6355080" y="1024128"/>
            <a:ext cx="5440680"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1170432"/>
            <a:ext cx="5074920" cy="365760"/>
          </a:xfrm>
          <a:prstGeom prst="rect">
            <a:avLst/>
          </a:prstGeom>
          <a:noFill/>
        </p:spPr>
        <p:txBody>
          <a:bodyPr wrap="square" anchor="t"/>
          <a:lstStyle/>
          <a:p>
            <a:pPr algn="l"/>
            <a:r>
              <a:rPr sz="1600" b="1">
                <a:solidFill>
                  <a:srgbClr val="0B2C4A"/>
                </a:solidFill>
                <a:latin typeface="Calibri"/>
              </a:rPr>
              <a:t>Protect it</a:t>
            </a:r>
          </a:p>
        </p:txBody>
      </p:sp>
      <p:sp>
        <p:nvSpPr>
          <p:cNvPr id="11" name="TextBox 10"/>
          <p:cNvSpPr txBox="1"/>
          <p:nvPr/>
        </p:nvSpPr>
        <p:spPr>
          <a:xfrm>
            <a:off x="6492240" y="1600200"/>
            <a:ext cx="5120640" cy="4297680"/>
          </a:xfrm>
          <a:prstGeom prst="rect">
            <a:avLst/>
          </a:prstGeom>
          <a:noFill/>
        </p:spPr>
        <p:txBody>
          <a:bodyPr wrap="square">
            <a:spAutoFit/>
          </a:bodyPr>
          <a:lstStyle/>
          <a:p>
            <a:pPr algn="l">
              <a:spcAft>
                <a:spcPts val="700"/>
              </a:spcAft>
            </a:pPr>
            <a:r>
              <a:rPr sz="1400" b="0">
                <a:solidFill>
                  <a:srgbClr val="1C1C1C"/>
                </a:solidFill>
                <a:latin typeface="Calibri"/>
              </a:rPr>
              <a:t>▸  Look twice daily: swelling, discharge, gapping, smell, heat.</a:t>
            </a:r>
          </a:p>
          <a:p>
            <a:pPr algn="l">
              <a:spcAft>
                <a:spcPts val="700"/>
              </a:spcAft>
            </a:pPr>
            <a:r>
              <a:rPr sz="1400" b="0">
                <a:solidFill>
                  <a:srgbClr val="1C1C1C"/>
                </a:solidFill>
                <a:latin typeface="Calibri"/>
              </a:rPr>
              <a:t>▸  E-collar that actually stays on. Licking is the most common cause of dehiscence after otherwise adequate closure.</a:t>
            </a:r>
          </a:p>
          <a:p>
            <a:pPr algn="l">
              <a:spcAft>
                <a:spcPts val="700"/>
              </a:spcAft>
            </a:pPr>
            <a:r>
              <a:rPr sz="1400" b="0">
                <a:solidFill>
                  <a:srgbClr val="1C1C1C"/>
                </a:solidFill>
                <a:latin typeface="Calibri"/>
              </a:rPr>
              <a:t>▸  Leash only. No running, jumping, wrestling, unsupervised stairs.</a:t>
            </a:r>
          </a:p>
          <a:p>
            <a:pPr algn="l">
              <a:spcAft>
                <a:spcPts val="700"/>
              </a:spcAft>
            </a:pPr>
            <a:r>
              <a:rPr sz="1400" b="0">
                <a:solidFill>
                  <a:srgbClr val="1C1C1C"/>
                </a:solidFill>
                <a:latin typeface="Calibri"/>
              </a:rPr>
              <a:t>▸  Usually no daily CHG scrub. Saline if dirty.</a:t>
            </a:r>
          </a:p>
          <a:p>
            <a:pPr algn="l">
              <a:spcAft>
                <a:spcPts val="700"/>
              </a:spcAft>
            </a:pPr>
            <a:r>
              <a:rPr sz="1400" b="0">
                <a:solidFill>
                  <a:srgbClr val="1C1C1C"/>
                </a:solidFill>
                <a:latin typeface="Calibri"/>
              </a:rPr>
              <a:t>▸  Skin sutures typically 10–14 days if healing is routine.</a:t>
            </a:r>
          </a:p>
          <a:p>
            <a:pPr algn="l">
              <a:spcAft>
                <a:spcPts val="700"/>
              </a:spcAft>
            </a:pPr>
            <a:r>
              <a:rPr sz="1400" b="0">
                <a:solidFill>
                  <a:srgbClr val="1C1C1C"/>
                </a:solidFill>
                <a:latin typeface="Calibri"/>
              </a:rPr>
              <a:t>▸  Photo: Liannadavis,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Airway protected, monitors on, then alfaxalone to a depth that is safe to clip and flush. CHG off the eye and drum. Mucosa/periocular: 10% PVP-I 1 to 20 to 1 to 50. Pad him — he falls.</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Intact skin: 2–4% CHG or labeled 10% PVP-I. Mucosa, conjunctiva, prepuce: 10% PVP-I solution 1 to 20 to 1 to 50. CHG never on cornea or in the middle ear.</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700"/>
              </a:spcAft>
            </a:pPr>
            <a:r>
              <a:rPr sz="1400" b="0">
                <a:solidFill>
                  <a:srgbClr val="1C1C1C"/>
                </a:solidFill>
                <a:latin typeface="Calibri"/>
              </a:rPr>
              <a:t>▸  Fossum T.W. Small Animal Surgery. 5th ed. Elsevier; 2018. Preoperative evaluation, patient preparation, postoperative care.</a:t>
            </a:r>
          </a:p>
          <a:p>
            <a:pPr algn="l">
              <a:spcAft>
                <a:spcPts val="700"/>
              </a:spcAft>
            </a:pPr>
            <a:r>
              <a:rPr sz="1400" b="0">
                <a:solidFill>
                  <a:srgbClr val="1C1C1C"/>
                </a:solidFill>
                <a:latin typeface="Calibri"/>
              </a:rPr>
              <a:t>▸  Johnston S.A., Tobias K.M. Veterinary Surgery: Small Animal. 2nd ed. Elsevier; 2017.</a:t>
            </a:r>
          </a:p>
          <a:p>
            <a:pPr algn="l">
              <a:spcAft>
                <a:spcPts val="700"/>
              </a:spcAft>
            </a:pPr>
            <a:r>
              <a:rPr sz="1400" b="0">
                <a:solidFill>
                  <a:srgbClr val="1C1C1C"/>
                </a:solidFill>
                <a:latin typeface="Calibri"/>
              </a:rPr>
              <a:t>▸  Hendrickson D.A., Baird A.N. Turner and McIlwraith’s Techniques in Large Animal Surgery. 4th ed. Wiley-Blackwell; 2013.</a:t>
            </a:r>
          </a:p>
          <a:p>
            <a:pPr algn="l">
              <a:spcAft>
                <a:spcPts val="700"/>
              </a:spcAft>
            </a:pPr>
            <a:r>
              <a:rPr sz="1400" b="0">
                <a:solidFill>
                  <a:srgbClr val="1C1C1C"/>
                </a:solidFill>
                <a:latin typeface="Calibri"/>
              </a:rPr>
              <a:t>▸  Roberts S.M., Severin G.A., Lavach J.D. Antibacterial activity of dilute povidone-iodine solutions used for ocular surface disinfection in dogs. Am J Vet Res. 1986;47(6):1207–1210. — 10% PVP-I (1% available iodine) diluted 1:50 (0.2%) is the classic canine ocular recommendation; 1:2 (5%) caused corneal edema.</a:t>
            </a:r>
          </a:p>
          <a:p>
            <a:pPr algn="l">
              <a:spcAft>
                <a:spcPts val="700"/>
              </a:spcAft>
            </a:pPr>
            <a:r>
              <a:rPr sz="1400" b="0">
                <a:solidFill>
                  <a:srgbClr val="1C1C1C"/>
                </a:solidFill>
                <a:latin typeface="Calibri"/>
              </a:rPr>
              <a:t>▸  AAHA/AAFP Antimicrobial Stewardship Guidelines, 2022 — surgical prophylaxis.  ·  AAHA Anesthesia and Monitoring Guidelines — fasting, PE, monitoring, recovery.</a:t>
            </a:r>
          </a:p>
          <a:p>
            <a:pPr algn="l">
              <a:spcAft>
                <a:spcPts val="700"/>
              </a:spcAft>
            </a:pPr>
            <a:r>
              <a:rPr sz="1400" b="0">
                <a:solidFill>
                  <a:srgbClr val="1C1C1C"/>
                </a:solidFill>
                <a:latin typeface="Calibri"/>
              </a:rPr>
              <a:t>▸  Clinical photographs (open license or U.S. government work): Uwe Gille (CC0); Anja (CC BY-SA 4.0); Liannadavis (CC BY-SA 4.0); Cpl. Samuel A. Nasso, USMC (public domain); MSgt Carlotta Holley, USAF (public domain). Closed-gloving and spiral-prep figures are technique diagrams, not clinic photographs.</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how do you dilute 10% povidone-iodine for conjunctiva or prepuce?</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