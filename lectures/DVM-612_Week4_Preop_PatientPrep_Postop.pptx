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Thirty-seven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name once: American Society of Anesthesiologists, ASA. Then 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total protein, is 5.1 grams per deciliter. Do not treat TP as albumin. Pardo 2.0 is albumin, not this number.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34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neuro exam from today’s record. Do not say 3-E yet. Do not put the client name on the board. Infected side is the left ear, AS. Head tilt and circling are to the left. Nystagmus: rapid phase left, slow phase right. Wheelbarrow left intact, right absent. Prolonged proprioception and knuckling on the right limbs when walking. Limbs slip. Do not turn this into a TECA or ear-clean plan. Do not assign central versus peripheral as the ASA. Next slide is the actual lab numbers, then they write the status. No DexSP, alfaxalone, ear clean, or TECA.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left otitis plus the vestibular and proprioceptive signs are acute. Not 1: head tilt, circling, nystagmus, and right-sided knuckling are not a normal PE. Not 4: pink, CRT 2 seconds, BUN and creatinine in range, not a constant threat to life today. Mild high phosphorus and glucose do not write Status 4. No Willie treatment plan.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Walk the math on the 25 kilogram ASA 1 elective OHE. Carprofen: 25 times 4.4 equals 110 milligrams; 110 divided by 50 milligrams per milliliter equals 2.2 milliliters SQ, Rimadyl label, about 2 hours before incision. Alfaxalone: 10 milligrams per milliliter. Unpremedicated field-study mean 2.2 milligrams per kilogram, so draw 55 milligrams which is 5.5 milliliters, then give IV to effect until you can intubate. You may not use the whole syringe. That 2.2 is a mean, not a fixed bolus. This example skips premed so every milliliter is from a US label. Hospital DKT or BAA still happens after ASA; do not invent those milligrams per kilogram on the board. LRS 125 milliliters per hour. Cat OHE: Onsior, not carprofen. Do not stack an NSAID with a steroid. It is not a hospital-patient protocol.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That skip is Frey 2022 AAFP/AAHA Antimicrobial Stewardship. Timing the first dose 30 to 60 minutes before incision is also Frey 2022. Do not tell them AAHA published 22 milligrams per kilogram. That dose is Gonzalez 2017, extra-label in dogs. Whittem 1999 is a second dose if surgery lasted more than 90 minutes, not a q90 Gonzalez or AAHA schedule. Clean-contaminated: controlled entry into gut, airway, or bladder. Contaminated: fresh trauma or major spillage. Dirty: pus. An infected ear is dirty: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Spell chlorhexidine, povidone-iodine, and alcohol. Do not say C-H-G or P-V-P-I on this slide. Chlorhexidine: Nolvasan 2 percent, 2 to 4 minutes, intact skin, not eyes or mucosa. Povidone-iodine: 7.5 percent scrub about 5 minutes on intact skin, then 5 percent veterinary paint. Eye is 0.2 percent on a healthy cornea, 2 plus 2 minutes, Roberts 1986. Do not put 7.5 percent detergent scrub on the cornea or in the ear. Alcohol: rinse on intact skin after the detergent scrub and let it dry. Not on cornea, mucosa, or an open wound. Alcohol does not replace the timed chlorhexidine or povidone-iodine contact.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one continuous spiral out from the incision, not a stack of closed circles.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large figure is looking straight down on a dog in dorsal recumbency. The window is the incision. Hair stays under the drape. The small photograph is hair at the margin: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photograph, not a drawing. Call out the door: shoe covers, cap, mask. Gown after the hand scrub, not in the hallway. Closed glove: hands stay in the cuffs.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0.2 percent, 2 plus 2 minutes, not undiluted 10 percent or 5 percent paint;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37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American Society of Anesthesiologists (ASA) status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American Society of Anesthesiologists (ASA)</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 (total protein)</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5.1 g/dL</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Vestibular</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Head tilt / leaning toward the left (infected ear, AS). Stumbling. Circling or tight turns to the left. Nystagmus: rapid left, slow right.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Wheelbarrow / CP</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Wheelbarrow: left intact, right absent. Prolonged proprioception, right limbs. Knuckling on the right limbs when walking. Limbs slip.</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Also on PE: Grade II/VI left systolic murmur. Lungs clear, eupneic. Heavy tartar. Yellow crusts on the nasal philtrum. Eyes: PLR present. Next: today’s chemistry and CBC. Then you write the ASA.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Hospital: DKT or BAA. Same columns, hospital doses.</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10 mg/mL. Draw 5.5 mL. Give until you can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if you add it, lowers MAC and lowers alfaxalone.</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first. Clean elective: skip (Frey 2022 AAFP/AAHA stewardship). When prophylaxis is indicated: 30–60 min before incision; cefazolin 22 mg/kg IV (Gonzalez 2017, extra-label). Redose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658368"/>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60704"/>
            <a:ext cx="11173968" cy="585216"/>
          </a:xfrm>
          <a:prstGeom prst="rect">
            <a:avLst/>
          </a:prstGeom>
          <a:noFill/>
        </p:spPr>
        <p:txBody>
          <a:bodyPr wrap="square" anchor="ctr"/>
          <a:lstStyle/>
          <a:p>
            <a:pPr algn="ctr"/>
            <a:r>
              <a:rPr sz="1600" b="1">
                <a:solidFill>
                  <a:srgbClr val="0B2C4A"/>
                </a:solidFill>
                <a:latin typeface="Calibri"/>
              </a:rPr>
              <a:t>Three scrubs: contact time and which tissue. Veterinary paint is 5% povidone-iodine, not 10%.</a:t>
            </a:r>
          </a:p>
        </p:txBody>
      </p:sp>
      <p:sp>
        <p:nvSpPr>
          <p:cNvPr id="9" name="Rounded Rectangle 8"/>
          <p:cNvSpPr/>
          <p:nvPr/>
        </p:nvSpPr>
        <p:spPr>
          <a:xfrm>
            <a:off x="365760" y="1828800"/>
            <a:ext cx="3749039" cy="2944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828800"/>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828800"/>
            <a:ext cx="3749039" cy="438912"/>
          </a:xfrm>
          <a:prstGeom prst="rect">
            <a:avLst/>
          </a:prstGeom>
          <a:noFill/>
        </p:spPr>
        <p:txBody>
          <a:bodyPr wrap="square" anchor="ctr"/>
          <a:lstStyle/>
          <a:p>
            <a:pPr algn="ctr"/>
            <a:r>
              <a:rPr sz="1800" b="1">
                <a:solidFill>
                  <a:srgbClr val="FFFFFF"/>
                </a:solidFill>
                <a:latin typeface="Calibri"/>
              </a:rPr>
              <a:t>Chlorhexidine</a:t>
            </a:r>
          </a:p>
        </p:txBody>
      </p:sp>
      <p:sp>
        <p:nvSpPr>
          <p:cNvPr id="12" name="TextBox 11"/>
          <p:cNvSpPr txBox="1"/>
          <p:nvPr/>
        </p:nvSpPr>
        <p:spPr>
          <a:xfrm>
            <a:off x="502920" y="2340864"/>
            <a:ext cx="3474720" cy="2322576"/>
          </a:xfrm>
          <a:prstGeom prst="rect">
            <a:avLst/>
          </a:prstGeom>
          <a:noFill/>
        </p:spPr>
        <p:txBody>
          <a:bodyPr wrap="square" anchor="t"/>
          <a:lstStyle/>
          <a:p>
            <a:pPr algn="l"/>
            <a:r>
              <a:rPr sz="1600" b="0">
                <a:solidFill>
                  <a:srgbClr val="1C1C1C"/>
                </a:solidFill>
                <a:latin typeface="Calibri"/>
              </a:rPr>
              <a:t>Scrub: 2% chlorhexidine acetate
(Nolvasan Surgical Scrub)
Contact: 2 to 4 min
Use on: intact skin (trunk)
Do not: eyes, mucous membranes</a:t>
            </a:r>
          </a:p>
        </p:txBody>
      </p:sp>
      <p:sp>
        <p:nvSpPr>
          <p:cNvPr id="13" name="Rounded Rectangle 12"/>
          <p:cNvSpPr/>
          <p:nvPr/>
        </p:nvSpPr>
        <p:spPr>
          <a:xfrm>
            <a:off x="4224528" y="1828800"/>
            <a:ext cx="3749039" cy="2944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1828800"/>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1828800"/>
            <a:ext cx="3749039" cy="438912"/>
          </a:xfrm>
          <a:prstGeom prst="rect">
            <a:avLst/>
          </a:prstGeom>
          <a:noFill/>
        </p:spPr>
        <p:txBody>
          <a:bodyPr wrap="square" anchor="ctr"/>
          <a:lstStyle/>
          <a:p>
            <a:pPr algn="ctr"/>
            <a:r>
              <a:rPr sz="1800" b="1">
                <a:solidFill>
                  <a:srgbClr val="0B2C4A"/>
                </a:solidFill>
                <a:latin typeface="Calibri"/>
              </a:rPr>
              <a:t>Povidone-iodine</a:t>
            </a:r>
          </a:p>
        </p:txBody>
      </p:sp>
      <p:sp>
        <p:nvSpPr>
          <p:cNvPr id="16" name="TextBox 15"/>
          <p:cNvSpPr txBox="1"/>
          <p:nvPr/>
        </p:nvSpPr>
        <p:spPr>
          <a:xfrm>
            <a:off x="4361688" y="2340864"/>
            <a:ext cx="3474720" cy="2322576"/>
          </a:xfrm>
          <a:prstGeom prst="rect">
            <a:avLst/>
          </a:prstGeom>
          <a:noFill/>
        </p:spPr>
        <p:txBody>
          <a:bodyPr wrap="square" anchor="t"/>
          <a:lstStyle/>
          <a:p>
            <a:pPr algn="l"/>
            <a:r>
              <a:rPr sz="1600" b="0">
                <a:solidFill>
                  <a:srgbClr val="1C1C1C"/>
                </a:solidFill>
                <a:latin typeface="Calibri"/>
              </a:rPr>
              <a:t>Scrub: 7.5%, about 5 min, rinse
Paint: 5% veterinary, then dry
Use on: intact skin
Eye: 0.2% on healthy cornea,
2 min + 2 min (Roberts 1986)
Do not: 7.5% scrub on cornea or in the ear; undiluted 10% or 5% on the cornea</a:t>
            </a:r>
          </a:p>
        </p:txBody>
      </p:sp>
      <p:sp>
        <p:nvSpPr>
          <p:cNvPr id="17" name="Rounded Rectangle 16"/>
          <p:cNvSpPr/>
          <p:nvPr/>
        </p:nvSpPr>
        <p:spPr>
          <a:xfrm>
            <a:off x="8083296" y="1828800"/>
            <a:ext cx="3730752" cy="2944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1828800"/>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1828800"/>
            <a:ext cx="3730752" cy="438912"/>
          </a:xfrm>
          <a:prstGeom prst="rect">
            <a:avLst/>
          </a:prstGeom>
          <a:noFill/>
        </p:spPr>
        <p:txBody>
          <a:bodyPr wrap="square" anchor="ctr"/>
          <a:lstStyle/>
          <a:p>
            <a:pPr algn="ctr"/>
            <a:r>
              <a:rPr sz="1800" b="1">
                <a:solidFill>
                  <a:srgbClr val="C5A35A"/>
                </a:solidFill>
                <a:latin typeface="Calibri"/>
              </a:rPr>
              <a:t>Alcohol</a:t>
            </a:r>
          </a:p>
        </p:txBody>
      </p:sp>
      <p:sp>
        <p:nvSpPr>
          <p:cNvPr id="20" name="TextBox 19"/>
          <p:cNvSpPr txBox="1"/>
          <p:nvPr/>
        </p:nvSpPr>
        <p:spPr>
          <a:xfrm>
            <a:off x="8220456" y="2340864"/>
            <a:ext cx="3456432" cy="2322576"/>
          </a:xfrm>
          <a:prstGeom prst="rect">
            <a:avLst/>
          </a:prstGeom>
          <a:noFill/>
        </p:spPr>
        <p:txBody>
          <a:bodyPr wrap="square" anchor="t"/>
          <a:lstStyle/>
          <a:p>
            <a:pPr algn="l"/>
            <a:r>
              <a:rPr sz="1600" b="0">
                <a:solidFill>
                  <a:srgbClr val="1C1C1C"/>
                </a:solidFill>
                <a:latin typeface="Calibri"/>
              </a:rPr>
              <a:t>Scrub/rinse: after the detergent
scrub on intact skin, then dry
Contact: until dry. Do not pool.
Use on: intact skin only
Do not: cornea, mucosa,
open wounds</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300" b="0">
                <a:solidFill>
                  <a:srgbClr val="3D4A57"/>
                </a:solidFill>
                <a:latin typeface="Calibri"/>
              </a:rPr>
              <a:t>Nolvasan Surgical Scrub: 2% chlorhexidine acetate, DailyMed NDC 54771-8701, wash 2 to 4 min, keep out of eyes and mucous membranes.
BETADINE Surgical Scrub Veterinary NDC 67618-154 (7.5% povidone-iodine, lather about 5 min). BETADINE Solution Veterinary NDC 67618-155 (5% povidone-iodine paint, not 10%).
Eye: Roberts 1986, healthy cornea. 1:50 of 10% = 0.2% povidone-iodine, 2-min scrub + 2-min soak. Perforation: saline only.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One continuous spiral out. Never back toward the cut.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povidone-iodine ~5 min, then 5% paint.</a:t>
            </a:r>
          </a:p>
          <a:p>
            <a:pPr algn="l">
              <a:spcAft>
                <a:spcPts val="1000"/>
              </a:spcAft>
            </a:pPr>
            <a:r>
              <a:rPr sz="1600" b="0">
                <a:solidFill>
                  <a:srgbClr val="1C1C1C"/>
                </a:solidFill>
                <a:latin typeface="Calibri"/>
              </a:rPr>
              <a:t>▸  Eye: 0.2% povidone-iodine (10% 1:50 or 5% 1:25). 2 min + 2 min. Not 10% or 5% undiluted.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pic>
        <p:nvPicPr>
          <p:cNvPr id="7" name="Picture 6" descr="drape_overhead_window.png"/>
          <p:cNvPicPr>
            <a:picLocks noChangeAspect="1"/>
          </p:cNvPicPr>
          <p:nvPr/>
        </p:nvPicPr>
        <p:blipFill>
          <a:blip r:embed="rId2"/>
          <a:stretch>
            <a:fillRect/>
          </a:stretch>
        </p:blipFill>
        <p:spPr>
          <a:xfrm>
            <a:off x="292608" y="987552"/>
            <a:ext cx="7818120" cy="5440680"/>
          </a:xfrm>
          <a:prstGeom prst="rect">
            <a:avLst/>
          </a:prstGeom>
        </p:spPr>
      </p:pic>
      <p:sp>
        <p:nvSpPr>
          <p:cNvPr id="8" name="Rounded Rectangle 7"/>
          <p:cNvSpPr/>
          <p:nvPr/>
        </p:nvSpPr>
        <p:spPr>
          <a:xfrm>
            <a:off x="8247888" y="987552"/>
            <a:ext cx="36118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47888" y="987552"/>
            <a:ext cx="3611880" cy="347472"/>
          </a:xfrm>
          <a:prstGeom prst="rect">
            <a:avLst/>
          </a:prstGeom>
          <a:noFill/>
        </p:spPr>
        <p:txBody>
          <a:bodyPr wrap="square" anchor="ctr"/>
          <a:lstStyle/>
          <a:p>
            <a:pPr algn="ctr"/>
            <a:r>
              <a:rPr sz="1600" b="1">
                <a:solidFill>
                  <a:srgbClr val="FFFFFF"/>
                </a:solidFill>
                <a:latin typeface="Calibri"/>
              </a:rPr>
              <a:t>Hair at the drape edge</a:t>
            </a:r>
          </a:p>
        </p:txBody>
      </p:sp>
      <p:pic>
        <p:nvPicPr>
          <p:cNvPr id="10" name="Picture 9" descr="cherry_point_spay.jpg"/>
          <p:cNvPicPr>
            <a:picLocks noChangeAspect="1"/>
          </p:cNvPicPr>
          <p:nvPr/>
        </p:nvPicPr>
        <p:blipFill>
          <a:blip r:embed="rId3"/>
          <a:stretch>
            <a:fillRect/>
          </a:stretch>
        </p:blipFill>
        <p:spPr>
          <a:xfrm>
            <a:off x="8247888" y="1371600"/>
            <a:ext cx="3611880" cy="2331720"/>
          </a:xfrm>
          <a:prstGeom prst="rect">
            <a:avLst/>
          </a:prstGeom>
        </p:spPr>
      </p:pic>
      <p:sp>
        <p:nvSpPr>
          <p:cNvPr id="11" name="Rounded Rectangle 10"/>
          <p:cNvSpPr/>
          <p:nvPr/>
        </p:nvSpPr>
        <p:spPr>
          <a:xfrm>
            <a:off x="8247888" y="3822191"/>
            <a:ext cx="361188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75904" y="3931920"/>
            <a:ext cx="3355848" cy="2359152"/>
          </a:xfrm>
          <a:prstGeom prst="rect">
            <a:avLst/>
          </a:prstGeom>
          <a:noFill/>
        </p:spPr>
        <p:txBody>
          <a:bodyPr wrap="square" anchor="t"/>
          <a:lstStyle/>
          <a:p>
            <a:pPr algn="l"/>
            <a:r>
              <a:rPr sz="1600" b="0">
                <a:solidFill>
                  <a:srgbClr val="1C1C1C"/>
                </a:solidFill>
                <a:latin typeface="Calibri"/>
              </a:rPr>
              <a:t>Left is the view from above the table: the hole is the incision. Only clipped, painted skin. Hair is under the drape.
Right: hair at the margin. Re-clip or re-drape. Four towels, then the large drape. Timeout. Then cut.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closed_gloving_real.jpg"/>
          <p:cNvPicPr>
            <a:picLocks noChangeAspect="1"/>
          </p:cNvPicPr>
          <p:nvPr/>
        </p:nvPicPr>
        <p:blipFill>
          <a:blip r:embed="rId2"/>
          <a:stretch>
            <a:fillRect/>
          </a:stretch>
        </p:blipFill>
        <p:spPr>
          <a:xfrm>
            <a:off x="320040" y="1024128"/>
            <a:ext cx="6537960" cy="3794760"/>
          </a:xfrm>
          <a:prstGeom prst="rect">
            <a:avLst/>
          </a:prstGeom>
        </p:spPr>
      </p:pic>
      <p:sp>
        <p:nvSpPr>
          <p:cNvPr id="8" name="Rounded Rectangle 7"/>
          <p:cNvSpPr/>
          <p:nvPr/>
        </p:nvSpPr>
        <p:spPr>
          <a:xfrm>
            <a:off x="6995160" y="1024128"/>
            <a:ext cx="484632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78040" y="1133856"/>
            <a:ext cx="452628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7132320" y="1554480"/>
            <a:ext cx="457200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Photograph: closed glove. Hands stay inside the gown cuffs; the cuff is used to pull the glove on. U.S. Air Force photo, public domain. Then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povidone-iodine?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0.2% (10% 1:50 or 5% 1:25), 2 min scrub + 2 min soak. Not 10% or 5% undiluted.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AS otitis. Head tilt left. Circling left. Nystagmus rapid left, slow right. Wheelbarrow right absent. Knuckling, right limbs. Grade II/VI murmur.</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This neuro PE is not a normal healthy patient.</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