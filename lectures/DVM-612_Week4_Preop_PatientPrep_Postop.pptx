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Week 4 of DVM 612. Weeks 1–3 covered asepsis, sterilization, facilities, monitoring, communication, and surgery reports. Today we put the patient in the center: decide if they are a surgical candidate, prepare them and yourselves aseptically, and own the 24 hours after the last suture. One hour. Three acts. Keep Fossum nearby. Lab and OSCE will ask you to demonstrate the same prep and discharge skills.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Tell students Exam 1 (Week 6) will sample this material. OSCE/lab sign-off will include patient prep and discharge writing (LO 4 and 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 that is what lab and OSCE actually watch.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ASA I and III slowly. The emergency E modifier is used clinically (ASA IV-E for GDV). An elective procedure on an ASA IV patient is a decision, not a schedule slot. Next slides: a real ASA III Cocker Spaniel.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the real ASA III we will unpack. D is the trap: do not induce a hyperkalemic blocked cat because surgery is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peri-operative patient, not a cartoon. Spend 90 seconds. Cockers plus dirty ears plus new circling is otitis media/interna until proven otherwise. Intact TM is good news for topical safety only if you are sure the middle ear is not involved — you are not sure. Knuckling vs drunk vestibular ataxia: have a student demonstrate paw placing. If placing is truly delayed, do not call this ‘just an ear’ and induce for a TECA tonight.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ASA III teaching case for Exam 1. Punchline: vestibular + severe otitis is moderate/severe compensated disease. You may still anesthetize — for CT, flush, or TECA — but you do not treat the dog like a healthy spay. No Animax-style aminoglycoside in a suspect inner ear. No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Know your hospital policy and be able to defend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teach AAHA-style 4–6 h for healthy small animals as best practice, and I tell them older exam banks may still say overnight NPO. Ruminant contrast prevents a species-blind answer on Exam 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High-yield Exam 1 slide. Elective canine OHE is a clean procedure — do not invent a 14-day cephalexin prescription. If you give cefazolin, it is IV around induction, not a souvenir bottle home. Contrast with the vestibular Cocker: that ear is infected, so antimicrobials are therapy.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lab will watch: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scored boxes. Students should be able to name them on Exam 1 without the OHE steps mixed 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hands on your own abdomen if no model. Missed hair at the drape edge fails the prep.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Faculty preference at LIU labs may be CHG–alcohol for trunk skin. Hammer ocular/ear contraindications — they have already seen ototoxic ear meds in other contexts.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mime the spiral on the lectern. Mention hanging-limb prep: start at incision, work distally toward the dirty foot, then the wrapped foot is handed off.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Four-quadrant is not optional style. Demonstrate air-cuffing the drape. Hair at the edge means re-clip or re-drape.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gown packs in lab until it is muscle memory. Talking through a contaminated glove replacement is an Exam 1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#1, #2, #3 to today’s lecture. Intra-op details (#4) are later weeks, but ureter injury is a positioning/exposure/identification problem that starts with a calm, well-prepped patient.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ABC plus temperature plus pain. Hemorrhage speech: do not send a pale recovering OHE to the kennel because ‘she’s just groggy.’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CC3. Mention they will practice scoring in skills labs. NSAIDs: not in hypovolemia, kidney injury, GI ulcer, concurrent steroids.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7. Lab assignment later: write a report and discharge for the model/cadaver/live lab. Show them you grade completeness, not handwriting art.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lecture LA for 10 minutes. Plant the flag that Halsted travels to the barn.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without taking questions until the end. This is the mental movie for lab.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are fair game for MCQ and short answer. Stop here if time is gone.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Fossum as the night-before reading.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‘What will you do differently on your next observed prep?’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  ·  WEEK 4</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Lecture  |  60 minutes  |  Semester 3</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Mapped to DVM 612 course learning objectives 4, 7, and 8:
asepsis and surgical preparation · postoperative plan and discharge · monitoring and recovery.</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  ·  DVM 612 LOS 4, 7, 8</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This lecture does not teach how to cut, ligate, or close — that is Weeks 5–12. Today is judgment, asepsis, and aftercare. Poor prep cannot be rescued by elegant suture.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3–22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&amp; peri-op plan</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22–42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42–57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complications,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Case wrap, exam pearls,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WEEK 1 RECAP THAT YOU WILL APPLY, NOT RECITE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Drains and bandages (Week 15) start with today’s wound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
(Weeks 5–12)</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labs · stabilize · fasting · consent · analgesia · antimicrobials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~19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SCALE, AS USED IN VETERINARY ANESTHESIA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57200" y="1078992"/>
            <a:ext cx="11247120" cy="411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78992"/>
            <a:ext cx="1097280" cy="411480"/>
          </a:xfrm>
          <a:prstGeom prst="rect">
            <a:avLst/>
          </a:prstGeom>
          <a:noFill/>
        </p:spPr>
        <p:txBody>
          <a:bodyPr wrap="square" anchor="ctr"/>
          <a:lstStyle/>
          <a:p>
            <a:pPr algn="l"/>
            <a:r>
              <a:rPr sz="1400" b="1">
                <a:solidFill>
                  <a:srgbClr val="C5A35A"/>
                </a:solidFill>
                <a:latin typeface="Calibri"/>
              </a:rPr>
              <a:t>ASA</a:t>
            </a:r>
          </a:p>
        </p:txBody>
      </p:sp>
      <p:sp>
        <p:nvSpPr>
          <p:cNvPr id="10" name="TextBox 9"/>
          <p:cNvSpPr txBox="1"/>
          <p:nvPr/>
        </p:nvSpPr>
        <p:spPr>
          <a:xfrm>
            <a:off x="1737360" y="1078992"/>
            <a:ext cx="5120640" cy="411480"/>
          </a:xfrm>
          <a:prstGeom prst="rect">
            <a:avLst/>
          </a:prstGeom>
          <a:noFill/>
        </p:spPr>
        <p:txBody>
          <a:bodyPr wrap="square" anchor="ctr"/>
          <a:lstStyle/>
          <a:p>
            <a:pPr algn="l"/>
            <a:r>
              <a:rPr sz="1400" b="1">
                <a:solidFill>
                  <a:srgbClr val="FFFFFF"/>
                </a:solidFill>
                <a:latin typeface="Calibri"/>
              </a:rPr>
              <a:t>Definition</a:t>
            </a:r>
          </a:p>
        </p:txBody>
      </p:sp>
      <p:sp>
        <p:nvSpPr>
          <p:cNvPr id="11" name="TextBox 10"/>
          <p:cNvSpPr txBox="1"/>
          <p:nvPr/>
        </p:nvSpPr>
        <p:spPr>
          <a:xfrm>
            <a:off x="6949440" y="1078992"/>
            <a:ext cx="4572000" cy="411480"/>
          </a:xfrm>
          <a:prstGeom prst="rect">
            <a:avLst/>
          </a:prstGeom>
          <a:noFill/>
        </p:spPr>
        <p:txBody>
          <a:bodyPr wrap="square" anchor="ctr"/>
          <a:lstStyle/>
          <a:p>
            <a:pPr algn="l"/>
            <a:r>
              <a:rPr sz="1400" b="1">
                <a:solidFill>
                  <a:srgbClr val="FFFFFF"/>
                </a:solidFill>
                <a:latin typeface="Calibri"/>
              </a:rPr>
              <a:t>Typical example</a:t>
            </a:r>
          </a:p>
        </p:txBody>
      </p:sp>
      <p:sp>
        <p:nvSpPr>
          <p:cNvPr id="12" name="Rounded Rectangle 11"/>
          <p:cNvSpPr/>
          <p:nvPr/>
        </p:nvSpPr>
        <p:spPr>
          <a:xfrm>
            <a:off x="457200" y="149047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90472"/>
            <a:ext cx="109728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90472"/>
            <a:ext cx="1097280" cy="804672"/>
          </a:xfrm>
          <a:prstGeom prst="rect">
            <a:avLst/>
          </a:prstGeom>
          <a:noFill/>
        </p:spPr>
        <p:txBody>
          <a:bodyPr wrap="square" anchor="ctr"/>
          <a:lstStyle/>
          <a:p>
            <a:pPr algn="ctr"/>
            <a:r>
              <a:rPr sz="2200" b="1">
                <a:solidFill>
                  <a:srgbClr val="FFFFFF"/>
                </a:solidFill>
                <a:latin typeface="Calibri"/>
              </a:rPr>
              <a:t>I</a:t>
            </a:r>
          </a:p>
        </p:txBody>
      </p:sp>
      <p:sp>
        <p:nvSpPr>
          <p:cNvPr id="15" name="TextBox 14"/>
          <p:cNvSpPr txBox="1"/>
          <p:nvPr/>
        </p:nvSpPr>
        <p:spPr>
          <a:xfrm>
            <a:off x="1737360" y="1563624"/>
            <a:ext cx="502920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6949440" y="1563624"/>
            <a:ext cx="4572000" cy="658368"/>
          </a:xfrm>
          <a:prstGeom prst="rect">
            <a:avLst/>
          </a:prstGeom>
          <a:noFill/>
        </p:spPr>
        <p:txBody>
          <a:bodyPr wrap="square" anchor="ctr"/>
          <a:lstStyle/>
          <a:p>
            <a:pPr algn="l"/>
            <a:r>
              <a:rPr sz="1300" b="0">
                <a:solidFill>
                  <a:srgbClr val="3D4A57"/>
                </a:solidFill>
                <a:latin typeface="Calibri"/>
              </a:rPr>
              <a:t>Elective OHE in a well 1-year-old</a:t>
            </a:r>
          </a:p>
        </p:txBody>
      </p:sp>
      <p:sp>
        <p:nvSpPr>
          <p:cNvPr id="17" name="Rounded Rectangle 16"/>
          <p:cNvSpPr/>
          <p:nvPr/>
        </p:nvSpPr>
        <p:spPr>
          <a:xfrm>
            <a:off x="457200" y="235915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359152"/>
            <a:ext cx="109728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359152"/>
            <a:ext cx="1097280" cy="804672"/>
          </a:xfrm>
          <a:prstGeom prst="rect">
            <a:avLst/>
          </a:prstGeom>
          <a:noFill/>
        </p:spPr>
        <p:txBody>
          <a:bodyPr wrap="square" anchor="ctr"/>
          <a:lstStyle/>
          <a:p>
            <a:pPr algn="ctr"/>
            <a:r>
              <a:rPr sz="2200" b="1">
                <a:solidFill>
                  <a:srgbClr val="FFFFFF"/>
                </a:solidFill>
                <a:latin typeface="Calibri"/>
              </a:rPr>
              <a:t>II</a:t>
            </a:r>
          </a:p>
        </p:txBody>
      </p:sp>
      <p:sp>
        <p:nvSpPr>
          <p:cNvPr id="20" name="TextBox 19"/>
          <p:cNvSpPr txBox="1"/>
          <p:nvPr/>
        </p:nvSpPr>
        <p:spPr>
          <a:xfrm>
            <a:off x="1737360" y="2432304"/>
            <a:ext cx="502920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6949440" y="2432304"/>
            <a:ext cx="4572000" cy="658368"/>
          </a:xfrm>
          <a:prstGeom prst="rect">
            <a:avLst/>
          </a:prstGeom>
          <a:noFill/>
        </p:spPr>
        <p:txBody>
          <a:bodyPr wrap="square" anchor="ctr"/>
          <a:lstStyle/>
          <a:p>
            <a:pPr algn="l"/>
            <a:r>
              <a:rPr sz="1300" b="0">
                <a:solidFill>
                  <a:srgbClr val="3D4A57"/>
                </a:solidFill>
                <a:latin typeface="Calibri"/>
              </a:rPr>
              <a:t>Controlled diabetes; obese but stable; asymptomatic murmur</a:t>
            </a:r>
          </a:p>
        </p:txBody>
      </p:sp>
      <p:sp>
        <p:nvSpPr>
          <p:cNvPr id="22" name="Rounded Rectangle 21"/>
          <p:cNvSpPr/>
          <p:nvPr/>
        </p:nvSpPr>
        <p:spPr>
          <a:xfrm>
            <a:off x="457200" y="322783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227832"/>
            <a:ext cx="109728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27832"/>
            <a:ext cx="1097280" cy="804672"/>
          </a:xfrm>
          <a:prstGeom prst="rect">
            <a:avLst/>
          </a:prstGeom>
          <a:noFill/>
        </p:spPr>
        <p:txBody>
          <a:bodyPr wrap="square" anchor="ctr"/>
          <a:lstStyle/>
          <a:p>
            <a:pPr algn="ctr"/>
            <a:r>
              <a:rPr sz="2200" b="1">
                <a:solidFill>
                  <a:srgbClr val="FFFFFF"/>
                </a:solidFill>
                <a:latin typeface="Calibri"/>
              </a:rPr>
              <a:t>III</a:t>
            </a:r>
          </a:p>
        </p:txBody>
      </p:sp>
      <p:sp>
        <p:nvSpPr>
          <p:cNvPr id="25" name="TextBox 24"/>
          <p:cNvSpPr txBox="1"/>
          <p:nvPr/>
        </p:nvSpPr>
        <p:spPr>
          <a:xfrm>
            <a:off x="1737360" y="3300984"/>
            <a:ext cx="5029200" cy="658368"/>
          </a:xfrm>
          <a:prstGeom prst="rect">
            <a:avLst/>
          </a:prstGeom>
          <a:noFill/>
        </p:spPr>
        <p:txBody>
          <a:bodyPr wrap="square" anchor="ctr"/>
          <a:lstStyle/>
          <a:p>
            <a:pPr algn="l"/>
            <a:r>
              <a:rPr sz="1300" b="0">
                <a:solidFill>
                  <a:srgbClr val="1C1C1C"/>
                </a:solidFill>
                <a:latin typeface="Calibri"/>
              </a:rPr>
              <a:t>Moderate to severe systemic disease, ongoing but compensated; functional limitation and higher anesthetic risk</a:t>
            </a:r>
          </a:p>
        </p:txBody>
      </p:sp>
      <p:sp>
        <p:nvSpPr>
          <p:cNvPr id="26" name="TextBox 25"/>
          <p:cNvSpPr txBox="1"/>
          <p:nvPr/>
        </p:nvSpPr>
        <p:spPr>
          <a:xfrm>
            <a:off x="6949440" y="3300984"/>
            <a:ext cx="4572000" cy="658368"/>
          </a:xfrm>
          <a:prstGeom prst="rect">
            <a:avLst/>
          </a:prstGeom>
          <a:noFill/>
        </p:spPr>
        <p:txBody>
          <a:bodyPr wrap="square" anchor="ctr"/>
          <a:lstStyle/>
          <a:p>
            <a:pPr algn="l"/>
            <a:r>
              <a:rPr sz="1300" b="0">
                <a:solidFill>
                  <a:srgbClr val="3D4A57"/>
                </a:solidFill>
                <a:latin typeface="Calibri"/>
              </a:rPr>
              <a:t>Stable CKD; compensated heart disease; vestibular Cocker with otitis media/interna</a:t>
            </a:r>
          </a:p>
        </p:txBody>
      </p:sp>
      <p:sp>
        <p:nvSpPr>
          <p:cNvPr id="27" name="Rounded Rectangle 26"/>
          <p:cNvSpPr/>
          <p:nvPr/>
        </p:nvSpPr>
        <p:spPr>
          <a:xfrm>
            <a:off x="457200" y="4096511"/>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096511"/>
            <a:ext cx="109728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096511"/>
            <a:ext cx="1097280" cy="804672"/>
          </a:xfrm>
          <a:prstGeom prst="rect">
            <a:avLst/>
          </a:prstGeom>
          <a:noFill/>
        </p:spPr>
        <p:txBody>
          <a:bodyPr wrap="square" anchor="ctr"/>
          <a:lstStyle/>
          <a:p>
            <a:pPr algn="ctr"/>
            <a:r>
              <a:rPr sz="2200" b="1">
                <a:solidFill>
                  <a:srgbClr val="FFFFFF"/>
                </a:solidFill>
                <a:latin typeface="Calibri"/>
              </a:rPr>
              <a:t>IV</a:t>
            </a:r>
          </a:p>
        </p:txBody>
      </p:sp>
      <p:sp>
        <p:nvSpPr>
          <p:cNvPr id="30" name="TextBox 29"/>
          <p:cNvSpPr txBox="1"/>
          <p:nvPr/>
        </p:nvSpPr>
        <p:spPr>
          <a:xfrm>
            <a:off x="1737360" y="4169663"/>
            <a:ext cx="502920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a:t>
            </a:r>
          </a:p>
        </p:txBody>
      </p:sp>
      <p:sp>
        <p:nvSpPr>
          <p:cNvPr id="31" name="TextBox 30"/>
          <p:cNvSpPr txBox="1"/>
          <p:nvPr/>
        </p:nvSpPr>
        <p:spPr>
          <a:xfrm>
            <a:off x="6949440" y="4169663"/>
            <a:ext cx="4572000" cy="658368"/>
          </a:xfrm>
          <a:prstGeom prst="rect">
            <a:avLst/>
          </a:prstGeom>
          <a:noFill/>
        </p:spPr>
        <p:txBody>
          <a:bodyPr wrap="square" anchor="ctr"/>
          <a:lstStyle/>
          <a:p>
            <a:pPr algn="l"/>
            <a:r>
              <a:rPr sz="1300" b="0">
                <a:solidFill>
                  <a:srgbClr val="3D4A57"/>
                </a:solidFill>
                <a:latin typeface="Calibri"/>
              </a:rPr>
              <a:t>GDV, septic abdomen, decompensated CHF, uncontrolled hemorrhage</a:t>
            </a:r>
          </a:p>
        </p:txBody>
      </p:sp>
      <p:sp>
        <p:nvSpPr>
          <p:cNvPr id="32" name="Rounded Rectangle 31"/>
          <p:cNvSpPr/>
          <p:nvPr/>
        </p:nvSpPr>
        <p:spPr>
          <a:xfrm>
            <a:off x="457200" y="496519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65192"/>
            <a:ext cx="109728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4965192"/>
            <a:ext cx="1097280" cy="804672"/>
          </a:xfrm>
          <a:prstGeom prst="rect">
            <a:avLst/>
          </a:prstGeom>
          <a:noFill/>
        </p:spPr>
        <p:txBody>
          <a:bodyPr wrap="square" anchor="ctr"/>
          <a:lstStyle/>
          <a:p>
            <a:pPr algn="ctr"/>
            <a:r>
              <a:rPr sz="2200" b="1">
                <a:solidFill>
                  <a:srgbClr val="FFFFFF"/>
                </a:solidFill>
                <a:latin typeface="Calibri"/>
              </a:rPr>
              <a:t>V</a:t>
            </a:r>
          </a:p>
        </p:txBody>
      </p:sp>
      <p:sp>
        <p:nvSpPr>
          <p:cNvPr id="35" name="TextBox 34"/>
          <p:cNvSpPr txBox="1"/>
          <p:nvPr/>
        </p:nvSpPr>
        <p:spPr>
          <a:xfrm>
            <a:off x="1737360" y="5038344"/>
            <a:ext cx="5029200" cy="658368"/>
          </a:xfrm>
          <a:prstGeom prst="rect">
            <a:avLst/>
          </a:prstGeom>
          <a:noFill/>
        </p:spPr>
        <p:txBody>
          <a:bodyPr wrap="square" anchor="ctr"/>
          <a:lstStyle/>
          <a:p>
            <a:pPr algn="l"/>
            <a:r>
              <a:rPr sz="1300" b="0">
                <a:solidFill>
                  <a:srgbClr val="1C1C1C"/>
                </a:solidFill>
                <a:latin typeface="Calibri"/>
              </a:rPr>
              <a:t>Moribund; not expected to live &gt;24 h with or without surgery</a:t>
            </a:r>
          </a:p>
        </p:txBody>
      </p:sp>
      <p:sp>
        <p:nvSpPr>
          <p:cNvPr id="36" name="TextBox 35"/>
          <p:cNvSpPr txBox="1"/>
          <p:nvPr/>
        </p:nvSpPr>
        <p:spPr>
          <a:xfrm>
            <a:off x="6949440" y="5038344"/>
            <a:ext cx="4572000" cy="658368"/>
          </a:xfrm>
          <a:prstGeom prst="rect">
            <a:avLst/>
          </a:prstGeom>
          <a:noFill/>
        </p:spPr>
        <p:txBody>
          <a:bodyPr wrap="square" anchor="ctr"/>
          <a:lstStyle/>
          <a:p>
            <a:pPr algn="l"/>
            <a:r>
              <a:rPr sz="1300" b="0">
                <a:solidFill>
                  <a:srgbClr val="3D4A57"/>
                </a:solidFill>
                <a:latin typeface="Calibri"/>
              </a:rPr>
              <a:t>Gastric rupture, catastrophic trauma, end-stage disease</a:t>
            </a:r>
          </a:p>
        </p:txBody>
      </p:sp>
      <p:sp>
        <p:nvSpPr>
          <p:cNvPr id="37" name="Rectangle 3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9" name="TextBox 3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I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II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Cocker Spaniel, severe otitis, circling left, nystagmus, knuckling right, TM intact, DexSP given,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III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Cat, urethral obstruction, K+ 8.2, bladder huge, arrhythmia.</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ASA IV-E  ·  stabilize first, then surgery</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SEVERE OTITIS EXTERNA PLUS INNER-EAR SIGNS  ·  NOT AN ASA I ‘EAR CLEAN’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Cocker Spaniel with vestibular disease</a:t>
            </a:r>
          </a:p>
        </p:txBody>
      </p:sp>
      <p:sp>
        <p:nvSpPr>
          <p:cNvPr id="8" name="Rounded Rectangle 7"/>
          <p:cNvSpPr/>
          <p:nvPr/>
        </p:nvSpPr>
        <p:spPr>
          <a:xfrm>
            <a:off x="457200" y="105156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70432"/>
            <a:ext cx="10789920" cy="1005840"/>
          </a:xfrm>
          <a:prstGeom prst="rect">
            <a:avLst/>
          </a:prstGeom>
          <a:noFill/>
        </p:spPr>
        <p:txBody>
          <a:bodyPr wrap="square" anchor="t"/>
          <a:lstStyle/>
          <a:p>
            <a:pPr algn="l"/>
            <a:r>
              <a:rPr sz="1500" b="0">
                <a:solidFill>
                  <a:srgbClr val="0B2C4A"/>
                </a:solidFill>
                <a:latin typeface="Calibri"/>
              </a:rPr>
              <a:t>Adult Cocker Spaniel. Severe external ear infection. Canal patent. Tympanic membrane intact on otoscopy. Dexamethasone SP already given to open the canal. Now circling to the left, fast nystagmus (reported toward the left), knuckling on the right.</a:t>
            </a:r>
          </a:p>
        </p:txBody>
      </p:sp>
      <p:sp>
        <p:nvSpPr>
          <p:cNvPr id="10" name="Rounded Rectangle 9"/>
          <p:cNvSpPr/>
          <p:nvPr/>
        </p:nvSpPr>
        <p:spPr>
          <a:xfrm>
            <a:off x="457200" y="2423160"/>
            <a:ext cx="365760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23160"/>
            <a:ext cx="91440" cy="37033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32888"/>
            <a:ext cx="3291840" cy="347472"/>
          </a:xfrm>
          <a:prstGeom prst="rect">
            <a:avLst/>
          </a:prstGeom>
          <a:noFill/>
        </p:spPr>
        <p:txBody>
          <a:bodyPr wrap="square" anchor="t"/>
          <a:lstStyle/>
          <a:p>
            <a:pPr algn="l"/>
            <a:r>
              <a:rPr sz="1500" b="1">
                <a:solidFill>
                  <a:srgbClr val="0B2C4A"/>
                </a:solidFill>
                <a:latin typeface="Calibri"/>
              </a:rPr>
              <a:t>Why Cockers get this</a:t>
            </a:r>
          </a:p>
        </p:txBody>
      </p:sp>
      <p:sp>
        <p:nvSpPr>
          <p:cNvPr id="13" name="TextBox 12"/>
          <p:cNvSpPr txBox="1"/>
          <p:nvPr/>
        </p:nvSpPr>
        <p:spPr>
          <a:xfrm>
            <a:off x="713232" y="2862072"/>
            <a:ext cx="3291840" cy="3172968"/>
          </a:xfrm>
          <a:prstGeom prst="rect">
            <a:avLst/>
          </a:prstGeom>
          <a:noFill/>
        </p:spPr>
        <p:txBody>
          <a:bodyPr wrap="square" anchor="t"/>
          <a:lstStyle/>
          <a:p>
            <a:pPr algn="l"/>
            <a:r>
              <a:rPr sz="1300" b="0">
                <a:solidFill>
                  <a:srgbClr val="3D4A57"/>
                </a:solidFill>
                <a:latin typeface="Calibri"/>
              </a:rPr>
              <a:t>Pendulous, hairy canals and allergic skin disease drive chronic otitis. Stenosis hides the drum. Infection commonly extends to the middle ear even when the tympanic membrane still looks intact.</a:t>
            </a:r>
          </a:p>
        </p:txBody>
      </p:sp>
      <p:sp>
        <p:nvSpPr>
          <p:cNvPr id="14" name="Rounded Rectangle 13"/>
          <p:cNvSpPr/>
          <p:nvPr/>
        </p:nvSpPr>
        <p:spPr>
          <a:xfrm>
            <a:off x="4297680" y="2423160"/>
            <a:ext cx="365760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23160"/>
            <a:ext cx="91440" cy="37033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32888"/>
            <a:ext cx="3291840" cy="347472"/>
          </a:xfrm>
          <a:prstGeom prst="rect">
            <a:avLst/>
          </a:prstGeom>
          <a:noFill/>
        </p:spPr>
        <p:txBody>
          <a:bodyPr wrap="square" anchor="t"/>
          <a:lstStyle/>
          <a:p>
            <a:pPr algn="l"/>
            <a:r>
              <a:rPr sz="1500" b="1">
                <a:solidFill>
                  <a:srgbClr val="0B2C4A"/>
                </a:solidFill>
                <a:latin typeface="Calibri"/>
              </a:rPr>
              <a:t>What the signs mean</a:t>
            </a:r>
          </a:p>
        </p:txBody>
      </p:sp>
      <p:sp>
        <p:nvSpPr>
          <p:cNvPr id="17" name="TextBox 16"/>
          <p:cNvSpPr txBox="1"/>
          <p:nvPr/>
        </p:nvSpPr>
        <p:spPr>
          <a:xfrm>
            <a:off x="4553712" y="2862072"/>
            <a:ext cx="3291840" cy="3172968"/>
          </a:xfrm>
          <a:prstGeom prst="rect">
            <a:avLst/>
          </a:prstGeom>
          <a:noFill/>
        </p:spPr>
        <p:txBody>
          <a:bodyPr wrap="square" anchor="t"/>
          <a:lstStyle/>
          <a:p>
            <a:pPr algn="l"/>
            <a:r>
              <a:rPr sz="1300" b="0">
                <a:solidFill>
                  <a:srgbClr val="3D4A57"/>
                </a:solidFill>
                <a:latin typeface="Calibri"/>
              </a:rPr>
              <a:t>Circling left = left-sided vestibular. Intact drum does not rule out otitis media/interna. True knuckling is not typical of simple peripheral vestibular disease — recheck placing; if real, think central involvement and image.</a:t>
            </a:r>
          </a:p>
        </p:txBody>
      </p:sp>
      <p:sp>
        <p:nvSpPr>
          <p:cNvPr id="18" name="Rounded Rectangle 17"/>
          <p:cNvSpPr/>
          <p:nvPr/>
        </p:nvSpPr>
        <p:spPr>
          <a:xfrm>
            <a:off x="8138160" y="2423160"/>
            <a:ext cx="3566160" cy="3703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23160"/>
            <a:ext cx="91440" cy="37033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32888"/>
            <a:ext cx="3200400" cy="347472"/>
          </a:xfrm>
          <a:prstGeom prst="rect">
            <a:avLst/>
          </a:prstGeom>
          <a:noFill/>
        </p:spPr>
        <p:txBody>
          <a:bodyPr wrap="square" anchor="t"/>
          <a:lstStyle/>
          <a:p>
            <a:pPr algn="l"/>
            <a:r>
              <a:rPr sz="1500" b="1">
                <a:solidFill>
                  <a:srgbClr val="0B2C4A"/>
                </a:solidFill>
                <a:latin typeface="Calibri"/>
              </a:rPr>
              <a:t>Already on board</a:t>
            </a:r>
          </a:p>
        </p:txBody>
      </p:sp>
      <p:sp>
        <p:nvSpPr>
          <p:cNvPr id="21" name="TextBox 20"/>
          <p:cNvSpPr txBox="1"/>
          <p:nvPr/>
        </p:nvSpPr>
        <p:spPr>
          <a:xfrm>
            <a:off x="8394192" y="2862072"/>
            <a:ext cx="3200400" cy="3172968"/>
          </a:xfrm>
          <a:prstGeom prst="rect">
            <a:avLst/>
          </a:prstGeom>
          <a:noFill/>
        </p:spPr>
        <p:txBody>
          <a:bodyPr wrap="square" anchor="t"/>
          <a:lstStyle/>
          <a:p>
            <a:pPr algn="l"/>
            <a:r>
              <a:rPr sz="1300" b="0">
                <a:solidFill>
                  <a:srgbClr val="3D4A57"/>
                </a:solidFill>
                <a:latin typeface="Calibri"/>
              </a:rPr>
              <a:t>DexSP reduces canal swelling so you can see the drum. Do not add an NSAID on top of a glucocorticoid. Do not put aminoglycoside ointment (e.g. neomycin) in an ear if middle/inner ear disease is possible.</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NEUROLOGIC + INFECTIOUS DISEASE  ·  HIGHER ANESTHETIC RISK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dog is ASA III — and what changes today</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600" b="1">
                <a:solidFill>
                  <a:srgbClr val="2E6B4F"/>
                </a:solidFill>
                <a:latin typeface="Calibri"/>
              </a:rPr>
              <a:t>ASA III, not II or IV</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would be dirty ears without neurologic signs.
III: ongoing infection plus vestibular dysfunction, still cardiovascularly stable and walking.
IV if recumbent, dull, septic, or in respiratory distress.
Add E only if this is a true emergency cut tonight — most of these dogs need imaging and medical control first.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Preoperative plan for this patient</a:t>
            </a:r>
          </a:p>
        </p:txBody>
      </p:sp>
      <p:sp>
        <p:nvSpPr>
          <p:cNvPr id="13" name="TextBox 12"/>
          <p:cNvSpPr txBox="1"/>
          <p:nvPr/>
        </p:nvSpPr>
        <p:spPr>
          <a:xfrm>
            <a:off x="4480560" y="1691640"/>
            <a:ext cx="6949440" cy="4114800"/>
          </a:xfrm>
          <a:prstGeom prst="rect">
            <a:avLst/>
          </a:prstGeom>
          <a:noFill/>
        </p:spPr>
        <p:txBody>
          <a:bodyPr wrap="square">
            <a:spAutoFit/>
          </a:bodyPr>
          <a:lstStyle/>
          <a:p>
            <a:pPr algn="l">
              <a:spcAft>
                <a:spcPts val="600"/>
              </a:spcAft>
            </a:pPr>
            <a:r>
              <a:rPr sz="1400" b="0">
                <a:solidFill>
                  <a:srgbClr val="1C1C1C"/>
                </a:solidFill>
                <a:latin typeface="Calibri"/>
              </a:rPr>
              <a:t>▸  Full neuro exam: mentation, head tilt, nystagmus (fast phase), facial nerve, Horner’s, paw placing on all four limbs.</a:t>
            </a:r>
          </a:p>
          <a:p>
            <a:pPr algn="l">
              <a:spcAft>
                <a:spcPts val="600"/>
              </a:spcAft>
            </a:pPr>
            <a:r>
              <a:rPr sz="1400" b="0">
                <a:solidFill>
                  <a:srgbClr val="1C1C1C"/>
                </a:solidFill>
                <a:latin typeface="Calibri"/>
              </a:rPr>
              <a:t>▸  CBC/chemistry ± culture of the canal. CT of the bullae (or MRI if knuckling is real) before TECA or deep flush under anesthesia.</a:t>
            </a:r>
          </a:p>
          <a:p>
            <a:pPr algn="l">
              <a:spcAft>
                <a:spcPts val="600"/>
              </a:spcAft>
            </a:pPr>
            <a:r>
              <a:rPr sz="1400" b="0">
                <a:solidFill>
                  <a:srgbClr val="1C1C1C"/>
                </a:solidFill>
                <a:latin typeface="Calibri"/>
              </a:rPr>
              <a:t>▸  This is infected tissue — antimicrobials are treatment, not clean-surgery prophylaxis.</a:t>
            </a:r>
          </a:p>
          <a:p>
            <a:pPr algn="l">
              <a:spcAft>
                <a:spcPts val="600"/>
              </a:spcAft>
            </a:pPr>
            <a:r>
              <a:rPr sz="1400" b="0">
                <a:solidFill>
                  <a:srgbClr val="1C1C1C"/>
                </a:solidFill>
                <a:latin typeface="Calibri"/>
              </a:rPr>
              <a:t>▸  Protect the airway; vestibular dogs regurgitate. Fast as for any anesthetic. Pad well; they fall.</a:t>
            </a:r>
          </a:p>
          <a:p>
            <a:pPr algn="l">
              <a:spcAft>
                <a:spcPts val="600"/>
              </a:spcAft>
            </a:pPr>
            <a:r>
              <a:rPr sz="1400" b="0">
                <a:solidFill>
                  <a:srgbClr val="1C1C1C"/>
                </a:solidFill>
                <a:latin typeface="Calibri"/>
              </a:rPr>
              <a:t>▸  Consent: persistent head tilt, deafness, facial paralysis, Horner’s, need for TECA if medical therapy fails.</a:t>
            </a:r>
          </a:p>
          <a:p>
            <a:pPr algn="l">
              <a:spcAft>
                <a:spcPts val="600"/>
              </a:spcAft>
            </a:pPr>
            <a:r>
              <a:rPr sz="1400" b="0">
                <a:solidFill>
                  <a:srgbClr val="1C1C1C"/>
                </a:solidFill>
                <a:latin typeface="Calibri"/>
              </a:rPr>
              <a:t>▸  Delay any unrelated elective procedure until the dog can walk a straight line and eat.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 CC8  ·  WEEK 3 COMMUNICATION CONTINUES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  ·  DVM 613 WILL THANK YOU</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22–42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22  /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LABORATORY AND OSCE — SAME SKILLS YOU WILL USE EVERY SURGERY 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score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DVM 612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AFTER INDUCTION, IMMEDIATELY BEFORE SURGERY — NOT LAST 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TextBox 7"/>
          <p:cNvSpPr txBox="1"/>
          <p:nvPr/>
        </p:nvSpPr>
        <p:spPr>
          <a:xfrm>
            <a:off x="457200" y="1097280"/>
            <a:ext cx="6949440" cy="5029200"/>
          </a:xfrm>
          <a:prstGeom prst="rect">
            <a:avLst/>
          </a:prstGeom>
          <a:noFill/>
        </p:spPr>
        <p:txBody>
          <a:bodyPr wrap="square">
            <a:spAutoFit/>
          </a:bodyPr>
          <a:lstStyle/>
          <a:p>
            <a:pPr algn="l">
              <a:spcAft>
                <a:spcPts val="900"/>
              </a:spcAft>
            </a:pPr>
            <a:r>
              <a:rPr sz="1600" b="0">
                <a:solidFill>
                  <a:srgbClr val="1C1C1C"/>
                </a:solidFill>
                <a:latin typeface="Calibri"/>
              </a:rPr>
              <a:t>▸  Electric clippers, clean #40 blade, teeth intact. Razors create micro-nicks and raise SSI risk.</a:t>
            </a:r>
          </a:p>
          <a:p>
            <a:pPr algn="l">
              <a:spcAft>
                <a:spcPts val="900"/>
              </a:spcAft>
            </a:pPr>
            <a:r>
              <a:rPr sz="1600" b="0">
                <a:solidFill>
                  <a:srgbClr val="1C1C1C"/>
                </a:solidFill>
                <a:latin typeface="Calibri"/>
              </a:rPr>
              <a:t>▸  Clip with the grain, then against, to the skin. Tense the skin in folds, mammary chain, inguinal region.</a:t>
            </a:r>
          </a:p>
          <a:p>
            <a:pPr algn="l">
              <a:spcAft>
                <a:spcPts val="900"/>
              </a:spcAft>
            </a:pPr>
            <a:r>
              <a:rPr sz="1600" b="0">
                <a:solidFill>
                  <a:srgbClr val="1C1C1C"/>
                </a:solidFill>
                <a:latin typeface="Calibri"/>
              </a:rPr>
              <a:t>▸  Field large enough to extend the incision, place a drain, and keep drape edges off hair (~20 cm beyond planned incision is a Fossum-style working rule).</a:t>
            </a:r>
          </a:p>
          <a:p>
            <a:pPr algn="l">
              <a:spcAft>
                <a:spcPts val="900"/>
              </a:spcAft>
            </a:pPr>
            <a:r>
              <a:rPr sz="1600" b="0">
                <a:solidFill>
                  <a:srgbClr val="1C1C1C"/>
                </a:solidFill>
                <a:latin typeface="Calibri"/>
              </a:rPr>
              <a:t>▸  Vacuum. Loose hair is a mobile contaminant.</a:t>
            </a:r>
          </a:p>
          <a:p>
            <a:pPr algn="l">
              <a:spcAft>
                <a:spcPts val="900"/>
              </a:spcAft>
            </a:pPr>
            <a:r>
              <a:rPr sz="1600" b="0">
                <a:solidFill>
                  <a:srgbClr val="1C1C1C"/>
                </a:solidFill>
                <a:latin typeface="Calibri"/>
              </a:rPr>
              <a:t>▸  Do not clip the night before: bacterial load at the site rises as the skin is injured.</a:t>
            </a:r>
          </a:p>
          <a:p>
            <a:pPr algn="l">
              <a:spcAft>
                <a:spcPts val="900"/>
              </a:spcAft>
            </a:pPr>
            <a:r>
              <a:rPr sz="1600" b="0">
                <a:solidFill>
                  <a:srgbClr val="1C1C1C"/>
                </a:solidFill>
                <a:latin typeface="Calibri"/>
              </a:rPr>
              <a:t>▸  Clipper burn is a wound. Overheated blades and too much pressure = postop pain and infection.</a:t>
            </a:r>
          </a:p>
        </p:txBody>
      </p:sp>
      <p:sp>
        <p:nvSpPr>
          <p:cNvPr id="9" name="Rounded Rectangle 8"/>
          <p:cNvSpPr/>
          <p:nvPr/>
        </p:nvSpPr>
        <p:spPr>
          <a:xfrm>
            <a:off x="7589520" y="1097280"/>
            <a:ext cx="411480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280160"/>
            <a:ext cx="3703320" cy="365760"/>
          </a:xfrm>
          <a:prstGeom prst="rect">
            <a:avLst/>
          </a:prstGeom>
          <a:noFill/>
        </p:spPr>
        <p:txBody>
          <a:bodyPr wrap="square" anchor="t"/>
          <a:lstStyle/>
          <a:p>
            <a:pPr algn="l"/>
            <a:r>
              <a:rPr sz="1600" b="1">
                <a:solidFill>
                  <a:srgbClr val="0B2C4A"/>
                </a:solidFill>
                <a:latin typeface="Calibri"/>
              </a:rPr>
              <a:t>OHE clip field</a:t>
            </a:r>
          </a:p>
        </p:txBody>
      </p:sp>
      <p:sp>
        <p:nvSpPr>
          <p:cNvPr id="11" name="TextBox 10"/>
          <p:cNvSpPr txBox="1"/>
          <p:nvPr/>
        </p:nvSpPr>
        <p:spPr>
          <a:xfrm>
            <a:off x="7818120" y="1783080"/>
            <a:ext cx="3703320" cy="4023360"/>
          </a:xfrm>
          <a:prstGeom prst="rect">
            <a:avLst/>
          </a:prstGeom>
          <a:noFill/>
        </p:spPr>
        <p:txBody>
          <a:bodyPr wrap="square" anchor="t"/>
          <a:lstStyle/>
          <a:p>
            <a:pPr algn="l"/>
            <a:r>
              <a:rPr sz="1500" b="0">
                <a:solidFill>
                  <a:srgbClr val="1C1C1C"/>
                </a:solidFill>
                <a:latin typeface="Calibri"/>
              </a:rPr>
              <a:t>From xiphoid (or a few cm cranial) to pubis, and widely lateral to the nipples.
Include enough caudal abdomen that you can extend if the uterus is unexpected.
Pluck or carefully clip preputial hair if a male abdominal surgery (not OHE) — tuck/flush prepuce as indicated.</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know lab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CONTACT TIME AND DIRECTION MATTER MORE THAN THE NUMBER OF ‘PASSES’ YOU BRAG ABOUT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sp>
        <p:nvSpPr>
          <p:cNvPr id="8" name="TextBox 7"/>
          <p:cNvSpPr txBox="1"/>
          <p:nvPr/>
        </p:nvSpPr>
        <p:spPr>
          <a:xfrm>
            <a:off x="457200" y="1051560"/>
            <a:ext cx="7315200" cy="4297680"/>
          </a:xfrm>
          <a:prstGeom prst="rect">
            <a:avLst/>
          </a:prstGeom>
          <a:noFill/>
        </p:spPr>
        <p:txBody>
          <a:bodyPr wrap="square">
            <a:spAutoFit/>
          </a:bodyPr>
          <a:lstStyle/>
          <a:p>
            <a:pPr algn="l">
              <a:spcAft>
                <a:spcPts val="800"/>
              </a:spcAft>
            </a:pPr>
            <a:r>
              <a:rPr sz="1600" b="0">
                <a:solidFill>
                  <a:srgbClr val="1C1C1C"/>
                </a:solidFill>
                <a:latin typeface="Calibri"/>
              </a:rPr>
              <a:t>▸  Dirty prep (prep room): remove grease and gross contamination. Wear clean exam gloves. Discard gauze when it leaves the center.</a:t>
            </a:r>
          </a:p>
          <a:p>
            <a:pPr algn="l">
              <a:spcAft>
                <a:spcPts val="800"/>
              </a:spcAft>
            </a:pPr>
            <a:r>
              <a:rPr sz="1600" b="0">
                <a:solidFill>
                  <a:srgbClr val="1C1C1C"/>
                </a:solidFill>
                <a:latin typeface="Calibri"/>
              </a:rPr>
              <a:t>▸  Sterile prep (OR): sterile gloves, sterile gauze or applicator. New sponge every time you leave the incision line.</a:t>
            </a:r>
          </a:p>
          <a:p>
            <a:pPr algn="l">
              <a:spcAft>
                <a:spcPts val="800"/>
              </a:spcAft>
            </a:pPr>
            <a:r>
              <a:rPr sz="1600" b="0">
                <a:solidFill>
                  <a:srgbClr val="1C1C1C"/>
                </a:solidFill>
                <a:latin typeface="Calibri"/>
              </a:rPr>
              <a:t>▸  Start at the planned incision and spiral / wipe outward. Never bring a dirty sponge back to the center.</a:t>
            </a:r>
          </a:p>
          <a:p>
            <a:pPr algn="l">
              <a:spcAft>
                <a:spcPts val="800"/>
              </a:spcAft>
            </a:pPr>
            <a:r>
              <a:rPr sz="1600" b="0">
                <a:solidFill>
                  <a:srgbClr val="1C1C1C"/>
                </a:solidFill>
                <a:latin typeface="Calibri"/>
              </a:rPr>
              <a:t>▸  Honor manufacturer contact time. Typical working teaching: at least 3 cycles or a timed 3–5 minute contact, then a final paint. Follow the product in your lab.</a:t>
            </a:r>
          </a:p>
          <a:p>
            <a:pPr algn="l">
              <a:spcAft>
                <a:spcPts val="800"/>
              </a:spcAft>
            </a:pPr>
            <a:r>
              <a:rPr sz="1600" b="0">
                <a:solidFill>
                  <a:srgbClr val="1C1C1C"/>
                </a:solidFill>
                <a:latin typeface="Calibri"/>
              </a:rPr>
              <a:t>▸  The site should be damp-to-dry, not a lake. Puddles wick bacteria under drapes and soak the patient (hypothermia).</a:t>
            </a:r>
          </a:p>
        </p:txBody>
      </p:sp>
      <p:sp>
        <p:nvSpPr>
          <p:cNvPr id="9" name="Rounded Rectangle 8"/>
          <p:cNvSpPr/>
          <p:nvPr/>
        </p:nvSpPr>
        <p:spPr>
          <a:xfrm>
            <a:off x="7955279" y="1097280"/>
            <a:ext cx="3749039"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325880"/>
            <a:ext cx="3383280" cy="457200"/>
          </a:xfrm>
          <a:prstGeom prst="rect">
            <a:avLst/>
          </a:prstGeom>
          <a:noFill/>
        </p:spPr>
        <p:txBody>
          <a:bodyPr wrap="square" anchor="t"/>
          <a:lstStyle/>
          <a:p>
            <a:pPr algn="l"/>
            <a:r>
              <a:rPr sz="1600" b="1">
                <a:solidFill>
                  <a:srgbClr val="C5A35A"/>
                </a:solidFill>
                <a:latin typeface="Calibri"/>
              </a:rPr>
              <a:t>High-risk mistakes</a:t>
            </a:r>
          </a:p>
        </p:txBody>
      </p:sp>
      <p:sp>
        <p:nvSpPr>
          <p:cNvPr id="11" name="TextBox 10"/>
          <p:cNvSpPr txBox="1"/>
          <p:nvPr/>
        </p:nvSpPr>
        <p:spPr>
          <a:xfrm>
            <a:off x="8183879" y="1920240"/>
            <a:ext cx="3383280" cy="3931920"/>
          </a:xfrm>
          <a:prstGeom prst="rect">
            <a:avLst/>
          </a:prstGeom>
          <a:noFill/>
        </p:spPr>
        <p:txBody>
          <a:bodyPr wrap="square" anchor="t"/>
          <a:lstStyle/>
          <a:p>
            <a:pPr algn="l"/>
            <a:r>
              <a:rPr sz="1500" b="0">
                <a:solidFill>
                  <a:srgbClr val="FFFFFF"/>
                </a:solidFill>
                <a:latin typeface="Calibri"/>
              </a:rPr>
              <a:t>• Scrubbing back and forth like washing a car
• Using the same gauze on anus and incision
• CHG in the eye or ear canal
• Alcohol pooling + electrocautery
• ‘One quick wipe’ and draping wet
• Contaminating the site while moving the dog</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GOWN, GLOVE, BOX THE FIELD, THEN THE LARGE DRAPE — DVM 612 LAB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a:t>
            </a:r>
          </a:p>
        </p:txBody>
      </p:sp>
      <p:sp>
        <p:nvSpPr>
          <p:cNvPr id="8" name="TextBox 7"/>
          <p:cNvSpPr txBox="1"/>
          <p:nvPr/>
        </p:nvSpPr>
        <p:spPr>
          <a:xfrm>
            <a:off x="457200" y="1051560"/>
            <a:ext cx="7040880" cy="5120640"/>
          </a:xfrm>
          <a:prstGeom prst="rect">
            <a:avLst/>
          </a:prstGeom>
          <a:noFill/>
        </p:spPr>
        <p:txBody>
          <a:bodyPr wrap="square">
            <a:spAutoFit/>
          </a:bodyPr>
          <a:lstStyle/>
          <a:p>
            <a:pPr algn="l">
              <a:spcAft>
                <a:spcPts val="800"/>
              </a:spcAft>
            </a:pPr>
            <a:r>
              <a:rPr sz="1500" b="0">
                <a:solidFill>
                  <a:srgbClr val="1C1C1C"/>
                </a:solidFill>
                <a:latin typeface="Calibri"/>
              </a:rPr>
              <a:t>▸  Four sterile towels (or equivalent) placed to box the field: cranial, caudal, left, right. Place the near towel first so you do not reach across the dog.</a:t>
            </a:r>
          </a:p>
          <a:p>
            <a:pPr algn="l">
              <a:spcAft>
                <a:spcPts val="800"/>
              </a:spcAft>
            </a:pPr>
            <a:r>
              <a:rPr sz="1500" b="0">
                <a:solidFill>
                  <a:srgbClr val="1C1C1C"/>
                </a:solidFill>
                <a:latin typeface="Calibri"/>
              </a:rPr>
              <a:t>▸  Towel edges cover all hair. If hair is visible, the drape is wrong — re-clip or re-drape, do not ‘tuck and hope.’</a:t>
            </a:r>
          </a:p>
          <a:p>
            <a:pPr algn="l">
              <a:spcAft>
                <a:spcPts val="800"/>
              </a:spcAft>
            </a:pPr>
            <a:r>
              <a:rPr sz="1500" b="0">
                <a:solidFill>
                  <a:srgbClr val="1C1C1C"/>
                </a:solidFill>
                <a:latin typeface="Calibri"/>
              </a:rPr>
              <a:t>▸  Secure (Backhaus clamps or atraumatic alternatives per lab). Do not tent the skin into the incision. Do not puncture the patient’s skin carelessly with clamps.</a:t>
            </a:r>
          </a:p>
          <a:p>
            <a:pPr algn="l">
              <a:spcAft>
                <a:spcPts val="800"/>
              </a:spcAft>
            </a:pPr>
            <a:r>
              <a:rPr sz="1500" b="0">
                <a:solidFill>
                  <a:srgbClr val="1C1C1C"/>
                </a:solidFill>
                <a:latin typeface="Calibri"/>
              </a:rPr>
              <a:t>▸  Large fenestrated or four-corner large drape over the towels. Cuff your hands. Never shake drapes over the field.</a:t>
            </a:r>
          </a:p>
          <a:p>
            <a:pPr algn="l">
              <a:spcAft>
                <a:spcPts val="800"/>
              </a:spcAft>
            </a:pPr>
            <a:r>
              <a:rPr sz="1500" b="0">
                <a:solidFill>
                  <a:srgbClr val="1C1C1C"/>
                </a:solidFill>
                <a:latin typeface="Calibri"/>
              </a:rPr>
              <a:t>▸  Once down, the top surface is sterile; table edges and below table height are not. Hands stay on the field.</a:t>
            </a:r>
          </a:p>
          <a:p>
            <a:pPr algn="l">
              <a:spcAft>
                <a:spcPts val="800"/>
              </a:spcAft>
            </a:pPr>
            <a:r>
              <a:rPr sz="1500" b="0">
                <a:solidFill>
                  <a:srgbClr val="1C1C1C"/>
                </a:solidFill>
                <a:latin typeface="Calibri"/>
              </a:rPr>
              <a:t>▸  If a drape is wet through (strikethrough), it is contaminated. Cover or replace.</a:t>
            </a:r>
          </a:p>
        </p:txBody>
      </p:sp>
      <p:sp>
        <p:nvSpPr>
          <p:cNvPr id="9" name="Rounded Rectangle 8"/>
          <p:cNvSpPr/>
          <p:nvPr/>
        </p:nvSpPr>
        <p:spPr>
          <a:xfrm>
            <a:off x="7680960" y="1097280"/>
            <a:ext cx="402336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280160"/>
            <a:ext cx="3657600" cy="457200"/>
          </a:xfrm>
          <a:prstGeom prst="rect">
            <a:avLst/>
          </a:prstGeom>
          <a:noFill/>
        </p:spPr>
        <p:txBody>
          <a:bodyPr wrap="square" anchor="t"/>
          <a:lstStyle/>
          <a:p>
            <a:pPr algn="l"/>
            <a:r>
              <a:rPr sz="1600" b="1">
                <a:solidFill>
                  <a:srgbClr val="0B2C4A"/>
                </a:solidFill>
                <a:latin typeface="Calibri"/>
              </a:rPr>
              <a:t>Order of operations</a:t>
            </a:r>
          </a:p>
        </p:txBody>
      </p:sp>
      <p:sp>
        <p:nvSpPr>
          <p:cNvPr id="11" name="TextBox 10"/>
          <p:cNvSpPr txBox="1"/>
          <p:nvPr/>
        </p:nvSpPr>
        <p:spPr>
          <a:xfrm>
            <a:off x="7909560" y="1874519"/>
            <a:ext cx="3657600" cy="3931920"/>
          </a:xfrm>
          <a:prstGeom prst="rect">
            <a:avLst/>
          </a:prstGeom>
          <a:noFill/>
        </p:spPr>
        <p:txBody>
          <a:bodyPr wrap="square" anchor="t"/>
          <a:lstStyle/>
          <a:p>
            <a:pPr algn="l"/>
            <a:r>
              <a:rPr sz="1500" b="0">
                <a:solidFill>
                  <a:srgbClr val="1C1C1C"/>
                </a:solidFill>
                <a:latin typeface="Calibri"/>
              </a:rPr>
              <a:t>1. You are gowned/gloved
   (or a sterile assistant drapes)
2. Towels — four quadrants
3. Clamps
4. Large drape
5. Organize instruments on a sterile table
6. Timeout
7. Announce: ready to incise
In lab: tell your instructor before the incision.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Surgeon preparation</a:t>
            </a:r>
          </a:p>
        </p:txBody>
      </p:sp>
      <p:sp>
        <p:nvSpPr>
          <p:cNvPr id="8" name="Rounded Rectangle 7"/>
          <p:cNvSpPr/>
          <p:nvPr/>
        </p:nvSpPr>
        <p:spPr>
          <a:xfrm>
            <a:off x="457200" y="109728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10789920" cy="868680"/>
          </a:xfrm>
          <a:prstGeom prst="rect">
            <a:avLst/>
          </a:prstGeom>
          <a:noFill/>
        </p:spPr>
        <p:txBody>
          <a:bodyPr wrap="square" anchor="t"/>
          <a:lstStyle/>
          <a:p>
            <a:pPr algn="l"/>
            <a:r>
              <a:rPr sz="1600" b="0">
                <a:solidFill>
                  <a:srgbClr val="1C1C1C"/>
                </a:solidFill>
                <a:latin typeface="Calibri"/>
              </a:rPr>
              <a:t>Clean scrubs, cap covering all hair, mask over nose and mouth, no jewelry, nails short, no polish/gels in most ORs. Shoes closed-toe. Eat/drink/bathroom before you scrub — leaving the field is a bigger sin than a slightly longer scrub.</a:t>
            </a:r>
          </a:p>
        </p:txBody>
      </p:sp>
      <p:sp>
        <p:nvSpPr>
          <p:cNvPr id="10" name="Rounded Rectangle 9"/>
          <p:cNvSpPr/>
          <p:nvPr/>
        </p:nvSpPr>
        <p:spPr>
          <a:xfrm>
            <a:off x="45720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78608"/>
            <a:ext cx="3291840" cy="347472"/>
          </a:xfrm>
          <a:prstGeom prst="rect">
            <a:avLst/>
          </a:prstGeom>
          <a:noFill/>
        </p:spPr>
        <p:txBody>
          <a:bodyPr wrap="square" anchor="t"/>
          <a:lstStyle/>
          <a:p>
            <a:pPr algn="l"/>
            <a:r>
              <a:rPr sz="1500" b="1">
                <a:solidFill>
                  <a:srgbClr val="0B2C4A"/>
                </a:solidFill>
                <a:latin typeface="Calibri"/>
              </a:rPr>
              <a:t>Surgical scrub</a:t>
            </a:r>
          </a:p>
        </p:txBody>
      </p:sp>
      <p:sp>
        <p:nvSpPr>
          <p:cNvPr id="13" name="TextBox 12"/>
          <p:cNvSpPr txBox="1"/>
          <p:nvPr/>
        </p:nvSpPr>
        <p:spPr>
          <a:xfrm>
            <a:off x="713232" y="2907792"/>
            <a:ext cx="3291840" cy="3127248"/>
          </a:xfrm>
          <a:prstGeom prst="rect">
            <a:avLst/>
          </a:prstGeom>
          <a:noFill/>
        </p:spPr>
        <p:txBody>
          <a:bodyPr wrap="square" anchor="t"/>
          <a:lstStyle/>
          <a:p>
            <a:pPr algn="l"/>
            <a:r>
              <a:rPr sz="1300" b="0">
                <a:solidFill>
                  <a:srgbClr val="3D4A57"/>
                </a:solidFill>
                <a:latin typeface="Calibri"/>
              </a:rPr>
              <a:t>Timed ~3–5 min or counted brushless CHG/alcohol per product. Fingers → hands → wrists → elbows. Rinse fingertips-up. Hands above elbows walking to the OR.</a:t>
            </a:r>
          </a:p>
        </p:txBody>
      </p:sp>
      <p:sp>
        <p:nvSpPr>
          <p:cNvPr id="14" name="Rounded Rectangle 13"/>
          <p:cNvSpPr/>
          <p:nvPr/>
        </p:nvSpPr>
        <p:spPr>
          <a:xfrm>
            <a:off x="429768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78608"/>
            <a:ext cx="3291840" cy="347472"/>
          </a:xfrm>
          <a:prstGeom prst="rect">
            <a:avLst/>
          </a:prstGeom>
          <a:noFill/>
        </p:spPr>
        <p:txBody>
          <a:bodyPr wrap="square" anchor="t"/>
          <a:lstStyle/>
          <a:p>
            <a:pPr algn="l"/>
            <a:r>
              <a:rPr sz="1500" b="1">
                <a:solidFill>
                  <a:srgbClr val="0B2C4A"/>
                </a:solidFill>
                <a:latin typeface="Calibri"/>
              </a:rPr>
              <a:t>Gowning</a:t>
            </a:r>
          </a:p>
        </p:txBody>
      </p:sp>
      <p:sp>
        <p:nvSpPr>
          <p:cNvPr id="17" name="TextBox 16"/>
          <p:cNvSpPr txBox="1"/>
          <p:nvPr/>
        </p:nvSpPr>
        <p:spPr>
          <a:xfrm>
            <a:off x="4553712" y="2907792"/>
            <a:ext cx="3291840" cy="3127248"/>
          </a:xfrm>
          <a:prstGeom prst="rect">
            <a:avLst/>
          </a:prstGeom>
          <a:noFill/>
        </p:spPr>
        <p:txBody>
          <a:bodyPr wrap="square" anchor="t"/>
          <a:lstStyle/>
          <a:p>
            <a:pPr algn="l"/>
            <a:r>
              <a:rPr sz="1300" b="0">
                <a:solidFill>
                  <a:srgbClr val="3D4A57"/>
                </a:solidFill>
                <a:latin typeface="Calibri"/>
              </a:rPr>
              <a:t>Dry with sterile towel without contaminating. Gown without touching the outer surface. Assistant ties. Keep hands in cuffs for closed gloving.</a:t>
            </a:r>
          </a:p>
        </p:txBody>
      </p:sp>
      <p:sp>
        <p:nvSpPr>
          <p:cNvPr id="18" name="Rounded Rectangle 17"/>
          <p:cNvSpPr/>
          <p:nvPr/>
        </p:nvSpPr>
        <p:spPr>
          <a:xfrm>
            <a:off x="813816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78608"/>
            <a:ext cx="3291840" cy="347472"/>
          </a:xfrm>
          <a:prstGeom prst="rect">
            <a:avLst/>
          </a:prstGeom>
          <a:noFill/>
        </p:spPr>
        <p:txBody>
          <a:bodyPr wrap="square" anchor="t"/>
          <a:lstStyle/>
          <a:p>
            <a:pPr algn="l"/>
            <a:r>
              <a:rPr sz="1500" b="1">
                <a:solidFill>
                  <a:srgbClr val="0B2C4A"/>
                </a:solidFill>
                <a:latin typeface="Calibri"/>
              </a:rPr>
              <a:t>Gloving</a:t>
            </a:r>
          </a:p>
        </p:txBody>
      </p:sp>
      <p:sp>
        <p:nvSpPr>
          <p:cNvPr id="21" name="TextBox 20"/>
          <p:cNvSpPr txBox="1"/>
          <p:nvPr/>
        </p:nvSpPr>
        <p:spPr>
          <a:xfrm>
            <a:off x="8394192" y="2907792"/>
            <a:ext cx="3291840" cy="3127248"/>
          </a:xfrm>
          <a:prstGeom prst="rect">
            <a:avLst/>
          </a:prstGeom>
          <a:noFill/>
        </p:spPr>
        <p:txBody>
          <a:bodyPr wrap="square" anchor="t"/>
          <a:lstStyle/>
          <a:p>
            <a:pPr algn="l"/>
            <a:r>
              <a:rPr sz="1300" b="0">
                <a:solidFill>
                  <a:srgbClr val="3D4A57"/>
                </a:solidFill>
                <a:latin typeface="Calibri"/>
              </a:rPr>
              <a:t>Closed gloving after gowning is preferred. Open gloving to replace a contaminated glove. If in doubt, both gloves come off and you start over.</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In lab we will stop you once to teach the correction if you miss it.
A second unrecognized break means you cannot maintain an aseptic field — that lab is over.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42–57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~15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35  /  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the surgery is not over</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Airway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Extubate when swallow/gag returns (species-specific). Brachycephalics: later, oxygen-ready, watch stertor. Never leave a recovering patient.</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Breathing</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SpO2, mucus membranes, effort. Reverse residual drugs if appropriate. Aspiration risk if regurg occurred.</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Circulation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HR, pulse, mm, CRT, BP if indicated. Pale + tachycardia after celiotomy is hemorrhage until proven otherwise.</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Temperature</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Most surgical patients are hypothermic. Rewarm actively but do not burn. Hypothermia → delayed recovery, coagulopathy, SSI.</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Pain &amp; nausea</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Score pain. Give the analgesic you planned. Antiemetic if indicated. A ‘quiet’ animal may be cold, hypotensive, or painful — look.</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Incision &amp; pee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Spot-check for bleed-through. Know when they last urinated. E-collar before they are awake enough to lick.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(Week 15): output, site,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LO 7  ·  WEEK 3 REPORTS, APPLIED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LO 7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SAME PRINCIPLES; DIFFERENT DIRT, RESTRAINT, AND RECOVERY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footnote (Week 13 will go deep)</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ANESTHESIA STUDENT HAS THE DOG READY FOR YOU.</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Integrated case — 8 minutes</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600" b="0">
                <a:solidFill>
                  <a:srgbClr val="0B2C4A"/>
                </a:solidFill>
                <a:latin typeface="Calibri"/>
              </a:rPr>
              <a:t>1-year-old female Labrador, 22 kg, BCS 5/9. Elective OHE. PE normal. PCV 45%, TS 6.8 g/dL. Last meal 5 hours ago. Client is in reception. Client-owned animal, going home after recovery.</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300" b="0">
                <a:solidFill>
                  <a:srgbClr val="1C1C1C"/>
                </a:solidFill>
                <a:latin typeface="Calibri"/>
              </a:rPr>
              <a:t>ASA I. Consent + DNR. No routine Abx. Opioid + NSAID plan + line block. Checklist.</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300" b="0">
                <a:solidFill>
                  <a:srgbClr val="1C1C1C"/>
                </a:solidFill>
                <a:latin typeface="Calibri"/>
              </a:rPr>
              <a:t>Clip xiphoid–pubis after plane is surgical. Dirty prep → OR → dorsal → sterile prep → four-quadrant drape. Closed glove.</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300" b="0">
                <a:solidFill>
                  <a:srgbClr val="1C1C1C"/>
                </a:solidFill>
                <a:latin typeface="Calibri"/>
              </a:rPr>
              <a:t>Announce incision. Halsted. Show pedicles before you drop them. Secure linea. Skin closure you can defend.</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300" b="0">
                <a:solidFill>
                  <a:srgbClr val="1C1C1C"/>
                </a:solidFill>
                <a:latin typeface="Calibri"/>
              </a:rPr>
              <a:t>Rewarm, score pain, e-collar. Watch color/HR. Written discharge + ER list. Recheck 10–14 d. You are still responsible at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Exam 1 pearls</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Vestibular Cocker + severe otitis = ASA III, not a healthy ear flush.</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Clip after induction, #40, not razor, not the night before; spiral prep center → out.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CHG off the cornea and out of the middle ear.</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Four-quadrant drape + closed glove; announce contamination; after incision there is no free warning.</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fascia failure is an emergency;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refer.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WHAT TO READ TONIGHT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 &amp; source map</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 preoperative evaluation, patient prep, postop care chapters (required).</a:t>
            </a:r>
          </a:p>
          <a:p>
            <a:pPr algn="l">
              <a:spcAft>
                <a:spcPts val="800"/>
              </a:spcAft>
            </a:pPr>
            <a:r>
              <a:rPr sz="1500" b="0">
                <a:solidFill>
                  <a:srgbClr val="1C1C1C"/>
                </a:solidFill>
                <a:latin typeface="Calibri"/>
              </a:rPr>
              <a:t>▸  Hendrickson D.A., Baird A.N. Turner and McIlwraith’s Techniques in Large Animal Surgery. 4th ed. Wiley-Blackwell; 2013. (required)</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a:p>
            <a:pPr algn="l">
              <a:spcAft>
                <a:spcPts val="800"/>
              </a:spcAft>
            </a:pPr>
            <a:r>
              <a:rPr sz="1500" b="0">
                <a:solidFill>
                  <a:srgbClr val="1C1C1C"/>
                </a:solidFill>
                <a:latin typeface="Calibri"/>
              </a:rPr>
              <a:t>▸  LIU Lewyt CVM. DVM 612 Principles of Surgery course outline (Week 4 topic; LOs 4, 7, 8).</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Week 4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WEEK 4</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914400"/>
          </a:xfrm>
          <a:prstGeom prst="rect">
            <a:avLst/>
          </a:prstGeom>
          <a:noFill/>
        </p:spPr>
        <p:txBody>
          <a:bodyPr wrap="square" anchor="t"/>
          <a:lstStyle/>
          <a:p>
            <a:pPr algn="l"/>
            <a:r>
              <a:rPr sz="1800" b="0">
                <a:solidFill>
                  <a:srgbClr val="F4EBD3"/>
                </a:solidFill>
                <a:latin typeface="Calibri"/>
              </a:rPr>
              <a:t>Next lab: practice the clip–prep–drape sequence on models until it is boring.
Boring is the goal. Excitement belongs to the pathology, not the asepsis.</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49  /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