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Do your own PE, then use technician vitals as a second set of numbers. Order: examine, then premedicate.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E means emergency. Next: four 60-second cases, then Willie (3-E, we sedated) and MoMo (4-E,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His Status 3-E is the vestibular exam. MoMo: WBC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the columns.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Locals are underused.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skip NSAID. Grid every 5 minutes while sedated. Recovery boxes are part of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Recording the cancellation is a surgical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attribute 22 mg/kg every 90 minutes to AAHA 2022. That guideline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plane before clippers. Veterinary Betadine labels: 7.5% scrub, lather about 5 minutes, rinse, paint 5% Solution Veterinary, allow to dry. Eye: Roberts 1986, 1:50 of 10% PVP-I stock, 2-minute scrub plus 2-minute soak. Do not paint 10% from the veterinary bottle; that bottle is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monitoring are on before the clip.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Ureter injury is a calm,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B is Roberts 1986 bottle math. D is CHG off the cornea. C is the stabilize-first cat.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unsupervised running are the two discharge failures after otherwise adequate closure.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iodine: Roberts 1 to 50 of 10 percent stock, 2 minutes plus 2 minutes on the eye; intact skin is the 7.5 percent scrub for about 5 minutes then 5 percent veterinary paint.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22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6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40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32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2400" b="0">
                <a:solidFill>
                  <a:srgbClr val="F4EBD3"/>
                </a:solidFill>
                <a:latin typeface="Calibri"/>
              </a:rPr>
              <a:t>Lecture  |  38 slides  |  60 minutes  |  107-seat hall</a:t>
            </a:r>
          </a:p>
        </p:txBody>
      </p:sp>
      <p:sp>
        <p:nvSpPr>
          <p:cNvPr id="10" name="TextBox 9"/>
          <p:cNvSpPr txBox="1"/>
          <p:nvPr/>
        </p:nvSpPr>
        <p:spPr>
          <a:xfrm>
            <a:off x="685800" y="4754880"/>
            <a:ext cx="10972800" cy="822960"/>
          </a:xfrm>
          <a:prstGeom prst="rect">
            <a:avLst/>
          </a:prstGeom>
          <a:noFill/>
        </p:spPr>
        <p:txBody>
          <a:bodyPr wrap="square" anchor="t"/>
          <a:lstStyle/>
          <a:p>
            <a:pPr algn="l"/>
            <a:r>
              <a:rPr sz="2600" b="0">
                <a:solidFill>
                  <a:srgbClr val="FFFFFF"/>
                </a:solidFill>
                <a:latin typeface="Calibri"/>
              </a:rPr>
              <a:t>Willie (Cavalier, ASA III-E): sedate.
MoMo (cat, ASA IV-E):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2200" b="0">
                <a:solidFill>
                  <a:srgbClr val="C5A35A"/>
                </a:solidFill>
                <a:latin typeface="Calibri"/>
              </a:rPr>
              <a:t>Required reading: Fossum, Small Animal Surgery, 5th ed. (2018)
Hendrickson &amp; Baird (2013)</a:t>
            </a:r>
          </a:p>
        </p:txBody>
      </p:sp>
      <p:sp>
        <p:nvSpPr>
          <p:cNvPr id="12" name="TextBox 11"/>
          <p:cNvSpPr txBox="1"/>
          <p:nvPr/>
        </p:nvSpPr>
        <p:spPr>
          <a:xfrm>
            <a:off x="10241280" y="6473952"/>
            <a:ext cx="1554480" cy="329184"/>
          </a:xfrm>
          <a:prstGeom prst="rect">
            <a:avLst/>
          </a:prstGeom>
          <a:noFill/>
        </p:spPr>
        <p:txBody>
          <a:bodyPr wrap="square" anchor="ctr"/>
          <a:lstStyle/>
          <a:p>
            <a:pPr algn="r"/>
            <a:r>
              <a:rPr sz="20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Learning objectives</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400"/>
              </a:spcAft>
            </a:pPr>
            <a:r>
              <a:rPr sz="2600" b="0">
                <a:solidFill>
                  <a:srgbClr val="1C1C1C"/>
                </a:solidFill>
                <a:latin typeface="Calibri"/>
              </a:rPr>
              <a:t>▸  Assign ASA after today’s PE and labs. Proceed, delay, or stabilize.</a:t>
            </a:r>
          </a:p>
          <a:p>
            <a:pPr algn="l">
              <a:spcAft>
                <a:spcPts val="1400"/>
              </a:spcAft>
            </a:pPr>
            <a:r>
              <a:rPr sz="2600" b="0">
                <a:solidFill>
                  <a:srgbClr val="1C1C1C"/>
                </a:solidFill>
                <a:latin typeface="Calibri"/>
              </a:rPr>
              <a:t>▸  Write the peri-op plan: fasting, analgesia, antibiotics, consent, checklist.</a:t>
            </a:r>
          </a:p>
          <a:p>
            <a:pPr algn="l">
              <a:spcAft>
                <a:spcPts val="1400"/>
              </a:spcAft>
            </a:pPr>
            <a:r>
              <a:rPr sz="2600" b="0">
                <a:solidFill>
                  <a:srgbClr val="1C1C1C"/>
                </a:solidFill>
                <a:latin typeface="Calibri"/>
              </a:rPr>
              <a:t>▸  Prep for aseptic surgery: clip, labeled antiseptics, 10% PVP-I 1:50 for the eye, drape, closed glove.</a:t>
            </a:r>
          </a:p>
          <a:p>
            <a:pPr algn="l">
              <a:spcAft>
                <a:spcPts val="1400"/>
              </a:spcAft>
            </a:pPr>
            <a:r>
              <a:rPr sz="2600" b="0">
                <a:solidFill>
                  <a:srgbClr val="1C1C1C"/>
                </a:solidFill>
                <a:latin typeface="Calibri"/>
              </a:rPr>
              <a:t>▸  Name a break in asepsis and correct it, before or after the incision.</a:t>
            </a:r>
          </a:p>
          <a:p>
            <a:pPr algn="l">
              <a:spcAft>
                <a:spcPts val="1400"/>
              </a:spcAft>
            </a:pPr>
            <a:r>
              <a:rPr sz="2600" b="0">
                <a:solidFill>
                  <a:srgbClr val="1C1C1C"/>
                </a:solidFill>
                <a:latin typeface="Calibri"/>
              </a:rPr>
              <a:t>▸  Write the postop plan, the surgical report, and 24-hour emergency criteria.</a:t>
            </a:r>
          </a:p>
        </p:txBody>
      </p:sp>
      <p:sp>
        <p:nvSpPr>
          <p:cNvPr id="9" name="Rounded Rectangle 8"/>
          <p:cNvSpPr/>
          <p:nvPr/>
        </p:nvSpPr>
        <p:spPr>
          <a:xfrm>
            <a:off x="457200" y="5394960"/>
            <a:ext cx="11247120" cy="10058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532120"/>
            <a:ext cx="10881360" cy="731520"/>
          </a:xfrm>
          <a:prstGeom prst="rect">
            <a:avLst/>
          </a:prstGeom>
          <a:noFill/>
        </p:spPr>
        <p:txBody>
          <a:bodyPr wrap="square" anchor="t"/>
          <a:lstStyle/>
          <a:p>
            <a:pPr algn="l"/>
            <a:r>
              <a:rPr sz="2400" b="0">
                <a:solidFill>
                  <a:srgbClr val="0B2C4A"/>
                </a:solidFill>
                <a:latin typeface="Calibri"/>
              </a:rPr>
              <a:t>Willie: examine, ASA 3-E, then sedate.   MoMo: examine, image, labs, then cancel.</a:t>
            </a:r>
          </a:p>
        </p:txBody>
      </p:sp>
      <p:sp>
        <p:nvSpPr>
          <p:cNvPr id="11" name="Rectangle 10"/>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3" name="TextBox 12"/>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WHY THIS HOUR EXISTS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84048"/>
          </a:xfrm>
          <a:prstGeom prst="rect">
            <a:avLst/>
          </a:prstGeom>
          <a:noFill/>
        </p:spPr>
        <p:txBody>
          <a:bodyPr wrap="square" anchor="t"/>
          <a:lstStyle/>
          <a:p>
            <a:pPr algn="l"/>
            <a:r>
              <a:rPr sz="2400" b="1">
                <a:solidFill>
                  <a:srgbClr val="0B2C4A"/>
                </a:solidFill>
                <a:latin typeface="Calibri"/>
              </a:rPr>
              <a:t>Causes of SSI</a:t>
            </a:r>
          </a:p>
        </p:txBody>
      </p:sp>
      <p:sp>
        <p:nvSpPr>
          <p:cNvPr id="11" name="TextBox 10"/>
          <p:cNvSpPr txBox="1"/>
          <p:nvPr/>
        </p:nvSpPr>
        <p:spPr>
          <a:xfrm>
            <a:off x="713232" y="1609344"/>
            <a:ext cx="3291840" cy="1527048"/>
          </a:xfrm>
          <a:prstGeom prst="rect">
            <a:avLst/>
          </a:prstGeom>
          <a:noFill/>
        </p:spPr>
        <p:txBody>
          <a:bodyPr wrap="square" anchor="t"/>
          <a:lstStyle/>
          <a:p>
            <a:pPr algn="l"/>
            <a:r>
              <a:rPr sz="22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84048"/>
          </a:xfrm>
          <a:prstGeom prst="rect">
            <a:avLst/>
          </a:prstGeom>
          <a:noFill/>
        </p:spPr>
        <p:txBody>
          <a:bodyPr wrap="square" anchor="t"/>
          <a:lstStyle/>
          <a:p>
            <a:pPr algn="l"/>
            <a:r>
              <a:rPr sz="2400" b="1">
                <a:solidFill>
                  <a:srgbClr val="0B2C4A"/>
                </a:solidFill>
                <a:latin typeface="Calibri"/>
              </a:rPr>
              <a:t>Client-owned patients</a:t>
            </a:r>
          </a:p>
        </p:txBody>
      </p:sp>
      <p:sp>
        <p:nvSpPr>
          <p:cNvPr id="15" name="TextBox 14"/>
          <p:cNvSpPr txBox="1"/>
          <p:nvPr/>
        </p:nvSpPr>
        <p:spPr>
          <a:xfrm>
            <a:off x="4553712" y="1609344"/>
            <a:ext cx="3291840" cy="1527048"/>
          </a:xfrm>
          <a:prstGeom prst="rect">
            <a:avLst/>
          </a:prstGeom>
          <a:noFill/>
        </p:spPr>
        <p:txBody>
          <a:bodyPr wrap="square" anchor="t"/>
          <a:lstStyle/>
          <a:p>
            <a:pPr algn="l"/>
            <a:r>
              <a:rPr sz="22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84048"/>
          </a:xfrm>
          <a:prstGeom prst="rect">
            <a:avLst/>
          </a:prstGeom>
          <a:noFill/>
        </p:spPr>
        <p:txBody>
          <a:bodyPr wrap="square" anchor="t"/>
          <a:lstStyle/>
          <a:p>
            <a:pPr algn="l"/>
            <a:r>
              <a:rPr sz="2400" b="1">
                <a:solidFill>
                  <a:srgbClr val="0B2C4A"/>
                </a:solidFill>
                <a:latin typeface="Calibri"/>
              </a:rPr>
              <a:t>Decisions made before incision</a:t>
            </a:r>
          </a:p>
        </p:txBody>
      </p:sp>
      <p:sp>
        <p:nvSpPr>
          <p:cNvPr id="19" name="TextBox 18"/>
          <p:cNvSpPr txBox="1"/>
          <p:nvPr/>
        </p:nvSpPr>
        <p:spPr>
          <a:xfrm>
            <a:off x="8394192" y="1609344"/>
            <a:ext cx="3200400" cy="1527048"/>
          </a:xfrm>
          <a:prstGeom prst="rect">
            <a:avLst/>
          </a:prstGeom>
          <a:noFill/>
        </p:spPr>
        <p:txBody>
          <a:bodyPr wrap="square" anchor="t"/>
          <a:lstStyle/>
          <a:p>
            <a:pPr algn="l"/>
            <a:r>
              <a:rPr sz="22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24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2400" b="0">
                <a:solidFill>
                  <a:srgbClr val="1C1C1C"/>
                </a:solidFill>
                <a:latin typeface="Calibri"/>
              </a:rPr>
              <a:t>▸  Prepare the patient for a surgical procedure.</a:t>
            </a:r>
          </a:p>
          <a:p>
            <a:pPr algn="l">
              <a:spcAft>
                <a:spcPts val="800"/>
              </a:spcAft>
            </a:pPr>
            <a:r>
              <a:rPr sz="2400" b="0">
                <a:solidFill>
                  <a:srgbClr val="1C1C1C"/>
                </a:solidFill>
                <a:latin typeface="Calibri"/>
              </a:rPr>
              <a:t>▸  Prepare yourself for a surgical procedure.</a:t>
            </a:r>
          </a:p>
          <a:p>
            <a:pPr algn="l">
              <a:spcAft>
                <a:spcPts val="800"/>
              </a:spcAft>
            </a:pPr>
            <a:r>
              <a:rPr sz="2400" b="0">
                <a:solidFill>
                  <a:srgbClr val="1C1C1C"/>
                </a:solidFill>
                <a:latin typeface="Calibri"/>
              </a:rPr>
              <a:t>▸  Perform the procedure. Then own the first 24 hours: hemorrhage or herniation in recovery is still the operation.</a:t>
            </a:r>
          </a:p>
        </p:txBody>
      </p:sp>
      <p:sp>
        <p:nvSpPr>
          <p:cNvPr id="23" name="Rectangle 22"/>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5" name="TextBox 24"/>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24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22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24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22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24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22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24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22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24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22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24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22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24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2200" b="0">
                <a:solidFill>
                  <a:srgbClr val="3D4A57"/>
                </a:solidFill>
                <a:latin typeface="Calibri"/>
              </a:rPr>
              <a:t>Plan dead space now: sutures, bandage, or a drain with a written pull plan.</a:t>
            </a:r>
          </a:p>
        </p:txBody>
      </p:sp>
      <p:sp>
        <p:nvSpPr>
          <p:cNvPr id="36" name="Rectangle 3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8" name="TextBox 3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PREOPERATIVE, PREPARATION, INTRAOPERATIVE, POSTOPERATIVE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26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24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8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26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24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8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26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24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8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26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2400" b="0">
                <a:solidFill>
                  <a:srgbClr val="1C1C1C"/>
                </a:solidFill>
                <a:latin typeface="Calibri"/>
              </a:rPr>
              <a:t>Airway, pain, heat
Watch 24 hours
Report + discharge
Recheck plan</a:t>
            </a:r>
          </a:p>
        </p:txBody>
      </p:sp>
      <p:sp>
        <p:nvSpPr>
          <p:cNvPr id="27" name="Rectangle 26"/>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9" name="TextBox 28"/>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EXAMINE, REQUEST INDICATED LABS, INTERPRET, THEN ASSIGN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24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24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22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24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24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22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24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24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22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24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24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22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22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2200" b="0">
                <a:solidFill>
                  <a:srgbClr val="1C1C1C"/>
                </a:solidFill>
                <a:latin typeface="Calibri"/>
              </a:rPr>
              <a:t>▸  Signalment, last meal, medications, prior anesthesia, bleeding tendency.</a:t>
            </a:r>
          </a:p>
          <a:p>
            <a:pPr algn="l">
              <a:spcAft>
                <a:spcPts val="500"/>
              </a:spcAft>
            </a:pPr>
            <a:r>
              <a:rPr sz="2200" b="0">
                <a:solidFill>
                  <a:srgbClr val="1C1C1C"/>
                </a:solidFill>
                <a:latin typeface="Calibri"/>
              </a:rPr>
              <a:t>▸  TPR, mm, CRT, hydration, murmur, lungs, surgical site, abdomen, neuro if indicated.</a:t>
            </a:r>
          </a:p>
          <a:p>
            <a:pPr algn="l">
              <a:spcAft>
                <a:spcPts val="500"/>
              </a:spcAft>
            </a:pPr>
            <a:r>
              <a:rPr sz="22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22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2200" b="0">
                <a:solidFill>
                  <a:srgbClr val="FFFFFF"/>
                </a:solidFill>
                <a:latin typeface="Calibri"/>
              </a:rPr>
              <a:t>1. Examine the patient
2. Request indicated labs
3. Interpret the results
4. Assign ASA status
5. Adjust the drug plan
6. Premedicate</a:t>
            </a:r>
          </a:p>
        </p:txBody>
      </p:sp>
      <p:sp>
        <p:nvSpPr>
          <p:cNvPr id="34" name="Rectangle 3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6" name="TextBox 3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AMERICAN SOCIETY OF ANESTHESIOLOGISTS CLASSIFICATION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2200" b="1">
                <a:solidFill>
                  <a:srgbClr val="C5A35A"/>
                </a:solidFill>
                <a:latin typeface="Calibri"/>
              </a:rPr>
              <a:t>ASA status</a:t>
            </a:r>
          </a:p>
        </p:txBody>
      </p:sp>
      <p:sp>
        <p:nvSpPr>
          <p:cNvPr id="10" name="TextBox 9"/>
          <p:cNvSpPr txBox="1"/>
          <p:nvPr/>
        </p:nvSpPr>
        <p:spPr>
          <a:xfrm>
            <a:off x="2743200" y="1051560"/>
            <a:ext cx="5852160" cy="438912"/>
          </a:xfrm>
          <a:prstGeom prst="rect">
            <a:avLst/>
          </a:prstGeom>
          <a:noFill/>
        </p:spPr>
        <p:txBody>
          <a:bodyPr wrap="square" anchor="ctr"/>
          <a:lstStyle/>
          <a:p>
            <a:pPr algn="l"/>
            <a:r>
              <a:rPr sz="2200" b="1">
                <a:solidFill>
                  <a:srgbClr val="FFFFFF"/>
                </a:solidFill>
                <a:latin typeface="Calibri"/>
              </a:rPr>
              <a:t>Definition</a:t>
            </a:r>
          </a:p>
        </p:txBody>
      </p:sp>
      <p:sp>
        <p:nvSpPr>
          <p:cNvPr id="11" name="TextBox 10"/>
          <p:cNvSpPr txBox="1"/>
          <p:nvPr/>
        </p:nvSpPr>
        <p:spPr>
          <a:xfrm>
            <a:off x="8595360" y="1051560"/>
            <a:ext cx="3017520" cy="438912"/>
          </a:xfrm>
          <a:prstGeom prst="rect">
            <a:avLst/>
          </a:prstGeom>
          <a:noFill/>
        </p:spPr>
        <p:txBody>
          <a:bodyPr wrap="square" anchor="ctr"/>
          <a:lstStyle/>
          <a:p>
            <a:pPr algn="l"/>
            <a:r>
              <a:rPr sz="22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600" b="1">
                <a:solidFill>
                  <a:srgbClr val="FFFFFF"/>
                </a:solidFill>
                <a:latin typeface="Calibri"/>
              </a:rPr>
              <a:t>Status 1</a:t>
            </a:r>
          </a:p>
        </p:txBody>
      </p:sp>
      <p:sp>
        <p:nvSpPr>
          <p:cNvPr id="15" name="TextBox 14"/>
          <p:cNvSpPr txBox="1"/>
          <p:nvPr/>
        </p:nvSpPr>
        <p:spPr>
          <a:xfrm>
            <a:off x="2697480" y="1609344"/>
            <a:ext cx="5806440" cy="658368"/>
          </a:xfrm>
          <a:prstGeom prst="rect">
            <a:avLst/>
          </a:prstGeom>
          <a:noFill/>
        </p:spPr>
        <p:txBody>
          <a:bodyPr wrap="square" anchor="ctr"/>
          <a:lstStyle/>
          <a:p>
            <a:pPr algn="l"/>
            <a:r>
              <a:rPr sz="2200" b="0">
                <a:solidFill>
                  <a:srgbClr val="1C1C1C"/>
                </a:solidFill>
                <a:latin typeface="Calibri"/>
              </a:rPr>
              <a:t>Normal, healthy patient</a:t>
            </a:r>
          </a:p>
        </p:txBody>
      </p:sp>
      <p:sp>
        <p:nvSpPr>
          <p:cNvPr id="16" name="TextBox 15"/>
          <p:cNvSpPr txBox="1"/>
          <p:nvPr/>
        </p:nvSpPr>
        <p:spPr>
          <a:xfrm>
            <a:off x="8595360" y="1609344"/>
            <a:ext cx="2971800" cy="658368"/>
          </a:xfrm>
          <a:prstGeom prst="rect">
            <a:avLst/>
          </a:prstGeom>
          <a:noFill/>
        </p:spPr>
        <p:txBody>
          <a:bodyPr wrap="square" anchor="ctr"/>
          <a:lstStyle/>
          <a:p>
            <a:pPr algn="l"/>
            <a:r>
              <a:rPr sz="2200" b="0">
                <a:solidFill>
                  <a:srgbClr val="3D4A57"/>
                </a:solidFill>
                <a:latin typeface="Calibri"/>
              </a:rPr>
              <a:t>Healthy OHE</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600" b="1">
                <a:solidFill>
                  <a:srgbClr val="FFFFFF"/>
                </a:solidFill>
                <a:latin typeface="Calibri"/>
              </a:rPr>
              <a:t>Status 2</a:t>
            </a:r>
          </a:p>
        </p:txBody>
      </p:sp>
      <p:sp>
        <p:nvSpPr>
          <p:cNvPr id="20" name="TextBox 19"/>
          <p:cNvSpPr txBox="1"/>
          <p:nvPr/>
        </p:nvSpPr>
        <p:spPr>
          <a:xfrm>
            <a:off x="2697480" y="2478024"/>
            <a:ext cx="5806440" cy="658368"/>
          </a:xfrm>
          <a:prstGeom prst="rect">
            <a:avLst/>
          </a:prstGeom>
          <a:noFill/>
        </p:spPr>
        <p:txBody>
          <a:bodyPr wrap="square" anchor="ctr"/>
          <a:lstStyle/>
          <a:p>
            <a:pPr algn="l"/>
            <a:r>
              <a:rPr sz="2200" b="0">
                <a:solidFill>
                  <a:srgbClr val="1C1C1C"/>
                </a:solidFill>
                <a:latin typeface="Calibri"/>
              </a:rPr>
              <a:t>Mild systemic disease, compensated</a:t>
            </a:r>
          </a:p>
        </p:txBody>
      </p:sp>
      <p:sp>
        <p:nvSpPr>
          <p:cNvPr id="21" name="TextBox 20"/>
          <p:cNvSpPr txBox="1"/>
          <p:nvPr/>
        </p:nvSpPr>
        <p:spPr>
          <a:xfrm>
            <a:off x="8595360" y="2478024"/>
            <a:ext cx="2971800" cy="658368"/>
          </a:xfrm>
          <a:prstGeom prst="rect">
            <a:avLst/>
          </a:prstGeom>
          <a:noFill/>
        </p:spPr>
        <p:txBody>
          <a:bodyPr wrap="square" anchor="ctr"/>
          <a:lstStyle/>
          <a:p>
            <a:pPr algn="l"/>
            <a:r>
              <a:rPr sz="2200" b="0">
                <a:solidFill>
                  <a:srgbClr val="3D4A57"/>
                </a:solidFill>
                <a:latin typeface="Calibri"/>
              </a:rPr>
              <a:t>Obesity; murmur</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600" b="1">
                <a:solidFill>
                  <a:srgbClr val="FFFFFF"/>
                </a:solidFill>
                <a:latin typeface="Calibri"/>
              </a:rPr>
              <a:t>Status 3</a:t>
            </a:r>
          </a:p>
        </p:txBody>
      </p:sp>
      <p:sp>
        <p:nvSpPr>
          <p:cNvPr id="25" name="TextBox 24"/>
          <p:cNvSpPr txBox="1"/>
          <p:nvPr/>
        </p:nvSpPr>
        <p:spPr>
          <a:xfrm>
            <a:off x="2697480" y="3346704"/>
            <a:ext cx="5806440" cy="658368"/>
          </a:xfrm>
          <a:prstGeom prst="rect">
            <a:avLst/>
          </a:prstGeom>
          <a:noFill/>
        </p:spPr>
        <p:txBody>
          <a:bodyPr wrap="square" anchor="ctr"/>
          <a:lstStyle/>
          <a:p>
            <a:pPr algn="l"/>
            <a:r>
              <a:rPr sz="2200" b="0">
                <a:solidFill>
                  <a:srgbClr val="1C1C1C"/>
                </a:solidFill>
                <a:latin typeface="Calibri"/>
              </a:rPr>
              <a:t>Moderate disease, compensated, some limits</a:t>
            </a:r>
          </a:p>
        </p:txBody>
      </p:sp>
      <p:sp>
        <p:nvSpPr>
          <p:cNvPr id="26" name="TextBox 25"/>
          <p:cNvSpPr txBox="1"/>
          <p:nvPr/>
        </p:nvSpPr>
        <p:spPr>
          <a:xfrm>
            <a:off x="8595360" y="3346704"/>
            <a:ext cx="2971800" cy="658368"/>
          </a:xfrm>
          <a:prstGeom prst="rect">
            <a:avLst/>
          </a:prstGeom>
          <a:noFill/>
        </p:spPr>
        <p:txBody>
          <a:bodyPr wrap="square" anchor="ctr"/>
          <a:lstStyle/>
          <a:p>
            <a:pPr algn="l"/>
            <a:r>
              <a:rPr sz="2200" b="0">
                <a:solidFill>
                  <a:srgbClr val="3D4A57"/>
                </a:solidFill>
                <a:latin typeface="Calibri"/>
              </a:rPr>
              <a:t>Willie: vestibular + otitis</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600" b="1">
                <a:solidFill>
                  <a:srgbClr val="FFFFFF"/>
                </a:solidFill>
                <a:latin typeface="Calibri"/>
              </a:rPr>
              <a:t>Status 4</a:t>
            </a:r>
          </a:p>
        </p:txBody>
      </p:sp>
      <p:sp>
        <p:nvSpPr>
          <p:cNvPr id="30" name="TextBox 29"/>
          <p:cNvSpPr txBox="1"/>
          <p:nvPr/>
        </p:nvSpPr>
        <p:spPr>
          <a:xfrm>
            <a:off x="2697480" y="4215383"/>
            <a:ext cx="5806440" cy="658368"/>
          </a:xfrm>
          <a:prstGeom prst="rect">
            <a:avLst/>
          </a:prstGeom>
          <a:noFill/>
        </p:spPr>
        <p:txBody>
          <a:bodyPr wrap="square" anchor="ctr"/>
          <a:lstStyle/>
          <a:p>
            <a:pPr algn="l"/>
            <a:r>
              <a:rPr sz="2200" b="0">
                <a:solidFill>
                  <a:srgbClr val="1C1C1C"/>
                </a:solidFill>
                <a:latin typeface="Calibri"/>
              </a:rPr>
              <a:t>Severe disease, threat to life, uncompensated</a:t>
            </a:r>
          </a:p>
        </p:txBody>
      </p:sp>
      <p:sp>
        <p:nvSpPr>
          <p:cNvPr id="31" name="TextBox 30"/>
          <p:cNvSpPr txBox="1"/>
          <p:nvPr/>
        </p:nvSpPr>
        <p:spPr>
          <a:xfrm>
            <a:off x="8595360" y="4215383"/>
            <a:ext cx="2971800" cy="658368"/>
          </a:xfrm>
          <a:prstGeom prst="rect">
            <a:avLst/>
          </a:prstGeom>
          <a:noFill/>
        </p:spPr>
        <p:txBody>
          <a:bodyPr wrap="square" anchor="ctr"/>
          <a:lstStyle/>
          <a:p>
            <a:pPr algn="l"/>
            <a:r>
              <a:rPr sz="2200" b="0">
                <a:solidFill>
                  <a:srgbClr val="3D4A57"/>
                </a:solidFill>
                <a:latin typeface="Calibri"/>
              </a:rPr>
              <a:t>MoMo: rising azotemia</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600" b="1">
                <a:solidFill>
                  <a:srgbClr val="FFFFFF"/>
                </a:solidFill>
                <a:latin typeface="Calibri"/>
              </a:rPr>
              <a:t>Status 5</a:t>
            </a:r>
          </a:p>
        </p:txBody>
      </p:sp>
      <p:sp>
        <p:nvSpPr>
          <p:cNvPr id="35" name="TextBox 34"/>
          <p:cNvSpPr txBox="1"/>
          <p:nvPr/>
        </p:nvSpPr>
        <p:spPr>
          <a:xfrm>
            <a:off x="2697480" y="5084064"/>
            <a:ext cx="5806440" cy="658368"/>
          </a:xfrm>
          <a:prstGeom prst="rect">
            <a:avLst/>
          </a:prstGeom>
          <a:noFill/>
        </p:spPr>
        <p:txBody>
          <a:bodyPr wrap="square" anchor="ctr"/>
          <a:lstStyle/>
          <a:p>
            <a:pPr algn="l"/>
            <a:r>
              <a:rPr sz="2200" b="0">
                <a:solidFill>
                  <a:srgbClr val="1C1C1C"/>
                </a:solidFill>
                <a:latin typeface="Calibri"/>
              </a:rPr>
              <a:t>Moribund; not expected to live 24 hours</a:t>
            </a:r>
          </a:p>
        </p:txBody>
      </p:sp>
      <p:sp>
        <p:nvSpPr>
          <p:cNvPr id="36" name="TextBox 35"/>
          <p:cNvSpPr txBox="1"/>
          <p:nvPr/>
        </p:nvSpPr>
        <p:spPr>
          <a:xfrm>
            <a:off x="8595360" y="5084064"/>
            <a:ext cx="2971800" cy="658368"/>
          </a:xfrm>
          <a:prstGeom prst="rect">
            <a:avLst/>
          </a:prstGeom>
          <a:noFill/>
        </p:spPr>
        <p:txBody>
          <a:bodyPr wrap="square" anchor="ctr"/>
          <a:lstStyle/>
          <a:p>
            <a:pPr algn="l"/>
            <a:r>
              <a:rPr sz="2200" b="0">
                <a:solidFill>
                  <a:srgbClr val="3D4A57"/>
                </a:solidFill>
                <a:latin typeface="Calibri"/>
              </a:rPr>
              <a:t>Gastric rupture</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2200" b="0">
                <a:solidFill>
                  <a:srgbClr val="0B2C4A"/>
                </a:solidFill>
                <a:latin typeface="Calibri"/>
              </a:rPr>
              <a:t>E = emergency. Willie = 3-E. MoMo = 4-E. Write the number after today’s PE.</a:t>
            </a:r>
          </a:p>
        </p:txBody>
      </p:sp>
      <p:sp>
        <p:nvSpPr>
          <p:cNvPr id="39" name="Rectangle 38"/>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41" name="TextBox 40"/>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3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24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24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3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24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24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3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24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24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3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24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2400" b="1">
                <a:solidFill>
                  <a:srgbClr val="8B2E2E"/>
                </a:solidFill>
                <a:latin typeface="Calibri"/>
              </a:rPr>
              <a:t>Image and labs first. Became ASA Status 4-E.</a:t>
            </a:r>
          </a:p>
        </p:txBody>
      </p:sp>
      <p:sp>
        <p:nvSpPr>
          <p:cNvPr id="28" name="Rectangle 27"/>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0" name="TextBox 29"/>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2200" b="0">
                <a:solidFill>
                  <a:srgbClr val="0B2C4A"/>
                </a:solidFill>
                <a:latin typeface="Calibri"/>
              </a:rPr>
              <a:t>Acute ataxia ~1 hour. Fell off the couch twice. Cytopoint for allergies. Vitals: T 100.8 °F, HR 132, RR 52, mm pink, CRT 2 s, quiet/dull. ASA III-E: compensated vestibular disease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84048"/>
          </a:xfrm>
          <a:prstGeom prst="rect">
            <a:avLst/>
          </a:prstGeom>
          <a:noFill/>
        </p:spPr>
        <p:txBody>
          <a:bodyPr wrap="square" anchor="t"/>
          <a:lstStyle/>
          <a:p>
            <a:pPr algn="l"/>
            <a:r>
              <a:rPr sz="2400" b="1">
                <a:solidFill>
                  <a:srgbClr val="0B2C4A"/>
                </a:solidFill>
                <a:latin typeface="Calibri"/>
              </a:rPr>
              <a:t>Left ear (AS)</a:t>
            </a:r>
          </a:p>
        </p:txBody>
      </p:sp>
      <p:sp>
        <p:nvSpPr>
          <p:cNvPr id="13" name="TextBox 12"/>
          <p:cNvSpPr txBox="1"/>
          <p:nvPr/>
        </p:nvSpPr>
        <p:spPr>
          <a:xfrm>
            <a:off x="713232" y="2706624"/>
            <a:ext cx="3291840" cy="1984248"/>
          </a:xfrm>
          <a:prstGeom prst="rect">
            <a:avLst/>
          </a:prstGeom>
          <a:noFill/>
        </p:spPr>
        <p:txBody>
          <a:bodyPr wrap="square" anchor="t"/>
          <a:lstStyle/>
          <a:p>
            <a:pPr algn="l"/>
            <a:r>
              <a:rPr sz="22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84048"/>
          </a:xfrm>
          <a:prstGeom prst="rect">
            <a:avLst/>
          </a:prstGeom>
          <a:noFill/>
        </p:spPr>
        <p:txBody>
          <a:bodyPr wrap="square" anchor="t"/>
          <a:lstStyle/>
          <a:p>
            <a:pPr algn="l"/>
            <a:r>
              <a:rPr sz="2400" b="1">
                <a:solidFill>
                  <a:srgbClr val="0B2C4A"/>
                </a:solidFill>
                <a:latin typeface="Calibri"/>
              </a:rPr>
              <a:t>Neuro exam</a:t>
            </a:r>
          </a:p>
        </p:txBody>
      </p:sp>
      <p:sp>
        <p:nvSpPr>
          <p:cNvPr id="17" name="TextBox 16"/>
          <p:cNvSpPr txBox="1"/>
          <p:nvPr/>
        </p:nvSpPr>
        <p:spPr>
          <a:xfrm>
            <a:off x="4553712" y="2706624"/>
            <a:ext cx="3291840" cy="1984248"/>
          </a:xfrm>
          <a:prstGeom prst="rect">
            <a:avLst/>
          </a:prstGeom>
          <a:noFill/>
        </p:spPr>
        <p:txBody>
          <a:bodyPr wrap="square" anchor="t"/>
          <a:lstStyle/>
          <a:p>
            <a:pPr algn="l"/>
            <a:r>
              <a:rPr sz="22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84048"/>
          </a:xfrm>
          <a:prstGeom prst="rect">
            <a:avLst/>
          </a:prstGeom>
          <a:noFill/>
        </p:spPr>
        <p:txBody>
          <a:bodyPr wrap="square" anchor="t"/>
          <a:lstStyle/>
          <a:p>
            <a:pPr algn="l"/>
            <a:r>
              <a:rPr sz="2400" b="1">
                <a:solidFill>
                  <a:srgbClr val="0B2C4A"/>
                </a:solidFill>
                <a:latin typeface="Calibri"/>
              </a:rPr>
              <a:t>Also on PE</a:t>
            </a:r>
          </a:p>
        </p:txBody>
      </p:sp>
      <p:sp>
        <p:nvSpPr>
          <p:cNvPr id="21" name="TextBox 20"/>
          <p:cNvSpPr txBox="1"/>
          <p:nvPr/>
        </p:nvSpPr>
        <p:spPr>
          <a:xfrm>
            <a:off x="8394192" y="2706624"/>
            <a:ext cx="3200400" cy="1984248"/>
          </a:xfrm>
          <a:prstGeom prst="rect">
            <a:avLst/>
          </a:prstGeom>
          <a:noFill/>
        </p:spPr>
        <p:txBody>
          <a:bodyPr wrap="square" anchor="t"/>
          <a:lstStyle/>
          <a:p>
            <a:pPr algn="l"/>
            <a:r>
              <a:rPr sz="22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22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6" name="TextBox 2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2200" b="0">
                <a:solidFill>
                  <a:srgbClr val="0B2C4A"/>
                </a:solidFill>
                <a:latin typeface="Calibri"/>
              </a:rPr>
              <a:t>Acute vomiting and lethargy. Two vomits. Household construction. Possible FB. Vitals: T 98.0 °F, HR 200, RR 30, mm pink tacky, CRT &lt;2 s, QAR. ASA IV-E: rising azotemia and a non-functional kidney. A cancelled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84048"/>
          </a:xfrm>
          <a:prstGeom prst="rect">
            <a:avLst/>
          </a:prstGeom>
          <a:noFill/>
        </p:spPr>
        <p:txBody>
          <a:bodyPr wrap="square" anchor="t"/>
          <a:lstStyle/>
          <a:p>
            <a:pPr algn="l"/>
            <a:r>
              <a:rPr sz="2400" b="1">
                <a:solidFill>
                  <a:srgbClr val="0B2C4A"/>
                </a:solidFill>
                <a:latin typeface="Calibri"/>
              </a:rPr>
              <a:t>Why this looked surgical</a:t>
            </a:r>
          </a:p>
        </p:txBody>
      </p:sp>
      <p:sp>
        <p:nvSpPr>
          <p:cNvPr id="13" name="TextBox 12"/>
          <p:cNvSpPr txBox="1"/>
          <p:nvPr/>
        </p:nvSpPr>
        <p:spPr>
          <a:xfrm>
            <a:off x="713232" y="2706624"/>
            <a:ext cx="3291840" cy="1984248"/>
          </a:xfrm>
          <a:prstGeom prst="rect">
            <a:avLst/>
          </a:prstGeom>
          <a:noFill/>
        </p:spPr>
        <p:txBody>
          <a:bodyPr wrap="square" anchor="t"/>
          <a:lstStyle/>
          <a:p>
            <a:pPr algn="l"/>
            <a:r>
              <a:rPr sz="22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84048"/>
          </a:xfrm>
          <a:prstGeom prst="rect">
            <a:avLst/>
          </a:prstGeom>
          <a:noFill/>
        </p:spPr>
        <p:txBody>
          <a:bodyPr wrap="square" anchor="t"/>
          <a:lstStyle/>
          <a:p>
            <a:pPr algn="l"/>
            <a:r>
              <a:rPr sz="2400" b="1">
                <a:solidFill>
                  <a:srgbClr val="0B2C4A"/>
                </a:solidFill>
                <a:latin typeface="Calibri"/>
              </a:rPr>
              <a:t>What the PE showed</a:t>
            </a:r>
          </a:p>
        </p:txBody>
      </p:sp>
      <p:sp>
        <p:nvSpPr>
          <p:cNvPr id="17" name="TextBox 16"/>
          <p:cNvSpPr txBox="1"/>
          <p:nvPr/>
        </p:nvSpPr>
        <p:spPr>
          <a:xfrm>
            <a:off x="4553712" y="2706624"/>
            <a:ext cx="3291840" cy="1984248"/>
          </a:xfrm>
          <a:prstGeom prst="rect">
            <a:avLst/>
          </a:prstGeom>
          <a:noFill/>
        </p:spPr>
        <p:txBody>
          <a:bodyPr wrap="square" anchor="t"/>
          <a:lstStyle/>
          <a:p>
            <a:pPr algn="l"/>
            <a:r>
              <a:rPr sz="22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84048"/>
          </a:xfrm>
          <a:prstGeom prst="rect">
            <a:avLst/>
          </a:prstGeom>
          <a:noFill/>
        </p:spPr>
        <p:txBody>
          <a:bodyPr wrap="square" anchor="t"/>
          <a:lstStyle/>
          <a:p>
            <a:pPr algn="l"/>
            <a:r>
              <a:rPr sz="2400" b="1">
                <a:solidFill>
                  <a:srgbClr val="0B2C4A"/>
                </a:solidFill>
                <a:latin typeface="Calibri"/>
              </a:rPr>
              <a:t>Next: labs and imaging</a:t>
            </a:r>
          </a:p>
        </p:txBody>
      </p:sp>
      <p:sp>
        <p:nvSpPr>
          <p:cNvPr id="21" name="TextBox 20"/>
          <p:cNvSpPr txBox="1"/>
          <p:nvPr/>
        </p:nvSpPr>
        <p:spPr>
          <a:xfrm>
            <a:off x="8394192" y="2706624"/>
            <a:ext cx="3200400" cy="1984248"/>
          </a:xfrm>
          <a:prstGeom prst="rect">
            <a:avLst/>
          </a:prstGeom>
          <a:noFill/>
        </p:spPr>
        <p:txBody>
          <a:bodyPr wrap="square" anchor="t"/>
          <a:lstStyle/>
          <a:p>
            <a:pPr algn="l"/>
            <a:r>
              <a:rPr sz="22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22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6" name="TextBox 2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84048"/>
          </a:xfrm>
          <a:prstGeom prst="rect">
            <a:avLst/>
          </a:prstGeom>
          <a:noFill/>
        </p:spPr>
        <p:txBody>
          <a:bodyPr wrap="square" anchor="t"/>
          <a:lstStyle/>
          <a:p>
            <a:pPr algn="l"/>
            <a:r>
              <a:rPr sz="2400" b="1">
                <a:solidFill>
                  <a:srgbClr val="0B2C4A"/>
                </a:solidFill>
                <a:latin typeface="Calibri"/>
              </a:rPr>
              <a:t>Young, healthy, elective (ASA I)</a:t>
            </a:r>
          </a:p>
        </p:txBody>
      </p:sp>
      <p:sp>
        <p:nvSpPr>
          <p:cNvPr id="11" name="TextBox 10"/>
          <p:cNvSpPr txBox="1"/>
          <p:nvPr/>
        </p:nvSpPr>
        <p:spPr>
          <a:xfrm>
            <a:off x="713232" y="1609344"/>
            <a:ext cx="5212080" cy="1709928"/>
          </a:xfrm>
          <a:prstGeom prst="rect">
            <a:avLst/>
          </a:prstGeom>
          <a:noFill/>
        </p:spPr>
        <p:txBody>
          <a:bodyPr wrap="square" anchor="t"/>
          <a:lstStyle/>
          <a:p>
            <a:pPr algn="l"/>
            <a:r>
              <a:rPr sz="22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84048"/>
          </a:xfrm>
          <a:prstGeom prst="rect">
            <a:avLst/>
          </a:prstGeom>
          <a:noFill/>
        </p:spPr>
        <p:txBody>
          <a:bodyPr wrap="square" anchor="t"/>
          <a:lstStyle/>
          <a:p>
            <a:pPr algn="l"/>
            <a:r>
              <a:rPr sz="2400" b="1">
                <a:solidFill>
                  <a:srgbClr val="0B2C4A"/>
                </a:solidFill>
                <a:latin typeface="Calibri"/>
              </a:rPr>
              <a:t>Age, disease, or invasive procedure</a:t>
            </a:r>
          </a:p>
        </p:txBody>
      </p:sp>
      <p:sp>
        <p:nvSpPr>
          <p:cNvPr id="15" name="TextBox 14"/>
          <p:cNvSpPr txBox="1"/>
          <p:nvPr/>
        </p:nvSpPr>
        <p:spPr>
          <a:xfrm>
            <a:off x="6473952" y="1609344"/>
            <a:ext cx="5120640" cy="1709928"/>
          </a:xfrm>
          <a:prstGeom prst="rect">
            <a:avLst/>
          </a:prstGeom>
          <a:noFill/>
        </p:spPr>
        <p:txBody>
          <a:bodyPr wrap="square" anchor="t"/>
          <a:lstStyle/>
          <a:p>
            <a:pPr algn="l"/>
            <a:r>
              <a:rPr sz="22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24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2400" b="0">
                <a:solidFill>
                  <a:srgbClr val="1C1C1C"/>
                </a:solidFill>
                <a:latin typeface="Calibri"/>
              </a:rPr>
              <a:t>▸  Anemia, hypoalbuminemia, azotemia, electrolyte storms, and thrombocytopenia change drugs, fluids, and whether you cut today.</a:t>
            </a:r>
          </a:p>
          <a:p>
            <a:pPr algn="l">
              <a:spcAft>
                <a:spcPts val="700"/>
              </a:spcAft>
            </a:pPr>
            <a:r>
              <a:rPr sz="24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2400" b="0">
                <a:solidFill>
                  <a:srgbClr val="1C1C1C"/>
                </a:solidFill>
                <a:latin typeface="Calibri"/>
              </a:rPr>
              <a:t>▸  Repeat a value that changes the plan. MoMo: creatinine 3.0 then 4.71. Act on the rising creatinine.</a:t>
            </a:r>
          </a:p>
        </p:txBody>
      </p:sp>
      <p:sp>
        <p:nvSpPr>
          <p:cNvPr id="19" name="Rectangle 18"/>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1" name="TextBox 20"/>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THESE BANDS INFORM STATUS. TODAY’S PE WRITES IT.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Labs that change ASA status</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24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2400" b="1">
                <a:solidFill>
                  <a:srgbClr val="FFFFFF"/>
                </a:solidFill>
                <a:latin typeface="Calibri"/>
              </a:rPr>
              <a:t>Status 1</a:t>
            </a:r>
          </a:p>
        </p:txBody>
      </p:sp>
      <p:sp>
        <p:nvSpPr>
          <p:cNvPr id="11" name="TextBox 10"/>
          <p:cNvSpPr txBox="1"/>
          <p:nvPr/>
        </p:nvSpPr>
        <p:spPr>
          <a:xfrm>
            <a:off x="7498079" y="1078992"/>
            <a:ext cx="4023360" cy="502920"/>
          </a:xfrm>
          <a:prstGeom prst="rect">
            <a:avLst/>
          </a:prstGeom>
          <a:noFill/>
        </p:spPr>
        <p:txBody>
          <a:bodyPr wrap="square" anchor="ctr"/>
          <a:lstStyle/>
          <a:p>
            <a:pPr algn="l"/>
            <a:r>
              <a:rPr sz="2400" b="1">
                <a:solidFill>
                  <a:srgbClr val="FFFFFF"/>
                </a:solidFill>
                <a:latin typeface="Calibri"/>
              </a:rPr>
              <a:t>Status 4</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26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2400" b="0">
                <a:solidFill>
                  <a:srgbClr val="1C1C1C"/>
                </a:solidFill>
                <a:latin typeface="Calibri"/>
              </a:rPr>
              <a:t>Normal</a:t>
            </a:r>
          </a:p>
        </p:txBody>
      </p:sp>
      <p:sp>
        <p:nvSpPr>
          <p:cNvPr id="15" name="TextBox 14"/>
          <p:cNvSpPr txBox="1"/>
          <p:nvPr/>
        </p:nvSpPr>
        <p:spPr>
          <a:xfrm>
            <a:off x="7498079" y="1645920"/>
            <a:ext cx="4023360" cy="768096"/>
          </a:xfrm>
          <a:prstGeom prst="rect">
            <a:avLst/>
          </a:prstGeom>
          <a:noFill/>
        </p:spPr>
        <p:txBody>
          <a:bodyPr wrap="square" anchor="ctr"/>
          <a:lstStyle/>
          <a:p>
            <a:pPr algn="l"/>
            <a:r>
              <a:rPr sz="2400" b="0">
                <a:solidFill>
                  <a:srgbClr val="8B2E2E"/>
                </a:solidFill>
                <a:latin typeface="Calibri"/>
              </a:rPr>
              <a:t>&lt;20%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26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2400" b="0">
                <a:solidFill>
                  <a:srgbClr val="1C1C1C"/>
                </a:solidFill>
                <a:latin typeface="Calibri"/>
              </a:rPr>
              <a:t>Normal</a:t>
            </a:r>
          </a:p>
        </p:txBody>
      </p:sp>
      <p:sp>
        <p:nvSpPr>
          <p:cNvPr id="19" name="TextBox 18"/>
          <p:cNvSpPr txBox="1"/>
          <p:nvPr/>
        </p:nvSpPr>
        <p:spPr>
          <a:xfrm>
            <a:off x="7498079" y="2487168"/>
            <a:ext cx="4023360" cy="768096"/>
          </a:xfrm>
          <a:prstGeom prst="rect">
            <a:avLst/>
          </a:prstGeom>
          <a:noFill/>
        </p:spPr>
        <p:txBody>
          <a:bodyPr wrap="square" anchor="ctr"/>
          <a:lstStyle/>
          <a:p>
            <a:pPr algn="l"/>
            <a:r>
              <a:rPr sz="2400" b="0">
                <a:solidFill>
                  <a:srgbClr val="8B2E2E"/>
                </a:solidFill>
                <a:latin typeface="Calibri"/>
              </a:rPr>
              <a:t>&lt;50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26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2400" b="0">
                <a:solidFill>
                  <a:srgbClr val="1C1C1C"/>
                </a:solidFill>
                <a:latin typeface="Calibri"/>
              </a:rPr>
              <a:t>Normal</a:t>
            </a:r>
          </a:p>
        </p:txBody>
      </p:sp>
      <p:sp>
        <p:nvSpPr>
          <p:cNvPr id="23" name="TextBox 22"/>
          <p:cNvSpPr txBox="1"/>
          <p:nvPr/>
        </p:nvSpPr>
        <p:spPr>
          <a:xfrm>
            <a:off x="7498079" y="3328416"/>
            <a:ext cx="4023360" cy="768096"/>
          </a:xfrm>
          <a:prstGeom prst="rect">
            <a:avLst/>
          </a:prstGeom>
          <a:noFill/>
        </p:spPr>
        <p:txBody>
          <a:bodyPr wrap="square" anchor="ctr"/>
          <a:lstStyle/>
          <a:p>
            <a:pPr algn="l"/>
            <a:r>
              <a:rPr sz="2400" b="0">
                <a:solidFill>
                  <a:srgbClr val="8B2E2E"/>
                </a:solidFill>
                <a:latin typeface="Calibri"/>
              </a:rPr>
              <a:t>Severe increase + uremia</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26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2400" b="0">
                <a:solidFill>
                  <a:srgbClr val="1C1C1C"/>
                </a:solidFill>
                <a:latin typeface="Calibri"/>
              </a:rPr>
              <a:t>Normal</a:t>
            </a:r>
          </a:p>
        </p:txBody>
      </p:sp>
      <p:sp>
        <p:nvSpPr>
          <p:cNvPr id="27" name="TextBox 26"/>
          <p:cNvSpPr txBox="1"/>
          <p:nvPr/>
        </p:nvSpPr>
        <p:spPr>
          <a:xfrm>
            <a:off x="7498079" y="4169664"/>
            <a:ext cx="4023360" cy="768096"/>
          </a:xfrm>
          <a:prstGeom prst="rect">
            <a:avLst/>
          </a:prstGeom>
          <a:noFill/>
        </p:spPr>
        <p:txBody>
          <a:bodyPr wrap="square" anchor="ctr"/>
          <a:lstStyle/>
          <a:p>
            <a:pPr algn="l"/>
            <a:r>
              <a:rPr sz="2400" b="0">
                <a:solidFill>
                  <a:srgbClr val="8B2E2E"/>
                </a:solidFill>
                <a:latin typeface="Calibri"/>
              </a:rPr>
              <a:t>&gt;6.0 or &lt;2.5</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26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2400" b="0">
                <a:solidFill>
                  <a:srgbClr val="1C1C1C"/>
                </a:solidFill>
                <a:latin typeface="Calibri"/>
              </a:rPr>
              <a:t>Normal</a:t>
            </a:r>
          </a:p>
        </p:txBody>
      </p:sp>
      <p:sp>
        <p:nvSpPr>
          <p:cNvPr id="31" name="TextBox 30"/>
          <p:cNvSpPr txBox="1"/>
          <p:nvPr/>
        </p:nvSpPr>
        <p:spPr>
          <a:xfrm>
            <a:off x="7498079" y="5010912"/>
            <a:ext cx="4023360" cy="768096"/>
          </a:xfrm>
          <a:prstGeom prst="rect">
            <a:avLst/>
          </a:prstGeom>
          <a:noFill/>
        </p:spPr>
        <p:txBody>
          <a:bodyPr wrap="square" anchor="ctr"/>
          <a:lstStyle/>
          <a:p>
            <a:pPr algn="l"/>
            <a:r>
              <a:rPr sz="24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2200" b="0">
                <a:solidFill>
                  <a:srgbClr val="0B2C4A"/>
                </a:solidFill>
                <a:latin typeface="Calibri"/>
              </a:rPr>
              <a:t>Willie: CBC is Status 1. His 3-E is the vestibular exam. MoMo: creatinine sets 4-E.</a:t>
            </a:r>
          </a:p>
        </p:txBody>
      </p:sp>
      <p:sp>
        <p:nvSpPr>
          <p:cNvPr id="33" name="Rectangle 32"/>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5" name="TextBox 34"/>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LABS INFORM ASA STATUS. THE PHYSICAL EXAMINATION ASSIGNS IT.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84048"/>
          </a:xfrm>
          <a:prstGeom prst="rect">
            <a:avLst/>
          </a:prstGeom>
          <a:noFill/>
        </p:spPr>
        <p:txBody>
          <a:bodyPr wrap="square" anchor="t"/>
          <a:lstStyle/>
          <a:p>
            <a:pPr algn="l"/>
            <a:r>
              <a:rPr sz="2400" b="1">
                <a:solidFill>
                  <a:srgbClr val="0B2C4A"/>
                </a:solidFill>
                <a:latin typeface="Calibri"/>
              </a:rPr>
              <a:t>Willie, laboratory results</a:t>
            </a:r>
          </a:p>
        </p:txBody>
      </p:sp>
      <p:sp>
        <p:nvSpPr>
          <p:cNvPr id="11" name="TextBox 10"/>
          <p:cNvSpPr txBox="1"/>
          <p:nvPr/>
        </p:nvSpPr>
        <p:spPr>
          <a:xfrm>
            <a:off x="667512" y="1563624"/>
            <a:ext cx="5257800" cy="4453128"/>
          </a:xfrm>
          <a:prstGeom prst="rect">
            <a:avLst/>
          </a:prstGeom>
          <a:noFill/>
        </p:spPr>
        <p:txBody>
          <a:bodyPr wrap="square" anchor="t"/>
          <a:lstStyle/>
          <a:p>
            <a:pPr algn="l"/>
            <a:r>
              <a:rPr sz="2200" b="0">
                <a:solidFill>
                  <a:srgbClr val="3D4A57"/>
                </a:solidFill>
                <a:latin typeface="Calibri"/>
              </a:rPr>
              <a:t>CBC WNL (Status 1 band).
Phosphorus 6.0, mild increase (Status 2).
Glucose 130, stress (Status 2 band).
Kidneys, liver, electrolytes normal.
Skip the EPOC for this ear clean.
ASA Status 3-E: acute vestibular disease, severe AS otitis, murmur. An unremarkable chemistry leaves the neurologic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84048"/>
          </a:xfrm>
          <a:prstGeom prst="rect">
            <a:avLst/>
          </a:prstGeom>
          <a:noFill/>
        </p:spPr>
        <p:txBody>
          <a:bodyPr wrap="square" anchor="t"/>
          <a:lstStyle/>
          <a:p>
            <a:pPr algn="l"/>
            <a:r>
              <a:rPr sz="2400" b="1">
                <a:solidFill>
                  <a:srgbClr val="0B2C4A"/>
                </a:solidFill>
                <a:latin typeface="Calibri"/>
              </a:rPr>
              <a:t>MoMo, laboratory results and EPOC</a:t>
            </a:r>
          </a:p>
        </p:txBody>
      </p:sp>
      <p:sp>
        <p:nvSpPr>
          <p:cNvPr id="15" name="TextBox 14"/>
          <p:cNvSpPr txBox="1"/>
          <p:nvPr/>
        </p:nvSpPr>
        <p:spPr>
          <a:xfrm>
            <a:off x="6428232" y="1563624"/>
            <a:ext cx="5257800" cy="4453128"/>
          </a:xfrm>
          <a:prstGeom prst="rect">
            <a:avLst/>
          </a:prstGeom>
          <a:noFill/>
        </p:spPr>
        <p:txBody>
          <a:bodyPr wrap="square" anchor="t"/>
          <a:lstStyle/>
          <a:p>
            <a:pPr algn="l"/>
            <a:r>
              <a:rPr sz="2200" b="0">
                <a:solidFill>
                  <a:srgbClr val="3D4A57"/>
                </a:solidFill>
                <a:latin typeface="Calibri"/>
              </a:rPr>
              <a:t>WBC about 26K with neutrophilia (Status 3 to 4).
Platelets 74 K (Status 3).
Creatinine 3.0 to 4.71; BUN 49.7 to 100 (Status 4).
Phosphorus 8.0 (Status 3 to 4).
EPOC pH 7.255 (Status 3); BE −7.4 (Status 2); lactate 2.05 (Status 1).
Venous pO2 33 is venous.
Whole-patient status is 4-E. Cancel the exploratory.</a:t>
            </a:r>
          </a:p>
        </p:txBody>
      </p:sp>
      <p:sp>
        <p:nvSpPr>
          <p:cNvPr id="16" name="Rectangle 1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8" name="TextBox 1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24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24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24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24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24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24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2" name="TextBox 21"/>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24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2200" b="0">
                <a:solidFill>
                  <a:srgbClr val="1C1C1C"/>
                </a:solidFill>
                <a:latin typeface="Calibri"/>
              </a:rPr>
              <a:t>▸  Healthy adult dog/cat: food 4–6 h; water until premedication.</a:t>
            </a:r>
          </a:p>
          <a:p>
            <a:pPr algn="l">
              <a:spcAft>
                <a:spcPts val="600"/>
              </a:spcAft>
            </a:pPr>
            <a:r>
              <a:rPr sz="2200" b="0">
                <a:solidFill>
                  <a:srgbClr val="1C1C1C"/>
                </a:solidFill>
                <a:latin typeface="Calibri"/>
              </a:rPr>
              <a:t>▸  Some hospitals still use 8–12 h NPO. Teach aspiration versus hypoglycemia.</a:t>
            </a:r>
          </a:p>
          <a:p>
            <a:pPr algn="l">
              <a:spcAft>
                <a:spcPts val="600"/>
              </a:spcAft>
            </a:pPr>
            <a:r>
              <a:rPr sz="2200" b="0">
                <a:solidFill>
                  <a:srgbClr val="1C1C1C"/>
                </a:solidFill>
                <a:latin typeface="Calibri"/>
              </a:rPr>
              <a:t>▸  Neonates / &lt;2 kg: food fast no longer than 1–2 h.</a:t>
            </a:r>
          </a:p>
          <a:p>
            <a:pPr algn="l">
              <a:spcAft>
                <a:spcPts val="600"/>
              </a:spcAft>
            </a:pPr>
            <a:r>
              <a:rPr sz="2200" b="0">
                <a:solidFill>
                  <a:srgbClr val="1C1C1C"/>
                </a:solidFill>
                <a:latin typeface="Calibri"/>
              </a:rPr>
              <a:t>▸  Brachycephalics: shorter fast, pre-oxygenate.</a:t>
            </a:r>
          </a:p>
          <a:p>
            <a:pPr algn="l">
              <a:spcAft>
                <a:spcPts val="600"/>
              </a:spcAft>
            </a:pPr>
            <a:r>
              <a:rPr sz="2200" b="0">
                <a:solidFill>
                  <a:srgbClr val="1C1C1C"/>
                </a:solidFill>
                <a:latin typeface="Calibri"/>
              </a:rPr>
              <a:t>▸  Ask what was eaten this morning. Clients feed ‘just a biscuit.’</a:t>
            </a:r>
          </a:p>
          <a:p>
            <a:pPr algn="l">
              <a:spcAft>
                <a:spcPts val="600"/>
              </a:spcAft>
            </a:pPr>
            <a:r>
              <a:rPr sz="22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24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2200" b="0">
                <a:solidFill>
                  <a:srgbClr val="1C1C1C"/>
                </a:solidFill>
                <a:latin typeface="Calibri"/>
              </a:rPr>
              <a:t>▸  Procedure name in plain language, and the reason.</a:t>
            </a:r>
          </a:p>
          <a:p>
            <a:pPr algn="l">
              <a:spcAft>
                <a:spcPts val="600"/>
              </a:spcAft>
            </a:pPr>
            <a:r>
              <a:rPr sz="2200" b="0">
                <a:solidFill>
                  <a:srgbClr val="1C1C1C"/>
                </a:solidFill>
                <a:latin typeface="Calibri"/>
              </a:rPr>
              <a:t>▸  Benefits, alternatives including medical management, and what happens if we wait.</a:t>
            </a:r>
          </a:p>
          <a:p>
            <a:pPr algn="l">
              <a:spcAft>
                <a:spcPts val="600"/>
              </a:spcAft>
            </a:pPr>
            <a:r>
              <a:rPr sz="2200" b="0">
                <a:solidFill>
                  <a:srgbClr val="1C1C1C"/>
                </a:solidFill>
                <a:latin typeface="Calibri"/>
              </a:rPr>
              <a:t>▸  Material risks in one sentence each: anesthesia death, hemorrhage, infection, dehiscence. After OHE, name urinary incontinence.</a:t>
            </a:r>
          </a:p>
          <a:p>
            <a:pPr algn="l">
              <a:spcAft>
                <a:spcPts val="600"/>
              </a:spcAft>
            </a:pPr>
            <a:r>
              <a:rPr sz="2200" b="0">
                <a:solidFill>
                  <a:srgbClr val="1C1C1C"/>
                </a:solidFill>
                <a:latin typeface="Calibri"/>
              </a:rPr>
              <a:t>▸  Estimate: what is included and what is not.</a:t>
            </a:r>
          </a:p>
          <a:p>
            <a:pPr algn="l">
              <a:spcAft>
                <a:spcPts val="600"/>
              </a:spcAft>
            </a:pPr>
            <a:r>
              <a:rPr sz="2200" b="0">
                <a:solidFill>
                  <a:srgbClr val="1C1C1C"/>
                </a:solidFill>
                <a:latin typeface="Calibri"/>
              </a:rPr>
              <a:t>▸  Resuscitation code / DNR before induction.</a:t>
            </a:r>
          </a:p>
          <a:p>
            <a:pPr algn="l">
              <a:spcAft>
                <a:spcPts val="600"/>
              </a:spcAft>
            </a:pPr>
            <a:r>
              <a:rPr sz="2200" b="0">
                <a:solidFill>
                  <a:srgbClr val="1C1C1C"/>
                </a:solidFill>
                <a:latin typeface="Calibri"/>
              </a:rPr>
              <a:t>▸  File the signed form. Then start induction.</a:t>
            </a:r>
          </a:p>
        </p:txBody>
      </p:sp>
      <p:sp>
        <p:nvSpPr>
          <p:cNvPr id="14" name="Rectangle 1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6" name="TextBox 1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WHO-ADAPTED TIMEOUT AND MULTIMODAL PLAN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Pre-incision checklist and analgesia</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2400" b="1">
                <a:solidFill>
                  <a:srgbClr val="0B2C4A"/>
                </a:solidFill>
                <a:latin typeface="Calibri"/>
              </a:rPr>
              <a:t>Pre-incision checklist</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500"/>
              </a:spcAft>
            </a:pPr>
            <a:r>
              <a:rPr sz="2200" b="0">
                <a:solidFill>
                  <a:srgbClr val="1C1C1C"/>
                </a:solidFill>
                <a:latin typeface="Calibri"/>
              </a:rPr>
              <a:t>▸  Identity, procedure, site/side confirmed.</a:t>
            </a:r>
          </a:p>
          <a:p>
            <a:pPr algn="l">
              <a:spcAft>
                <a:spcPts val="500"/>
              </a:spcAft>
            </a:pPr>
            <a:r>
              <a:rPr sz="2200" b="0">
                <a:solidFill>
                  <a:srgbClr val="1C1C1C"/>
                </a:solidFill>
                <a:latin typeface="Calibri"/>
              </a:rPr>
              <a:t>▸  Consent, estimate, DNR documented.</a:t>
            </a:r>
          </a:p>
          <a:p>
            <a:pPr algn="l">
              <a:spcAft>
                <a:spcPts val="500"/>
              </a:spcAft>
            </a:pPr>
            <a:r>
              <a:rPr sz="2200" b="0">
                <a:solidFill>
                  <a:srgbClr val="1C1C1C"/>
                </a:solidFill>
                <a:latin typeface="Calibri"/>
              </a:rPr>
              <a:t>▸  ASA, allergies, last meal.</a:t>
            </a:r>
          </a:p>
          <a:p>
            <a:pPr algn="l">
              <a:spcAft>
                <a:spcPts val="500"/>
              </a:spcAft>
            </a:pPr>
            <a:r>
              <a:rPr sz="2200" b="0">
                <a:solidFill>
                  <a:srgbClr val="1C1C1C"/>
                </a:solidFill>
                <a:latin typeface="Calibri"/>
              </a:rPr>
              <a:t>▸  IV catheter patent; fluids running.</a:t>
            </a:r>
          </a:p>
          <a:p>
            <a:pPr algn="l">
              <a:spcAft>
                <a:spcPts val="500"/>
              </a:spcAft>
            </a:pPr>
            <a:r>
              <a:rPr sz="2200" b="0">
                <a:solidFill>
                  <a:srgbClr val="1C1C1C"/>
                </a:solidFill>
                <a:latin typeface="Calibri"/>
              </a:rPr>
              <a:t>▸  Airway secured; monitoring on.</a:t>
            </a:r>
          </a:p>
          <a:p>
            <a:pPr algn="l">
              <a:spcAft>
                <a:spcPts val="500"/>
              </a:spcAft>
            </a:pPr>
            <a:r>
              <a:rPr sz="2200" b="0">
                <a:solidFill>
                  <a:srgbClr val="1C1C1C"/>
                </a:solidFill>
                <a:latin typeface="Calibri"/>
              </a:rPr>
              <a:t>▸  Antibiotics given (if indicated) 30 minutes before incision.</a:t>
            </a:r>
          </a:p>
          <a:p>
            <a:pPr algn="l">
              <a:spcAft>
                <a:spcPts val="500"/>
              </a:spcAft>
            </a:pPr>
            <a:r>
              <a:rPr sz="2200" b="0">
                <a:solidFill>
                  <a:srgbClr val="1C1C1C"/>
                </a:solidFill>
                <a:latin typeface="Calibri"/>
              </a:rPr>
              <a:t>▸  Local block planned (incisional, testicular, TAP, splash).</a:t>
            </a:r>
          </a:p>
          <a:p>
            <a:pPr algn="l">
              <a:spcAft>
                <a:spcPts val="500"/>
              </a:spcAft>
            </a:pPr>
            <a:r>
              <a:rPr sz="2200" b="0">
                <a:solidFill>
                  <a:srgbClr val="1C1C1C"/>
                </a:solidFill>
                <a:latin typeface="Calibri"/>
              </a:rPr>
              <a:t>▸  Instruments, suture, extra gloves, cautery, suction.</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2400" b="1">
                <a:solidFill>
                  <a:srgbClr val="0B2C4A"/>
                </a:solidFill>
                <a:latin typeface="Calibri"/>
              </a:rPr>
              <a:t>Multimodal analgesia</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600"/>
              </a:spcAft>
            </a:pPr>
            <a:r>
              <a:rPr sz="2200" b="0">
                <a:solidFill>
                  <a:srgbClr val="1C1C1C"/>
                </a:solidFill>
                <a:latin typeface="Calibri"/>
              </a:rPr>
              <a:t>▸  Opioid as part of premed or induction.</a:t>
            </a:r>
          </a:p>
          <a:p>
            <a:pPr algn="l">
              <a:spcAft>
                <a:spcPts val="600"/>
              </a:spcAft>
            </a:pPr>
            <a:r>
              <a:rPr sz="2200" b="0">
                <a:solidFill>
                  <a:srgbClr val="1C1C1C"/>
                </a:solidFill>
                <a:latin typeface="Calibri"/>
              </a:rPr>
              <a:t>▸  NSAID if perfusion, kidneys, and GI tract allow. Often at recovery.</a:t>
            </a:r>
          </a:p>
          <a:p>
            <a:pPr algn="l">
              <a:spcAft>
                <a:spcPts val="600"/>
              </a:spcAft>
            </a:pPr>
            <a:r>
              <a:rPr sz="2200" b="0">
                <a:solidFill>
                  <a:srgbClr val="1C1C1C"/>
                </a:solidFill>
                <a:latin typeface="Calibri"/>
              </a:rPr>
              <a:t>▸  Local/regional: the cheapest MAC-sparing tool you have.</a:t>
            </a:r>
          </a:p>
          <a:p>
            <a:pPr algn="l">
              <a:spcAft>
                <a:spcPts val="600"/>
              </a:spcAft>
            </a:pPr>
            <a:r>
              <a:rPr sz="2200" b="0">
                <a:solidFill>
                  <a:srgbClr val="1C1C1C"/>
                </a:solidFill>
                <a:latin typeface="Calibri"/>
              </a:rPr>
              <a:t>▸  Adjuncts: ketamine CRI, dexmedetomidine CRI, gabapentin, acetaminophen (dog only).</a:t>
            </a:r>
          </a:p>
          <a:p>
            <a:pPr algn="l">
              <a:spcAft>
                <a:spcPts val="600"/>
              </a:spcAft>
            </a:pPr>
            <a:r>
              <a:rPr sz="2200" b="0">
                <a:solidFill>
                  <a:srgbClr val="1C1C1C"/>
                </a:solidFill>
                <a:latin typeface="Calibri"/>
              </a:rPr>
              <a:t>▸  Cats: skip acetaminophen; careful NSAID choice and dose.</a:t>
            </a:r>
          </a:p>
          <a:p>
            <a:pPr algn="l">
              <a:spcAft>
                <a:spcPts val="600"/>
              </a:spcAft>
            </a:pPr>
            <a:r>
              <a:rPr sz="2200" b="0">
                <a:solidFill>
                  <a:srgbClr val="1C1C1C"/>
                </a:solidFill>
                <a:latin typeface="Calibri"/>
              </a:rPr>
              <a:t>▸  Write the pain plan before the patient leaves the table.</a:t>
            </a:r>
          </a:p>
        </p:txBody>
      </p:sp>
      <p:sp>
        <p:nvSpPr>
          <p:cNvPr id="14" name="Rectangle 1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6" name="TextBox 1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COMPLETE THE HEADER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Anesthesia record, Willie</a:t>
            </a:r>
          </a:p>
        </p:txBody>
      </p:sp>
      <p:pic>
        <p:nvPicPr>
          <p:cNvPr id="8" name="Picture 7" descr="anesthesia_record_willie.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2400" b="1">
                <a:solidFill>
                  <a:srgbClr val="C5A35A"/>
                </a:solidFill>
                <a:latin typeface="Calibri"/>
              </a:rPr>
              <a:t>Back row: read this</a:t>
            </a:r>
          </a:p>
        </p:txBody>
      </p:sp>
      <p:sp>
        <p:nvSpPr>
          <p:cNvPr id="11" name="TextBox 10"/>
          <p:cNvSpPr txBox="1"/>
          <p:nvPr/>
        </p:nvSpPr>
        <p:spPr>
          <a:xfrm>
            <a:off x="8229600" y="1737360"/>
            <a:ext cx="3474720" cy="4389120"/>
          </a:xfrm>
          <a:prstGeom prst="rect">
            <a:avLst/>
          </a:prstGeom>
          <a:noFill/>
        </p:spPr>
        <p:txBody>
          <a:bodyPr wrap="square" anchor="t"/>
          <a:lstStyle/>
          <a:p>
            <a:pPr algn="l"/>
            <a:r>
              <a:rPr sz="2400" b="0">
                <a:solidFill>
                  <a:srgbClr val="FFFFFF"/>
                </a:solidFill>
                <a:latin typeface="Calibri"/>
              </a:rPr>
              <a:t>ASA III-E
before alfaxalone
Skip NSAID
(DexSP already given)
Grid every 5 min
while sedated
Recovery is on
the same page</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Anesthesia record, MoMo</a:t>
            </a:r>
          </a:p>
        </p:txBody>
      </p:sp>
      <p:pic>
        <p:nvPicPr>
          <p:cNvPr id="8" name="Picture 7" descr="anesthesia_record_momo.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2400" b="1">
                <a:solidFill>
                  <a:srgbClr val="C5A35A"/>
                </a:solidFill>
                <a:latin typeface="Calibri"/>
              </a:rPr>
              <a:t>Back row: read this</a:t>
            </a:r>
          </a:p>
        </p:txBody>
      </p:sp>
      <p:sp>
        <p:nvSpPr>
          <p:cNvPr id="11" name="TextBox 10"/>
          <p:cNvSpPr txBox="1"/>
          <p:nvPr/>
        </p:nvSpPr>
        <p:spPr>
          <a:xfrm>
            <a:off x="8229600" y="1737360"/>
            <a:ext cx="3474720" cy="4389120"/>
          </a:xfrm>
          <a:prstGeom prst="rect">
            <a:avLst/>
          </a:prstGeom>
          <a:noFill/>
        </p:spPr>
        <p:txBody>
          <a:bodyPr wrap="square" anchor="t"/>
          <a:lstStyle/>
          <a:p>
            <a:pPr algn="l"/>
            <a:r>
              <a:rPr sz="2400" b="0">
                <a:solidFill>
                  <a:srgbClr val="FFFFFF"/>
                </a:solidFill>
                <a:latin typeface="Calibri"/>
              </a:rPr>
              <a:t>ASA IV-E
No clippers
No incision
Creatinine 3.0
then 4.71
Write:
SURGERY
CANCELLED</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FREY ET AL. 2022 AAFP/AAHA: WHEN. WHITTEM 1999 AND GONZALEZ 2017: HOW.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Surgical antimicrobial prophylaxis</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24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22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57200"/>
          </a:xfrm>
          <a:prstGeom prst="rect">
            <a:avLst/>
          </a:prstGeom>
          <a:noFill/>
        </p:spPr>
        <p:txBody>
          <a:bodyPr wrap="square" anchor="t"/>
          <a:lstStyle/>
          <a:p>
            <a:pPr algn="l"/>
            <a:r>
              <a:rPr sz="2400" b="1">
                <a:solidFill>
                  <a:srgbClr val="8B2E2E"/>
                </a:solidFill>
                <a:latin typeface="Calibri"/>
              </a:rPr>
              <a:t>When indicated: timed IV, then stop</a:t>
            </a:r>
          </a:p>
        </p:txBody>
      </p:sp>
      <p:sp>
        <p:nvSpPr>
          <p:cNvPr id="13" name="TextBox 12"/>
          <p:cNvSpPr txBox="1"/>
          <p:nvPr/>
        </p:nvSpPr>
        <p:spPr>
          <a:xfrm>
            <a:off x="6492240" y="1783080"/>
            <a:ext cx="5029200" cy="4114800"/>
          </a:xfrm>
          <a:prstGeom prst="rect">
            <a:avLst/>
          </a:prstGeom>
          <a:noFill/>
        </p:spPr>
        <p:txBody>
          <a:bodyPr wrap="square" anchor="t"/>
          <a:lstStyle/>
          <a:p>
            <a:pPr algn="l"/>
            <a:r>
              <a:rPr sz="2200" b="0">
                <a:solidFill>
                  <a:srgbClr val="1C1C1C"/>
                </a:solidFill>
                <a:latin typeface="Calibri"/>
              </a:rPr>
              <a:t>AAFP/AAHA 2022 has no cefazolin mg/kg.
1. Start 30–60 min before incision.
2. Extra-label: 22 mg/kg IV (Gonzalez 2017).
3. Second dose if &gt;90 min (Whittem 1999).
4. Stop at closure unless treating infection.
Willie’s infected ear: treatment, not prophylaxis.</a:t>
            </a:r>
          </a:p>
        </p:txBody>
      </p:sp>
      <p:sp>
        <p:nvSpPr>
          <p:cNvPr id="14" name="Rectangle 1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6" name="TextBox 1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PREP ROOM, THEN OPERATING ROOM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8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24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8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24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8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24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8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24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8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2400" b="0">
                <a:solidFill>
                  <a:srgbClr val="1C1C1C"/>
                </a:solidFill>
                <a:latin typeface="Calibri"/>
              </a:rPr>
              <a:t>Sterile prep. Skin: 7.5% ~5 min, then 5% paint. Eye: 1:50 of 10%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8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24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8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24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8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2400" b="0">
                <a:solidFill>
                  <a:srgbClr val="1C1C1C"/>
                </a:solidFill>
                <a:latin typeface="Calibri"/>
              </a:rPr>
              <a:t>Timeout / checklist → announce incision</a:t>
            </a:r>
          </a:p>
        </p:txBody>
      </p:sp>
      <p:sp>
        <p:nvSpPr>
          <p:cNvPr id="40" name="Rectangle 39"/>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42" name="TextBox 41"/>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22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22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22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8" name="TextBox 1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READ THE BOTTLE. CITE THE LABEL OR THE PAPER.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24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4114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53035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530352"/>
          </a:xfrm>
          <a:prstGeom prst="rect">
            <a:avLst/>
          </a:prstGeom>
          <a:noFill/>
        </p:spPr>
        <p:txBody>
          <a:bodyPr wrap="square" anchor="ctr"/>
          <a:lstStyle/>
          <a:p>
            <a:pPr algn="ctr"/>
            <a:r>
              <a:rPr sz="2400" b="1">
                <a:solidFill>
                  <a:srgbClr val="FFFFFF"/>
                </a:solidFill>
                <a:latin typeface="Calibri"/>
              </a:rPr>
              <a:t>CHG  ·  Nolvasan</a:t>
            </a:r>
          </a:p>
        </p:txBody>
      </p:sp>
      <p:sp>
        <p:nvSpPr>
          <p:cNvPr id="13" name="TextBox 12"/>
          <p:cNvSpPr txBox="1"/>
          <p:nvPr/>
        </p:nvSpPr>
        <p:spPr>
          <a:xfrm>
            <a:off x="502920" y="2907792"/>
            <a:ext cx="3474720" cy="3291840"/>
          </a:xfrm>
          <a:prstGeom prst="rect">
            <a:avLst/>
          </a:prstGeom>
          <a:noFill/>
        </p:spPr>
        <p:txBody>
          <a:bodyPr wrap="square" anchor="t"/>
          <a:lstStyle/>
          <a:p>
            <a:pPr algn="l"/>
            <a:r>
              <a:rPr sz="2200" b="0">
                <a:solidFill>
                  <a:srgbClr val="1C1C1C"/>
                </a:solidFill>
                <a:latin typeface="Calibri"/>
              </a:rPr>
              <a:t>2% chlorhexidine acetate
Wash 2 to 4 minutes
Keep out of eyes
Trunk / intact skin
Alcohol: rinse, then dry</a:t>
            </a:r>
          </a:p>
        </p:txBody>
      </p:sp>
      <p:sp>
        <p:nvSpPr>
          <p:cNvPr id="14" name="Rounded Rectangle 13"/>
          <p:cNvSpPr/>
          <p:nvPr/>
        </p:nvSpPr>
        <p:spPr>
          <a:xfrm>
            <a:off x="4224528" y="2267712"/>
            <a:ext cx="3749039" cy="4114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53035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530352"/>
          </a:xfrm>
          <a:prstGeom prst="rect">
            <a:avLst/>
          </a:prstGeom>
          <a:noFill/>
        </p:spPr>
        <p:txBody>
          <a:bodyPr wrap="square" anchor="ctr"/>
          <a:lstStyle/>
          <a:p>
            <a:pPr algn="ctr"/>
            <a:r>
              <a:rPr sz="2400" b="1">
                <a:solidFill>
                  <a:srgbClr val="0B2C4A"/>
                </a:solidFill>
                <a:latin typeface="Calibri"/>
              </a:rPr>
              <a:t>Skin  ·  Betadine vet</a:t>
            </a:r>
          </a:p>
        </p:txBody>
      </p:sp>
      <p:sp>
        <p:nvSpPr>
          <p:cNvPr id="17" name="TextBox 16"/>
          <p:cNvSpPr txBox="1"/>
          <p:nvPr/>
        </p:nvSpPr>
        <p:spPr>
          <a:xfrm>
            <a:off x="4361688" y="2907792"/>
            <a:ext cx="3474720" cy="3291840"/>
          </a:xfrm>
          <a:prstGeom prst="rect">
            <a:avLst/>
          </a:prstGeom>
          <a:noFill/>
        </p:spPr>
        <p:txBody>
          <a:bodyPr wrap="square" anchor="t"/>
          <a:lstStyle/>
          <a:p>
            <a:pPr algn="l"/>
            <a:r>
              <a:rPr sz="2200" b="0">
                <a:solidFill>
                  <a:srgbClr val="1C1C1C"/>
                </a:solidFill>
                <a:latin typeface="Calibri"/>
              </a:rPr>
              <a:t>7.5% scrub
Lather about 5 minutes
Rinse with sterile water
Paint 5% solution
Dry, then drape</a:t>
            </a:r>
          </a:p>
        </p:txBody>
      </p:sp>
      <p:sp>
        <p:nvSpPr>
          <p:cNvPr id="18" name="Rounded Rectangle 17"/>
          <p:cNvSpPr/>
          <p:nvPr/>
        </p:nvSpPr>
        <p:spPr>
          <a:xfrm>
            <a:off x="8083296" y="2267712"/>
            <a:ext cx="3730752" cy="4114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5303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530352"/>
          </a:xfrm>
          <a:prstGeom prst="rect">
            <a:avLst/>
          </a:prstGeom>
          <a:noFill/>
        </p:spPr>
        <p:txBody>
          <a:bodyPr wrap="square" anchor="ctr"/>
          <a:lstStyle/>
          <a:p>
            <a:pPr algn="ctr"/>
            <a:r>
              <a:rPr sz="2400" b="1">
                <a:solidFill>
                  <a:srgbClr val="C5A35A"/>
                </a:solidFill>
                <a:latin typeface="Calibri"/>
              </a:rPr>
              <a:t>Eye  ·  Roberts 1986</a:t>
            </a:r>
          </a:p>
        </p:txBody>
      </p:sp>
      <p:sp>
        <p:nvSpPr>
          <p:cNvPr id="21" name="TextBox 20"/>
          <p:cNvSpPr txBox="1"/>
          <p:nvPr/>
        </p:nvSpPr>
        <p:spPr>
          <a:xfrm>
            <a:off x="8220456" y="2907792"/>
            <a:ext cx="3456432" cy="3291840"/>
          </a:xfrm>
          <a:prstGeom prst="rect">
            <a:avLst/>
          </a:prstGeom>
          <a:noFill/>
        </p:spPr>
        <p:txBody>
          <a:bodyPr wrap="square" anchor="t"/>
          <a:lstStyle/>
          <a:p>
            <a:pPr algn="l"/>
            <a:r>
              <a:rPr sz="2200" b="0">
                <a:solidFill>
                  <a:srgbClr val="1C1C1C"/>
                </a:solidFill>
                <a:latin typeface="Calibri"/>
              </a:rPr>
              <a:t>10% stock, dilute 1:50
2 min scrub + 2 min soak
1:2: corneal edema (1/15)
5% bottle: use 1:25
Not full strength on cornea</a:t>
            </a:r>
          </a:p>
        </p:txBody>
      </p:sp>
      <p:sp>
        <p:nvSpPr>
          <p:cNvPr id="22" name="Rectangle 2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4" name="TextBox 2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24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2200" b="0">
                <a:solidFill>
                  <a:srgbClr val="1C1C1C"/>
                </a:solidFill>
                <a:latin typeface="Calibri"/>
              </a:rPr>
              <a:t>▸  Dirty prep, then sterile prep.</a:t>
            </a:r>
          </a:p>
          <a:p>
            <a:pPr algn="l">
              <a:spcAft>
                <a:spcPts val="1000"/>
              </a:spcAft>
            </a:pPr>
            <a:r>
              <a:rPr sz="2200" b="0">
                <a:solidFill>
                  <a:srgbClr val="1C1C1C"/>
                </a:solidFill>
                <a:latin typeface="Calibri"/>
              </a:rPr>
              <a:t>▸  Start at the incision. Spiral out. Drop the sponge.</a:t>
            </a:r>
          </a:p>
          <a:p>
            <a:pPr algn="l">
              <a:spcAft>
                <a:spcPts val="1000"/>
              </a:spcAft>
            </a:pPr>
            <a:r>
              <a:rPr sz="2200" b="0">
                <a:solidFill>
                  <a:srgbClr val="1C1C1C"/>
                </a:solidFill>
                <a:latin typeface="Calibri"/>
              </a:rPr>
              <a:t>▸  Skin: 7.5% ~5 min, then 5% paint.</a:t>
            </a:r>
          </a:p>
          <a:p>
            <a:pPr algn="l">
              <a:spcAft>
                <a:spcPts val="1000"/>
              </a:spcAft>
            </a:pPr>
            <a:r>
              <a:rPr sz="2200" b="0">
                <a:solidFill>
                  <a:srgbClr val="1C1C1C"/>
                </a:solidFill>
                <a:latin typeface="Calibri"/>
              </a:rPr>
              <a:t>▸  Eye: 10% stock 1:50. 2 min + 2 min.</a:t>
            </a:r>
          </a:p>
          <a:p>
            <a:pPr algn="l">
              <a:spcAft>
                <a:spcPts val="1000"/>
              </a:spcAft>
            </a:pPr>
            <a:r>
              <a:rPr sz="2200" b="0">
                <a:solidFill>
                  <a:srgbClr val="1C1C1C"/>
                </a:solidFill>
                <a:latin typeface="Calibri"/>
              </a:rPr>
              <a:t>▸  Willie canal: dilute PVP-I, not 7.5% scrub.</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24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2200" b="0">
                <a:solidFill>
                  <a:srgbClr val="1C1C1C"/>
                </a:solidFill>
                <a:latin typeface="Calibri"/>
              </a:rPr>
              <a:t>• ET tube + pulse ox
• IV catheter + fluids
• Anesthesia machine
• V-trough / padding
• Ties snug, then check the pulse distal to each tie
• Clip after a surgical plane of anesthesia
Keep the hips in a neutral spread.
Lubricate the eyes. Confirm the tube is patent.
Photo: Anja, CC BY-SA 4.0.</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22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22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22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8" name="TextBox 1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2200" b="0">
                <a:solidFill>
                  <a:srgbClr val="1C1C1C"/>
                </a:solidFill>
                <a:latin typeface="Calibri"/>
              </a:rPr>
              <a:t>Left: closed-gloving technique (hands stay inside the gown cuffs). Right: cap, mask, ECG/SpO2/ETCO2, circle system, IV fluids, airway. Monitoring is on before the first drug. Willie needed this for an ear clean. MoMo: the record stopped at preoperative evaluation.
Photo: MSgt Carlotta Holley, U.S. Air Force, public domain.</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RECOGNIZE, ANNOUNCE, CORRECT. THEN PROTECT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24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2400" b="0">
                <a:solidFill>
                  <a:srgbClr val="1C1C1C"/>
                </a:solidFill>
                <a:latin typeface="Calibri"/>
              </a:rPr>
              <a:t>Say it immediately. Re-glove, re-gown, or re-drape. Name the break once. Fix it completely.
After the incision is made, the same rule: notice, announce,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24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24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24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6" name="Rectangle 1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8" name="TextBox 1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3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24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2200" b="0">
                <a:solidFill>
                  <a:srgbClr val="1B6B7A"/>
                </a:solidFill>
                <a:latin typeface="Calibri"/>
              </a:rPr>
              <a:t>After induction, immediately before the scrub.</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3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24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2200" b="0">
                <a:solidFill>
                  <a:srgbClr val="1B6B7A"/>
                </a:solidFill>
                <a:latin typeface="Calibri"/>
              </a:rPr>
              <a:t>10% stock 1:50 (1 + 49 mL).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3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2400" b="1">
                <a:solidFill>
                  <a:srgbClr val="1C1C1C"/>
                </a:solidFill>
                <a:latin typeface="Calibri"/>
              </a:rPr>
              <a:t>Blocked cat, K+ 8.2, booked for PU.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2200" b="0">
                <a:solidFill>
                  <a:srgbClr val="1B6B7A"/>
                </a:solidFill>
                <a:latin typeface="Calibri"/>
              </a:rPr>
              <a:t>Stabilize K+. Decompress. Recheck. Then decide on anesthesia.</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3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24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2200" b="0">
                <a:solidFill>
                  <a:srgbClr val="1B6B7A"/>
                </a:solidFill>
                <a:latin typeface="Calibri"/>
              </a:rPr>
              <a:t>Stop. Irrigate with saline. Finish the field with dilute PVP-I.</a:t>
            </a:r>
          </a:p>
        </p:txBody>
      </p:sp>
      <p:sp>
        <p:nvSpPr>
          <p:cNvPr id="28" name="Rectangle 27"/>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0" name="TextBox 29"/>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24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2200" b="0">
                <a:solidFill>
                  <a:srgbClr val="1C1C1C"/>
                </a:solidFill>
                <a:latin typeface="Calibri"/>
              </a:rPr>
              <a:t>▸  Extubate when swallow returns.</a:t>
            </a:r>
          </a:p>
          <a:p>
            <a:pPr algn="l">
              <a:spcAft>
                <a:spcPts val="1000"/>
              </a:spcAft>
            </a:pPr>
            <a:r>
              <a:rPr sz="2200" b="0">
                <a:solidFill>
                  <a:srgbClr val="1C1C1C"/>
                </a:solidFill>
                <a:latin typeface="Calibri"/>
              </a:rPr>
              <a:t>▸  Pale + tachycardic after celiotomy: return to OR.</a:t>
            </a:r>
          </a:p>
          <a:p>
            <a:pPr algn="l">
              <a:spcAft>
                <a:spcPts val="1000"/>
              </a:spcAft>
            </a:pPr>
            <a:r>
              <a:rPr sz="2200" b="0">
                <a:solidFill>
                  <a:srgbClr val="1C1C1C"/>
                </a:solidFill>
                <a:latin typeface="Calibri"/>
              </a:rPr>
              <a:t>▸  Rewarm. Check skin every 15 minutes.</a:t>
            </a:r>
          </a:p>
          <a:p>
            <a:pPr algn="l">
              <a:spcAft>
                <a:spcPts val="1000"/>
              </a:spcAft>
            </a:pPr>
            <a:r>
              <a:rPr sz="2200" b="0">
                <a:solidFill>
                  <a:srgbClr val="1C1C1C"/>
                </a:solidFill>
                <a:latin typeface="Calibri"/>
              </a:rPr>
              <a:t>▸  E-collar on before they can lick.</a:t>
            </a:r>
          </a:p>
          <a:p>
            <a:pPr algn="l">
              <a:spcAft>
                <a:spcPts val="1000"/>
              </a:spcAft>
            </a:pPr>
            <a:r>
              <a:rPr sz="2200" b="0">
                <a:solidFill>
                  <a:srgbClr val="1C1C1C"/>
                </a:solidFill>
                <a:latin typeface="Calibri"/>
              </a:rPr>
              <a:t>▸  Willie: skip NSAID after DexSP.</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320040" y="1024128"/>
            <a:ext cx="7589520" cy="5349240"/>
          </a:xfrm>
          <a:prstGeom prst="rect">
            <a:avLst/>
          </a:prstGeom>
        </p:spPr>
      </p:pic>
      <p:sp>
        <p:nvSpPr>
          <p:cNvPr id="9" name="Rounded Rectangle 8"/>
          <p:cNvSpPr/>
          <p:nvPr/>
        </p:nvSpPr>
        <p:spPr>
          <a:xfrm>
            <a:off x="8046720" y="1024128"/>
            <a:ext cx="3794760" cy="534924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88720"/>
            <a:ext cx="3474720" cy="457200"/>
          </a:xfrm>
          <a:prstGeom prst="rect">
            <a:avLst/>
          </a:prstGeom>
          <a:noFill/>
        </p:spPr>
        <p:txBody>
          <a:bodyPr wrap="square" anchor="t"/>
          <a:lstStyle/>
          <a:p>
            <a:pPr algn="l"/>
            <a:r>
              <a:rPr sz="2400" b="1">
                <a:solidFill>
                  <a:srgbClr val="C5A35A"/>
                </a:solidFill>
                <a:latin typeface="Calibri"/>
              </a:rPr>
              <a:t>Every 15 minutes</a:t>
            </a:r>
          </a:p>
        </p:txBody>
      </p:sp>
      <p:sp>
        <p:nvSpPr>
          <p:cNvPr id="11" name="TextBox 10"/>
          <p:cNvSpPr txBox="1"/>
          <p:nvPr/>
        </p:nvSpPr>
        <p:spPr>
          <a:xfrm>
            <a:off x="8229600" y="1737360"/>
            <a:ext cx="3474720" cy="4389120"/>
          </a:xfrm>
          <a:prstGeom prst="rect">
            <a:avLst/>
          </a:prstGeom>
          <a:noFill/>
        </p:spPr>
        <p:txBody>
          <a:bodyPr wrap="square" anchor="t"/>
          <a:lstStyle/>
          <a:p>
            <a:pPr algn="l"/>
            <a:r>
              <a:rPr sz="2400" b="0">
                <a:solidFill>
                  <a:srgbClr val="FFFFFF"/>
                </a:solidFill>
                <a:latin typeface="Calibri"/>
              </a:rPr>
              <a:t>Airway
mm / CRT / pulse
Temperature
Pain score
Incision
E-collar on
Pale + tachycardic
after celiotomy:
return to OR</a:t>
            </a:r>
          </a:p>
        </p:txBody>
      </p:sp>
      <p:sp>
        <p:nvSpPr>
          <p:cNvPr id="12" name="Rectangle 1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4" name="TextBox 1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SCORE PAIN.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Pain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2400" b="1">
                <a:solidFill>
                  <a:srgbClr val="0B2C4A"/>
                </a:solidFill>
                <a:latin typeface="Calibri"/>
              </a:rPr>
              <a:t>Score pain and record the number</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2200" b="0">
                <a:solidFill>
                  <a:srgbClr val="1C1C1C"/>
                </a:solidFill>
                <a:latin typeface="Calibri"/>
              </a:rPr>
              <a:t>▸  Dogs: Glasgow CMPS-SF. Cats: Feline Grimace Scale plus behavior.</a:t>
            </a:r>
          </a:p>
          <a:p>
            <a:pPr algn="l">
              <a:spcAft>
                <a:spcPts val="600"/>
              </a:spcAft>
            </a:pPr>
            <a:r>
              <a:rPr sz="2200" b="0">
                <a:solidFill>
                  <a:srgbClr val="1C1C1C"/>
                </a:solidFill>
                <a:latin typeface="Calibri"/>
              </a:rPr>
              <a:t>▸  Re-score after intervention.</a:t>
            </a:r>
          </a:p>
          <a:p>
            <a:pPr algn="l">
              <a:spcAft>
                <a:spcPts val="600"/>
              </a:spcAft>
            </a:pPr>
            <a:r>
              <a:rPr sz="2200" b="0">
                <a:solidFill>
                  <a:srgbClr val="1C1C1C"/>
                </a:solidFill>
                <a:latin typeface="Calibri"/>
              </a:rPr>
              <a:t>▸  Soft tissue elective: opioid ± NSAID ± local.</a:t>
            </a:r>
          </a:p>
          <a:p>
            <a:pPr algn="l">
              <a:spcAft>
                <a:spcPts val="600"/>
              </a:spcAft>
            </a:pPr>
            <a:r>
              <a:rPr sz="2200" b="0">
                <a:solidFill>
                  <a:srgbClr val="1C1C1C"/>
                </a:solidFill>
                <a:latin typeface="Calibri"/>
              </a:rPr>
              <a:t>▸  Celiotomy / orthopedic: CRIs, extra locals, overnight monitoring.</a:t>
            </a:r>
          </a:p>
          <a:p>
            <a:pPr algn="l">
              <a:spcAft>
                <a:spcPts val="600"/>
              </a:spcAft>
            </a:pPr>
            <a:r>
              <a:rPr sz="2200" b="0">
                <a:solidFill>
                  <a:srgbClr val="1C1C1C"/>
                </a:solidFill>
                <a:latin typeface="Calibri"/>
              </a:rPr>
              <a:t>▸  Send home the opioid + NSAID (if kidneys and GI allow) + the local you already placed. Write the dosing times.</a:t>
            </a:r>
          </a:p>
          <a:p>
            <a:pPr algn="l">
              <a:spcAft>
                <a:spcPts val="600"/>
              </a:spcAft>
            </a:pPr>
            <a:r>
              <a:rPr sz="2200" b="0">
                <a:solidFill>
                  <a:srgbClr val="1C1C1C"/>
                </a:solidFill>
                <a:latin typeface="Calibri"/>
              </a:rPr>
              <a:t>▸  Willie already received DexSP: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2400" b="1">
                <a:solidFill>
                  <a:srgbClr val="0B2C4A"/>
                </a:solidFill>
                <a:latin typeface="Calibri"/>
              </a:rPr>
              <a:t>Incision care</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2200" b="0">
                <a:solidFill>
                  <a:srgbClr val="1C1C1C"/>
                </a:solidFill>
                <a:latin typeface="Calibri"/>
              </a:rPr>
              <a:t>▸  Look twice daily: swelling, discharge, gapping, smell, heat.</a:t>
            </a:r>
          </a:p>
          <a:p>
            <a:pPr algn="l">
              <a:spcAft>
                <a:spcPts val="600"/>
              </a:spcAft>
            </a:pPr>
            <a:r>
              <a:rPr sz="2200" b="0">
                <a:solidFill>
                  <a:srgbClr val="1C1C1C"/>
                </a:solidFill>
                <a:latin typeface="Calibri"/>
              </a:rPr>
              <a:t>▸  E-collar that actually stays on.</a:t>
            </a:r>
          </a:p>
          <a:p>
            <a:pPr algn="l">
              <a:spcAft>
                <a:spcPts val="600"/>
              </a:spcAft>
            </a:pPr>
            <a:r>
              <a:rPr sz="2200" b="0">
                <a:solidFill>
                  <a:srgbClr val="1C1C1C"/>
                </a:solidFill>
                <a:latin typeface="Calibri"/>
              </a:rPr>
              <a:t>▸  Leash walks only for 14 days. Keep the patient confined indoors otherwise.</a:t>
            </a:r>
          </a:p>
          <a:p>
            <a:pPr algn="l">
              <a:spcAft>
                <a:spcPts val="600"/>
              </a:spcAft>
            </a:pPr>
            <a:r>
              <a:rPr sz="2200" b="0">
                <a:solidFill>
                  <a:srgbClr val="1C1C1C"/>
                </a:solidFill>
                <a:latin typeface="Calibri"/>
              </a:rPr>
              <a:t>▸  Saline if dirty. Skin sutures typically 10–14 days.</a:t>
            </a:r>
          </a:p>
          <a:p>
            <a:pPr algn="l">
              <a:spcAft>
                <a:spcPts val="600"/>
              </a:spcAft>
            </a:pPr>
            <a:r>
              <a:rPr sz="2200" b="0">
                <a:solidFill>
                  <a:srgbClr val="1C1C1C"/>
                </a:solidFill>
                <a:latin typeface="Calibri"/>
              </a:rPr>
              <a:t>▸  Heart or kidney patients: measured fluid rate and a written stop time.</a:t>
            </a:r>
          </a:p>
          <a:p>
            <a:pPr algn="l">
              <a:spcAft>
                <a:spcPts val="600"/>
              </a:spcAft>
            </a:pPr>
            <a:r>
              <a:rPr sz="2200" b="0">
                <a:solidFill>
                  <a:srgbClr val="1C1C1C"/>
                </a:solidFill>
                <a:latin typeface="Calibri"/>
              </a:rPr>
              <a:t>▸  Cats: start a meal the night of surgery.</a:t>
            </a:r>
          </a:p>
        </p:txBody>
      </p:sp>
      <p:sp>
        <p:nvSpPr>
          <p:cNvPr id="14" name="Rectangle 1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6" name="TextBox 1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HEMORRHAGE, AIRWAY, HERNIA, DEHISCENCE, SSI, SEROMA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24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22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24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22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24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22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24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22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24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22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24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2200" b="0">
                <a:solidFill>
                  <a:srgbClr val="3D4A57"/>
                </a:solidFill>
                <a:latin typeface="Calibri"/>
              </a:rPr>
              <a:t>Dead space + motion. Restrict activity. Bandage if needed. Leave the fluid unless it is infected.</a:t>
            </a:r>
          </a:p>
        </p:txBody>
      </p:sp>
      <p:sp>
        <p:nvSpPr>
          <p:cNvPr id="32" name="Rectangle 31"/>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4" name="TextBox 33"/>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24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2200" b="0">
                <a:solidFill>
                  <a:srgbClr val="1C1C1C"/>
                </a:solidFill>
                <a:latin typeface="Calibri"/>
              </a:rPr>
              <a:t>▸  Date/time, patient ID, surgeon, anesthesia, ASA.</a:t>
            </a:r>
          </a:p>
          <a:p>
            <a:pPr algn="l">
              <a:spcAft>
                <a:spcPts val="600"/>
              </a:spcAft>
            </a:pPr>
            <a:r>
              <a:rPr sz="2200" b="0">
                <a:solidFill>
                  <a:srgbClr val="1C1C1C"/>
                </a:solidFill>
                <a:latin typeface="Calibri"/>
              </a:rPr>
              <a:t>▸  Procedure name and side. Position, clip/prep, approach.</a:t>
            </a:r>
          </a:p>
          <a:p>
            <a:pPr algn="l">
              <a:spcAft>
                <a:spcPts val="600"/>
              </a:spcAft>
            </a:pPr>
            <a:r>
              <a:rPr sz="2200" b="0">
                <a:solidFill>
                  <a:srgbClr val="1C1C1C"/>
                </a:solidFill>
                <a:latin typeface="Calibri"/>
              </a:rPr>
              <a:t>▸  Findings in order. Ligatures, implants, samples.</a:t>
            </a:r>
          </a:p>
          <a:p>
            <a:pPr algn="l">
              <a:spcAft>
                <a:spcPts val="600"/>
              </a:spcAft>
            </a:pPr>
            <a:r>
              <a:rPr sz="2200" b="0">
                <a:solidFill>
                  <a:srgbClr val="1C1C1C"/>
                </a:solidFill>
                <a:latin typeface="Calibri"/>
              </a:rPr>
              <a:t>▸  Suture: layer, material, size, pattern.</a:t>
            </a:r>
          </a:p>
          <a:p>
            <a:pPr algn="l">
              <a:spcAft>
                <a:spcPts val="600"/>
              </a:spcAft>
            </a:pPr>
            <a:r>
              <a:rPr sz="2200" b="0">
                <a:solidFill>
                  <a:srgbClr val="1C1C1C"/>
                </a:solidFill>
                <a:latin typeface="Calibri"/>
              </a:rPr>
              <a:t>▸  Hemostasis, blood loss, sponge count, complications.</a:t>
            </a:r>
          </a:p>
          <a:p>
            <a:pPr algn="l">
              <a:spcAft>
                <a:spcPts val="600"/>
              </a:spcAft>
            </a:pPr>
            <a:r>
              <a:rPr sz="22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24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2200" b="0">
                <a:solidFill>
                  <a:srgbClr val="1C1C1C"/>
                </a:solidFill>
                <a:latin typeface="Calibri"/>
              </a:rPr>
              <a:t>▸  What we did, in one sentence.</a:t>
            </a:r>
          </a:p>
          <a:p>
            <a:pPr algn="l">
              <a:spcAft>
                <a:spcPts val="600"/>
              </a:spcAft>
            </a:pPr>
            <a:r>
              <a:rPr sz="2200" b="0">
                <a:solidFill>
                  <a:srgbClr val="1C1C1C"/>
                </a:solidFill>
                <a:latin typeface="Calibri"/>
              </a:rPr>
              <a:t>▸  When to start food and water, and how much.</a:t>
            </a:r>
          </a:p>
          <a:p>
            <a:pPr algn="l">
              <a:spcAft>
                <a:spcPts val="600"/>
              </a:spcAft>
            </a:pPr>
            <a:r>
              <a:rPr sz="2200" b="0">
                <a:solidFill>
                  <a:srgbClr val="1C1C1C"/>
                </a:solidFill>
                <a:latin typeface="Calibri"/>
              </a:rPr>
              <a:t>▸  Every medication: name, dose, time, with food?</a:t>
            </a:r>
          </a:p>
          <a:p>
            <a:pPr algn="l">
              <a:spcAft>
                <a:spcPts val="600"/>
              </a:spcAft>
            </a:pPr>
            <a:r>
              <a:rPr sz="2200" b="0">
                <a:solidFill>
                  <a:srgbClr val="1C1C1C"/>
                </a:solidFill>
                <a:latin typeface="Calibri"/>
              </a:rPr>
              <a:t>▸  Incision care and 14-day leash walks.</a:t>
            </a:r>
          </a:p>
          <a:p>
            <a:pPr algn="l">
              <a:spcAft>
                <a:spcPts val="600"/>
              </a:spcAft>
            </a:pPr>
            <a:r>
              <a:rPr sz="2200" b="0">
                <a:solidFill>
                  <a:srgbClr val="1C1C1C"/>
                </a:solidFill>
                <a:latin typeface="Calibri"/>
              </a:rPr>
              <a:t>▸  E-collar on except when directly watching.</a:t>
            </a:r>
          </a:p>
          <a:p>
            <a:pPr algn="l">
              <a:spcAft>
                <a:spcPts val="600"/>
              </a:spcAft>
            </a:pPr>
            <a:r>
              <a:rPr sz="2200" b="0">
                <a:solidFill>
                  <a:srgbClr val="1C1C1C"/>
                </a:solidFill>
                <a:latin typeface="Calibri"/>
              </a:rPr>
              <a:t>▸  Next appointment. ER criteria. After-hours number.</a:t>
            </a:r>
          </a:p>
        </p:txBody>
      </p:sp>
      <p:sp>
        <p:nvSpPr>
          <p:cNvPr id="14" name="Rectangle 13"/>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6" name="TextBox 15"/>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6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24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6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24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6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2400" b="0">
                <a:solidFill>
                  <a:srgbClr val="1C1C1C"/>
                </a:solidFill>
                <a:latin typeface="Calibri"/>
              </a:rPr>
              <a:t>Sleepy tonight. Small bruise. Slightly tacky incision. Reduced appetite this evening.</a:t>
            </a:r>
          </a:p>
        </p:txBody>
      </p:sp>
      <p:sp>
        <p:nvSpPr>
          <p:cNvPr id="20" name="Rectangle 19"/>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2" name="TextBox 21"/>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24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24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2200" b="0">
                <a:solidFill>
                  <a:srgbClr val="1C1C1C"/>
                </a:solidFill>
                <a:latin typeface="Calibri"/>
              </a:rPr>
              <a:t>Neuro exam. Culture the ear. Radiographs are not MRI. Central until proven otherwise.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24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2200" b="0">
                <a:solidFill>
                  <a:srgbClr val="1C1C1C"/>
                </a:solidFill>
                <a:latin typeface="Calibri"/>
              </a:rPr>
              <a:t>Monitors on. Then alfaxalone. Canal and eye: dilute PVP-I, 1:50 of 10%. Pad him.</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24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22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24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2200" b="0">
                <a:solidFill>
                  <a:srgbClr val="1C1C1C"/>
                </a:solidFill>
                <a:latin typeface="Calibri"/>
              </a:rPr>
              <a:t>No stairs. Watch neuro signs. MRI next. TECA-LBO only if medical therapy fails.</a:t>
            </a:r>
          </a:p>
        </p:txBody>
      </p:sp>
      <p:sp>
        <p:nvSpPr>
          <p:cNvPr id="26" name="Rectangle 2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28" name="TextBox 2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20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84048"/>
          </a:xfrm>
          <a:prstGeom prst="rect">
            <a:avLst/>
          </a:prstGeom>
          <a:noFill/>
        </p:spPr>
        <p:txBody>
          <a:bodyPr wrap="square" anchor="t"/>
          <a:lstStyle/>
          <a:p>
            <a:pPr algn="l"/>
            <a:r>
              <a:rPr sz="2400" b="1">
                <a:solidFill>
                  <a:srgbClr val="0B2C4A"/>
                </a:solidFill>
                <a:latin typeface="Calibri"/>
              </a:rPr>
              <a:t>Willie, ASA Status 3-E. Proceed with sedation.</a:t>
            </a:r>
          </a:p>
        </p:txBody>
      </p:sp>
      <p:sp>
        <p:nvSpPr>
          <p:cNvPr id="11" name="TextBox 10"/>
          <p:cNvSpPr txBox="1"/>
          <p:nvPr/>
        </p:nvSpPr>
        <p:spPr>
          <a:xfrm>
            <a:off x="667512" y="1609344"/>
            <a:ext cx="5257800" cy="4407408"/>
          </a:xfrm>
          <a:prstGeom prst="rect">
            <a:avLst/>
          </a:prstGeom>
          <a:noFill/>
        </p:spPr>
        <p:txBody>
          <a:bodyPr wrap="square" anchor="t"/>
          <a:lstStyle/>
          <a:p>
            <a:pPr algn="l"/>
            <a:r>
              <a:rPr sz="22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84048"/>
          </a:xfrm>
          <a:prstGeom prst="rect">
            <a:avLst/>
          </a:prstGeom>
          <a:noFill/>
        </p:spPr>
        <p:txBody>
          <a:bodyPr wrap="square" anchor="t"/>
          <a:lstStyle/>
          <a:p>
            <a:pPr algn="l"/>
            <a:r>
              <a:rPr sz="2400" b="1">
                <a:solidFill>
                  <a:srgbClr val="0B2C4A"/>
                </a:solidFill>
                <a:latin typeface="Calibri"/>
              </a:rPr>
              <a:t>MoMo, ASA Status 4-E. Cancel the exploratory.</a:t>
            </a:r>
          </a:p>
        </p:txBody>
      </p:sp>
      <p:sp>
        <p:nvSpPr>
          <p:cNvPr id="15" name="TextBox 14"/>
          <p:cNvSpPr txBox="1"/>
          <p:nvPr/>
        </p:nvSpPr>
        <p:spPr>
          <a:xfrm>
            <a:off x="6428232" y="1609344"/>
            <a:ext cx="5257800" cy="4407408"/>
          </a:xfrm>
          <a:prstGeom prst="rect">
            <a:avLst/>
          </a:prstGeom>
          <a:noFill/>
        </p:spPr>
        <p:txBody>
          <a:bodyPr wrap="square" anchor="t"/>
          <a:lstStyle/>
          <a:p>
            <a:pPr algn="l"/>
            <a:r>
              <a:rPr sz="22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18" name="TextBox 17"/>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6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8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2400" b="0">
                <a:solidFill>
                  <a:srgbClr val="1C1C1C"/>
                </a:solidFill>
                <a:latin typeface="Calibri"/>
              </a:rPr>
              <a:t>Willie is ASA III-E: sedate with a plan. MoMo is IV-E: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8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2400" b="0">
                <a:solidFill>
                  <a:srgbClr val="1C1C1C"/>
                </a:solidFill>
                <a:latin typeface="Calibri"/>
              </a:rPr>
              <a:t>Serial creatinine can cancel a surgery. That is a successful preoperative evaluation.</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8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2400" b="0">
                <a:solidFill>
                  <a:srgbClr val="1C1C1C"/>
                </a:solidFill>
                <a:latin typeface="Calibri"/>
              </a:rPr>
              <a:t>Clean elective OHE: skip routine postoperative antibiotics.</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8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2400" b="0">
                <a:solidFill>
                  <a:srgbClr val="1C1C1C"/>
                </a:solidFill>
                <a:latin typeface="Calibri"/>
              </a:rPr>
              <a:t>Clip after induction. Spiral prep. Re-clip until the window is hair-free.</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8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2400" b="0">
                <a:solidFill>
                  <a:srgbClr val="1C1C1C"/>
                </a:solidFill>
                <a:latin typeface="Calibri"/>
              </a:rPr>
              <a:t>Skin: 7.5% PVP-I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8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2400" b="0">
                <a:solidFill>
                  <a:srgbClr val="1C1C1C"/>
                </a:solidFill>
                <a:latin typeface="Calibri"/>
              </a:rPr>
              <a:t>Pale + tachycardic after celiotomy: hemorrhage until proven otherwise. Return to OR.</a:t>
            </a:r>
          </a:p>
        </p:txBody>
      </p:sp>
      <p:sp>
        <p:nvSpPr>
          <p:cNvPr id="31" name="Rectangle 30"/>
          <p:cNvSpPr/>
          <p:nvPr/>
        </p:nvSpPr>
        <p:spPr>
          <a:xfrm>
            <a:off x="0" y="6510528"/>
            <a:ext cx="12191695"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10528"/>
            <a:ext cx="9875520" cy="347472"/>
          </a:xfrm>
          <a:prstGeom prst="rect">
            <a:avLst/>
          </a:prstGeom>
          <a:noFill/>
        </p:spPr>
        <p:txBody>
          <a:bodyPr wrap="square" anchor="ctr"/>
          <a:lstStyle/>
          <a:p>
            <a:pPr algn="l"/>
            <a:r>
              <a:rPr sz="2000" b="0">
                <a:solidFill>
                  <a:srgbClr val="F4EBD3"/>
                </a:solidFill>
                <a:latin typeface="Calibri"/>
              </a:rPr>
              <a:t>DVM 612  |  Dr. Yujin Kim, D.V.M., Ph.D., FFCP  |  Lewyt CVM</a:t>
            </a:r>
          </a:p>
        </p:txBody>
      </p:sp>
      <p:sp>
        <p:nvSpPr>
          <p:cNvPr id="33" name="TextBox 32"/>
          <p:cNvSpPr txBox="1"/>
          <p:nvPr/>
        </p:nvSpPr>
        <p:spPr>
          <a:xfrm>
            <a:off x="10241280" y="6510528"/>
            <a:ext cx="1645920" cy="347472"/>
          </a:xfrm>
          <a:prstGeom prst="rect">
            <a:avLst/>
          </a:prstGeom>
          <a:noFill/>
        </p:spPr>
        <p:txBody>
          <a:bodyPr wrap="square" anchor="ctr"/>
          <a:lstStyle/>
          <a:p>
            <a:pPr algn="r"/>
            <a:r>
              <a:rPr sz="20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56032"/>
            <a:ext cx="10972800" cy="329184"/>
          </a:xfrm>
          <a:prstGeom prst="rect">
            <a:avLst/>
          </a:prstGeom>
          <a:noFill/>
        </p:spPr>
        <p:txBody>
          <a:bodyPr wrap="square" anchor="t"/>
          <a:lstStyle/>
          <a:p>
            <a:pPr algn="l"/>
            <a:r>
              <a:rPr sz="2200" b="1">
                <a:solidFill>
                  <a:srgbClr val="C5A35A"/>
                </a:solidFill>
                <a:latin typeface="Calibri"/>
              </a:rPr>
              <a:t>DVM 612  ·  PRINCIPLES OF SURGERY</a:t>
            </a:r>
          </a:p>
        </p:txBody>
      </p:sp>
      <p:sp>
        <p:nvSpPr>
          <p:cNvPr id="6" name="TextBox 5"/>
          <p:cNvSpPr txBox="1"/>
          <p:nvPr/>
        </p:nvSpPr>
        <p:spPr>
          <a:xfrm>
            <a:off x="685800" y="640080"/>
            <a:ext cx="10972800" cy="640080"/>
          </a:xfrm>
          <a:prstGeom prst="rect">
            <a:avLst/>
          </a:prstGeom>
          <a:noFill/>
        </p:spPr>
        <p:txBody>
          <a:bodyPr wrap="square" anchor="t"/>
          <a:lstStyle/>
          <a:p>
            <a:pPr algn="l"/>
            <a:r>
              <a:rPr sz="4400" b="1">
                <a:solidFill>
                  <a:srgbClr val="FFFFFF"/>
                </a:solidFill>
                <a:latin typeface="Calibri"/>
              </a:rPr>
              <a:t>Questions</a:t>
            </a:r>
          </a:p>
        </p:txBody>
      </p:sp>
      <p:sp>
        <p:nvSpPr>
          <p:cNvPr id="7" name="TextBox 6"/>
          <p:cNvSpPr txBox="1"/>
          <p:nvPr/>
        </p:nvSpPr>
        <p:spPr>
          <a:xfrm>
            <a:off x="685800" y="1325880"/>
            <a:ext cx="10972800" cy="914400"/>
          </a:xfrm>
          <a:prstGeom prst="rect">
            <a:avLst/>
          </a:prstGeom>
          <a:noFill/>
        </p:spPr>
        <p:txBody>
          <a:bodyPr wrap="square" anchor="t"/>
          <a:lstStyle/>
          <a:p>
            <a:pPr algn="l"/>
            <a:r>
              <a:rPr sz="2600" b="0">
                <a:solidFill>
                  <a:srgbClr val="F4EBD3"/>
                </a:solidFill>
                <a:latin typeface="Calibri"/>
              </a:rPr>
              <a:t>Why was Willie ASA III-E and MoMo ASA IV-E?
How do you dilute 10% povidone-iodine for the eye?</a:t>
            </a:r>
          </a:p>
        </p:txBody>
      </p:sp>
      <p:sp>
        <p:nvSpPr>
          <p:cNvPr id="8" name="TextBox 7"/>
          <p:cNvSpPr txBox="1"/>
          <p:nvPr/>
        </p:nvSpPr>
        <p:spPr>
          <a:xfrm>
            <a:off x="685800" y="2331720"/>
            <a:ext cx="10972800" cy="365760"/>
          </a:xfrm>
          <a:prstGeom prst="rect">
            <a:avLst/>
          </a:prstGeom>
          <a:noFill/>
        </p:spPr>
        <p:txBody>
          <a:bodyPr wrap="square" anchor="t"/>
          <a:lstStyle/>
          <a:p>
            <a:pPr algn="l"/>
            <a:r>
              <a:rPr sz="2200" b="1">
                <a:solidFill>
                  <a:srgbClr val="C5A35A"/>
                </a:solidFill>
                <a:latin typeface="Calibri"/>
              </a:rPr>
              <a:t>Sources  (full citations in the instructor script)</a:t>
            </a:r>
          </a:p>
        </p:txBody>
      </p:sp>
      <p:sp>
        <p:nvSpPr>
          <p:cNvPr id="9" name="TextBox 8"/>
          <p:cNvSpPr txBox="1"/>
          <p:nvPr/>
        </p:nvSpPr>
        <p:spPr>
          <a:xfrm>
            <a:off x="685800" y="2788920"/>
            <a:ext cx="10972800" cy="2926080"/>
          </a:xfrm>
          <a:prstGeom prst="rect">
            <a:avLst/>
          </a:prstGeom>
          <a:noFill/>
        </p:spPr>
        <p:txBody>
          <a:bodyPr wrap="square" anchor="t"/>
          <a:lstStyle/>
          <a:p>
            <a:pPr algn="l"/>
            <a:r>
              <a:rPr sz="2400" b="0">
                <a:solidFill>
                  <a:srgbClr val="FFFFFF"/>
                </a:solidFill>
                <a:latin typeface="Calibri"/>
              </a:rPr>
              <a:t>Fossum 2018  ·  Hendrickson &amp; Baird 2013  ·  Johnston &amp; Tobias 2017
Roberts 1986: eye 1:50 of 10% PVP-I, 2 min + 2 min
Betadine vet: 7.5% scrub ~5 min, then 5% paint (not 10%)
Nolvasan: 2% CHG, wash 2 to 4 min. Keep out of eyes.
Frey 2022 AAFP/AAHA: 30–60 min before incision; skip clean OHE
Grubb 2020 AAHA: healthy adult food 4–6 h; water until premed
Whittem 1999 / Gonzalez 2017: timing, and 22 mg/kg IV extra-label</a:t>
            </a:r>
          </a:p>
        </p:txBody>
      </p:sp>
      <p:sp>
        <p:nvSpPr>
          <p:cNvPr id="10" name="TextBox 9"/>
          <p:cNvSpPr txBox="1"/>
          <p:nvPr/>
        </p:nvSpPr>
        <p:spPr>
          <a:xfrm>
            <a:off x="685800" y="5852160"/>
            <a:ext cx="10972800" cy="457200"/>
          </a:xfrm>
          <a:prstGeom prst="rect">
            <a:avLst/>
          </a:prstGeom>
          <a:noFill/>
        </p:spPr>
        <p:txBody>
          <a:bodyPr wrap="square" anchor="t"/>
          <a:lstStyle/>
          <a:p>
            <a:pPr algn="l"/>
            <a:r>
              <a:rPr sz="2200" b="0">
                <a:solidFill>
                  <a:srgbClr val="C5A35A"/>
                </a:solidFill>
                <a:latin typeface="Calibri"/>
              </a:rPr>
              <a:t>Dr. Yujin Kim, D.V.M., Ph.D., FFCP  ·  Lewyt CVM  ·  Long Island University</a:t>
            </a:r>
          </a:p>
        </p:txBody>
      </p:sp>
      <p:sp>
        <p:nvSpPr>
          <p:cNvPr id="11" name="TextBox 10"/>
          <p:cNvSpPr txBox="1"/>
          <p:nvPr/>
        </p:nvSpPr>
        <p:spPr>
          <a:xfrm>
            <a:off x="10241280" y="6473952"/>
            <a:ext cx="1554480" cy="329184"/>
          </a:xfrm>
          <a:prstGeom prst="rect">
            <a:avLst/>
          </a:prstGeom>
          <a:noFill/>
        </p:spPr>
        <p:txBody>
          <a:bodyPr wrap="square" anchor="ctr"/>
          <a:lstStyle/>
          <a:p>
            <a:pPr algn="r"/>
            <a:r>
              <a:rPr sz="20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