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 not hand off responsibility at the OR door. Anesthesia prepares the patient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 The hyperkalemic blocked cat is in the knowledge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It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Next two slides: CBC/chem and EPOC numbers mapped onto ASA Status. They inform the number; they do not replace the 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phosphorus mild up. His Status 3-E is the vestibular exam, not the chemistry. MoMo: WBC ~26 and creatinine 3.0 then 4.71 push the lab picture into Status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MoMo’s EPOC: pH 7.255 is Status 3; base excess −7.4 is Status 2; lactate 2.05 is Status 1. Do not call a venous pO2 of 33 an arterial Status 4. Whole-patient Status was still 4-E from the kidneys. Willie did not need an EPOC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Students want to average the columns. Teach: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Explain aspiration versus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Do not prescribe 14 days of cephalexin.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adequate anesthetic depth. The patient wakes, contaminates, and is lacerated. Step 5: 10% PVP-I on intact skin is 5 minutes of wet contact. Lather the 7.5% scrub for 5 minutes, rinse, paint 10% solution, dry before you drape. Mucosa and eye: 1 to 20 to 1 to 50. Eye at 1:50 is a 2-minute scrub plus a 2-minute soak.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a real clip in progress and still too narrow. That is the teaching point. Right photo is a real 24-hour OHE: the clip is the field you needed yesterday. Willie: TECA field is pinna and skull, not abdomen. MoMo never reached clippers.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numbers on the board. Intact skin, 7.5% povidone-iodine scrub: lather 5 minutes, rinse, paint 10% solution, dry before draping. Veterinary Betadine label. Mucosa, conjunctiva, prepuce: 10% SOLUTION diluted 1 to 20 to 1 to 50. Eye at 1:50: 2-minute scrub plus 2-minute soak (Roberts, AJVR 1986). 1:2 (5%) caused corneal edema; do not use it on cornea. Aqueous chlorhexidine: 3 minutes wet contact; residual 6 hours. CHG–alcohol 2%/70%: 30 seconds dry skin, 2 minutes moist skin. Alcohol 70%: 30 seconds, then dry. PVP-I is not sporicidal at 5 minutes. Willie: swollen tympanum. Do not use chlorhexidine in that ear.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5 minutes for povidone-iodine on intact skin. Recite the 1 to 20 to 1 to 50 arithmetic. Eye: 2 minutes plus 2 minutes. No open-license spiral-prep photograph was available; this stays a diagram.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dog in dorsal recumbency. Point: airway and monitoring are on before the clip. Over-splitting femurs is a student habit. GDV positioning can worsen caval compression.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gown/mask/drape are present, but hair is still at the window. The clip is inadequate. Right is a real sterile field.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closed gloving. Students name SpO2, ETCO2, ECG, temp, fluids off the real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1 to 20 to 1 to 50, 5 minutes wet on intact skin, 2 minutes plus 2 minutes on the eye. Hair at the drape edge is still a fail. Clip an adequate field. Do not cover hair with a salvage towel.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24-hour OHE. Licking and unsupervised running are the two discharge failures I see after otherwise adequate closure. Be concrete: no off-leash activity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then iodine: 1 to 20 to 1 to 50, 5 minutes wet on intact skin, 2 minutes plus 2 minutes on the eye.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617720"/>
            <a:ext cx="10972800" cy="411480"/>
          </a:xfrm>
          <a:prstGeom prst="rect">
            <a:avLst/>
          </a:prstGeom>
          <a:noFill/>
        </p:spPr>
        <p:txBody>
          <a:bodyPr wrap="square" anchor="t"/>
          <a:lstStyle/>
          <a:p>
            <a:pPr algn="l"/>
            <a:r>
              <a:rPr sz="2200" b="1">
                <a:solidFill>
                  <a:srgbClr val="C5A35A"/>
                </a:solidFill>
                <a:latin typeface="Calibri"/>
              </a:rPr>
              <a:t>Dr. Yujin Kim, D.V.M., Ph.D., FFCP</a:t>
            </a:r>
          </a:p>
        </p:txBody>
      </p:sp>
      <p:sp>
        <p:nvSpPr>
          <p:cNvPr id="9" name="TextBox 8"/>
          <p:cNvSpPr txBox="1"/>
          <p:nvPr/>
        </p:nvSpPr>
        <p:spPr>
          <a:xfrm>
            <a:off x="685800" y="5029200"/>
            <a:ext cx="10972800" cy="320040"/>
          </a:xfrm>
          <a:prstGeom prst="rect">
            <a:avLst/>
          </a:prstGeom>
          <a:noFill/>
        </p:spPr>
        <p:txBody>
          <a:bodyPr wrap="square" anchor="t"/>
          <a:lstStyle/>
          <a:p>
            <a:pPr algn="l"/>
            <a:r>
              <a:rPr sz="1600" b="0">
                <a:solidFill>
                  <a:srgbClr val="F4EBD3"/>
                </a:solidFill>
                <a:latin typeface="Calibri"/>
              </a:rPr>
              <a:t>Lecture  |  60 minutes</a:t>
            </a:r>
          </a:p>
        </p:txBody>
      </p:sp>
      <p:sp>
        <p:nvSpPr>
          <p:cNvPr id="10" name="TextBox 9"/>
          <p:cNvSpPr txBox="1"/>
          <p:nvPr/>
        </p:nvSpPr>
        <p:spPr>
          <a:xfrm>
            <a:off x="685800" y="539496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hospital cases: Willie (Cavalier, ASA III-E) and MoMo (cat, ASA IV-E; exploratory cancelled).</a:t>
            </a:r>
          </a:p>
        </p:txBody>
      </p:sp>
      <p:sp>
        <p:nvSpPr>
          <p:cNvPr id="11" name="TextBox 10"/>
          <p:cNvSpPr txBox="1"/>
          <p:nvPr/>
        </p:nvSpPr>
        <p:spPr>
          <a:xfrm>
            <a:off x="685800" y="6053328"/>
            <a:ext cx="10972800" cy="292608"/>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2" name="TextBox 11"/>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WEEK 4</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Learning objectives</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correct antiseptic concentrations (including povidone-iodine 1 to 20 to 1 to 50),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Willie is the patient we prepare and sedate. MoMo is the patient we do not take to surgery.</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60 MINUTES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Hour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Introduction and Halsted’s principles</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PREOPERATIVE EVALUATION, PREPARATION, POSTOPERATIVE CARE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Causes of SSI</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Client-owned patients</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Decisions made before incision</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procedure. Hemorrhage or herniation in recovery means the surgery failed, even if the closure looked adequate. The first 24 hours are part of the operation.</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EACH PRINCIPLE HAS A PREOPERATIVE OR POSTOPERATIVE ACTION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preparation, surgeon preparation, and draping.</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PREOPERATIVE, PREPARATION, INTRAOPERATIVE, POSTOPERATIVE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PROCEED, DELAY, STABILIZE, OR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indicated.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SIGNALMENT, MEDICATIONS, LAST MEAL, PRIOR ANESTHESIA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history</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Note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EXAMINE, REQUEST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clinician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Do not premedicate before the examination.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CLASSIFICATION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vestibular disease,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ASSIGN STATUS, THEN SAY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practice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Not an isolated otitis.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possible foreign body.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Status 4-E,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13.7 KG,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Willie, ASA Status 3-E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FUNCTIONAL LIMITATION, ACUTE,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Status 3-E</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4.25 KG, BCS 5/9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MoMo, ASA Status 4-E</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CONSTANT THREAT, ACUTE;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Status 4-E</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(concentrating). This is not end-stage isosthenuric CKD that can be ignored.</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TESTS INDICATED FOR THIS PATIENT AND THIS PROCEDURE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THESE BANDS INFORM STATUS. THEY DO NOT ASSIGN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CBC and chemistry → ASA Status</a:t>
            </a:r>
          </a:p>
        </p:txBody>
      </p:sp>
      <p:pic>
        <p:nvPicPr>
          <p:cNvPr id="8" name="Picture 7" descr="asa_cbc_chem.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PH, LACTATE, GASES, BICARBONATE, BASE EXCESS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EPOC / blood gas → ASA Status</a:t>
            </a:r>
          </a:p>
        </p:txBody>
      </p:sp>
      <p:pic>
        <p:nvPicPr>
          <p:cNvPr id="8" name="Picture 7" descr="asa_epoc.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LABS INFORM ASA STATUS. THE PHYSICAL EXAMINATION ASSIGNS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47472"/>
          </a:xfrm>
          <a:prstGeom prst="rect">
            <a:avLst/>
          </a:prstGeom>
          <a:noFill/>
        </p:spPr>
        <p:txBody>
          <a:bodyPr wrap="square" anchor="t"/>
          <a:lstStyle/>
          <a:p>
            <a:pPr algn="l"/>
            <a:r>
              <a:rPr sz="1500" b="1">
                <a:solidFill>
                  <a:srgbClr val="0B2C4A"/>
                </a:solidFill>
                <a:latin typeface="Calibri"/>
              </a:rPr>
              <a:t>Willie, laboratory results</a:t>
            </a:r>
          </a:p>
        </p:txBody>
      </p:sp>
      <p:sp>
        <p:nvSpPr>
          <p:cNvPr id="11" name="TextBox 10"/>
          <p:cNvSpPr txBox="1"/>
          <p:nvPr/>
        </p:nvSpPr>
        <p:spPr>
          <a:xfrm>
            <a:off x="667512" y="1490472"/>
            <a:ext cx="5257800" cy="4544568"/>
          </a:xfrm>
          <a:prstGeom prst="rect">
            <a:avLst/>
          </a:prstGeom>
          <a:noFill/>
        </p:spPr>
        <p:txBody>
          <a:bodyPr wrap="square" anchor="t"/>
          <a:lstStyle/>
          <a:p>
            <a:pPr algn="l"/>
            <a:r>
              <a:rPr sz="1300" b="0">
                <a:solidFill>
                  <a:srgbClr val="3D4A57"/>
                </a:solidFill>
                <a:latin typeface="Calibri"/>
              </a:rPr>
              <a:t>CBC WNL (Status 1 band).
Phosphorus 6.0, mild increase (Status 2).
Glucose 130, stress (Status 2 band).
Kidneys, liver, electrolytes normal.
No EPOC indicated for this ear clean.
ASA Status 3-E: acute vestibular disease, severe AS otitis, murmur. An unremarkable chemistry does not down-stage a neurologic patient.</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47472"/>
          </a:xfrm>
          <a:prstGeom prst="rect">
            <a:avLst/>
          </a:prstGeom>
          <a:noFill/>
        </p:spPr>
        <p:txBody>
          <a:bodyPr wrap="square" anchor="t"/>
          <a:lstStyle/>
          <a:p>
            <a:pPr algn="l"/>
            <a:r>
              <a:rPr sz="1500" b="1">
                <a:solidFill>
                  <a:srgbClr val="0B2C4A"/>
                </a:solidFill>
                <a:latin typeface="Calibri"/>
              </a:rPr>
              <a:t>MoMo, laboratory results and EPOC</a:t>
            </a:r>
          </a:p>
        </p:txBody>
      </p:sp>
      <p:sp>
        <p:nvSpPr>
          <p:cNvPr id="15" name="TextBox 14"/>
          <p:cNvSpPr txBox="1"/>
          <p:nvPr/>
        </p:nvSpPr>
        <p:spPr>
          <a:xfrm>
            <a:off x="6428232" y="1490472"/>
            <a:ext cx="5257800" cy="4544568"/>
          </a:xfrm>
          <a:prstGeom prst="rect">
            <a:avLst/>
          </a:prstGeom>
          <a:noFill/>
        </p:spPr>
        <p:txBody>
          <a:bodyPr wrap="square" anchor="t"/>
          <a:lstStyle/>
          <a:p>
            <a:pPr algn="l"/>
            <a:r>
              <a:rPr sz="1300" b="0">
                <a:solidFill>
                  <a:srgbClr val="3D4A57"/>
                </a:solidFill>
                <a:latin typeface="Calibri"/>
              </a:rPr>
              <a:t>WBC about 26K with neutrophilia (Status 3 to 4 inflammatory band).
Platelets 74 K (Status 3).
Creatinine 3.0 to 4.71; BUN 49.7 to 100 (Status 4).
Phosphorus 8.0 (Status 3 to 4).
EPOC pH 7.255 (Status 3); BE −7.4 (Status 2); lactate 2.05 (Status 1).
Venous pO2 33 is not arterial hypoxemia.
Whole-patient status is 4-E. Do not induce.</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WHEN TO DELAY, WHEN TO PROCEED URGENTLY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 4 TO 6 HOURS IN HEALTHY DOGS AND CATS; FOSSUM-ERA 8 TO 12 HOURS STILL USED IN SOME HOSPITALS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fasting</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still used in some hospitals. Discuss aspiration versus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Follow the hospital or 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PROCEDURE, RISKS, ALTERNATIVES, ESTIMATE, RESUSCITATION CODE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Urinary incontinence after OHE is a real risk in some bitches, especially large-breed bitches. State the risk. Do not omit it and do not inflate it.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Client-owned patients</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WHO-ADAPTED TIMEOUT AND MULTIMODAL PLAN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Pre-incision checklist and analgesia</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 minutes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kidneys, and GI tract allow. Often given at recovery, not during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CONFIRM BEFORE INDUCTION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Equipment and supplies</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TEACHING FORM. COMPLETE THE HEADER BEFORE THE FIRST DRUG.</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record,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PREOPERATIVE EVALUATION DOCUMENTED; INDUCTION CANCELLED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record,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Indicated: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IV cefazolin 22 mg/kg 30 minutes before incision; redose every 90 minutes if the surgery is still open or blood loss is large.
Consider if:
• Clean-contaminated / contaminated / dirty
• Implant (orthopedic, mesh)
• Hollow viscus entry
• Surgery &gt;90 minutes or a known break in asepsis
• Patient immunocompromised
• Infection would be catastrophic (some neurologic or implant cases. Decide case by case; do not give prophylaxis by habit)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preoperative evaluation</a:t>
            </a:r>
          </a:p>
        </p:txBody>
      </p:sp>
      <p:sp>
        <p:nvSpPr>
          <p:cNvPr id="7" name="Rounded Rectangle 6"/>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0" name="TextBox 9"/>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1" name="TextBox 10"/>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2" name="Rounded Rectangle 11"/>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5" name="TextBox 14"/>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6" name="TextBox 15"/>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7" name="Rounded Rectangle 16"/>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0" name="TextBox 19"/>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1" name="TextBox 20"/>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HAIR, SKIN, POSITIONING, SCRUB, GOWN AND GLOVE,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Patient and surgeon preparation</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then sterile. PVP-I: 5 minutes wet contact. Mucosa/eye: 1 to 20 to 1 to 50.</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THEN OPERATING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PVP-I 5 min wet contact. Mucosa/eye: 1 to 20 to 1 to 50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#40 CLIPPER AFTER INDUCTION. FIELD 20 CM BEYOND THE PLANNED INCISION.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Too narrow. Hair remains at the margin.</a:t>
            </a:r>
          </a:p>
        </p:txBody>
      </p:sp>
      <p:pic>
        <p:nvPicPr>
          <p:cNvPr id="10" name="Picture 9" descr="clip_cat.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24 hours after OHE. Clip width was adequate.</a:t>
            </a:r>
          </a:p>
        </p:txBody>
      </p:sp>
      <p:pic>
        <p:nvPicPr>
          <p:cNvPr id="13" name="Picture 12" descr="spay_incision.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Xiphoid, or slightly cranial to it, to the pubis, and widely lateral past the nipples. Clip a rectangle, not a narrow strip of hair. Clip with the grain, then against, to the skin. Vacuum. 20 cm beyond the planned incision. Do not clip the night before. Razors create micro-nicks and raise SSI risk. Airway in and a surgical plane before the clippers start.
Photos: Uwe Gille, CC0 (cat clip); Liannadavis, CC BY-SA 4.0 (OHE incision).</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OHE, CASTRATION, ORTHOPEDIC, FIELD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Clip fields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 not.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CONCENTRATIONS, DILUTION, AND CONTACT TIMES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a:t>
            </a:r>
          </a:p>
        </p:txBody>
      </p:sp>
      <p:sp>
        <p:nvSpPr>
          <p:cNvPr id="8" name="Rounded Rectangle 7"/>
          <p:cNvSpPr/>
          <p:nvPr/>
        </p:nvSpPr>
        <p:spPr>
          <a:xfrm>
            <a:off x="365760" y="987552"/>
            <a:ext cx="11448288" cy="1298448"/>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155680" cy="384048"/>
          </a:xfrm>
          <a:prstGeom prst="rect">
            <a:avLst/>
          </a:prstGeom>
          <a:noFill/>
        </p:spPr>
        <p:txBody>
          <a:bodyPr wrap="square" anchor="ctr"/>
          <a:lstStyle/>
          <a:p>
            <a:pPr algn="ctr"/>
            <a:r>
              <a:rPr sz="1600" b="1">
                <a:solidFill>
                  <a:srgbClr val="0B2C4A"/>
                </a:solidFill>
                <a:latin typeface="Calibri"/>
              </a:rPr>
              <a:t>10% povidone-iodine SOLUTION  ·  mucosa, conjunctiva, prepuce  ·  dilute  1 to 20  through  1 to 50  in sterile saline</a:t>
            </a:r>
          </a:p>
        </p:txBody>
      </p:sp>
      <p:sp>
        <p:nvSpPr>
          <p:cNvPr id="10" name="TextBox 9"/>
          <p:cNvSpPr txBox="1"/>
          <p:nvPr/>
        </p:nvSpPr>
        <p:spPr>
          <a:xfrm>
            <a:off x="502920" y="1389888"/>
            <a:ext cx="11155680" cy="804672"/>
          </a:xfrm>
          <a:prstGeom prst="rect">
            <a:avLst/>
          </a:prstGeom>
          <a:noFill/>
        </p:spPr>
        <p:txBody>
          <a:bodyPr wrap="square" anchor="t"/>
          <a:lstStyle/>
          <a:p>
            <a:pPr algn="ctr"/>
            <a:r>
              <a:rPr sz="1400" b="0">
                <a:solidFill>
                  <a:srgbClr val="1C1C1C"/>
                </a:solidFill>
                <a:latin typeface="Calibri"/>
              </a:rPr>
              <a:t>1 mL stock + 19 mL saline = 1:20 = 0.5% PVP-I        ·        1 mL stock + 49 mL saline = 1:50 = 0.2% PVP-I
Intact skin: 5 minutes wet contact.  Eye at 1:50: 2-minute scrub + 2-minute soak.  Never the 7.5% detergent scrub in an eye.</a:t>
            </a:r>
          </a:p>
        </p:txBody>
      </p:sp>
      <p:sp>
        <p:nvSpPr>
          <p:cNvPr id="11" name="Rounded Rectangle 10"/>
          <p:cNvSpPr/>
          <p:nvPr/>
        </p:nvSpPr>
        <p:spPr>
          <a:xfrm>
            <a:off x="365760"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395728"/>
            <a:ext cx="3749039" cy="457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395728"/>
            <a:ext cx="3749039" cy="457200"/>
          </a:xfrm>
          <a:prstGeom prst="rect">
            <a:avLst/>
          </a:prstGeom>
          <a:noFill/>
        </p:spPr>
        <p:txBody>
          <a:bodyPr wrap="square" anchor="ctr"/>
          <a:lstStyle/>
          <a:p>
            <a:pPr algn="ctr"/>
            <a:r>
              <a:rPr sz="1500" b="1">
                <a:solidFill>
                  <a:srgbClr val="FFFFFF"/>
                </a:solidFill>
                <a:latin typeface="Calibri"/>
              </a:rPr>
              <a:t>Chlorhexidine (3 min)</a:t>
            </a:r>
          </a:p>
        </p:txBody>
      </p:sp>
      <p:sp>
        <p:nvSpPr>
          <p:cNvPr id="14" name="TextBox 13"/>
          <p:cNvSpPr txBox="1"/>
          <p:nvPr/>
        </p:nvSpPr>
        <p:spPr>
          <a:xfrm>
            <a:off x="502920" y="2944368"/>
            <a:ext cx="3474720" cy="3337560"/>
          </a:xfrm>
          <a:prstGeom prst="rect">
            <a:avLst/>
          </a:prstGeom>
          <a:noFill/>
        </p:spPr>
        <p:txBody>
          <a:bodyPr wrap="square" anchor="t"/>
          <a:lstStyle/>
          <a:p>
            <a:pPr algn="l"/>
            <a:r>
              <a:rPr sz="1200" b="0">
                <a:solidFill>
                  <a:srgbClr val="1C1C1C"/>
                </a:solidFill>
                <a:latin typeface="Calibri"/>
              </a:rPr>
              <a:t>Intact skin: 2% or 4% CHG.
Aqueous CHG: 3 minutes of wet contact.
CHG–alcohol (2% / 70%): 30 seconds on dry skin, 2 minutes on moist skin.
Residual activity 6 hours.
Destroys cornea. Ototoxic in the middle ear. Not for meninges, synovium, or open viscera.
Do not mix with povidone-iodine on the same field.
Do not store homemade dilute jugs (outbreak risk).</a:t>
            </a:r>
          </a:p>
        </p:txBody>
      </p:sp>
      <p:sp>
        <p:nvSpPr>
          <p:cNvPr id="15" name="Rounded Rectangle 14"/>
          <p:cNvSpPr/>
          <p:nvPr/>
        </p:nvSpPr>
        <p:spPr>
          <a:xfrm>
            <a:off x="4224528"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4528" y="2395728"/>
            <a:ext cx="3749039" cy="457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2395728"/>
            <a:ext cx="3749039" cy="457200"/>
          </a:xfrm>
          <a:prstGeom prst="rect">
            <a:avLst/>
          </a:prstGeom>
          <a:noFill/>
        </p:spPr>
        <p:txBody>
          <a:bodyPr wrap="square" anchor="ctr"/>
          <a:lstStyle/>
          <a:p>
            <a:pPr algn="ctr"/>
            <a:r>
              <a:rPr sz="1500" b="1">
                <a:solidFill>
                  <a:srgbClr val="0B2C4A"/>
                </a:solidFill>
                <a:latin typeface="Calibri"/>
              </a:rPr>
              <a:t>Povidone-iodine (5 min)</a:t>
            </a:r>
          </a:p>
        </p:txBody>
      </p:sp>
      <p:sp>
        <p:nvSpPr>
          <p:cNvPr id="18" name="TextBox 17"/>
          <p:cNvSpPr txBox="1"/>
          <p:nvPr/>
        </p:nvSpPr>
        <p:spPr>
          <a:xfrm>
            <a:off x="4361688" y="2944368"/>
            <a:ext cx="3474720" cy="3337560"/>
          </a:xfrm>
          <a:prstGeom prst="rect">
            <a:avLst/>
          </a:prstGeom>
          <a:noFill/>
        </p:spPr>
        <p:txBody>
          <a:bodyPr wrap="square" anchor="t"/>
          <a:lstStyle/>
          <a:p>
            <a:pPr algn="l"/>
            <a:r>
              <a:rPr sz="1200" b="0">
                <a:solidFill>
                  <a:srgbClr val="1C1C1C"/>
                </a:solidFill>
                <a:latin typeface="Calibri"/>
              </a:rPr>
              <a:t>Intact skin: 7.5% scrub, lather 5 minutes, rinse, paint 10% solution, dry before you drape. Do not invent a skin dilution.
Mucosa / eye / prepuce: 10% SOLUTION only, 1 to 20 to 1 to 50.
Eye at 1:50: 2-minute scrub + 2-minute soak.
Organic matter inactivates it. Complete the dirty prep first.
Not sporicidal at 5 minutes. Residual 90 minutes after dry. Hypersensitivity. Stains.</a:t>
            </a:r>
          </a:p>
        </p:txBody>
      </p:sp>
      <p:sp>
        <p:nvSpPr>
          <p:cNvPr id="19" name="Rounded Rectangle 18"/>
          <p:cNvSpPr/>
          <p:nvPr/>
        </p:nvSpPr>
        <p:spPr>
          <a:xfrm>
            <a:off x="8083296" y="2395728"/>
            <a:ext cx="3730752"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2395728"/>
            <a:ext cx="3730752" cy="4572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2395728"/>
            <a:ext cx="3730752" cy="457200"/>
          </a:xfrm>
          <a:prstGeom prst="rect">
            <a:avLst/>
          </a:prstGeom>
          <a:noFill/>
        </p:spPr>
        <p:txBody>
          <a:bodyPr wrap="square" anchor="ctr"/>
          <a:lstStyle/>
          <a:p>
            <a:pPr algn="ctr"/>
            <a:r>
              <a:rPr sz="1500" b="1">
                <a:solidFill>
                  <a:srgbClr val="C5A35A"/>
                </a:solidFill>
                <a:latin typeface="Calibri"/>
              </a:rPr>
              <a:t>Alcohol (30 sec)</a:t>
            </a:r>
          </a:p>
        </p:txBody>
      </p:sp>
      <p:sp>
        <p:nvSpPr>
          <p:cNvPr id="22" name="TextBox 21"/>
          <p:cNvSpPr txBox="1"/>
          <p:nvPr/>
        </p:nvSpPr>
        <p:spPr>
          <a:xfrm>
            <a:off x="8220456" y="2944368"/>
            <a:ext cx="3456432" cy="3337560"/>
          </a:xfrm>
          <a:prstGeom prst="rect">
            <a:avLst/>
          </a:prstGeom>
          <a:noFill/>
        </p:spPr>
        <p:txBody>
          <a:bodyPr wrap="square" anchor="t"/>
          <a:lstStyle/>
          <a:p>
            <a:pPr algn="l"/>
            <a:r>
              <a:rPr sz="1300" b="0">
                <a:solidFill>
                  <a:srgbClr val="1C1C1C"/>
                </a:solidFill>
                <a:latin typeface="Calibri"/>
              </a:rPr>
              <a:t>70% isopropyl or ethyl: 30 seconds, then dry. No residual.
Flammable. Do not pool near cautery.
Rinse or paint between CHG cycles on intact skin.
Not for open wounds, mucous membranes, or the eye.
Hydrogen peroxide is not a surgical antiseptic.</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CENTER TO PERIPHERY. DIRTY PREP, THEN STERILE PREP.</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PVP-I: 5 minutes wet contact, rinse, paint 10% solution, dry. Aqueous CHG: 3 minutes. Do not leave a pool of antiseptic.</a:t>
            </a:r>
          </a:p>
          <a:p>
            <a:pPr algn="l">
              <a:spcAft>
                <a:spcPts val="600"/>
              </a:spcAft>
            </a:pPr>
            <a:r>
              <a:rPr sz="1300" b="0">
                <a:solidFill>
                  <a:srgbClr val="1C1C1C"/>
                </a:solidFill>
                <a:latin typeface="Calibri"/>
              </a:rPr>
              <a:t>▸  Mucosa, conjunctiva, prepuce: 10% PVP-I solution, 1 to 20 to 1 to 50. Eye at 1:50: 2-minute scrub + 2-minute soak.</a:t>
            </a:r>
          </a:p>
          <a:p>
            <a:pPr algn="l">
              <a:spcAft>
                <a:spcPts val="600"/>
              </a:spcAft>
            </a:pPr>
            <a:r>
              <a:rPr sz="1300" b="0">
                <a:solidFill>
                  <a:srgbClr val="1C1C1C"/>
                </a:solidFill>
                <a:latin typeface="Calibri"/>
              </a:rPr>
              <a:t>▸  Never CHG in the eye or middle ear. Willie has a swollen tympanic membrane.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DORSAL RECUMBENCY, AIRWAY, IV CATHETER, MONITORING, V-TROUGH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6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400" b="0">
                <a:solidFill>
                  <a:srgbClr val="1C1C1C"/>
                </a:solidFill>
                <a:latin typeface="Calibri"/>
              </a:rPr>
              <a:t>• ET tube + pulse ox
• IV catheter + fluids
• Anesthesia machine
• V-trough / padding
• Ties that are not tourniquets
• Abdomen not yet clipped. Clip after a surgical plane of anesthesia
Do not over-split the hips.
Eyes lubricated. Tube not kinked.
Photo: Anja,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FOUR-QUADRANT TOWELS, THEN THE LARGE DRAPE. HAIR MUST NOT SHOW AT THE EDGE.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Draping</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Four towels box the field (near towel first). Hair must not show at any edge. Re-clip or re-drape. Large drape over towels; cuff your hands. Wet-through is contaminated. Hands stay on the field.
Photos: Cpl. Samuel A. Nasso, U.S. Marine Corps, public domain (left); MSgt Carlotta Holley, U.S. Air Force, public domain (right).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TECHNIQUE DIAGRAM AND OPERATING-ROOM PHOTOGRAPH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Left: closed-gloving technique diagram (hands stay inside the gown cuffs). Right: working K9 anesthesia: cap, mask, ECG/SpO2/ETCO2 monitors, circle system, IV fluids, airway. Monitoring is on before the first drug. Willie needed this for an ear clean. MoMo never reached induction.
Photo: MSgt Carlotta Holley, U.S. Air Force, public domain.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RECOGNIZE, ANNOUNCE, AND CORRECT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it. Re-glove, re-gown, or re-drape.
Name the break once. Fix it completely.
A second unrecognized break means you cannot maintain an aseptic field. Stop.
This is how we protect a client-owned animal.</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contamination must still be noticed, announced, and corrected.
Incomplete correction puts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preparation</a:t>
            </a:r>
          </a:p>
        </p:txBody>
      </p:sp>
      <p:sp>
        <p:nvSpPr>
          <p:cNvPr id="7" name="Rounded Rectangle 6"/>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0" name="TextBox 9"/>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1" name="TextBox 10"/>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2" name="Rounded Rectangle 11"/>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5" name="TextBox 14"/>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6" name="TextBox 15"/>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7" name="Rounded Rectangle 16"/>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0" name="TextBox 19"/>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then rinse and continue.</a:t>
            </a:r>
          </a:p>
        </p:txBody>
      </p:sp>
      <p:sp>
        <p:nvSpPr>
          <p:cNvPr id="21" name="TextBox 20"/>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with sterile saline immediately. Do not continue the prep over a burned cornea.</a:t>
            </a:r>
          </a:p>
        </p:txBody>
      </p:sp>
      <p:sp>
        <p:nvSpPr>
          <p:cNvPr id="22" name="Rounded Rectangle 21"/>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5" name="TextBox 24"/>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For conjunctiva or prepuce, dilute 10% povidone-iodine SOLUTION 1 to 20 to 1 to 50 in sterile saline.</a:t>
            </a:r>
          </a:p>
        </p:txBody>
      </p:sp>
      <p:sp>
        <p:nvSpPr>
          <p:cNvPr id="26" name="TextBox 25"/>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1:20 = 0.5%; 1:50 = 0.2%. Intact skin: 5 min wet. Eye: 2 min scrub + 2 min soak. Never detergent scrub in an eye.</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REMAIN WITH THE PATIENT UNTIL AIRWAY AND CIRCULATION ARE STABLE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Recovery priorities</a:t>
            </a:r>
          </a:p>
        </p:txBody>
      </p:sp>
      <p:sp>
        <p:nvSpPr>
          <p:cNvPr id="11" name="TextBox 10"/>
          <p:cNvSpPr txBox="1"/>
          <p:nvPr/>
        </p:nvSpPr>
        <p:spPr>
          <a:xfrm>
            <a:off x="8001000" y="1600200"/>
            <a:ext cx="3703320" cy="402336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Willie: no NSAID after DexSP.</a:t>
            </a:r>
          </a:p>
        </p:txBody>
      </p:sp>
      <p:sp>
        <p:nvSpPr>
          <p:cNvPr id="12" name="TextBox 11"/>
          <p:cNvSpPr txBox="1"/>
          <p:nvPr/>
        </p:nvSpPr>
        <p:spPr>
          <a:xfrm>
            <a:off x="8046720" y="5806440"/>
            <a:ext cx="3657600" cy="502920"/>
          </a:xfrm>
          <a:prstGeom prst="rect">
            <a:avLst/>
          </a:prstGeom>
          <a:noFill/>
        </p:spPr>
        <p:txBody>
          <a:bodyPr wrap="square" anchor="t"/>
          <a:lstStyle/>
          <a:p>
            <a:pPr algn="l"/>
            <a:r>
              <a:rPr sz="1100" b="0">
                <a:solidFill>
                  <a:srgbClr val="5B646E"/>
                </a:solidFill>
                <a:latin typeface="Calibri"/>
              </a:rPr>
              <a:t>Photo: Anja, CC BY-SA 4.0.</a:t>
            </a:r>
          </a:p>
        </p:txBody>
      </p:sp>
      <p:sp>
        <p:nvSpPr>
          <p:cNvPr id="13" name="Rectangle 1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5" name="TextBox 1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GLASGOW CMPS-SF, FELINE GRIMACE SCALE, CSU SCALES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Score pain and record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Match analgesia to the procedure</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CRIs, additional local blocks,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24-HOUR OHE PHOTOGRAPH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Incision care</a:t>
            </a:r>
          </a:p>
        </p:txBody>
      </p:sp>
      <p:pic>
        <p:nvPicPr>
          <p:cNvPr id="8" name="Picture 7" descr="spay_incision.jpg"/>
          <p:cNvPicPr>
            <a:picLocks noChangeAspect="1"/>
          </p:cNvPicPr>
          <p:nvPr/>
        </p:nvPicPr>
        <p:blipFill>
          <a:blip r:embed="rId2"/>
          <a:stretch>
            <a:fillRect/>
          </a:stretch>
        </p:blipFill>
        <p:spPr>
          <a:xfrm>
            <a:off x="365760" y="1024128"/>
            <a:ext cx="5852160" cy="5440680"/>
          </a:xfrm>
          <a:prstGeom prst="rect">
            <a:avLst/>
          </a:prstGeom>
        </p:spPr>
      </p:pic>
      <p:sp>
        <p:nvSpPr>
          <p:cNvPr id="9" name="Rounded Rectangle 8"/>
          <p:cNvSpPr/>
          <p:nvPr/>
        </p:nvSpPr>
        <p:spPr>
          <a:xfrm>
            <a:off x="6355080" y="1024128"/>
            <a:ext cx="5440680"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1170432"/>
            <a:ext cx="5074920" cy="365760"/>
          </a:xfrm>
          <a:prstGeom prst="rect">
            <a:avLst/>
          </a:prstGeom>
          <a:noFill/>
        </p:spPr>
        <p:txBody>
          <a:bodyPr wrap="square" anchor="t"/>
          <a:lstStyle/>
          <a:p>
            <a:pPr algn="l"/>
            <a:r>
              <a:rPr sz="1600" b="1">
                <a:solidFill>
                  <a:srgbClr val="0B2C4A"/>
                </a:solidFill>
                <a:latin typeface="Calibri"/>
              </a:rPr>
              <a:t>Incision care</a:t>
            </a:r>
          </a:p>
        </p:txBody>
      </p:sp>
      <p:sp>
        <p:nvSpPr>
          <p:cNvPr id="11" name="TextBox 10"/>
          <p:cNvSpPr txBox="1"/>
          <p:nvPr/>
        </p:nvSpPr>
        <p:spPr>
          <a:xfrm>
            <a:off x="6492240" y="1600200"/>
            <a:ext cx="5120640" cy="4297680"/>
          </a:xfrm>
          <a:prstGeom prst="rect">
            <a:avLst/>
          </a:prstGeom>
          <a:noFill/>
        </p:spPr>
        <p:txBody>
          <a:bodyPr wrap="square">
            <a:spAutoFit/>
          </a:bodyPr>
          <a:lstStyle/>
          <a:p>
            <a:pPr algn="l">
              <a:spcAft>
                <a:spcPts val="700"/>
              </a:spcAft>
            </a:pPr>
            <a:r>
              <a:rPr sz="1400" b="0">
                <a:solidFill>
                  <a:srgbClr val="1C1C1C"/>
                </a:solidFill>
                <a:latin typeface="Calibri"/>
              </a:rPr>
              <a:t>▸  Look twice daily: swelling, discharge, gapping, smell, heat.</a:t>
            </a:r>
          </a:p>
          <a:p>
            <a:pPr algn="l">
              <a:spcAft>
                <a:spcPts val="700"/>
              </a:spcAft>
            </a:pPr>
            <a:r>
              <a:rPr sz="1400" b="0">
                <a:solidFill>
                  <a:srgbClr val="1C1C1C"/>
                </a:solidFill>
                <a:latin typeface="Calibri"/>
              </a:rPr>
              <a:t>▸  E-collar that actually stays on. Licking is the most common cause of dehiscence after otherwise adequate closure.</a:t>
            </a:r>
          </a:p>
          <a:p>
            <a:pPr algn="l">
              <a:spcAft>
                <a:spcPts val="700"/>
              </a:spcAft>
            </a:pPr>
            <a:r>
              <a:rPr sz="1400" b="0">
                <a:solidFill>
                  <a:srgbClr val="1C1C1C"/>
                </a:solidFill>
                <a:latin typeface="Calibri"/>
              </a:rPr>
              <a:t>▸  Leash only. No running, jumping, wrestling, unsupervised stairs.</a:t>
            </a:r>
          </a:p>
          <a:p>
            <a:pPr algn="l">
              <a:spcAft>
                <a:spcPts val="700"/>
              </a:spcAft>
            </a:pPr>
            <a:r>
              <a:rPr sz="1400" b="0">
                <a:solidFill>
                  <a:srgbClr val="1C1C1C"/>
                </a:solidFill>
                <a:latin typeface="Calibri"/>
              </a:rPr>
              <a:t>▸  Usually no daily CHG scrub. Saline if dirty.</a:t>
            </a:r>
          </a:p>
          <a:p>
            <a:pPr algn="l">
              <a:spcAft>
                <a:spcPts val="700"/>
              </a:spcAft>
            </a:pPr>
            <a:r>
              <a:rPr sz="1400" b="0">
                <a:solidFill>
                  <a:srgbClr val="1C1C1C"/>
                </a:solidFill>
                <a:latin typeface="Calibri"/>
              </a:rPr>
              <a:t>▸  Skin sutures typically 10–14 days if healing is routine.</a:t>
            </a:r>
          </a:p>
          <a:p>
            <a:pPr algn="l">
              <a:spcAft>
                <a:spcPts val="700"/>
              </a:spcAft>
            </a:pPr>
            <a:r>
              <a:rPr sz="1400" b="0">
                <a:solidFill>
                  <a:srgbClr val="1C1C1C"/>
                </a:solidFill>
                <a:latin typeface="Calibri"/>
              </a:rPr>
              <a:t>▸  Photo: Liannadavis,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AIRWAY, HERNIA, DEHISCENCE, SSI, SEROMA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REQUIRED ELEMENTS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What the overnight clinician needs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AND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Specify duration (example: 14 days leash 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CLIENT MUST BE ABLE TO REPEAT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other systems</a:t>
            </a:r>
          </a:p>
        </p:txBody>
      </p:sp>
      <p:sp>
        <p:nvSpPr>
          <p:cNvPr id="7" name="Rounded Rectangle 6"/>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0" name="TextBox 9"/>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1" name="Rounded Rectangle 10"/>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4" name="TextBox 13"/>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Do not wait days to feed. Consider mirtazapine/capromorelin as directed.</a:t>
            </a:r>
          </a:p>
        </p:txBody>
      </p:sp>
      <p:sp>
        <p:nvSpPr>
          <p:cNvPr id="15" name="Rounded Rectangle 14"/>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8" name="TextBox 17"/>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Do not assume the crate is adequate.</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CLIP, GLOVES, AND A DRAPE STILL APPLY IN THE FIELD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surgery</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ASA STATUS 3-E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Willie: complete perioperative plan</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Airway protected, monitors on, then alfaxalone to a depth that is safe to clip and flush. CHG off the eye and drum. Periocular/mucosa: 10% PVP-I 1 to 20 to 1 to 50; eye 2 min scrub + 2 min soak. Pad him. He falls.</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RECEIVED A PREOPERATIVE EVALUATION. ONLY WILLIE WAS ANESTHETIZED.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ASA Status 3-E. Proceed with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ASA Status 4-E.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referral, or euthanasia is still a surgical conversation. You do not perform an exploratory.</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a:t>
            </a:r>
          </a:p>
        </p:txBody>
      </p:sp>
      <p:sp>
        <p:nvSpPr>
          <p:cNvPr id="7" name="Rounded Rectangle 6"/>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0" name="TextBox 9"/>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1" name="Rounded Rectangle 10"/>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4" name="TextBox 13"/>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5" name="Rounded Rectangle 14"/>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8" name="TextBox 17"/>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19" name="Rounded Rectangle 18"/>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2" name="TextBox 21"/>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3" name="Rounded Rectangle 22"/>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6" name="TextBox 25"/>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Intact skin: PVP-I 5 minutes wet contact (then paint and dry), or aqueous CHG 3 minutes. Mucosa/eye: 10% PVP-I 1 to 20 to 1 to 50; eye 2 min + 2 min. CHG never on cornea or in the middle ear.</a:t>
            </a:r>
          </a:p>
        </p:txBody>
      </p:sp>
      <p:sp>
        <p:nvSpPr>
          <p:cNvPr id="27" name="Rounded Rectangle 26"/>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0" name="TextBox 29"/>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1" name="Rectangle 3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3" name="TextBox 3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Summary</a:t>
            </a:r>
          </a:p>
        </p:txBody>
      </p:sp>
      <p:sp>
        <p:nvSpPr>
          <p:cNvPr id="7" name="Rounded Rectangle 6"/>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or not to operate.
Patient and surgeon preparation prevents surgical site infection.
Postoperative care includes pain, temperature, the incision, the record, and the client conversation.
Halsted’s principles apply through the first 24 hours.</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7" name="TextBox 6"/>
          <p:cNvSpPr txBox="1"/>
          <p:nvPr/>
        </p:nvSpPr>
        <p:spPr>
          <a:xfrm>
            <a:off x="457200" y="1051560"/>
            <a:ext cx="11155680" cy="5120640"/>
          </a:xfrm>
          <a:prstGeom prst="rect">
            <a:avLst/>
          </a:prstGeom>
          <a:noFill/>
        </p:spPr>
        <p:txBody>
          <a:bodyPr wrap="square">
            <a:spAutoFit/>
          </a:bodyPr>
          <a:lstStyle/>
          <a:p>
            <a:pPr algn="l">
              <a:spcAft>
                <a:spcPts val="700"/>
              </a:spcAft>
            </a:pPr>
            <a:r>
              <a:rPr sz="1400" b="0">
                <a:solidFill>
                  <a:srgbClr val="1C1C1C"/>
                </a:solidFill>
                <a:latin typeface="Calibri"/>
              </a:rPr>
              <a:t>▸  Fossum T.W. Small Animal Surgery. 5th ed. Elsevier; 2018. Preoperative evaluation, patient preparation, postoperative care.</a:t>
            </a:r>
          </a:p>
          <a:p>
            <a:pPr algn="l">
              <a:spcAft>
                <a:spcPts val="700"/>
              </a:spcAft>
            </a:pPr>
            <a:r>
              <a:rPr sz="1400" b="0">
                <a:solidFill>
                  <a:srgbClr val="1C1C1C"/>
                </a:solidFill>
                <a:latin typeface="Calibri"/>
              </a:rPr>
              <a:t>▸  Johnston S.A., Tobias K.M. Veterinary Surgery: Small Animal. 2nd ed. Elsevier; 2017.</a:t>
            </a:r>
          </a:p>
          <a:p>
            <a:pPr algn="l">
              <a:spcAft>
                <a:spcPts val="700"/>
              </a:spcAft>
            </a:pPr>
            <a:r>
              <a:rPr sz="1400" b="0">
                <a:solidFill>
                  <a:srgbClr val="1C1C1C"/>
                </a:solidFill>
                <a:latin typeface="Calibri"/>
              </a:rPr>
              <a:t>▸  Hendrickson D.A., Baird A.N. Turner and McIlwraith’s Techniques in Large Animal Surgery. 4th ed. Wiley-Blackwell; 2013.</a:t>
            </a:r>
          </a:p>
          <a:p>
            <a:pPr algn="l">
              <a:spcAft>
                <a:spcPts val="700"/>
              </a:spcAft>
            </a:pPr>
            <a:r>
              <a:rPr sz="1400" b="0">
                <a:solidFill>
                  <a:srgbClr val="1C1C1C"/>
                </a:solidFill>
                <a:latin typeface="Calibri"/>
              </a:rPr>
              <a:t>▸  Roberts S.M., Severin G.A., Lavach J.D. Am J Vet Res. 1986;47(6):1207–1210. Canine ocular 1:50 (0.2%): 2-minute scrub + 2-minute soak. 1:2 (5%) caused corneal edema.</a:t>
            </a:r>
          </a:p>
          <a:p>
            <a:pPr algn="l">
              <a:spcAft>
                <a:spcPts val="700"/>
              </a:spcAft>
            </a:pPr>
            <a:r>
              <a:rPr sz="1400" b="0">
                <a:solidFill>
                  <a:srgbClr val="1C1C1C"/>
                </a:solidFill>
                <a:latin typeface="Calibri"/>
              </a:rPr>
              <a:t>▸  Betadine Surgical Scrub (povidone-iodine 7.5%), veterinary label: lather 5 minutes, rinse, paint 10% solution, dry.  ·  AAHA/AAFP Antimicrobial Stewardship 2022: cefazolin 22 mg/kg IV 30 minutes before incision; redose every 90 minutes.</a:t>
            </a:r>
          </a:p>
          <a:p>
            <a:pPr algn="l">
              <a:spcAft>
                <a:spcPts val="700"/>
              </a:spcAft>
            </a:pPr>
            <a:r>
              <a:rPr sz="1400" b="0">
                <a:solidFill>
                  <a:srgbClr val="1C1C1C"/>
                </a:solidFill>
                <a:latin typeface="Calibri"/>
              </a:rPr>
              <a:t>▸  Clinical photographs (open license or U.S. government work): Uwe Gille (CC0); Anja (CC BY-SA 4.0); Liannadavis (CC BY-SA 4.0); Cpl. Samuel A. Nasso, USMC (public domain); MSgt Carlotta Holley, USAF (public domain). Closed-gloving and spiral-prep figures are technique diagrams, not clinic photographs.</a:t>
            </a:r>
          </a:p>
        </p:txBody>
      </p:sp>
      <p:sp>
        <p:nvSpPr>
          <p:cNvPr id="8" name="Rectangle 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0" name="TextBox 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and how do you dilute 10% povidone-iodine for conjunctiva or prepuce?</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