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both formulas. Dog tube: kilograms divided by 4, plus 3.5. Willie 13.7: 3.425 plus 3.5 is 6.9, so start 7.0 millimeter, with 6.5 and 7.5 in the hand. Confirm on the larynx: largest that passes without trauma. Bag: kilograms times 60 milliliters, round up. Willie 822 milliliters is a 1 liter bag, circle. Healthy 25 kilogram Lab: 9.75 goes to 10 millimeter, 1500 milliliters rounds up to 2 liters. MoMo is cancelled, but if a 4.25 kilogram cat were anesthetized: cat tube 3.5 to 4.0, not the dog formula, 0.5 liter bag, non-rebreathing, oxygen 200 to 400 milliliters per kilogram per minute. Leak-test, then open the pop-off. Premed is the gold bar: DKT or BAA if healthy, alfaxalone for Willie.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the board math: Willie 7.0 millimeter tube, 1 liter bag. B is Roberts 1986 bottle math. D is CHG off the cornea. If a student asks about the blocked cat: stabilize potassium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Willie 13.7 kg: start 7.0 mm ETT, 1 L bag. Iodine if asked: Roberts 1 to 50 of 10 percent stock.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 Premedicate only after that exam.</a:t>
            </a:r>
          </a:p>
          <a:p>
            <a:pPr algn="l">
              <a:spcAft>
                <a:spcPts val="1200"/>
              </a:spcAft>
            </a:pPr>
            <a:r>
              <a:rPr sz="2000" b="0">
                <a:solidFill>
                  <a:srgbClr val="1C1C1C"/>
                </a:solidFill>
                <a:latin typeface="Calibri"/>
              </a:rPr>
              <a:t>▸  Write the peri-op plan: fasting, analgesia, antibiotics, consent, ETT, reservoir bag, breathing system.</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then labs, ASA
Then IM/SQ premed
ETT, bag, circuit
Leak-test the machine</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BOTH NUMBERS BEFORE INDUCTION. CPE MOA 2026: SELECT THE TUBE, THE CIRCUIT, AND THE BAG.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Endotracheal tube and reservoir bag</a:t>
            </a:r>
          </a:p>
        </p:txBody>
      </p:sp>
      <p:sp>
        <p:nvSpPr>
          <p:cNvPr id="8" name="Rounded Rectangle 7"/>
          <p:cNvSpPr/>
          <p:nvPr/>
        </p:nvSpPr>
        <p:spPr>
          <a:xfrm>
            <a:off x="411480" y="1024128"/>
            <a:ext cx="562356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62356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623560" cy="438912"/>
          </a:xfrm>
          <a:prstGeom prst="rect">
            <a:avLst/>
          </a:prstGeom>
          <a:noFill/>
        </p:spPr>
        <p:txBody>
          <a:bodyPr wrap="square" anchor="ctr"/>
          <a:lstStyle/>
          <a:p>
            <a:pPr algn="ctr"/>
            <a:r>
              <a:rPr sz="1600" b="1">
                <a:solidFill>
                  <a:srgbClr val="0B2C4A"/>
                </a:solidFill>
                <a:latin typeface="Calibri"/>
              </a:rPr>
              <a:t>Endotracheal tube  ·  dog starting estimate</a:t>
            </a:r>
          </a:p>
        </p:txBody>
      </p:sp>
      <p:sp>
        <p:nvSpPr>
          <p:cNvPr id="11" name="TextBox 10"/>
          <p:cNvSpPr txBox="1"/>
          <p:nvPr/>
        </p:nvSpPr>
        <p:spPr>
          <a:xfrm>
            <a:off x="594360" y="1536192"/>
            <a:ext cx="5257800" cy="502920"/>
          </a:xfrm>
          <a:prstGeom prst="rect">
            <a:avLst/>
          </a:prstGeom>
          <a:noFill/>
        </p:spPr>
        <p:txBody>
          <a:bodyPr wrap="square" anchor="t"/>
          <a:lstStyle/>
          <a:p>
            <a:pPr algn="ctr"/>
            <a:r>
              <a:rPr sz="2400" b="1">
                <a:solidFill>
                  <a:srgbClr val="0B2C4A"/>
                </a:solidFill>
                <a:latin typeface="Calibri"/>
              </a:rPr>
              <a:t>ID mm  =  (kg / 4)  +  3.5</a:t>
            </a:r>
          </a:p>
        </p:txBody>
      </p:sp>
      <p:sp>
        <p:nvSpPr>
          <p:cNvPr id="12" name="TextBox 11"/>
          <p:cNvSpPr txBox="1"/>
          <p:nvPr/>
        </p:nvSpPr>
        <p:spPr>
          <a:xfrm>
            <a:off x="594360" y="2084831"/>
            <a:ext cx="5257800" cy="1572768"/>
          </a:xfrm>
          <a:prstGeom prst="rect">
            <a:avLst/>
          </a:prstGeom>
          <a:noFill/>
        </p:spPr>
        <p:txBody>
          <a:bodyPr wrap="square" anchor="t"/>
          <a:lstStyle/>
          <a:p>
            <a:pPr algn="l"/>
            <a:r>
              <a:rPr sz="1500" b="0">
                <a:solidFill>
                  <a:srgbClr val="1C1C1C"/>
                </a:solidFill>
                <a:latin typeface="Calibri"/>
              </a:rPr>
              <a:t>Have 0.5 mm larger and 0.5 mm smaller ready.
Confirm: largest ID that passes the arytenoids without trauma (Grubb 2020). Tip midway from larynx to thoracic inlet. Cuff holds to 20 cm H2O (CPE MOA).
Cat: typically 3.0–4.5 mm. Do not use the dog formula.</a:t>
            </a:r>
          </a:p>
        </p:txBody>
      </p:sp>
      <p:sp>
        <p:nvSpPr>
          <p:cNvPr id="13" name="Rounded Rectangle 12"/>
          <p:cNvSpPr/>
          <p:nvPr/>
        </p:nvSpPr>
        <p:spPr>
          <a:xfrm>
            <a:off x="6172200" y="1024128"/>
            <a:ext cx="557784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024128"/>
            <a:ext cx="557784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024128"/>
            <a:ext cx="5577840" cy="438912"/>
          </a:xfrm>
          <a:prstGeom prst="rect">
            <a:avLst/>
          </a:prstGeom>
          <a:noFill/>
        </p:spPr>
        <p:txBody>
          <a:bodyPr wrap="square" anchor="ctr"/>
          <a:lstStyle/>
          <a:p>
            <a:pPr algn="ctr"/>
            <a:r>
              <a:rPr sz="1600" b="1">
                <a:solidFill>
                  <a:srgbClr val="C5A35A"/>
                </a:solidFill>
                <a:latin typeface="Calibri"/>
              </a:rPr>
              <a:t>Reservoir bag  ·  shortcut</a:t>
            </a:r>
          </a:p>
        </p:txBody>
      </p:sp>
      <p:sp>
        <p:nvSpPr>
          <p:cNvPr id="16" name="TextBox 15"/>
          <p:cNvSpPr txBox="1"/>
          <p:nvPr/>
        </p:nvSpPr>
        <p:spPr>
          <a:xfrm>
            <a:off x="6355080" y="1536192"/>
            <a:ext cx="5212080" cy="502920"/>
          </a:xfrm>
          <a:prstGeom prst="rect">
            <a:avLst/>
          </a:prstGeom>
          <a:noFill/>
        </p:spPr>
        <p:txBody>
          <a:bodyPr wrap="square" anchor="t"/>
          <a:lstStyle/>
          <a:p>
            <a:pPr algn="ctr"/>
            <a:r>
              <a:rPr sz="2200" b="1">
                <a:solidFill>
                  <a:srgbClr val="0B2C4A"/>
                </a:solidFill>
                <a:latin typeface="Calibri"/>
              </a:rPr>
              <a:t>mL  =  kg  ×  60     then round UP</a:t>
            </a:r>
          </a:p>
        </p:txBody>
      </p:sp>
      <p:sp>
        <p:nvSpPr>
          <p:cNvPr id="17" name="TextBox 16"/>
          <p:cNvSpPr txBox="1"/>
          <p:nvPr/>
        </p:nvSpPr>
        <p:spPr>
          <a:xfrm>
            <a:off x="6355080" y="2084831"/>
            <a:ext cx="5212080" cy="1572768"/>
          </a:xfrm>
          <a:prstGeom prst="rect">
            <a:avLst/>
          </a:prstGeom>
          <a:noFill/>
        </p:spPr>
        <p:txBody>
          <a:bodyPr wrap="square" anchor="t"/>
          <a:lstStyle/>
          <a:p>
            <a:pPr algn="l"/>
            <a:r>
              <a:rPr sz="1500" b="0">
                <a:solidFill>
                  <a:srgbClr val="1C1C1C"/>
                </a:solidFill>
                <a:latin typeface="Calibri"/>
              </a:rPr>
              <a:t>Tidal volume about 10–15 mL/kg. Bag = 5–6 × TV, so 60 mL/kg is the low end. Round up to 0.5, 1, 2, or 3 L.
NRC: cats and dogs &lt;3–5 kg. O2 200–400 mL/kg/min (Grubb 2020). Circle for larger patients. Leak-test, then OPEN the pop-off.</a:t>
            </a:r>
          </a:p>
        </p:txBody>
      </p:sp>
      <p:sp>
        <p:nvSpPr>
          <p:cNvPr id="18" name="Rectangle 17"/>
          <p:cNvSpPr/>
          <p:nvPr/>
        </p:nvSpPr>
        <p:spPr>
          <a:xfrm>
            <a:off x="411480" y="3931920"/>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931920"/>
            <a:ext cx="2743200" cy="384048"/>
          </a:xfrm>
          <a:prstGeom prst="rect">
            <a:avLst/>
          </a:prstGeom>
          <a:noFill/>
        </p:spPr>
        <p:txBody>
          <a:bodyPr wrap="square" anchor="ctr"/>
          <a:lstStyle/>
          <a:p>
            <a:pPr algn="l"/>
            <a:r>
              <a:rPr sz="1500" b="1">
                <a:solidFill>
                  <a:srgbClr val="C5A35A"/>
                </a:solidFill>
                <a:latin typeface="Calibri"/>
              </a:rPr>
              <a:t>Patient</a:t>
            </a:r>
          </a:p>
        </p:txBody>
      </p:sp>
      <p:sp>
        <p:nvSpPr>
          <p:cNvPr id="20" name="TextBox 19"/>
          <p:cNvSpPr txBox="1"/>
          <p:nvPr/>
        </p:nvSpPr>
        <p:spPr>
          <a:xfrm>
            <a:off x="3246120" y="3931920"/>
            <a:ext cx="1097280" cy="384048"/>
          </a:xfrm>
          <a:prstGeom prst="rect">
            <a:avLst/>
          </a:prstGeom>
          <a:noFill/>
        </p:spPr>
        <p:txBody>
          <a:bodyPr wrap="square" anchor="ctr"/>
          <a:lstStyle/>
          <a:p>
            <a:pPr algn="l"/>
            <a:r>
              <a:rPr sz="1500" b="1">
                <a:solidFill>
                  <a:srgbClr val="C5A35A"/>
                </a:solidFill>
                <a:latin typeface="Calibri"/>
              </a:rPr>
              <a:t>kg</a:t>
            </a:r>
          </a:p>
        </p:txBody>
      </p:sp>
      <p:sp>
        <p:nvSpPr>
          <p:cNvPr id="21" name="TextBox 20"/>
          <p:cNvSpPr txBox="1"/>
          <p:nvPr/>
        </p:nvSpPr>
        <p:spPr>
          <a:xfrm>
            <a:off x="4434840" y="3931920"/>
            <a:ext cx="2926080" cy="384048"/>
          </a:xfrm>
          <a:prstGeom prst="rect">
            <a:avLst/>
          </a:prstGeom>
          <a:noFill/>
        </p:spPr>
        <p:txBody>
          <a:bodyPr wrap="square" anchor="ctr"/>
          <a:lstStyle/>
          <a:p>
            <a:pPr algn="l"/>
            <a:r>
              <a:rPr sz="1500" b="1">
                <a:solidFill>
                  <a:srgbClr val="C5A35A"/>
                </a:solidFill>
                <a:latin typeface="Calibri"/>
              </a:rPr>
              <a:t>ETT start</a:t>
            </a:r>
          </a:p>
        </p:txBody>
      </p:sp>
      <p:sp>
        <p:nvSpPr>
          <p:cNvPr id="22" name="TextBox 21"/>
          <p:cNvSpPr txBox="1"/>
          <p:nvPr/>
        </p:nvSpPr>
        <p:spPr>
          <a:xfrm>
            <a:off x="7452360" y="3931920"/>
            <a:ext cx="2560320" cy="384048"/>
          </a:xfrm>
          <a:prstGeom prst="rect">
            <a:avLst/>
          </a:prstGeom>
          <a:noFill/>
        </p:spPr>
        <p:txBody>
          <a:bodyPr wrap="square" anchor="ctr"/>
          <a:lstStyle/>
          <a:p>
            <a:pPr algn="l"/>
            <a:r>
              <a:rPr sz="1500" b="1">
                <a:solidFill>
                  <a:srgbClr val="C5A35A"/>
                </a:solidFill>
                <a:latin typeface="Calibri"/>
              </a:rPr>
              <a:t>Bag</a:t>
            </a:r>
          </a:p>
        </p:txBody>
      </p:sp>
      <p:sp>
        <p:nvSpPr>
          <p:cNvPr id="23" name="TextBox 22"/>
          <p:cNvSpPr txBox="1"/>
          <p:nvPr/>
        </p:nvSpPr>
        <p:spPr>
          <a:xfrm>
            <a:off x="10104120" y="3931920"/>
            <a:ext cx="1554480" cy="384048"/>
          </a:xfrm>
          <a:prstGeom prst="rect">
            <a:avLst/>
          </a:prstGeom>
          <a:noFill/>
        </p:spPr>
        <p:txBody>
          <a:bodyPr wrap="square" anchor="ctr"/>
          <a:lstStyle/>
          <a:p>
            <a:pPr algn="l"/>
            <a:r>
              <a:rPr sz="1500" b="1">
                <a:solidFill>
                  <a:srgbClr val="C5A35A"/>
                </a:solidFill>
                <a:latin typeface="Calibri"/>
              </a:rPr>
              <a:t>Circuit</a:t>
            </a:r>
          </a:p>
        </p:txBody>
      </p:sp>
      <p:sp>
        <p:nvSpPr>
          <p:cNvPr id="24" name="Rounded Rectangle 23"/>
          <p:cNvSpPr/>
          <p:nvPr/>
        </p:nvSpPr>
        <p:spPr>
          <a:xfrm>
            <a:off x="411480" y="4352544"/>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52544"/>
            <a:ext cx="2743200" cy="438912"/>
          </a:xfrm>
          <a:prstGeom prst="rect">
            <a:avLst/>
          </a:prstGeom>
          <a:noFill/>
        </p:spPr>
        <p:txBody>
          <a:bodyPr wrap="square" anchor="ctr"/>
          <a:lstStyle/>
          <a:p>
            <a:pPr algn="l"/>
            <a:r>
              <a:rPr sz="1500" b="1">
                <a:solidFill>
                  <a:srgbClr val="0B2C4A"/>
                </a:solidFill>
                <a:latin typeface="Calibri"/>
              </a:rPr>
              <a:t>Willie (if intubated)</a:t>
            </a:r>
          </a:p>
        </p:txBody>
      </p:sp>
      <p:sp>
        <p:nvSpPr>
          <p:cNvPr id="26" name="TextBox 25"/>
          <p:cNvSpPr txBox="1"/>
          <p:nvPr/>
        </p:nvSpPr>
        <p:spPr>
          <a:xfrm>
            <a:off x="3246120" y="4352544"/>
            <a:ext cx="1097280" cy="438912"/>
          </a:xfrm>
          <a:prstGeom prst="rect">
            <a:avLst/>
          </a:prstGeom>
          <a:noFill/>
        </p:spPr>
        <p:txBody>
          <a:bodyPr wrap="square" anchor="ctr"/>
          <a:lstStyle/>
          <a:p>
            <a:pPr algn="l"/>
            <a:r>
              <a:rPr sz="1500" b="0">
                <a:solidFill>
                  <a:srgbClr val="1C1C1C"/>
                </a:solidFill>
                <a:latin typeface="Calibri"/>
              </a:rPr>
              <a:t>13.7</a:t>
            </a:r>
          </a:p>
        </p:txBody>
      </p:sp>
      <p:sp>
        <p:nvSpPr>
          <p:cNvPr id="27" name="TextBox 26"/>
          <p:cNvSpPr txBox="1"/>
          <p:nvPr/>
        </p:nvSpPr>
        <p:spPr>
          <a:xfrm>
            <a:off x="4434840" y="4352544"/>
            <a:ext cx="2926080" cy="438912"/>
          </a:xfrm>
          <a:prstGeom prst="rect">
            <a:avLst/>
          </a:prstGeom>
          <a:noFill/>
        </p:spPr>
        <p:txBody>
          <a:bodyPr wrap="square" anchor="ctr"/>
          <a:lstStyle/>
          <a:p>
            <a:pPr algn="l"/>
            <a:r>
              <a:rPr sz="1500" b="1">
                <a:solidFill>
                  <a:srgbClr val="1B6B7A"/>
                </a:solidFill>
                <a:latin typeface="Calibri"/>
              </a:rPr>
              <a:t>7.0 mm  (6.5 / 7.5)</a:t>
            </a:r>
          </a:p>
        </p:txBody>
      </p:sp>
      <p:sp>
        <p:nvSpPr>
          <p:cNvPr id="28" name="TextBox 27"/>
          <p:cNvSpPr txBox="1"/>
          <p:nvPr/>
        </p:nvSpPr>
        <p:spPr>
          <a:xfrm>
            <a:off x="7452360" y="4352544"/>
            <a:ext cx="2560320" cy="438912"/>
          </a:xfrm>
          <a:prstGeom prst="rect">
            <a:avLst/>
          </a:prstGeom>
          <a:noFill/>
        </p:spPr>
        <p:txBody>
          <a:bodyPr wrap="square" anchor="ctr"/>
          <a:lstStyle/>
          <a:p>
            <a:pPr algn="l"/>
            <a:r>
              <a:rPr sz="1500" b="1">
                <a:solidFill>
                  <a:srgbClr val="1B6B7A"/>
                </a:solidFill>
                <a:latin typeface="Calibri"/>
              </a:rPr>
              <a:t>822 mL → 1 L</a:t>
            </a:r>
          </a:p>
        </p:txBody>
      </p:sp>
      <p:sp>
        <p:nvSpPr>
          <p:cNvPr id="29" name="TextBox 28"/>
          <p:cNvSpPr txBox="1"/>
          <p:nvPr/>
        </p:nvSpPr>
        <p:spPr>
          <a:xfrm>
            <a:off x="10104120" y="4352544"/>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0" name="Rounded Rectangle 29"/>
          <p:cNvSpPr/>
          <p:nvPr/>
        </p:nvSpPr>
        <p:spPr>
          <a:xfrm>
            <a:off x="411480" y="4828032"/>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828032"/>
            <a:ext cx="2743200" cy="438912"/>
          </a:xfrm>
          <a:prstGeom prst="rect">
            <a:avLst/>
          </a:prstGeom>
          <a:noFill/>
        </p:spPr>
        <p:txBody>
          <a:bodyPr wrap="square" anchor="ctr"/>
          <a:lstStyle/>
          <a:p>
            <a:pPr algn="l"/>
            <a:r>
              <a:rPr sz="1500" b="1">
                <a:solidFill>
                  <a:srgbClr val="0B2C4A"/>
                </a:solidFill>
                <a:latin typeface="Calibri"/>
              </a:rPr>
              <a:t>Healthy Lab, elective OHE</a:t>
            </a:r>
          </a:p>
        </p:txBody>
      </p:sp>
      <p:sp>
        <p:nvSpPr>
          <p:cNvPr id="32" name="TextBox 31"/>
          <p:cNvSpPr txBox="1"/>
          <p:nvPr/>
        </p:nvSpPr>
        <p:spPr>
          <a:xfrm>
            <a:off x="3246120" y="4828032"/>
            <a:ext cx="1097280" cy="438912"/>
          </a:xfrm>
          <a:prstGeom prst="rect">
            <a:avLst/>
          </a:prstGeom>
          <a:noFill/>
        </p:spPr>
        <p:txBody>
          <a:bodyPr wrap="square" anchor="ctr"/>
          <a:lstStyle/>
          <a:p>
            <a:pPr algn="l"/>
            <a:r>
              <a:rPr sz="1500" b="0">
                <a:solidFill>
                  <a:srgbClr val="1C1C1C"/>
                </a:solidFill>
                <a:latin typeface="Calibri"/>
              </a:rPr>
              <a:t>25</a:t>
            </a:r>
          </a:p>
        </p:txBody>
      </p:sp>
      <p:sp>
        <p:nvSpPr>
          <p:cNvPr id="33" name="TextBox 32"/>
          <p:cNvSpPr txBox="1"/>
          <p:nvPr/>
        </p:nvSpPr>
        <p:spPr>
          <a:xfrm>
            <a:off x="4434840" y="4828032"/>
            <a:ext cx="2926080" cy="438912"/>
          </a:xfrm>
          <a:prstGeom prst="rect">
            <a:avLst/>
          </a:prstGeom>
          <a:noFill/>
        </p:spPr>
        <p:txBody>
          <a:bodyPr wrap="square" anchor="ctr"/>
          <a:lstStyle/>
          <a:p>
            <a:pPr algn="l"/>
            <a:r>
              <a:rPr sz="1500" b="1">
                <a:solidFill>
                  <a:srgbClr val="1B6B7A"/>
                </a:solidFill>
                <a:latin typeface="Calibri"/>
              </a:rPr>
              <a:t>9.75 → 10 mm</a:t>
            </a:r>
          </a:p>
        </p:txBody>
      </p:sp>
      <p:sp>
        <p:nvSpPr>
          <p:cNvPr id="34" name="TextBox 33"/>
          <p:cNvSpPr txBox="1"/>
          <p:nvPr/>
        </p:nvSpPr>
        <p:spPr>
          <a:xfrm>
            <a:off x="7452360" y="4828032"/>
            <a:ext cx="2560320" cy="438912"/>
          </a:xfrm>
          <a:prstGeom prst="rect">
            <a:avLst/>
          </a:prstGeom>
          <a:noFill/>
        </p:spPr>
        <p:txBody>
          <a:bodyPr wrap="square" anchor="ctr"/>
          <a:lstStyle/>
          <a:p>
            <a:pPr algn="l"/>
            <a:r>
              <a:rPr sz="1500" b="1">
                <a:solidFill>
                  <a:srgbClr val="1B6B7A"/>
                </a:solidFill>
                <a:latin typeface="Calibri"/>
              </a:rPr>
              <a:t>1.5 L → 2 L</a:t>
            </a:r>
          </a:p>
        </p:txBody>
      </p:sp>
      <p:sp>
        <p:nvSpPr>
          <p:cNvPr id="35" name="TextBox 34"/>
          <p:cNvSpPr txBox="1"/>
          <p:nvPr/>
        </p:nvSpPr>
        <p:spPr>
          <a:xfrm>
            <a:off x="10104120" y="4828032"/>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6" name="Rounded Rectangle 35"/>
          <p:cNvSpPr/>
          <p:nvPr/>
        </p:nvSpPr>
        <p:spPr>
          <a:xfrm>
            <a:off x="411480" y="5303520"/>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303520"/>
            <a:ext cx="2743200" cy="438912"/>
          </a:xfrm>
          <a:prstGeom prst="rect">
            <a:avLst/>
          </a:prstGeom>
          <a:noFill/>
        </p:spPr>
        <p:txBody>
          <a:bodyPr wrap="square" anchor="ctr"/>
          <a:lstStyle/>
          <a:p>
            <a:pPr algn="l"/>
            <a:r>
              <a:rPr sz="1500" b="1">
                <a:solidFill>
                  <a:srgbClr val="0B2C4A"/>
                </a:solidFill>
                <a:latin typeface="Calibri"/>
              </a:rPr>
              <a:t>MoMo, teaching only</a:t>
            </a:r>
          </a:p>
        </p:txBody>
      </p:sp>
      <p:sp>
        <p:nvSpPr>
          <p:cNvPr id="38" name="TextBox 37"/>
          <p:cNvSpPr txBox="1"/>
          <p:nvPr/>
        </p:nvSpPr>
        <p:spPr>
          <a:xfrm>
            <a:off x="3246120" y="5303520"/>
            <a:ext cx="1097280" cy="438912"/>
          </a:xfrm>
          <a:prstGeom prst="rect">
            <a:avLst/>
          </a:prstGeom>
          <a:noFill/>
        </p:spPr>
        <p:txBody>
          <a:bodyPr wrap="square" anchor="ctr"/>
          <a:lstStyle/>
          <a:p>
            <a:pPr algn="l"/>
            <a:r>
              <a:rPr sz="1500" b="0">
                <a:solidFill>
                  <a:srgbClr val="1C1C1C"/>
                </a:solidFill>
                <a:latin typeface="Calibri"/>
              </a:rPr>
              <a:t>4.25</a:t>
            </a:r>
          </a:p>
        </p:txBody>
      </p:sp>
      <p:sp>
        <p:nvSpPr>
          <p:cNvPr id="39" name="TextBox 38"/>
          <p:cNvSpPr txBox="1"/>
          <p:nvPr/>
        </p:nvSpPr>
        <p:spPr>
          <a:xfrm>
            <a:off x="4434840" y="5303520"/>
            <a:ext cx="2926080" cy="438912"/>
          </a:xfrm>
          <a:prstGeom prst="rect">
            <a:avLst/>
          </a:prstGeom>
          <a:noFill/>
        </p:spPr>
        <p:txBody>
          <a:bodyPr wrap="square" anchor="ctr"/>
          <a:lstStyle/>
          <a:p>
            <a:pPr algn="l"/>
            <a:r>
              <a:rPr sz="1500" b="1">
                <a:solidFill>
                  <a:srgbClr val="1B6B7A"/>
                </a:solidFill>
                <a:latin typeface="Calibri"/>
              </a:rPr>
              <a:t>3.5–4.0 mm (cat)</a:t>
            </a:r>
          </a:p>
        </p:txBody>
      </p:sp>
      <p:sp>
        <p:nvSpPr>
          <p:cNvPr id="40" name="TextBox 39"/>
          <p:cNvSpPr txBox="1"/>
          <p:nvPr/>
        </p:nvSpPr>
        <p:spPr>
          <a:xfrm>
            <a:off x="7452360" y="5303520"/>
            <a:ext cx="2560320" cy="438912"/>
          </a:xfrm>
          <a:prstGeom prst="rect">
            <a:avLst/>
          </a:prstGeom>
          <a:noFill/>
        </p:spPr>
        <p:txBody>
          <a:bodyPr wrap="square" anchor="ctr"/>
          <a:lstStyle/>
          <a:p>
            <a:pPr algn="l"/>
            <a:r>
              <a:rPr sz="1500" b="1">
                <a:solidFill>
                  <a:srgbClr val="1B6B7A"/>
                </a:solidFill>
                <a:latin typeface="Calibri"/>
              </a:rPr>
              <a:t>255 mL → 0.5 L</a:t>
            </a:r>
          </a:p>
        </p:txBody>
      </p:sp>
      <p:sp>
        <p:nvSpPr>
          <p:cNvPr id="41" name="TextBox 40"/>
          <p:cNvSpPr txBox="1"/>
          <p:nvPr/>
        </p:nvSpPr>
        <p:spPr>
          <a:xfrm>
            <a:off x="10104120" y="5303520"/>
            <a:ext cx="1554480" cy="438912"/>
          </a:xfrm>
          <a:prstGeom prst="rect">
            <a:avLst/>
          </a:prstGeom>
          <a:noFill/>
        </p:spPr>
        <p:txBody>
          <a:bodyPr wrap="square" anchor="ctr"/>
          <a:lstStyle/>
          <a:p>
            <a:pPr algn="l"/>
            <a:r>
              <a:rPr sz="1500" b="0">
                <a:solidFill>
                  <a:srgbClr val="1C1C1C"/>
                </a:solidFill>
                <a:latin typeface="Calibri"/>
              </a:rPr>
              <a:t>NRC</a:t>
            </a:r>
          </a:p>
        </p:txBody>
      </p:sp>
      <p:sp>
        <p:nvSpPr>
          <p:cNvPr id="42" name="Rounded Rectangle 41"/>
          <p:cNvSpPr/>
          <p:nvPr/>
        </p:nvSpPr>
        <p:spPr>
          <a:xfrm>
            <a:off x="411480" y="5833872"/>
            <a:ext cx="11338560" cy="6217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5833872"/>
            <a:ext cx="11018520" cy="621792"/>
          </a:xfrm>
          <a:prstGeom prst="rect">
            <a:avLst/>
          </a:prstGeom>
          <a:noFill/>
        </p:spPr>
        <p:txBody>
          <a:bodyPr wrap="square" anchor="ctr"/>
          <a:lstStyle/>
          <a:p>
            <a:pPr algn="l"/>
            <a:r>
              <a:rPr sz="1500" b="0">
                <a:solidFill>
                  <a:srgbClr val="0B2C4A"/>
                </a:solidFill>
                <a:latin typeface="Calibri"/>
              </a:rPr>
              <a:t>Premed stays in this hour: exam first, then IM/SQ. DKT or BAA if healthy ASA 1–2. Heart / murmur: opioid + alfaxalone (Willie). Premed lowers MAC.</a:t>
            </a:r>
          </a:p>
        </p:txBody>
      </p:sp>
      <p:sp>
        <p:nvSpPr>
          <p:cNvPr id="44" name="Rectangle 4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6" name="TextBox 4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the patient is ready for prep: tube in, IV running, surgical plane.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Willie is 13.7 kg. Tube and bag?</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Start 7.0 mm ID. 13.7 × 60 mL = 822 mL → 1 L bag. Circle. Confirm on the larynx.</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 Exam before any drug.</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Examine, request labs, assign ASA, then premedicate. Never the other way around.</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Dog ETT start: (kg / 4) + 3.5 mm. Bag: kg × 60 mL, round up. Willie: 7.0 mm and 1 L.</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Skin: 7.5%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Willie is 13.7 kg. What ETT and reservoir bag do you start with?</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
12. ECFVG. Clinical Proficiency Examination Manual of Administration. 2026 ed. AVMA. Anesthesia; Surgery.</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