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The competency list is the 2026 CPE Manual of Administration, Anesthesia and Surgery chapters, taught as DVM 612, not as an exam-prep course. Teach ASA first. Then one dog, Willie: PE, then labs, then the students write the status. Do not give them 3-E before they commit. MoMo is the second ASA quiz. Owner identifiers stay off these slides. Thirty-eight slides. If discussion runs, protect antiseptics, ready-for-prep, and recovery.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Timer: protect antiseptics, draping, and recovery. Willie is an ASA quiz after the table, not a treatment case.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Surgical competence includes the first 24 hours of physiologic monitoring and complication management. That is not a claim of infinite legal liability for every recovery-ward or owner event. Hemorrhage from a weak ligature is still your technical problem.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then move.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teach this as a CPE station. Teach the clocks. Anesthesia owns exam through a patient who is ready for clippers: tube in, cuff up, machine on, IV running, surgical plane. Surgery owns clip through the last skin suture. Then both teams monitor the first 24 hours. Cite ECFVG CPE Manual of Administration 2026, Anesthesia and Surgery sections.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preoperative exam the record actually holds. CPE MOA 2026 Appendix 3: heart rate, respiratory rate, mucous membranes and CRT, temperature, then PCV, TP, and BUN. Request those three. Interpret them. Then write ASA. Then premed IM or SQ. Do not premedicate before the examination. Add other labs if the PE says so. A normal CBC does not make a vestibular dog Status 1. Azotemia can cancel the cut.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2020 AAHA table with MOA Appendix 2: Status 1 healthy, Status 2 mild and compensated, Status 3 moderate and compensated, Status 4 a constant threat to life, Status 5 moribund. E means emergency. Do not preview Willie. Next: one dog’s PE, then labs, then they write the status.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PE from today’s record. Do not say 3-E yet. Do not put the client name on the board. No DexSP, alfaxalone, ear clean, or TECA. Next slide is the actual lab numbers, then they write the status.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put the client name on the board. These are today’s printed numbers, not invented WNL. HCT 47.5 percent is on the CBC; this hour still teaches spun PCV on other patients. BUN 11.9 and creatinine 0.7 are in range. Phosphorus 6.0 and glucose 130 are above this lab’s range. Do not invent a renal diagnosis from phosphorus alone, and do not invent diabetes from one glucose. CBC values on this printout are in range. Do not advance until they say a number. Then the key: Status 3-E. Moderate systemic disease that is still compensated. Emergency because the ataxia plus AS otitis is acute. Not 1: the PE is not normal. Not 4: pink, CRT 2 seconds, BUN and creatinine in range, not a constant threat to life today. Mild high phosphorus and glucose do not write Status 4. No Willie treatment plan. Slide 35 is the written key.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ASA quiz. Pause on the photograph. Be respectful; this cat died. After they commit: Status 4-E, uncompensated, a constant threat to life. Rising creatinine on fluids is a recorded fact. Do not invent a fluid rate. The workup cancelled the cut. Owner elected euthanasia. Record the decision. Never put DexSP on this cat.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 1 of the CPE MOA 2026 anesthesia record, taught as a table, not as the copyrighted form. Willie and MoMo ASA cells stay blank on purpose: they already wrote those on the quiz. Healthy Lab OHE is Status 1. PCV and TP method: EDTA, spin, read PCV, snap the capillary tube, refractometer TP. Do not invent percentages. A normal CBC does not write Status 1. Azotemia can cancel the cut.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call these ASA cutoffs. The anesthesia record’s minimum labs are PCV, TP, and BUN. AAHA 2020 lists K greater than 6.0 as a condition to correct before anesthesia. Pardo 2024: albumin less than 2.0 grams per deciliter is a negative prognostic indicator. Do not invent PCV cutoffs as ASA numbers.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2 and 3 as an original record, not the copyrighted form. The filled table is a 25 kilogram ASA 1 elective OHE: carprofen 4.4 milligrams per kilogram SQ, LRS 125 milliliters per hour. It is not a hospital-patient protocol. Students write drug, concentration, dose, volume, and route.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Grubb 2020 list: correct potassium greater than 6, pH less than 7.2, glucose less than 60, hypothermia, dehydration, before you induce. Then albumin: Pardo 2024 AAHA fluids, less than 2.0 grams per deciliter is edema and poor healing. Delay elective. Treat the cause. Plasma is a poor albumin replacement, 20 to 25 milliliters per kilogram for half a gram. Do not crystalloid-flood a low-oncotic patient. Emergency: resuscitate and operate. Uncompensated azotemia that is getting worse: do not cut. That is the preoperative evaluation working. It is not a diagnosis of why the creatinine rose.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 Grubb et al., 2020 AAHA Anesthesia and Monitoring Guidelines: healthy adults, food 4 to 6 hours, water until premedication. Neonates and patients under 2 kg: food fast no longer than 1 to 2 hours. Pre-oxygenation: 3 minutes of 100 percent oxygen gives almost 6 minutes of saturation. Brachycephalics: delay extubation until they can protect the airway. Mention DNR.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three formulas, then fill the table the way CPE MOA 2026 Appendix 3 is filled: circle ASA, write ETT size, bag, rebreathing versus non-rebreathing, IV fluid name and rate, fresh-gas flow. Do not project the copyrighted form. Dog tube: kilograms divided by 4, plus 3.5. A 20 kg example: start 8.5 millimeter, 8.0 and 9.0 in the hand. Bag: kilograms times 60, round up. 1.2 liters is a 2 liter bag, circle. Fluids: Pardo 2024, dog 5 milliliters per kilogram per hour; write 100 milliliters per hour. Circle FGF: 2 to 3 liters per minute at induction, then 20 to 40 milliliters per kilogram per minute, minimum 500 milliliters per minute (Grubb 2020). NRC 200 to 400 milliliters per kilogram per minute. After the tube is in: inhalant to effect. Premed already lowered MAC. Then clip, sterile prep, and drape. Willie is an ASA example only: do not attach tube, bag, or fluid math to that dog.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header they fill: identity, today’s PE, PCV, TP, BUN, then ASA. It is not a Willie treatment plan. They already wrote Willie’s status on the quiz. Do not re-teach a drug list here.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 is not only for patients who get clipped. Preop boxes and SURGERY CANCELLED are the document. Rising creatinine on fluids is written as recorded. Do not invent a fluid rate or blame overload. Say it once, respectfully, then continue.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the four National Research Council wound classes that were on the original lecture: clean, clean-contaminated, contaminated, dirty. Elective OHE is clean: skip prophylaxis, Frey 2022. Clean-contaminated: controlled entry into gut, airway, or bladder. Contaminated: fresh trauma or major spillage. Dirty: pus. An infected ear is dirty: treatment, not clean prophylaxis. Then say 22 milligrams per kilogram IV. Do not attribute that dose to AAHA 2022.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room. Do not clip until ready for prep: tube in, cuff to 20 centimeters of water, IV running, surgical plane. Clip and dirty-scrub in the prep area. Shoe covers, hair cap, and mask before the OR door. Gown is after the surgical hand scrub in the room, not in the hallway. Full sterile scrub after positioning. Then drape, then open and count instruments. Timeout. Announce the incision and mark it on the anesthesia chart. Clock to the last skin suture. CPE MOA 2026 Surgery scores hair, skin, position, drape, gown and glove. Veterinary Betadine: 7.5 percent scrub about 5 minutes, rinse, paint 5 percent Solution Veterinary. Eye: Roberts 1986, 1 to 50 of 10 percent stock, 2 plus 2 minutes.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photo is still too narrow. Right is a real 24-hour OHE. Do not teach a fixed 20 centimeter margin. Teach landmarks that scale with the patient. Protect heat.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the bottle math on the board. Veterinary Betadine Solution is 5 percent, not 10 percent. Roberts 1986: 1 to 50 of 10 percent stock, 2-minute scrub plus 2-minute soak, on healthy corneas. One case of corneal edema at 1 to 2. Deep ulcer, descemetocele, or open globe: saline only, call ophthalmology. Nolvasan: keep out of eyes. Ear canal and periocular mucosa: detergent-free dilute PVP-I, not 7.5 percent scrub.</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Mime the spiral. Dirty scrub is not sterile prep. Full scrub is in the OR after positioning. Clock about 5 minutes for veterinary Betadine scrub on intact skin. Recite Roberts 1 to 50 of 10 percent stock for the eye: 2 minutes plus 2 minutes. If the bottle is 5 percent veterinary solution, 1 to 25 matches 0.2 percent.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bag size and the tube size on this photograph. Confirm placement with ETCO2. Keep hips in a neutral spread.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is a real spay with hair at the window. Re-clip or re-drape. Four-quadrant towels, then the large drape. Then timeout before you cut.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the door: shoe covers, cap, mask. Gown after the hand scrub, not in the hallway. Closed glove. Then drape, then open and count the pack. Students name SpO2, ETCO2, ECG, temp, and fluids before the first incision. Do not mix hospital-patient names onto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Praise the person who says I just contaminated my sleeve. Then re-glove. Teach the clinical rule, not exam scoring. The 24-hour window is why recovery is in this lecture: monitor, recognize hemorrhage and hernia, write the discharge plan.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C is albumin: delay elective, treat the cause. D is board math for a 25 kilogram dog: 10 millimeter, 2 liter circle, 125 milliliters per hour. B is Roberts 1986 on an intact cornea; perforation is saline only. A is airway before clippers, dirty scrub in the prep area, full scrub in the OR.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recovery: e-collar, IV, clipped abdomen. Pale OHE: stay at the cage, return to OR if unstable.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4 and 5 as an original chart, not the copyrighted form. Gold columns are times you mark: anesthesia start, first incision, last skin suture. Plot the rest every 5 to 10 minutes in real time against the normal operating range (CPE MOA 2026 Anesthesia). Write the number you see. Heart rate: dog 60 to 140 is the intra-op teaching band on this chart. Large dogs often sit in the 60s; small dogs often 100 to 140. Do not cite Grubb for 60 to 140. Ko and Krimins 2012 Table 2 is 60 to 120. Fossum Table 31-1 70 to 140 is the conscious dog, on the PE slide. Tachycardia alert 150 to 190 by size, Grubb 2020. Cat 100 to 180, AAFP 2018. Respiratory rate: dog 8 to 20, cat 10 to 25 is the intra-op teaching band on this chart. Dogs often sit 10 to 20; 8 can be acceptable in a small dog or a deeper plane. Cats often sit 12 to 20. Fossum 20 to 40 is the conscious patient, on the PE slide. Do not cite Grubb for 8 to 20 or 10 to 25. Apnea is out of range; start PPV. Blood pressure floors: SAP 90, MAP 70, DAP 40, Grubb 2020. Treat MAP under 60 as hypotension. ETCO2 40 to 50, start PPV if over 60. SpO2 at least 95 percent. Temperature at least 98 Fahrenheit. Circle oxygen: 2 to 3 liters, then 20 to 40 milliliters per kilogram per minute, minimum 500 milliliters per minute, Grubb 2020. Fluids: dog 5, cat 3 to 5 milliliters per kilogram per hour, Pardo 2024. Out of range: event, time, correction. Then fluids total, recovery analgesic, and sign. Time cells stay empty until a real patient.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course uses on-label NSAIDs as pre-emptive analgesia: give before incision so levels are on board. Dog: carprofen 4.4 milligrams per kilogram SQ, about 2 hours before incision. Do not use carprofen in cats. Cat: Onsior 2 milligrams per kilogram SQ, about 30 minutes before incision. Do not teach Onsior in the dog. Do not stack an NSAID with a corticosteroid. Skip NSAID if the patient is azotemic. A postop antibiotic shot is not automatic. Clean spay: skip. Infected ear: treat.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Hemorrhage versus seroma. Skin versus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2 a.m. someone opens this record because the abdomen is swelling. They need ligatures, sponge count, linea suture, and whether the client was called.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come now.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Written key after the quiz. Status 3-E. Why not 1, why not 4. No drugs. No ear clean. No TECA.</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content slide if time is gone. These two patients were the ASA quizzes. Healthy Lab OHE is Status 1.</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six lines are the Appendix 3 record and the Surgery competencies: assessment and ASA, drug protocol and equipment, ready for prep, hair-skin-position-drape, the chart and signature, then the first 24 hours. Do not recap the hospital patients here.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ready for clippers means airway secured, machine on, patent IV running, surgical plane, monitoring started. Before the first premed: today’s PE, PCV, TP, BUN, and ASA.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9.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68680"/>
            <a:ext cx="10972800" cy="365760"/>
          </a:xfrm>
          <a:prstGeom prst="rect">
            <a:avLst/>
          </a:prstGeom>
          <a:noFill/>
        </p:spPr>
        <p:txBody>
          <a:bodyPr wrap="square" anchor="t"/>
          <a:lstStyle/>
          <a:p>
            <a:pPr algn="l"/>
            <a:r>
              <a:rPr sz="1600" b="1">
                <a:solidFill>
                  <a:srgbClr val="C5A35A"/>
                </a:solidFill>
                <a:latin typeface="Calibri"/>
              </a:rPr>
              <a:t>LONG ISLAND UNIVERSITY  ·  LEWYT COLLEGE OF VETERINARY MEDICINE</a:t>
            </a:r>
          </a:p>
        </p:txBody>
      </p:sp>
      <p:sp>
        <p:nvSpPr>
          <p:cNvPr id="6" name="TextBox 5"/>
          <p:cNvSpPr txBox="1"/>
          <p:nvPr/>
        </p:nvSpPr>
        <p:spPr>
          <a:xfrm>
            <a:off x="685800" y="1325880"/>
            <a:ext cx="10972800" cy="365760"/>
          </a:xfrm>
          <a:prstGeom prst="rect">
            <a:avLst/>
          </a:prstGeom>
          <a:noFill/>
        </p:spPr>
        <p:txBody>
          <a:bodyPr wrap="square" anchor="t"/>
          <a:lstStyle/>
          <a:p>
            <a:pPr algn="l"/>
            <a:r>
              <a:rPr sz="2000" b="1">
                <a:solidFill>
                  <a:srgbClr val="F4EBD3"/>
                </a:solidFill>
                <a:latin typeface="Calibri"/>
              </a:rPr>
              <a:t>DVM 612  ·  PRINCIPLES OF SURGERY</a:t>
            </a:r>
          </a:p>
        </p:txBody>
      </p:sp>
      <p:sp>
        <p:nvSpPr>
          <p:cNvPr id="7" name="TextBox 6"/>
          <p:cNvSpPr txBox="1"/>
          <p:nvPr/>
        </p:nvSpPr>
        <p:spPr>
          <a:xfrm>
            <a:off x="685800" y="1783080"/>
            <a:ext cx="10972800" cy="182880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3794760"/>
            <a:ext cx="10972800" cy="457200"/>
          </a:xfrm>
          <a:prstGeom prst="rect">
            <a:avLst/>
          </a:prstGeom>
          <a:noFill/>
        </p:spPr>
        <p:txBody>
          <a:bodyPr wrap="square" anchor="t"/>
          <a:lstStyle/>
          <a:p>
            <a:pPr algn="l"/>
            <a:r>
              <a:rPr sz="2400" b="1">
                <a:solidFill>
                  <a:srgbClr val="C5A35A"/>
                </a:solidFill>
                <a:latin typeface="Calibri"/>
              </a:rPr>
              <a:t>Dr. Yujin Kim, D.V.M., Ph.D., FFCP</a:t>
            </a:r>
          </a:p>
        </p:txBody>
      </p:sp>
      <p:sp>
        <p:nvSpPr>
          <p:cNvPr id="9" name="TextBox 8"/>
          <p:cNvSpPr txBox="1"/>
          <p:nvPr/>
        </p:nvSpPr>
        <p:spPr>
          <a:xfrm>
            <a:off x="685800" y="4297680"/>
            <a:ext cx="10972800" cy="365760"/>
          </a:xfrm>
          <a:prstGeom prst="rect">
            <a:avLst/>
          </a:prstGeom>
          <a:noFill/>
        </p:spPr>
        <p:txBody>
          <a:bodyPr wrap="square" anchor="t"/>
          <a:lstStyle/>
          <a:p>
            <a:pPr algn="l"/>
            <a:r>
              <a:rPr sz="1800" b="0">
                <a:solidFill>
                  <a:srgbClr val="F4EBD3"/>
                </a:solidFill>
                <a:latin typeface="Calibri"/>
              </a:rPr>
              <a:t>Lecture  |  38 slides  |  60 minutes</a:t>
            </a:r>
          </a:p>
        </p:txBody>
      </p:sp>
      <p:sp>
        <p:nvSpPr>
          <p:cNvPr id="10" name="TextBox 9"/>
          <p:cNvSpPr txBox="1"/>
          <p:nvPr/>
        </p:nvSpPr>
        <p:spPr>
          <a:xfrm>
            <a:off x="685800" y="4754880"/>
            <a:ext cx="10972800" cy="822960"/>
          </a:xfrm>
          <a:prstGeom prst="rect">
            <a:avLst/>
          </a:prstGeom>
          <a:noFill/>
        </p:spPr>
        <p:txBody>
          <a:bodyPr wrap="square" anchor="t"/>
          <a:lstStyle/>
          <a:p>
            <a:pPr algn="l"/>
            <a:r>
              <a:rPr sz="2000" b="0">
                <a:solidFill>
                  <a:srgbClr val="FFFFFF"/>
                </a:solidFill>
                <a:latin typeface="Calibri"/>
              </a:rPr>
              <a:t>Exam, labs, then you write the ASA. Then prep. Then 24 hours of monitoring and complication management.</a:t>
            </a:r>
          </a:p>
        </p:txBody>
      </p:sp>
      <p:sp>
        <p:nvSpPr>
          <p:cNvPr id="11" name="TextBox 10"/>
          <p:cNvSpPr txBox="1"/>
          <p:nvPr/>
        </p:nvSpPr>
        <p:spPr>
          <a:xfrm>
            <a:off x="685800" y="5669280"/>
            <a:ext cx="10972800" cy="640080"/>
          </a:xfrm>
          <a:prstGeom prst="rect">
            <a:avLst/>
          </a:prstGeom>
          <a:noFill/>
        </p:spPr>
        <p:txBody>
          <a:bodyPr wrap="square" anchor="t"/>
          <a:lstStyle/>
          <a:p>
            <a:pPr algn="l"/>
            <a:r>
              <a:rPr sz="1600" b="0">
                <a:solidFill>
                  <a:srgbClr val="C5A35A"/>
                </a:solidFill>
                <a:latin typeface="Calibri"/>
              </a:rPr>
              <a:t>Required: Fossum 2018; Hendrickson &amp; Baird 2013.
Also used: ECFVG CPE Manual of Administration 2026, Anesthesia and Surgery.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1  /  38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Learning objectives</a:t>
            </a:r>
          </a:p>
        </p:txBody>
      </p:sp>
      <p:sp>
        <p:nvSpPr>
          <p:cNvPr id="7" name="TextBox 6"/>
          <p:cNvSpPr txBox="1"/>
          <p:nvPr/>
        </p:nvSpPr>
        <p:spPr>
          <a:xfrm>
            <a:off x="502920" y="1097280"/>
            <a:ext cx="11155680" cy="3566160"/>
          </a:xfrm>
          <a:prstGeom prst="rect">
            <a:avLst/>
          </a:prstGeom>
          <a:noFill/>
        </p:spPr>
        <p:txBody>
          <a:bodyPr wrap="square">
            <a:spAutoFit/>
          </a:bodyPr>
          <a:lstStyle/>
          <a:p>
            <a:pPr algn="l">
              <a:spcAft>
                <a:spcPts val="1200"/>
              </a:spcAft>
            </a:pPr>
            <a:r>
              <a:rPr sz="2000" b="0">
                <a:solidFill>
                  <a:srgbClr val="1C1C1C"/>
                </a:solidFill>
                <a:latin typeface="Calibri"/>
              </a:rPr>
              <a:t>▸  Assign ASA after today’s PE and labs. Correct deficits. Write premed, induction, MAC, tube, bag, and fluid rate.</a:t>
            </a:r>
          </a:p>
          <a:p>
            <a:pPr algn="l">
              <a:spcAft>
                <a:spcPts val="1200"/>
              </a:spcAft>
            </a:pPr>
            <a:r>
              <a:rPr sz="2000" b="0">
                <a:solidFill>
                  <a:srgbClr val="1C1C1C"/>
                </a:solidFill>
                <a:latin typeface="Calibri"/>
              </a:rPr>
              <a:t>▸  If albumin is low: find the cause, delay elective if you can, and do not flood with crystalloid.</a:t>
            </a:r>
          </a:p>
          <a:p>
            <a:pPr algn="l">
              <a:spcAft>
                <a:spcPts val="1200"/>
              </a:spcAft>
            </a:pPr>
            <a:r>
              <a:rPr sz="2000" b="0">
                <a:solidFill>
                  <a:srgbClr val="1C1C1C"/>
                </a:solidFill>
                <a:latin typeface="Calibri"/>
              </a:rPr>
              <a:t>▸  Prep for aseptic surgery: clip, dirty scrub, OR attire, full scrub, drape, instrument table, closed glove.</a:t>
            </a:r>
          </a:p>
          <a:p>
            <a:pPr algn="l">
              <a:spcAft>
                <a:spcPts val="1200"/>
              </a:spcAft>
            </a:pPr>
            <a:r>
              <a:rPr sz="2000" b="0">
                <a:solidFill>
                  <a:srgbClr val="1C1C1C"/>
                </a:solidFill>
                <a:latin typeface="Calibri"/>
              </a:rPr>
              <a:t>▸  Name a break in asepsis and correct it, before or after the incision. Classify the wound: clean, clean-contaminated, contaminated, or dirty.</a:t>
            </a:r>
          </a:p>
          <a:p>
            <a:pPr algn="l">
              <a:spcAft>
                <a:spcPts val="1200"/>
              </a:spcAft>
            </a:pPr>
            <a:r>
              <a:rPr sz="2000" b="0">
                <a:solidFill>
                  <a:srgbClr val="1C1C1C"/>
                </a:solidFill>
                <a:latin typeface="Calibri"/>
              </a:rPr>
              <a:t>▸  Write the postop plan, the surgical report, and 24-hour emergency criteria.</a:t>
            </a:r>
          </a:p>
        </p:txBody>
      </p:sp>
      <p:sp>
        <p:nvSpPr>
          <p:cNvPr id="8" name="Rounded Rectangle 7"/>
          <p:cNvSpPr/>
          <p:nvPr/>
        </p:nvSpPr>
        <p:spPr>
          <a:xfrm>
            <a:off x="457200" y="489204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983480"/>
            <a:ext cx="10881360" cy="594360"/>
          </a:xfrm>
          <a:prstGeom prst="rect">
            <a:avLst/>
          </a:prstGeom>
          <a:noFill/>
        </p:spPr>
        <p:txBody>
          <a:bodyPr wrap="square" anchor="ctr"/>
          <a:lstStyle/>
          <a:p>
            <a:pPr algn="l"/>
            <a:r>
              <a:rPr sz="1600" b="0">
                <a:solidFill>
                  <a:srgbClr val="0B2C4A"/>
                </a:solidFill>
                <a:latin typeface="Calibri"/>
              </a:rPr>
              <a:t>Exam → labs → ASA → ready for prep → clip, dirty scrub, OR, full scrub, drape, instruments → first 24 hours.</a:t>
            </a:r>
          </a:p>
        </p:txBody>
      </p:sp>
      <p:sp>
        <p:nvSpPr>
          <p:cNvPr id="10" name="Rectangle 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2" name="TextBox 1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  /  38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Prepare the patient and yourself</a:t>
            </a:r>
          </a:p>
        </p:txBody>
      </p:sp>
      <p:sp>
        <p:nvSpPr>
          <p:cNvPr id="7" name="Rounded Rectangle 6"/>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207008"/>
            <a:ext cx="3291840" cy="329184"/>
          </a:xfrm>
          <a:prstGeom prst="rect">
            <a:avLst/>
          </a:prstGeom>
          <a:noFill/>
        </p:spPr>
        <p:txBody>
          <a:bodyPr wrap="square" anchor="t"/>
          <a:lstStyle/>
          <a:p>
            <a:pPr algn="l"/>
            <a:r>
              <a:rPr sz="1800" b="1">
                <a:solidFill>
                  <a:srgbClr val="0B2C4A"/>
                </a:solidFill>
                <a:latin typeface="Calibri"/>
              </a:rPr>
              <a:t>Causes of SSI</a:t>
            </a:r>
          </a:p>
        </p:txBody>
      </p:sp>
      <p:sp>
        <p:nvSpPr>
          <p:cNvPr id="10" name="TextBox 9"/>
          <p:cNvSpPr txBox="1"/>
          <p:nvPr/>
        </p:nvSpPr>
        <p:spPr>
          <a:xfrm>
            <a:off x="713232" y="1554480"/>
            <a:ext cx="3291840" cy="1581912"/>
          </a:xfrm>
          <a:prstGeom prst="rect">
            <a:avLst/>
          </a:prstGeom>
          <a:noFill/>
        </p:spPr>
        <p:txBody>
          <a:bodyPr wrap="square" anchor="t"/>
          <a:lstStyle/>
          <a:p>
            <a:pPr algn="l"/>
            <a:r>
              <a:rPr sz="1600" b="0">
                <a:solidFill>
                  <a:srgbClr val="3D4A57"/>
                </a:solidFill>
                <a:latin typeface="Calibri"/>
              </a:rPr>
              <a:t>Hair, skin flora, hypothermia, poor hemostasis, dead space, and breaks in asepsis.</a:t>
            </a:r>
          </a:p>
        </p:txBody>
      </p:sp>
      <p:sp>
        <p:nvSpPr>
          <p:cNvPr id="11" name="Rounded Rectangle 10"/>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1207008"/>
            <a:ext cx="3291840" cy="329184"/>
          </a:xfrm>
          <a:prstGeom prst="rect">
            <a:avLst/>
          </a:prstGeom>
          <a:noFill/>
        </p:spPr>
        <p:txBody>
          <a:bodyPr wrap="square" anchor="t"/>
          <a:lstStyle/>
          <a:p>
            <a:pPr algn="l"/>
            <a:r>
              <a:rPr sz="1800" b="1">
                <a:solidFill>
                  <a:srgbClr val="0B2C4A"/>
                </a:solidFill>
                <a:latin typeface="Calibri"/>
              </a:rPr>
              <a:t>Client-owned patients</a:t>
            </a:r>
          </a:p>
        </p:txBody>
      </p:sp>
      <p:sp>
        <p:nvSpPr>
          <p:cNvPr id="14" name="TextBox 13"/>
          <p:cNvSpPr txBox="1"/>
          <p:nvPr/>
        </p:nvSpPr>
        <p:spPr>
          <a:xfrm>
            <a:off x="4553712" y="1554480"/>
            <a:ext cx="3291840" cy="1581912"/>
          </a:xfrm>
          <a:prstGeom prst="rect">
            <a:avLst/>
          </a:prstGeom>
          <a:noFill/>
        </p:spPr>
        <p:txBody>
          <a:bodyPr wrap="square" anchor="t"/>
          <a:lstStyle/>
          <a:p>
            <a:pPr algn="l"/>
            <a:r>
              <a:rPr sz="1600" b="0">
                <a:solidFill>
                  <a:srgbClr val="3D4A57"/>
                </a:solidFill>
                <a:latin typeface="Calibri"/>
              </a:rPr>
              <a:t>Elective OHE patients go home to the owner after recovery. Documentation and the discharge conversation are part of surgical care.</a:t>
            </a:r>
          </a:p>
        </p:txBody>
      </p:sp>
      <p:sp>
        <p:nvSpPr>
          <p:cNvPr id="15" name="Rounded Rectangle 14"/>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94192" y="1207008"/>
            <a:ext cx="3200400" cy="329184"/>
          </a:xfrm>
          <a:prstGeom prst="rect">
            <a:avLst/>
          </a:prstGeom>
          <a:noFill/>
        </p:spPr>
        <p:txBody>
          <a:bodyPr wrap="square" anchor="t"/>
          <a:lstStyle/>
          <a:p>
            <a:pPr algn="l"/>
            <a:r>
              <a:rPr sz="1800" b="1">
                <a:solidFill>
                  <a:srgbClr val="0B2C4A"/>
                </a:solidFill>
                <a:latin typeface="Calibri"/>
              </a:rPr>
              <a:t>Set before you cut</a:t>
            </a:r>
          </a:p>
        </p:txBody>
      </p:sp>
      <p:sp>
        <p:nvSpPr>
          <p:cNvPr id="18" name="TextBox 17"/>
          <p:cNvSpPr txBox="1"/>
          <p:nvPr/>
        </p:nvSpPr>
        <p:spPr>
          <a:xfrm>
            <a:off x="8394192" y="1554480"/>
            <a:ext cx="3200400" cy="1581912"/>
          </a:xfrm>
          <a:prstGeom prst="rect">
            <a:avLst/>
          </a:prstGeom>
          <a:noFill/>
        </p:spPr>
        <p:txBody>
          <a:bodyPr wrap="square" anchor="t"/>
          <a:lstStyle/>
          <a:p>
            <a:pPr algn="l"/>
            <a:r>
              <a:rPr sz="1600" b="0">
                <a:solidFill>
                  <a:srgbClr val="3D4A57"/>
                </a:solidFill>
                <a:latin typeface="Calibri"/>
              </a:rPr>
              <a:t>Analgesia, antibiotics, temperature management, and client expectations are set in the preoperative period.</a:t>
            </a:r>
          </a:p>
        </p:txBody>
      </p:sp>
      <p:sp>
        <p:nvSpPr>
          <p:cNvPr id="19" name="Rounded Rectangle 18"/>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566160"/>
            <a:ext cx="10789920" cy="365760"/>
          </a:xfrm>
          <a:prstGeom prst="rect">
            <a:avLst/>
          </a:prstGeom>
          <a:noFill/>
        </p:spPr>
        <p:txBody>
          <a:bodyPr wrap="square" anchor="t"/>
          <a:lstStyle/>
          <a:p>
            <a:pPr algn="l"/>
            <a:r>
              <a:rPr sz="1800" b="1">
                <a:solidFill>
                  <a:srgbClr val="0B2C4A"/>
                </a:solidFill>
                <a:latin typeface="Calibri"/>
              </a:rPr>
              <a:t>Surgeon responsibilities</a:t>
            </a:r>
          </a:p>
        </p:txBody>
      </p:sp>
      <p:sp>
        <p:nvSpPr>
          <p:cNvPr id="21" name="TextBox 20"/>
          <p:cNvSpPr txBox="1"/>
          <p:nvPr/>
        </p:nvSpPr>
        <p:spPr>
          <a:xfrm>
            <a:off x="685800" y="4023360"/>
            <a:ext cx="10789920" cy="2103120"/>
          </a:xfrm>
          <a:prstGeom prst="rect">
            <a:avLst/>
          </a:prstGeom>
          <a:noFill/>
        </p:spPr>
        <p:txBody>
          <a:bodyPr wrap="square">
            <a:spAutoFit/>
          </a:bodyPr>
          <a:lstStyle/>
          <a:p>
            <a:pPr algn="l">
              <a:spcAft>
                <a:spcPts val="800"/>
              </a:spcAft>
            </a:pPr>
            <a:r>
              <a:rPr sz="1800" b="0">
                <a:solidFill>
                  <a:srgbClr val="1C1C1C"/>
                </a:solidFill>
                <a:latin typeface="Calibri"/>
              </a:rPr>
              <a:t>▸  Prepare the patient for a surgical procedure.</a:t>
            </a:r>
          </a:p>
          <a:p>
            <a:pPr algn="l">
              <a:spcAft>
                <a:spcPts val="800"/>
              </a:spcAft>
            </a:pPr>
            <a:r>
              <a:rPr sz="1800" b="0">
                <a:solidFill>
                  <a:srgbClr val="1C1C1C"/>
                </a:solidFill>
                <a:latin typeface="Calibri"/>
              </a:rPr>
              <a:t>▸  Prepare yourself for a surgical procedure.</a:t>
            </a:r>
          </a:p>
          <a:p>
            <a:pPr algn="l">
              <a:spcAft>
                <a:spcPts val="800"/>
              </a:spcAft>
            </a:pPr>
            <a:r>
              <a:rPr sz="1800" b="0">
                <a:solidFill>
                  <a:srgbClr val="1C1C1C"/>
                </a:solidFill>
                <a:latin typeface="Calibri"/>
              </a:rPr>
              <a:t>▸  Perform the procedure. Then monitor the first 24 hours: a weak ligature or a weak linea is a technical failure you must recognize (CPE MOA 2026 Surgery).</a:t>
            </a:r>
          </a:p>
        </p:txBody>
      </p:sp>
      <p:sp>
        <p:nvSpPr>
          <p:cNvPr id="22" name="Rectangle 2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4" name="TextBox 2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  /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Halsted’s principles</a:t>
            </a:r>
          </a:p>
        </p:txBody>
      </p:sp>
      <p:sp>
        <p:nvSpPr>
          <p:cNvPr id="7" name="Rounded Rectangle 6"/>
          <p:cNvSpPr/>
          <p:nvPr/>
        </p:nvSpPr>
        <p:spPr>
          <a:xfrm>
            <a:off x="45720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170432"/>
            <a:ext cx="5303520" cy="384048"/>
          </a:xfrm>
          <a:prstGeom prst="rect">
            <a:avLst/>
          </a:prstGeom>
          <a:noFill/>
        </p:spPr>
        <p:txBody>
          <a:bodyPr wrap="square" anchor="t"/>
          <a:lstStyle/>
          <a:p>
            <a:pPr algn="l"/>
            <a:r>
              <a:rPr sz="1800" b="1">
                <a:solidFill>
                  <a:srgbClr val="0B2C4A"/>
                </a:solidFill>
                <a:latin typeface="Calibri"/>
              </a:rPr>
              <a:t>1.  Gentle tissue handling</a:t>
            </a:r>
          </a:p>
        </p:txBody>
      </p:sp>
      <p:sp>
        <p:nvSpPr>
          <p:cNvPr id="10" name="TextBox 9"/>
          <p:cNvSpPr txBox="1"/>
          <p:nvPr/>
        </p:nvSpPr>
        <p:spPr>
          <a:xfrm>
            <a:off x="713232" y="1572768"/>
            <a:ext cx="5303520" cy="621792"/>
          </a:xfrm>
          <a:prstGeom prst="rect">
            <a:avLst/>
          </a:prstGeom>
          <a:noFill/>
        </p:spPr>
        <p:txBody>
          <a:bodyPr wrap="square" anchor="t"/>
          <a:lstStyle/>
          <a:p>
            <a:pPr algn="l"/>
            <a:r>
              <a:rPr sz="1600" b="0">
                <a:solidFill>
                  <a:srgbClr val="3D4A57"/>
                </a:solidFill>
                <a:latin typeface="Calibri"/>
              </a:rPr>
              <a:t>Prep trauma, clipper burn, and crushing towel clamps are tissue handling.</a:t>
            </a:r>
          </a:p>
        </p:txBody>
      </p:sp>
      <p:sp>
        <p:nvSpPr>
          <p:cNvPr id="11" name="Rounded Rectangle 10"/>
          <p:cNvSpPr/>
          <p:nvPr/>
        </p:nvSpPr>
        <p:spPr>
          <a:xfrm>
            <a:off x="630936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1170432"/>
            <a:ext cx="5303520" cy="384048"/>
          </a:xfrm>
          <a:prstGeom prst="rect">
            <a:avLst/>
          </a:prstGeom>
          <a:noFill/>
        </p:spPr>
        <p:txBody>
          <a:bodyPr wrap="square" anchor="t"/>
          <a:lstStyle/>
          <a:p>
            <a:pPr algn="l"/>
            <a:r>
              <a:rPr sz="1800" b="1">
                <a:solidFill>
                  <a:srgbClr val="0B2C4A"/>
                </a:solidFill>
                <a:latin typeface="Calibri"/>
              </a:rPr>
              <a:t>2.  Meticulous hemostasis</a:t>
            </a:r>
          </a:p>
        </p:txBody>
      </p:sp>
      <p:sp>
        <p:nvSpPr>
          <p:cNvPr id="14" name="TextBox 13"/>
          <p:cNvSpPr txBox="1"/>
          <p:nvPr/>
        </p:nvSpPr>
        <p:spPr>
          <a:xfrm>
            <a:off x="6565392" y="1572768"/>
            <a:ext cx="5303520" cy="621792"/>
          </a:xfrm>
          <a:prstGeom prst="rect">
            <a:avLst/>
          </a:prstGeom>
          <a:noFill/>
        </p:spPr>
        <p:txBody>
          <a:bodyPr wrap="square" anchor="t"/>
          <a:lstStyle/>
          <a:p>
            <a:pPr algn="l"/>
            <a:r>
              <a:rPr sz="1600" b="0">
                <a:solidFill>
                  <a:srgbClr val="3D4A57"/>
                </a:solidFill>
                <a:latin typeface="Calibri"/>
              </a:rPr>
              <a:t>Preop coagulopathy; postop hemorrhage is a 24-hour emergency.</a:t>
            </a:r>
          </a:p>
        </p:txBody>
      </p:sp>
      <p:sp>
        <p:nvSpPr>
          <p:cNvPr id="15" name="Rounded Rectangle 14"/>
          <p:cNvSpPr/>
          <p:nvPr/>
        </p:nvSpPr>
        <p:spPr>
          <a:xfrm>
            <a:off x="45720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 y="2468880"/>
            <a:ext cx="5303520" cy="384048"/>
          </a:xfrm>
          <a:prstGeom prst="rect">
            <a:avLst/>
          </a:prstGeom>
          <a:noFill/>
        </p:spPr>
        <p:txBody>
          <a:bodyPr wrap="square" anchor="t"/>
          <a:lstStyle/>
          <a:p>
            <a:pPr algn="l"/>
            <a:r>
              <a:rPr sz="1800" b="1">
                <a:solidFill>
                  <a:srgbClr val="0B2C4A"/>
                </a:solidFill>
                <a:latin typeface="Calibri"/>
              </a:rPr>
              <a:t>3.  Preserve blood supply</a:t>
            </a:r>
          </a:p>
        </p:txBody>
      </p:sp>
      <p:sp>
        <p:nvSpPr>
          <p:cNvPr id="18" name="TextBox 17"/>
          <p:cNvSpPr txBox="1"/>
          <p:nvPr/>
        </p:nvSpPr>
        <p:spPr>
          <a:xfrm>
            <a:off x="713232" y="2871216"/>
            <a:ext cx="5303520" cy="621792"/>
          </a:xfrm>
          <a:prstGeom prst="rect">
            <a:avLst/>
          </a:prstGeom>
          <a:noFill/>
        </p:spPr>
        <p:txBody>
          <a:bodyPr wrap="square" anchor="t"/>
          <a:lstStyle/>
          <a:p>
            <a:pPr algn="l"/>
            <a:r>
              <a:rPr sz="1600" b="0">
                <a:solidFill>
                  <a:srgbClr val="3D4A57"/>
                </a:solidFill>
                <a:latin typeface="Calibri"/>
              </a:rPr>
              <a:t>Place clamps and bandages so skin perfusion is preserved.</a:t>
            </a:r>
          </a:p>
        </p:txBody>
      </p:sp>
      <p:sp>
        <p:nvSpPr>
          <p:cNvPr id="19" name="Rounded Rectangle 18"/>
          <p:cNvSpPr/>
          <p:nvPr/>
        </p:nvSpPr>
        <p:spPr>
          <a:xfrm>
            <a:off x="630936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468880"/>
            <a:ext cx="5303520" cy="384048"/>
          </a:xfrm>
          <a:prstGeom prst="rect">
            <a:avLst/>
          </a:prstGeom>
          <a:noFill/>
        </p:spPr>
        <p:txBody>
          <a:bodyPr wrap="square" anchor="t"/>
          <a:lstStyle/>
          <a:p>
            <a:pPr algn="l"/>
            <a:r>
              <a:rPr sz="1800" b="1">
                <a:solidFill>
                  <a:srgbClr val="0B2C4A"/>
                </a:solidFill>
                <a:latin typeface="Calibri"/>
              </a:rPr>
              <a:t>4.  Strict asepsis</a:t>
            </a:r>
          </a:p>
        </p:txBody>
      </p:sp>
      <p:sp>
        <p:nvSpPr>
          <p:cNvPr id="22" name="TextBox 21"/>
          <p:cNvSpPr txBox="1"/>
          <p:nvPr/>
        </p:nvSpPr>
        <p:spPr>
          <a:xfrm>
            <a:off x="6565392" y="2871216"/>
            <a:ext cx="5303520" cy="621792"/>
          </a:xfrm>
          <a:prstGeom prst="rect">
            <a:avLst/>
          </a:prstGeom>
          <a:noFill/>
        </p:spPr>
        <p:txBody>
          <a:bodyPr wrap="square" anchor="t"/>
          <a:lstStyle/>
          <a:p>
            <a:pPr algn="l"/>
            <a:r>
              <a:rPr sz="1600" b="0">
                <a:solidFill>
                  <a:srgbClr val="3D4A57"/>
                </a:solidFill>
                <a:latin typeface="Calibri"/>
              </a:rPr>
              <a:t>Patient preparation, surgeon preparation, and draping.</a:t>
            </a:r>
          </a:p>
        </p:txBody>
      </p:sp>
      <p:sp>
        <p:nvSpPr>
          <p:cNvPr id="23" name="Rounded Rectangle 22"/>
          <p:cNvSpPr/>
          <p:nvPr/>
        </p:nvSpPr>
        <p:spPr>
          <a:xfrm>
            <a:off x="45720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3232" y="3767328"/>
            <a:ext cx="5303520" cy="384048"/>
          </a:xfrm>
          <a:prstGeom prst="rect">
            <a:avLst/>
          </a:prstGeom>
          <a:noFill/>
        </p:spPr>
        <p:txBody>
          <a:bodyPr wrap="square" anchor="t"/>
          <a:lstStyle/>
          <a:p>
            <a:pPr algn="l"/>
            <a:r>
              <a:rPr sz="1800" b="1">
                <a:solidFill>
                  <a:srgbClr val="0B2C4A"/>
                </a:solidFill>
                <a:latin typeface="Calibri"/>
              </a:rPr>
              <a:t>5.  No tension</a:t>
            </a:r>
          </a:p>
        </p:txBody>
      </p:sp>
      <p:sp>
        <p:nvSpPr>
          <p:cNvPr id="26" name="TextBox 25"/>
          <p:cNvSpPr txBox="1"/>
          <p:nvPr/>
        </p:nvSpPr>
        <p:spPr>
          <a:xfrm>
            <a:off x="713232" y="4169664"/>
            <a:ext cx="5303520" cy="621792"/>
          </a:xfrm>
          <a:prstGeom prst="rect">
            <a:avLst/>
          </a:prstGeom>
          <a:noFill/>
        </p:spPr>
        <p:txBody>
          <a:bodyPr wrap="square" anchor="t"/>
          <a:lstStyle/>
          <a:p>
            <a:pPr algn="l"/>
            <a:r>
              <a:rPr sz="1600" b="0">
                <a:solidFill>
                  <a:srgbClr val="3D4A57"/>
                </a:solidFill>
                <a:latin typeface="Calibri"/>
              </a:rPr>
              <a:t>Plan incision location and closure now, not after the fascia splits.</a:t>
            </a:r>
          </a:p>
        </p:txBody>
      </p:sp>
      <p:sp>
        <p:nvSpPr>
          <p:cNvPr id="27" name="Rounded Rectangle 26"/>
          <p:cNvSpPr/>
          <p:nvPr/>
        </p:nvSpPr>
        <p:spPr>
          <a:xfrm>
            <a:off x="630936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0936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65392" y="3767328"/>
            <a:ext cx="5303520" cy="384048"/>
          </a:xfrm>
          <a:prstGeom prst="rect">
            <a:avLst/>
          </a:prstGeom>
          <a:noFill/>
        </p:spPr>
        <p:txBody>
          <a:bodyPr wrap="square" anchor="t"/>
          <a:lstStyle/>
          <a:p>
            <a:pPr algn="l"/>
            <a:r>
              <a:rPr sz="1800" b="1">
                <a:solidFill>
                  <a:srgbClr val="0B2C4A"/>
                </a:solidFill>
                <a:latin typeface="Calibri"/>
              </a:rPr>
              <a:t>6.  Accurate apposition</a:t>
            </a:r>
          </a:p>
        </p:txBody>
      </p:sp>
      <p:sp>
        <p:nvSpPr>
          <p:cNvPr id="30" name="TextBox 29"/>
          <p:cNvSpPr txBox="1"/>
          <p:nvPr/>
        </p:nvSpPr>
        <p:spPr>
          <a:xfrm>
            <a:off x="6565392" y="4169664"/>
            <a:ext cx="5303520" cy="621792"/>
          </a:xfrm>
          <a:prstGeom prst="rect">
            <a:avLst/>
          </a:prstGeom>
          <a:noFill/>
        </p:spPr>
        <p:txBody>
          <a:bodyPr wrap="square" anchor="t"/>
          <a:lstStyle/>
          <a:p>
            <a:pPr algn="l"/>
            <a:r>
              <a:rPr sz="1600" b="0">
                <a:solidFill>
                  <a:srgbClr val="3D4A57"/>
                </a:solidFill>
                <a:latin typeface="Calibri"/>
              </a:rPr>
              <a:t>Postop incision care protects the apposition you create.</a:t>
            </a:r>
          </a:p>
        </p:txBody>
      </p:sp>
      <p:sp>
        <p:nvSpPr>
          <p:cNvPr id="31" name="Rounded Rectangle 30"/>
          <p:cNvSpPr/>
          <p:nvPr/>
        </p:nvSpPr>
        <p:spPr>
          <a:xfrm>
            <a:off x="457200" y="4974336"/>
            <a:ext cx="1124712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57200" y="4974336"/>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13232" y="5065776"/>
            <a:ext cx="10881360" cy="384048"/>
          </a:xfrm>
          <a:prstGeom prst="rect">
            <a:avLst/>
          </a:prstGeom>
          <a:noFill/>
        </p:spPr>
        <p:txBody>
          <a:bodyPr wrap="square" anchor="t"/>
          <a:lstStyle/>
          <a:p>
            <a:pPr algn="l"/>
            <a:r>
              <a:rPr sz="1800" b="1">
                <a:solidFill>
                  <a:srgbClr val="0B2C4A"/>
                </a:solidFill>
                <a:latin typeface="Calibri"/>
              </a:rPr>
              <a:t>7.  Obliterate dead space</a:t>
            </a:r>
          </a:p>
        </p:txBody>
      </p:sp>
      <p:sp>
        <p:nvSpPr>
          <p:cNvPr id="34" name="TextBox 33"/>
          <p:cNvSpPr txBox="1"/>
          <p:nvPr/>
        </p:nvSpPr>
        <p:spPr>
          <a:xfrm>
            <a:off x="713232" y="5468112"/>
            <a:ext cx="10881360" cy="621792"/>
          </a:xfrm>
          <a:prstGeom prst="rect">
            <a:avLst/>
          </a:prstGeom>
          <a:noFill/>
        </p:spPr>
        <p:txBody>
          <a:bodyPr wrap="square" anchor="t"/>
          <a:lstStyle/>
          <a:p>
            <a:pPr algn="l"/>
            <a:r>
              <a:rPr sz="1600" b="0">
                <a:solidFill>
                  <a:srgbClr val="3D4A57"/>
                </a:solidFill>
                <a:latin typeface="Calibri"/>
              </a:rPr>
              <a:t>Plan dead space now: sutures, bandage, or a drain with a written pull plan.</a:t>
            </a:r>
          </a:p>
        </p:txBody>
      </p:sp>
      <p:sp>
        <p:nvSpPr>
          <p:cNvPr id="35" name="Rectangle 3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7" name="TextBox 3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4  /  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The perioperative continuum</a:t>
            </a:r>
          </a:p>
        </p:txBody>
      </p:sp>
      <p:sp>
        <p:nvSpPr>
          <p:cNvPr id="7" name="Rounded Rectangle 6"/>
          <p:cNvSpPr/>
          <p:nvPr/>
        </p:nvSpPr>
        <p:spPr>
          <a:xfrm>
            <a:off x="41148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78992"/>
            <a:ext cx="2743200" cy="56692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78992"/>
            <a:ext cx="2743200" cy="566928"/>
          </a:xfrm>
          <a:prstGeom prst="rect">
            <a:avLst/>
          </a:prstGeom>
          <a:noFill/>
        </p:spPr>
        <p:txBody>
          <a:bodyPr wrap="square" anchor="ctr"/>
          <a:lstStyle/>
          <a:p>
            <a:pPr algn="ctr"/>
            <a:r>
              <a:rPr sz="1800" b="1">
                <a:solidFill>
                  <a:srgbClr val="FFFFFF"/>
                </a:solidFill>
                <a:latin typeface="Calibri"/>
              </a:rPr>
              <a:t>PRE-OP</a:t>
            </a:r>
          </a:p>
        </p:txBody>
      </p:sp>
      <p:sp>
        <p:nvSpPr>
          <p:cNvPr id="10" name="TextBox 9"/>
          <p:cNvSpPr txBox="1"/>
          <p:nvPr/>
        </p:nvSpPr>
        <p:spPr>
          <a:xfrm>
            <a:off x="557784" y="1755648"/>
            <a:ext cx="2450592" cy="2788920"/>
          </a:xfrm>
          <a:prstGeom prst="rect">
            <a:avLst/>
          </a:prstGeom>
          <a:noFill/>
        </p:spPr>
        <p:txBody>
          <a:bodyPr wrap="square" anchor="t"/>
          <a:lstStyle/>
          <a:p>
            <a:pPr algn="ctr"/>
            <a:r>
              <a:rPr sz="1600" b="0">
                <a:solidFill>
                  <a:srgbClr val="1C1C1C"/>
                </a:solidFill>
                <a:latin typeface="Calibri"/>
              </a:rPr>
              <a:t>PE, labs, ASA
Correct deficits
Premed, induce, MAC
ETT, bag, fluids</a:t>
            </a:r>
          </a:p>
        </p:txBody>
      </p:sp>
      <p:sp>
        <p:nvSpPr>
          <p:cNvPr id="11" name="TextBox 10"/>
          <p:cNvSpPr txBox="1"/>
          <p:nvPr/>
        </p:nvSpPr>
        <p:spPr>
          <a:xfrm>
            <a:off x="288036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2" name="Rounded Rectangle 11"/>
          <p:cNvSpPr/>
          <p:nvPr/>
        </p:nvSpPr>
        <p:spPr>
          <a:xfrm>
            <a:off x="333756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078992"/>
            <a:ext cx="2743200" cy="5669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078992"/>
            <a:ext cx="2743200" cy="566928"/>
          </a:xfrm>
          <a:prstGeom prst="rect">
            <a:avLst/>
          </a:prstGeom>
          <a:noFill/>
        </p:spPr>
        <p:txBody>
          <a:bodyPr wrap="square" anchor="ctr"/>
          <a:lstStyle/>
          <a:p>
            <a:pPr algn="ctr"/>
            <a:r>
              <a:rPr sz="1800" b="1">
                <a:solidFill>
                  <a:srgbClr val="FFFFFF"/>
                </a:solidFill>
                <a:latin typeface="Calibri"/>
              </a:rPr>
              <a:t>PREP</a:t>
            </a:r>
          </a:p>
        </p:txBody>
      </p:sp>
      <p:sp>
        <p:nvSpPr>
          <p:cNvPr id="15" name="TextBox 14"/>
          <p:cNvSpPr txBox="1"/>
          <p:nvPr/>
        </p:nvSpPr>
        <p:spPr>
          <a:xfrm>
            <a:off x="3483864" y="1755648"/>
            <a:ext cx="2450592" cy="2788920"/>
          </a:xfrm>
          <a:prstGeom prst="rect">
            <a:avLst/>
          </a:prstGeom>
          <a:noFill/>
        </p:spPr>
        <p:txBody>
          <a:bodyPr wrap="square" anchor="t"/>
          <a:lstStyle/>
          <a:p>
            <a:pPr algn="ctr"/>
            <a:r>
              <a:rPr sz="1600" b="0">
                <a:solidFill>
                  <a:srgbClr val="1C1C1C"/>
                </a:solidFill>
                <a:latin typeface="Calibri"/>
              </a:rPr>
              <a:t>Clip, dirty scrub
Shoe covers, cap, mask
OR: full scrub, gown
Drape, instruments</a:t>
            </a:r>
          </a:p>
        </p:txBody>
      </p:sp>
      <p:sp>
        <p:nvSpPr>
          <p:cNvPr id="16" name="TextBox 15"/>
          <p:cNvSpPr txBox="1"/>
          <p:nvPr/>
        </p:nvSpPr>
        <p:spPr>
          <a:xfrm>
            <a:off x="580644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7" name="Rounded Rectangle 16"/>
          <p:cNvSpPr/>
          <p:nvPr/>
        </p:nvSpPr>
        <p:spPr>
          <a:xfrm>
            <a:off x="626364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078992"/>
            <a:ext cx="2743200" cy="56692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078992"/>
            <a:ext cx="2743200" cy="566928"/>
          </a:xfrm>
          <a:prstGeom prst="rect">
            <a:avLst/>
          </a:prstGeom>
          <a:noFill/>
        </p:spPr>
        <p:txBody>
          <a:bodyPr wrap="square" anchor="ctr"/>
          <a:lstStyle/>
          <a:p>
            <a:pPr algn="ctr"/>
            <a:r>
              <a:rPr sz="1800" b="1">
                <a:solidFill>
                  <a:srgbClr val="FFFFFF"/>
                </a:solidFill>
                <a:latin typeface="Calibri"/>
              </a:rPr>
              <a:t>INTRA-OP</a:t>
            </a:r>
          </a:p>
        </p:txBody>
      </p:sp>
      <p:sp>
        <p:nvSpPr>
          <p:cNvPr id="20" name="TextBox 19"/>
          <p:cNvSpPr txBox="1"/>
          <p:nvPr/>
        </p:nvSpPr>
        <p:spPr>
          <a:xfrm>
            <a:off x="6409944" y="1755648"/>
            <a:ext cx="2450592" cy="2788920"/>
          </a:xfrm>
          <a:prstGeom prst="rect">
            <a:avLst/>
          </a:prstGeom>
          <a:noFill/>
        </p:spPr>
        <p:txBody>
          <a:bodyPr wrap="square" anchor="t"/>
          <a:lstStyle/>
          <a:p>
            <a:pPr algn="ctr"/>
            <a:r>
              <a:rPr sz="1600" b="0">
                <a:solidFill>
                  <a:srgbClr val="1C1C1C"/>
                </a:solidFill>
                <a:latin typeface="Calibri"/>
              </a:rPr>
              <a:t>Mark incision
Hold asepsis
Halsted, temp, pain
Chart every 5–10 min</a:t>
            </a:r>
          </a:p>
        </p:txBody>
      </p:sp>
      <p:sp>
        <p:nvSpPr>
          <p:cNvPr id="21" name="TextBox 20"/>
          <p:cNvSpPr txBox="1"/>
          <p:nvPr/>
        </p:nvSpPr>
        <p:spPr>
          <a:xfrm>
            <a:off x="873252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22" name="Rounded Rectangle 21"/>
          <p:cNvSpPr/>
          <p:nvPr/>
        </p:nvSpPr>
        <p:spPr>
          <a:xfrm>
            <a:off x="918972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1078992"/>
            <a:ext cx="2743200" cy="56692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1078992"/>
            <a:ext cx="2743200" cy="566928"/>
          </a:xfrm>
          <a:prstGeom prst="rect">
            <a:avLst/>
          </a:prstGeom>
          <a:noFill/>
        </p:spPr>
        <p:txBody>
          <a:bodyPr wrap="square" anchor="ctr"/>
          <a:lstStyle/>
          <a:p>
            <a:pPr algn="ctr"/>
            <a:r>
              <a:rPr sz="1800" b="1">
                <a:solidFill>
                  <a:srgbClr val="FFFFFF"/>
                </a:solidFill>
                <a:latin typeface="Calibri"/>
              </a:rPr>
              <a:t>POST-OP</a:t>
            </a:r>
          </a:p>
        </p:txBody>
      </p:sp>
      <p:sp>
        <p:nvSpPr>
          <p:cNvPr id="25" name="TextBox 24"/>
          <p:cNvSpPr txBox="1"/>
          <p:nvPr/>
        </p:nvSpPr>
        <p:spPr>
          <a:xfrm>
            <a:off x="9336024" y="1755648"/>
            <a:ext cx="2450592" cy="2788920"/>
          </a:xfrm>
          <a:prstGeom prst="rect">
            <a:avLst/>
          </a:prstGeom>
          <a:noFill/>
        </p:spPr>
        <p:txBody>
          <a:bodyPr wrap="square" anchor="t"/>
          <a:lstStyle/>
          <a:p>
            <a:pPr algn="ctr"/>
            <a:r>
              <a:rPr sz="1600" b="0">
                <a:solidFill>
                  <a:srgbClr val="1C1C1C"/>
                </a:solidFill>
                <a:latin typeface="Calibri"/>
              </a:rPr>
              <a:t>Airway, pain, heat
Watch 24 hours
Report + discharge
Recheck plan</a:t>
            </a:r>
          </a:p>
        </p:txBody>
      </p:sp>
      <p:sp>
        <p:nvSpPr>
          <p:cNvPr id="26" name="Rounded Rectangle 25"/>
          <p:cNvSpPr/>
          <p:nvPr/>
        </p:nvSpPr>
        <p:spPr>
          <a:xfrm>
            <a:off x="411480" y="4828032"/>
            <a:ext cx="5623560" cy="1554480"/>
          </a:xfrm>
          <a:prstGeom prst="roundRect">
            <a:avLst>
              <a:gd name="adj" fmla="val 8000"/>
            </a:avLst>
          </a:prstGeom>
          <a:solidFill>
            <a:srgbClr val="E4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4360" y="4937760"/>
            <a:ext cx="5303520" cy="365760"/>
          </a:xfrm>
          <a:prstGeom prst="rect">
            <a:avLst/>
          </a:prstGeom>
          <a:noFill/>
        </p:spPr>
        <p:txBody>
          <a:bodyPr wrap="square" anchor="t"/>
          <a:lstStyle/>
          <a:p>
            <a:pPr algn="l"/>
            <a:r>
              <a:rPr sz="1600" b="1">
                <a:solidFill>
                  <a:srgbClr val="1B6B7A"/>
                </a:solidFill>
                <a:latin typeface="Calibri"/>
              </a:rPr>
              <a:t>Anesthesia clock  ·  ready for surgical prep</a:t>
            </a:r>
          </a:p>
        </p:txBody>
      </p:sp>
      <p:sp>
        <p:nvSpPr>
          <p:cNvPr id="28" name="TextBox 27"/>
          <p:cNvSpPr txBox="1"/>
          <p:nvPr/>
        </p:nvSpPr>
        <p:spPr>
          <a:xfrm>
            <a:off x="594360" y="5321808"/>
            <a:ext cx="5303520" cy="914400"/>
          </a:xfrm>
          <a:prstGeom prst="rect">
            <a:avLst/>
          </a:prstGeom>
          <a:noFill/>
        </p:spPr>
        <p:txBody>
          <a:bodyPr wrap="square" anchor="t"/>
          <a:lstStyle/>
          <a:p>
            <a:pPr algn="l"/>
            <a:r>
              <a:rPr sz="1500" b="0">
                <a:solidFill>
                  <a:srgbClr val="1C1C1C"/>
                </a:solidFill>
                <a:latin typeface="Calibri"/>
              </a:rPr>
              <a:t>From the preoperative exam: airway in and secured, machine on, patent IV running, surgical plane, monitoring started. Then call for prep (CPE MOA 2026 Anesthesia).</a:t>
            </a:r>
          </a:p>
        </p:txBody>
      </p:sp>
      <p:sp>
        <p:nvSpPr>
          <p:cNvPr id="29" name="Rounded Rectangle 28"/>
          <p:cNvSpPr/>
          <p:nvPr/>
        </p:nvSpPr>
        <p:spPr>
          <a:xfrm>
            <a:off x="6217920" y="4828032"/>
            <a:ext cx="5532120" cy="15544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0" y="4937760"/>
            <a:ext cx="5212080" cy="365760"/>
          </a:xfrm>
          <a:prstGeom prst="rect">
            <a:avLst/>
          </a:prstGeom>
          <a:noFill/>
        </p:spPr>
        <p:txBody>
          <a:bodyPr wrap="square" anchor="t"/>
          <a:lstStyle/>
          <a:p>
            <a:pPr algn="l"/>
            <a:r>
              <a:rPr sz="1600" b="1">
                <a:solidFill>
                  <a:srgbClr val="0B2C4A"/>
                </a:solidFill>
                <a:latin typeface="Calibri"/>
              </a:rPr>
              <a:t>Surgery clock  ·  last skin suture</a:t>
            </a:r>
          </a:p>
        </p:txBody>
      </p:sp>
      <p:sp>
        <p:nvSpPr>
          <p:cNvPr id="31" name="TextBox 30"/>
          <p:cNvSpPr txBox="1"/>
          <p:nvPr/>
        </p:nvSpPr>
        <p:spPr>
          <a:xfrm>
            <a:off x="6400800" y="5321808"/>
            <a:ext cx="5212080" cy="914400"/>
          </a:xfrm>
          <a:prstGeom prst="rect">
            <a:avLst/>
          </a:prstGeom>
          <a:noFill/>
        </p:spPr>
        <p:txBody>
          <a:bodyPr wrap="square" anchor="t"/>
          <a:lstStyle/>
          <a:p>
            <a:pPr algn="l"/>
            <a:r>
              <a:rPr sz="1500" b="0">
                <a:solidFill>
                  <a:srgbClr val="1C1C1C"/>
                </a:solidFill>
                <a:latin typeface="Calibri"/>
              </a:rPr>
              <a:t>From the start of patient preparation to the last skin suture, including re-gowning. Then 24 hours of monitoring and complication management (CPE MOA 2026 Surgery).</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5  /  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physical examination</a:t>
            </a:r>
          </a:p>
        </p:txBody>
      </p:sp>
      <p:sp>
        <p:nvSpPr>
          <p:cNvPr id="7" name="Rounded Rectangle 6"/>
          <p:cNvSpPr/>
          <p:nvPr/>
        </p:nvSpPr>
        <p:spPr>
          <a:xfrm>
            <a:off x="41148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097280"/>
            <a:ext cx="5303520" cy="329184"/>
          </a:xfrm>
          <a:prstGeom prst="rect">
            <a:avLst/>
          </a:prstGeom>
          <a:noFill/>
        </p:spPr>
        <p:txBody>
          <a:bodyPr wrap="square" anchor="t"/>
          <a:lstStyle/>
          <a:p>
            <a:pPr algn="l"/>
            <a:r>
              <a:rPr sz="1800" b="1">
                <a:solidFill>
                  <a:srgbClr val="0B2C4A"/>
                </a:solidFill>
                <a:latin typeface="Calibri"/>
              </a:rPr>
              <a:t>T  ·  HR  ·  RR</a:t>
            </a:r>
          </a:p>
        </p:txBody>
      </p:sp>
      <p:sp>
        <p:nvSpPr>
          <p:cNvPr id="10" name="TextBox 9"/>
          <p:cNvSpPr txBox="1"/>
          <p:nvPr/>
        </p:nvSpPr>
        <p:spPr>
          <a:xfrm>
            <a:off x="667512" y="1463040"/>
            <a:ext cx="5303520" cy="658368"/>
          </a:xfrm>
          <a:prstGeom prst="rect">
            <a:avLst/>
          </a:prstGeom>
          <a:noFill/>
        </p:spPr>
        <p:txBody>
          <a:bodyPr wrap="square" anchor="t"/>
          <a:lstStyle/>
          <a:p>
            <a:pPr algn="l"/>
            <a:r>
              <a:rPr sz="1600" b="0">
                <a:solidFill>
                  <a:srgbClr val="3D4A57"/>
                </a:solidFill>
                <a:latin typeface="Calibri"/>
              </a:rPr>
              <a:t>Write the numbers. Conscious dog: HR 70–140, RR 20–40. Cat: HR 145–200, RR 20–40 (Fossum).</a:t>
            </a:r>
          </a:p>
        </p:txBody>
      </p:sp>
      <p:sp>
        <p:nvSpPr>
          <p:cNvPr id="11" name="Rounded Rectangle 10"/>
          <p:cNvSpPr/>
          <p:nvPr/>
        </p:nvSpPr>
        <p:spPr>
          <a:xfrm>
            <a:off x="630936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1097280"/>
            <a:ext cx="5303520" cy="329184"/>
          </a:xfrm>
          <a:prstGeom prst="rect">
            <a:avLst/>
          </a:prstGeom>
          <a:noFill/>
        </p:spPr>
        <p:txBody>
          <a:bodyPr wrap="square" anchor="t"/>
          <a:lstStyle/>
          <a:p>
            <a:pPr algn="l"/>
            <a:r>
              <a:rPr sz="1800" b="1">
                <a:solidFill>
                  <a:srgbClr val="0B2C4A"/>
                </a:solidFill>
                <a:latin typeface="Calibri"/>
              </a:rPr>
              <a:t>mm / CRT</a:t>
            </a:r>
          </a:p>
        </p:txBody>
      </p:sp>
      <p:sp>
        <p:nvSpPr>
          <p:cNvPr id="14" name="TextBox 13"/>
          <p:cNvSpPr txBox="1"/>
          <p:nvPr/>
        </p:nvSpPr>
        <p:spPr>
          <a:xfrm>
            <a:off x="6565392" y="1463040"/>
            <a:ext cx="5303520" cy="658368"/>
          </a:xfrm>
          <a:prstGeom prst="rect">
            <a:avLst/>
          </a:prstGeom>
          <a:noFill/>
        </p:spPr>
        <p:txBody>
          <a:bodyPr wrap="square" anchor="t"/>
          <a:lstStyle/>
          <a:p>
            <a:pPr algn="l"/>
            <a:r>
              <a:rPr sz="1600" b="0">
                <a:solidFill>
                  <a:srgbClr val="3D4A57"/>
                </a:solidFill>
                <a:latin typeface="Calibri"/>
              </a:rPr>
              <a:t>Mucous membrane color and capillary refill. Pink vs pale vs injected. CRT in seconds.</a:t>
            </a:r>
          </a:p>
        </p:txBody>
      </p:sp>
      <p:sp>
        <p:nvSpPr>
          <p:cNvPr id="15" name="Rounded Rectangle 14"/>
          <p:cNvSpPr/>
          <p:nvPr/>
        </p:nvSpPr>
        <p:spPr>
          <a:xfrm>
            <a:off x="41148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2395728"/>
            <a:ext cx="5303520" cy="329184"/>
          </a:xfrm>
          <a:prstGeom prst="rect">
            <a:avLst/>
          </a:prstGeom>
          <a:noFill/>
        </p:spPr>
        <p:txBody>
          <a:bodyPr wrap="square" anchor="t"/>
          <a:lstStyle/>
          <a:p>
            <a:pPr algn="l"/>
            <a:r>
              <a:rPr sz="1800" b="1">
                <a:solidFill>
                  <a:srgbClr val="0B2C4A"/>
                </a:solidFill>
                <a:latin typeface="Calibri"/>
              </a:rPr>
              <a:t>Heart and lungs</a:t>
            </a:r>
          </a:p>
        </p:txBody>
      </p:sp>
      <p:sp>
        <p:nvSpPr>
          <p:cNvPr id="18" name="TextBox 17"/>
          <p:cNvSpPr txBox="1"/>
          <p:nvPr/>
        </p:nvSpPr>
        <p:spPr>
          <a:xfrm>
            <a:off x="667512" y="2761488"/>
            <a:ext cx="5303520" cy="658368"/>
          </a:xfrm>
          <a:prstGeom prst="rect">
            <a:avLst/>
          </a:prstGeom>
          <a:noFill/>
        </p:spPr>
        <p:txBody>
          <a:bodyPr wrap="square" anchor="t"/>
          <a:lstStyle/>
          <a:p>
            <a:pPr algn="l"/>
            <a:r>
              <a:rPr sz="1600" b="0">
                <a:solidFill>
                  <a:srgbClr val="3D4A57"/>
                </a:solidFill>
                <a:latin typeface="Calibri"/>
              </a:rPr>
              <a:t>Auscultate both sides. Record any murmur, arrhythmia, or crackles before you choose drugs.</a:t>
            </a:r>
          </a:p>
        </p:txBody>
      </p:sp>
      <p:sp>
        <p:nvSpPr>
          <p:cNvPr id="19" name="Rounded Rectangle 18"/>
          <p:cNvSpPr/>
          <p:nvPr/>
        </p:nvSpPr>
        <p:spPr>
          <a:xfrm>
            <a:off x="630936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395728"/>
            <a:ext cx="5303520" cy="329184"/>
          </a:xfrm>
          <a:prstGeom prst="rect">
            <a:avLst/>
          </a:prstGeom>
          <a:noFill/>
        </p:spPr>
        <p:txBody>
          <a:bodyPr wrap="square" anchor="t"/>
          <a:lstStyle/>
          <a:p>
            <a:pPr algn="l"/>
            <a:r>
              <a:rPr sz="1800" b="1">
                <a:solidFill>
                  <a:srgbClr val="0B2C4A"/>
                </a:solidFill>
                <a:latin typeface="Calibri"/>
              </a:rPr>
              <a:t>Hydration + site</a:t>
            </a:r>
          </a:p>
        </p:txBody>
      </p:sp>
      <p:sp>
        <p:nvSpPr>
          <p:cNvPr id="22" name="TextBox 21"/>
          <p:cNvSpPr txBox="1"/>
          <p:nvPr/>
        </p:nvSpPr>
        <p:spPr>
          <a:xfrm>
            <a:off x="6565392" y="2761488"/>
            <a:ext cx="5303520" cy="658368"/>
          </a:xfrm>
          <a:prstGeom prst="rect">
            <a:avLst/>
          </a:prstGeom>
          <a:noFill/>
        </p:spPr>
        <p:txBody>
          <a:bodyPr wrap="square" anchor="t"/>
          <a:lstStyle/>
          <a:p>
            <a:pPr algn="l"/>
            <a:r>
              <a:rPr sz="1600" b="0">
                <a:solidFill>
                  <a:srgbClr val="3D4A57"/>
                </a:solidFill>
                <a:latin typeface="Calibri"/>
              </a:rPr>
              <a:t>Skin tent, tacky mm. Look at the surgical site: pyoderma, heat, pain. Abdomen if you might open it.</a:t>
            </a:r>
          </a:p>
        </p:txBody>
      </p:sp>
      <p:sp>
        <p:nvSpPr>
          <p:cNvPr id="23" name="Rectangle 22"/>
          <p:cNvSpPr/>
          <p:nvPr/>
        </p:nvSpPr>
        <p:spPr>
          <a:xfrm>
            <a:off x="411480" y="3675887"/>
            <a:ext cx="11338560" cy="3840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3675887"/>
            <a:ext cx="11155680" cy="384048"/>
          </a:xfrm>
          <a:prstGeom prst="rect">
            <a:avLst/>
          </a:prstGeom>
          <a:noFill/>
        </p:spPr>
        <p:txBody>
          <a:bodyPr wrap="square" anchor="ctr"/>
          <a:lstStyle/>
          <a:p>
            <a:pPr algn="ctr"/>
            <a:r>
              <a:rPr sz="1600" b="1">
                <a:solidFill>
                  <a:srgbClr val="C5A35A"/>
                </a:solidFill>
                <a:latin typeface="Calibri"/>
              </a:rPr>
              <a:t>Minimum labs on the anesthesia record  ·  PCV, TP, BUN  (CPE MOA 2026 Appendix 3)</a:t>
            </a:r>
          </a:p>
        </p:txBody>
      </p:sp>
      <p:sp>
        <p:nvSpPr>
          <p:cNvPr id="25" name="Rounded Rectangle 24"/>
          <p:cNvSpPr/>
          <p:nvPr/>
        </p:nvSpPr>
        <p:spPr>
          <a:xfrm>
            <a:off x="41148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1480" y="4133087"/>
            <a:ext cx="3657600" cy="438912"/>
          </a:xfrm>
          <a:prstGeom prst="rect">
            <a:avLst/>
          </a:prstGeom>
          <a:noFill/>
        </p:spPr>
        <p:txBody>
          <a:bodyPr wrap="square" anchor="ctr"/>
          <a:lstStyle/>
          <a:p>
            <a:pPr algn="ctr"/>
            <a:r>
              <a:rPr sz="2000" b="1">
                <a:solidFill>
                  <a:srgbClr val="0B2C4A"/>
                </a:solidFill>
                <a:latin typeface="Calibri"/>
              </a:rPr>
              <a:t>PCV</a:t>
            </a:r>
          </a:p>
        </p:txBody>
      </p:sp>
      <p:sp>
        <p:nvSpPr>
          <p:cNvPr id="28" name="TextBox 27"/>
          <p:cNvSpPr txBox="1"/>
          <p:nvPr/>
        </p:nvSpPr>
        <p:spPr>
          <a:xfrm>
            <a:off x="548640" y="4663440"/>
            <a:ext cx="3383280" cy="1664208"/>
          </a:xfrm>
          <a:prstGeom prst="rect">
            <a:avLst/>
          </a:prstGeom>
          <a:noFill/>
        </p:spPr>
        <p:txBody>
          <a:bodyPr wrap="square" anchor="t"/>
          <a:lstStyle/>
          <a:p>
            <a:pPr algn="l"/>
            <a:r>
              <a:rPr sz="1600" b="0">
                <a:solidFill>
                  <a:srgbClr val="1C1C1C"/>
                </a:solidFill>
                <a:latin typeface="Calibri"/>
              </a:rPr>
              <a:t>Oxygen-carrying capacity. Anemia vs hemoconcentration. With TP: dehydration vs blood loss.</a:t>
            </a:r>
          </a:p>
        </p:txBody>
      </p:sp>
      <p:sp>
        <p:nvSpPr>
          <p:cNvPr id="29" name="Rounded Rectangle 28"/>
          <p:cNvSpPr/>
          <p:nvPr/>
        </p:nvSpPr>
        <p:spPr>
          <a:xfrm>
            <a:off x="420624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0624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06240" y="4133087"/>
            <a:ext cx="3657600" cy="438912"/>
          </a:xfrm>
          <a:prstGeom prst="rect">
            <a:avLst/>
          </a:prstGeom>
          <a:noFill/>
        </p:spPr>
        <p:txBody>
          <a:bodyPr wrap="square" anchor="ctr"/>
          <a:lstStyle/>
          <a:p>
            <a:pPr algn="ctr"/>
            <a:r>
              <a:rPr sz="2000" b="1">
                <a:solidFill>
                  <a:srgbClr val="0B2C4A"/>
                </a:solidFill>
                <a:latin typeface="Calibri"/>
              </a:rPr>
              <a:t>TP</a:t>
            </a:r>
          </a:p>
        </p:txBody>
      </p:sp>
      <p:sp>
        <p:nvSpPr>
          <p:cNvPr id="32" name="TextBox 31"/>
          <p:cNvSpPr txBox="1"/>
          <p:nvPr/>
        </p:nvSpPr>
        <p:spPr>
          <a:xfrm>
            <a:off x="4343400" y="4663440"/>
            <a:ext cx="3383280" cy="1664208"/>
          </a:xfrm>
          <a:prstGeom prst="rect">
            <a:avLst/>
          </a:prstGeom>
          <a:noFill/>
        </p:spPr>
        <p:txBody>
          <a:bodyPr wrap="square" anchor="t"/>
          <a:lstStyle/>
          <a:p>
            <a:pPr algn="l"/>
            <a:r>
              <a:rPr sz="1600" b="0">
                <a:solidFill>
                  <a:srgbClr val="1C1C1C"/>
                </a:solidFill>
                <a:latin typeface="Calibri"/>
              </a:rPr>
              <a:t>Protein / oncotic pressure. High with PCV: dehydration. Low: loss, liver, or dilution. Changes fluids and healing.</a:t>
            </a:r>
          </a:p>
        </p:txBody>
      </p:sp>
      <p:sp>
        <p:nvSpPr>
          <p:cNvPr id="33" name="Rounded Rectangle 32"/>
          <p:cNvSpPr/>
          <p:nvPr/>
        </p:nvSpPr>
        <p:spPr>
          <a:xfrm>
            <a:off x="800100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0100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01000" y="4133087"/>
            <a:ext cx="3657600" cy="438912"/>
          </a:xfrm>
          <a:prstGeom prst="rect">
            <a:avLst/>
          </a:prstGeom>
          <a:noFill/>
        </p:spPr>
        <p:txBody>
          <a:bodyPr wrap="square" anchor="ctr"/>
          <a:lstStyle/>
          <a:p>
            <a:pPr algn="ctr"/>
            <a:r>
              <a:rPr sz="2000" b="1">
                <a:solidFill>
                  <a:srgbClr val="0B2C4A"/>
                </a:solidFill>
                <a:latin typeface="Calibri"/>
              </a:rPr>
              <a:t>BUN</a:t>
            </a:r>
          </a:p>
        </p:txBody>
      </p:sp>
      <p:sp>
        <p:nvSpPr>
          <p:cNvPr id="36" name="TextBox 35"/>
          <p:cNvSpPr txBox="1"/>
          <p:nvPr/>
        </p:nvSpPr>
        <p:spPr>
          <a:xfrm>
            <a:off x="8138160" y="4663440"/>
            <a:ext cx="3383280" cy="1664208"/>
          </a:xfrm>
          <a:prstGeom prst="rect">
            <a:avLst/>
          </a:prstGeom>
          <a:noFill/>
        </p:spPr>
        <p:txBody>
          <a:bodyPr wrap="square" anchor="t"/>
          <a:lstStyle/>
          <a:p>
            <a:pPr algn="l"/>
            <a:r>
              <a:rPr sz="1600" b="0">
                <a:solidFill>
                  <a:srgbClr val="1C1C1C"/>
                </a:solidFill>
                <a:latin typeface="Calibri"/>
              </a:rPr>
              <a:t>Kidney, hydration, GI bleed. Azotemia: skip NSAIDs, rethink fluids, maybe do not cut today.</a:t>
            </a:r>
          </a:p>
        </p:txBody>
      </p:sp>
      <p:sp>
        <p:nvSpPr>
          <p:cNvPr id="37" name="Rectangle 3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9" name="TextBox 3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6  /  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physical status</a:t>
            </a:r>
          </a:p>
        </p:txBody>
      </p:sp>
      <p:sp>
        <p:nvSpPr>
          <p:cNvPr id="7" name="Rectangle 6"/>
          <p:cNvSpPr/>
          <p:nvPr/>
        </p:nvSpPr>
        <p:spPr>
          <a:xfrm>
            <a:off x="411480" y="1051560"/>
            <a:ext cx="11338560"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51560"/>
            <a:ext cx="2194560" cy="438912"/>
          </a:xfrm>
          <a:prstGeom prst="rect">
            <a:avLst/>
          </a:prstGeom>
          <a:noFill/>
        </p:spPr>
        <p:txBody>
          <a:bodyPr wrap="square" anchor="ctr"/>
          <a:lstStyle/>
          <a:p>
            <a:pPr algn="l"/>
            <a:r>
              <a:rPr sz="1600" b="1">
                <a:solidFill>
                  <a:srgbClr val="C5A35A"/>
                </a:solidFill>
                <a:latin typeface="Calibri"/>
              </a:rPr>
              <a:t>ASA status</a:t>
            </a:r>
          </a:p>
        </p:txBody>
      </p:sp>
      <p:sp>
        <p:nvSpPr>
          <p:cNvPr id="9" name="TextBox 8"/>
          <p:cNvSpPr txBox="1"/>
          <p:nvPr/>
        </p:nvSpPr>
        <p:spPr>
          <a:xfrm>
            <a:off x="2743200" y="1051560"/>
            <a:ext cx="5303520" cy="438912"/>
          </a:xfrm>
          <a:prstGeom prst="rect">
            <a:avLst/>
          </a:prstGeom>
          <a:noFill/>
        </p:spPr>
        <p:txBody>
          <a:bodyPr wrap="square" anchor="ctr"/>
          <a:lstStyle/>
          <a:p>
            <a:pPr algn="l"/>
            <a:r>
              <a:rPr sz="1600" b="1">
                <a:solidFill>
                  <a:srgbClr val="FFFFFF"/>
                </a:solidFill>
                <a:latin typeface="Calibri"/>
              </a:rPr>
              <a:t>Definition</a:t>
            </a:r>
          </a:p>
        </p:txBody>
      </p:sp>
      <p:sp>
        <p:nvSpPr>
          <p:cNvPr id="10" name="TextBox 9"/>
          <p:cNvSpPr txBox="1"/>
          <p:nvPr/>
        </p:nvSpPr>
        <p:spPr>
          <a:xfrm>
            <a:off x="8138160" y="1051560"/>
            <a:ext cx="3474720" cy="438912"/>
          </a:xfrm>
          <a:prstGeom prst="rect">
            <a:avLst/>
          </a:prstGeom>
          <a:noFill/>
        </p:spPr>
        <p:txBody>
          <a:bodyPr wrap="square" anchor="ctr"/>
          <a:lstStyle/>
          <a:p>
            <a:pPr algn="l"/>
            <a:r>
              <a:rPr sz="1600" b="1">
                <a:solidFill>
                  <a:srgbClr val="FFFFFF"/>
                </a:solidFill>
                <a:latin typeface="Calibri"/>
              </a:rPr>
              <a:t>Example</a:t>
            </a:r>
          </a:p>
        </p:txBody>
      </p:sp>
      <p:sp>
        <p:nvSpPr>
          <p:cNvPr id="11" name="Rounded Rectangle 10"/>
          <p:cNvSpPr/>
          <p:nvPr/>
        </p:nvSpPr>
        <p:spPr>
          <a:xfrm>
            <a:off x="411480" y="153619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536192"/>
            <a:ext cx="2148840" cy="80467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1536192"/>
            <a:ext cx="2148840" cy="804672"/>
          </a:xfrm>
          <a:prstGeom prst="rect">
            <a:avLst/>
          </a:prstGeom>
          <a:noFill/>
        </p:spPr>
        <p:txBody>
          <a:bodyPr wrap="square" anchor="ctr"/>
          <a:lstStyle/>
          <a:p>
            <a:pPr algn="ctr"/>
            <a:r>
              <a:rPr sz="2000" b="1">
                <a:solidFill>
                  <a:srgbClr val="FFFFFF"/>
                </a:solidFill>
                <a:latin typeface="Calibri"/>
              </a:rPr>
              <a:t>Status 1</a:t>
            </a:r>
          </a:p>
        </p:txBody>
      </p:sp>
      <p:sp>
        <p:nvSpPr>
          <p:cNvPr id="14" name="TextBox 13"/>
          <p:cNvSpPr txBox="1"/>
          <p:nvPr/>
        </p:nvSpPr>
        <p:spPr>
          <a:xfrm>
            <a:off x="2697480" y="1609344"/>
            <a:ext cx="5257800" cy="658368"/>
          </a:xfrm>
          <a:prstGeom prst="rect">
            <a:avLst/>
          </a:prstGeom>
          <a:noFill/>
        </p:spPr>
        <p:txBody>
          <a:bodyPr wrap="square" anchor="ctr"/>
          <a:lstStyle/>
          <a:p>
            <a:pPr algn="l"/>
            <a:r>
              <a:rPr sz="1600" b="0">
                <a:solidFill>
                  <a:srgbClr val="1C1C1C"/>
                </a:solidFill>
                <a:latin typeface="Calibri"/>
              </a:rPr>
              <a:t>Normal healthy patient</a:t>
            </a:r>
          </a:p>
        </p:txBody>
      </p:sp>
      <p:sp>
        <p:nvSpPr>
          <p:cNvPr id="15" name="TextBox 14"/>
          <p:cNvSpPr txBox="1"/>
          <p:nvPr/>
        </p:nvSpPr>
        <p:spPr>
          <a:xfrm>
            <a:off x="8092440" y="1609344"/>
            <a:ext cx="3474720" cy="658368"/>
          </a:xfrm>
          <a:prstGeom prst="rect">
            <a:avLst/>
          </a:prstGeom>
          <a:noFill/>
        </p:spPr>
        <p:txBody>
          <a:bodyPr wrap="square" anchor="ctr"/>
          <a:lstStyle/>
          <a:p>
            <a:pPr algn="l"/>
            <a:r>
              <a:rPr sz="1600" b="0">
                <a:solidFill>
                  <a:srgbClr val="3D4A57"/>
                </a:solidFill>
                <a:latin typeface="Calibri"/>
              </a:rPr>
              <a:t>Healthy patient for neutering</a:t>
            </a:r>
          </a:p>
        </p:txBody>
      </p:sp>
      <p:sp>
        <p:nvSpPr>
          <p:cNvPr id="16" name="Rounded Rectangle 15"/>
          <p:cNvSpPr/>
          <p:nvPr/>
        </p:nvSpPr>
        <p:spPr>
          <a:xfrm>
            <a:off x="411480" y="240487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404872"/>
            <a:ext cx="2148840" cy="8046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2404872"/>
            <a:ext cx="2148840" cy="804672"/>
          </a:xfrm>
          <a:prstGeom prst="rect">
            <a:avLst/>
          </a:prstGeom>
          <a:noFill/>
        </p:spPr>
        <p:txBody>
          <a:bodyPr wrap="square" anchor="ctr"/>
          <a:lstStyle/>
          <a:p>
            <a:pPr algn="ctr"/>
            <a:r>
              <a:rPr sz="2000" b="1">
                <a:solidFill>
                  <a:srgbClr val="FFFFFF"/>
                </a:solidFill>
                <a:latin typeface="Calibri"/>
              </a:rPr>
              <a:t>Status 2</a:t>
            </a:r>
          </a:p>
        </p:txBody>
      </p:sp>
      <p:sp>
        <p:nvSpPr>
          <p:cNvPr id="19" name="TextBox 18"/>
          <p:cNvSpPr txBox="1"/>
          <p:nvPr/>
        </p:nvSpPr>
        <p:spPr>
          <a:xfrm>
            <a:off x="2697480" y="2478024"/>
            <a:ext cx="5257800" cy="658368"/>
          </a:xfrm>
          <a:prstGeom prst="rect">
            <a:avLst/>
          </a:prstGeom>
          <a:noFill/>
        </p:spPr>
        <p:txBody>
          <a:bodyPr wrap="square" anchor="ctr"/>
          <a:lstStyle/>
          <a:p>
            <a:pPr algn="l"/>
            <a:r>
              <a:rPr sz="1600" b="0">
                <a:solidFill>
                  <a:srgbClr val="1C1C1C"/>
                </a:solidFill>
                <a:latin typeface="Calibri"/>
              </a:rPr>
              <a:t>Patient with mild systemic disease</a:t>
            </a:r>
          </a:p>
        </p:txBody>
      </p:sp>
      <p:sp>
        <p:nvSpPr>
          <p:cNvPr id="20" name="TextBox 19"/>
          <p:cNvSpPr txBox="1"/>
          <p:nvPr/>
        </p:nvSpPr>
        <p:spPr>
          <a:xfrm>
            <a:off x="8092440" y="2478024"/>
            <a:ext cx="3474720" cy="658368"/>
          </a:xfrm>
          <a:prstGeom prst="rect">
            <a:avLst/>
          </a:prstGeom>
          <a:noFill/>
        </p:spPr>
        <p:txBody>
          <a:bodyPr wrap="square" anchor="ctr"/>
          <a:lstStyle/>
          <a:p>
            <a:pPr algn="l"/>
            <a:r>
              <a:rPr sz="1600" b="0">
                <a:solidFill>
                  <a:srgbClr val="3D4A57"/>
                </a:solidFill>
                <a:latin typeface="Calibri"/>
              </a:rPr>
              <a:t>Well compensated mild mitral degeneration</a:t>
            </a:r>
          </a:p>
        </p:txBody>
      </p:sp>
      <p:sp>
        <p:nvSpPr>
          <p:cNvPr id="21" name="Rounded Rectangle 20"/>
          <p:cNvSpPr/>
          <p:nvPr/>
        </p:nvSpPr>
        <p:spPr>
          <a:xfrm>
            <a:off x="411480" y="327355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3273552"/>
            <a:ext cx="2148840" cy="8046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80" y="3273552"/>
            <a:ext cx="2148840" cy="804672"/>
          </a:xfrm>
          <a:prstGeom prst="rect">
            <a:avLst/>
          </a:prstGeom>
          <a:noFill/>
        </p:spPr>
        <p:txBody>
          <a:bodyPr wrap="square" anchor="ctr"/>
          <a:lstStyle/>
          <a:p>
            <a:pPr algn="ctr"/>
            <a:r>
              <a:rPr sz="2000" b="1">
                <a:solidFill>
                  <a:srgbClr val="FFFFFF"/>
                </a:solidFill>
                <a:latin typeface="Calibri"/>
              </a:rPr>
              <a:t>Status 3</a:t>
            </a:r>
          </a:p>
        </p:txBody>
      </p:sp>
      <p:sp>
        <p:nvSpPr>
          <p:cNvPr id="24" name="TextBox 23"/>
          <p:cNvSpPr txBox="1"/>
          <p:nvPr/>
        </p:nvSpPr>
        <p:spPr>
          <a:xfrm>
            <a:off x="2697480" y="3346704"/>
            <a:ext cx="5257800" cy="658368"/>
          </a:xfrm>
          <a:prstGeom prst="rect">
            <a:avLst/>
          </a:prstGeom>
          <a:noFill/>
        </p:spPr>
        <p:txBody>
          <a:bodyPr wrap="square" anchor="ctr"/>
          <a:lstStyle/>
          <a:p>
            <a:pPr algn="l"/>
            <a:r>
              <a:rPr sz="1600" b="0">
                <a:solidFill>
                  <a:srgbClr val="1C1C1C"/>
                </a:solidFill>
                <a:latin typeface="Calibri"/>
              </a:rPr>
              <a:t>Patient with moderate systemic disease</a:t>
            </a:r>
          </a:p>
        </p:txBody>
      </p:sp>
      <p:sp>
        <p:nvSpPr>
          <p:cNvPr id="25" name="TextBox 24"/>
          <p:cNvSpPr txBox="1"/>
          <p:nvPr/>
        </p:nvSpPr>
        <p:spPr>
          <a:xfrm>
            <a:off x="8092440" y="3346704"/>
            <a:ext cx="3474720" cy="658368"/>
          </a:xfrm>
          <a:prstGeom prst="rect">
            <a:avLst/>
          </a:prstGeom>
          <a:noFill/>
        </p:spPr>
        <p:txBody>
          <a:bodyPr wrap="square" anchor="ctr"/>
          <a:lstStyle/>
          <a:p>
            <a:pPr algn="l"/>
            <a:r>
              <a:rPr sz="1600" b="0">
                <a:solidFill>
                  <a:srgbClr val="3D4A57"/>
                </a:solidFill>
                <a:latin typeface="Calibri"/>
              </a:rPr>
              <a:t>Cat with CKD, IRIS stage 3</a:t>
            </a:r>
          </a:p>
        </p:txBody>
      </p:sp>
      <p:sp>
        <p:nvSpPr>
          <p:cNvPr id="26" name="Rounded Rectangle 25"/>
          <p:cNvSpPr/>
          <p:nvPr/>
        </p:nvSpPr>
        <p:spPr>
          <a:xfrm>
            <a:off x="411480" y="4142231"/>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4142231"/>
            <a:ext cx="2148840" cy="80467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 y="4142231"/>
            <a:ext cx="2148840" cy="804672"/>
          </a:xfrm>
          <a:prstGeom prst="rect">
            <a:avLst/>
          </a:prstGeom>
          <a:noFill/>
        </p:spPr>
        <p:txBody>
          <a:bodyPr wrap="square" anchor="ctr"/>
          <a:lstStyle/>
          <a:p>
            <a:pPr algn="ctr"/>
            <a:r>
              <a:rPr sz="2000" b="1">
                <a:solidFill>
                  <a:srgbClr val="FFFFFF"/>
                </a:solidFill>
                <a:latin typeface="Calibri"/>
              </a:rPr>
              <a:t>Status 4</a:t>
            </a:r>
          </a:p>
        </p:txBody>
      </p:sp>
      <p:sp>
        <p:nvSpPr>
          <p:cNvPr id="29" name="TextBox 28"/>
          <p:cNvSpPr txBox="1"/>
          <p:nvPr/>
        </p:nvSpPr>
        <p:spPr>
          <a:xfrm>
            <a:off x="2697480" y="4215383"/>
            <a:ext cx="5257800" cy="658368"/>
          </a:xfrm>
          <a:prstGeom prst="rect">
            <a:avLst/>
          </a:prstGeom>
          <a:noFill/>
        </p:spPr>
        <p:txBody>
          <a:bodyPr wrap="square" anchor="ctr"/>
          <a:lstStyle/>
          <a:p>
            <a:pPr algn="l"/>
            <a:r>
              <a:rPr sz="1600" b="0">
                <a:solidFill>
                  <a:srgbClr val="1C1C1C"/>
                </a:solidFill>
                <a:latin typeface="Calibri"/>
              </a:rPr>
              <a:t>Severe systemic disease; constant threat to life</a:t>
            </a:r>
          </a:p>
        </p:txBody>
      </p:sp>
      <p:sp>
        <p:nvSpPr>
          <p:cNvPr id="30" name="TextBox 29"/>
          <p:cNvSpPr txBox="1"/>
          <p:nvPr/>
        </p:nvSpPr>
        <p:spPr>
          <a:xfrm>
            <a:off x="8092440" y="4215383"/>
            <a:ext cx="3474720" cy="658368"/>
          </a:xfrm>
          <a:prstGeom prst="rect">
            <a:avLst/>
          </a:prstGeom>
          <a:noFill/>
        </p:spPr>
        <p:txBody>
          <a:bodyPr wrap="square" anchor="ctr"/>
          <a:lstStyle/>
          <a:p>
            <a:pPr algn="l"/>
            <a:r>
              <a:rPr sz="1600" b="0">
                <a:solidFill>
                  <a:srgbClr val="3D4A57"/>
                </a:solidFill>
                <a:latin typeface="Calibri"/>
              </a:rPr>
              <a:t>Hemoabdomen, bleeding splenic mass</a:t>
            </a:r>
          </a:p>
        </p:txBody>
      </p:sp>
      <p:sp>
        <p:nvSpPr>
          <p:cNvPr id="31" name="Rounded Rectangle 30"/>
          <p:cNvSpPr/>
          <p:nvPr/>
        </p:nvSpPr>
        <p:spPr>
          <a:xfrm>
            <a:off x="411480" y="501091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11480" y="5010912"/>
            <a:ext cx="2148840" cy="8046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1480" y="5010912"/>
            <a:ext cx="2148840" cy="804672"/>
          </a:xfrm>
          <a:prstGeom prst="rect">
            <a:avLst/>
          </a:prstGeom>
          <a:noFill/>
        </p:spPr>
        <p:txBody>
          <a:bodyPr wrap="square" anchor="ctr"/>
          <a:lstStyle/>
          <a:p>
            <a:pPr algn="ctr"/>
            <a:r>
              <a:rPr sz="2000" b="1">
                <a:solidFill>
                  <a:srgbClr val="FFFFFF"/>
                </a:solidFill>
                <a:latin typeface="Calibri"/>
              </a:rPr>
              <a:t>Status 5</a:t>
            </a:r>
          </a:p>
        </p:txBody>
      </p:sp>
      <p:sp>
        <p:nvSpPr>
          <p:cNvPr id="34" name="TextBox 33"/>
          <p:cNvSpPr txBox="1"/>
          <p:nvPr/>
        </p:nvSpPr>
        <p:spPr>
          <a:xfrm>
            <a:off x="2697480" y="5084064"/>
            <a:ext cx="5257800" cy="658368"/>
          </a:xfrm>
          <a:prstGeom prst="rect">
            <a:avLst/>
          </a:prstGeom>
          <a:noFill/>
        </p:spPr>
        <p:txBody>
          <a:bodyPr wrap="square" anchor="ctr"/>
          <a:lstStyle/>
          <a:p>
            <a:pPr algn="l"/>
            <a:r>
              <a:rPr sz="1600" b="0">
                <a:solidFill>
                  <a:srgbClr val="1C1C1C"/>
                </a:solidFill>
                <a:latin typeface="Calibri"/>
              </a:rPr>
              <a:t>Moribund; not expected to survive without the operation</a:t>
            </a:r>
          </a:p>
        </p:txBody>
      </p:sp>
      <p:sp>
        <p:nvSpPr>
          <p:cNvPr id="35" name="TextBox 34"/>
          <p:cNvSpPr txBox="1"/>
          <p:nvPr/>
        </p:nvSpPr>
        <p:spPr>
          <a:xfrm>
            <a:off x="8092440" y="5084064"/>
            <a:ext cx="3474720" cy="658368"/>
          </a:xfrm>
          <a:prstGeom prst="rect">
            <a:avLst/>
          </a:prstGeom>
          <a:noFill/>
        </p:spPr>
        <p:txBody>
          <a:bodyPr wrap="square" anchor="ctr"/>
          <a:lstStyle/>
          <a:p>
            <a:pPr algn="l"/>
            <a:r>
              <a:rPr sz="1600" b="0">
                <a:solidFill>
                  <a:srgbClr val="3D4A57"/>
                </a:solidFill>
                <a:latin typeface="Calibri"/>
              </a:rPr>
              <a:t>Hypotensive, hypothermic, obtunded septic cat</a:t>
            </a:r>
          </a:p>
        </p:txBody>
      </p:sp>
      <p:sp>
        <p:nvSpPr>
          <p:cNvPr id="36" name="Rounded Rectangle 35"/>
          <p:cNvSpPr/>
          <p:nvPr/>
        </p:nvSpPr>
        <p:spPr>
          <a:xfrm>
            <a:off x="411480" y="5925312"/>
            <a:ext cx="11338560" cy="5029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94360" y="5925312"/>
            <a:ext cx="11018520" cy="502920"/>
          </a:xfrm>
          <a:prstGeom prst="rect">
            <a:avLst/>
          </a:prstGeom>
          <a:noFill/>
        </p:spPr>
        <p:txBody>
          <a:bodyPr wrap="square" anchor="ctr"/>
          <a:lstStyle/>
          <a:p>
            <a:pPr algn="l"/>
            <a:r>
              <a:rPr sz="1600" b="0">
                <a:solidFill>
                  <a:srgbClr val="0B2C4A"/>
                </a:solidFill>
                <a:latin typeface="Calibri"/>
              </a:rPr>
              <a:t>E = emergency. Status 3 is moderate and compensated. Status 4 is uncompensated and a threat to life. Today’s PE and labs write the number. A normal CBC does not write Status 1.</a:t>
            </a:r>
          </a:p>
        </p:txBody>
      </p:sp>
      <p:sp>
        <p:nvSpPr>
          <p:cNvPr id="38" name="Rectangle 3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0" name="TextBox 3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7  /  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today’s PE</a:t>
            </a:r>
          </a:p>
        </p:txBody>
      </p:sp>
      <p:sp>
        <p:nvSpPr>
          <p:cNvPr id="7" name="Rounded Rectangle 6"/>
          <p:cNvSpPr/>
          <p:nvPr/>
        </p:nvSpPr>
        <p:spPr>
          <a:xfrm>
            <a:off x="457200" y="1024128"/>
            <a:ext cx="11247120" cy="105156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097280"/>
            <a:ext cx="10789920" cy="914400"/>
          </a:xfrm>
          <a:prstGeom prst="rect">
            <a:avLst/>
          </a:prstGeom>
          <a:noFill/>
        </p:spPr>
        <p:txBody>
          <a:bodyPr wrap="square" anchor="t"/>
          <a:lstStyle/>
          <a:p>
            <a:pPr algn="l"/>
            <a:r>
              <a:rPr sz="1600" b="0">
                <a:solidFill>
                  <a:srgbClr val="0B2C4A"/>
                </a:solidFill>
                <a:latin typeface="Calibri"/>
              </a:rPr>
              <a:t>MN Cavalier, 6 y 11 mo, 13.7 kg. Acute ataxia and disorientation ~1 hour. Found on the floor; fell off the couch twice. Abnormal paw placement. Cytopoint. T 100.8 °F, HR 132, RR 52, mm pink, CRT 2 s, dull/quiet. Do not write the ASA yet.</a:t>
            </a:r>
          </a:p>
        </p:txBody>
      </p:sp>
      <p:sp>
        <p:nvSpPr>
          <p:cNvPr id="9" name="Rounded Rectangle 8"/>
          <p:cNvSpPr/>
          <p:nvPr/>
        </p:nvSpPr>
        <p:spPr>
          <a:xfrm>
            <a:off x="45720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2194560"/>
            <a:ext cx="91440" cy="26060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2304288"/>
            <a:ext cx="3291840" cy="329184"/>
          </a:xfrm>
          <a:prstGeom prst="rect">
            <a:avLst/>
          </a:prstGeom>
          <a:noFill/>
        </p:spPr>
        <p:txBody>
          <a:bodyPr wrap="square" anchor="t"/>
          <a:lstStyle/>
          <a:p>
            <a:pPr algn="l"/>
            <a:r>
              <a:rPr sz="1800" b="1">
                <a:solidFill>
                  <a:srgbClr val="0B2C4A"/>
                </a:solidFill>
                <a:latin typeface="Calibri"/>
              </a:rPr>
              <a:t>Left ear (AS)</a:t>
            </a:r>
          </a:p>
        </p:txBody>
      </p:sp>
      <p:sp>
        <p:nvSpPr>
          <p:cNvPr id="12" name="TextBox 11"/>
          <p:cNvSpPr txBox="1"/>
          <p:nvPr/>
        </p:nvSpPr>
        <p:spPr>
          <a:xfrm>
            <a:off x="713232" y="2651760"/>
            <a:ext cx="3291840" cy="2039112"/>
          </a:xfrm>
          <a:prstGeom prst="rect">
            <a:avLst/>
          </a:prstGeom>
          <a:noFill/>
        </p:spPr>
        <p:txBody>
          <a:bodyPr wrap="square" anchor="t"/>
          <a:lstStyle/>
          <a:p>
            <a:pPr algn="l"/>
            <a:r>
              <a:rPr sz="1600" b="0">
                <a:solidFill>
                  <a:srgbClr val="3D4A57"/>
                </a:solidFill>
                <a:latin typeface="Calibri"/>
              </a:rPr>
              <a:t>Brown and bloody discharge. Pedal reflex at the pinna base. Canal patent. Cartilage hardened. Tympanic membrane visible but swollen.</a:t>
            </a:r>
          </a:p>
        </p:txBody>
      </p:sp>
      <p:sp>
        <p:nvSpPr>
          <p:cNvPr id="13" name="Rounded Rectangle 12"/>
          <p:cNvSpPr/>
          <p:nvPr/>
        </p:nvSpPr>
        <p:spPr>
          <a:xfrm>
            <a:off x="429768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2194560"/>
            <a:ext cx="91440" cy="2606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3712" y="2304288"/>
            <a:ext cx="3291840" cy="329184"/>
          </a:xfrm>
          <a:prstGeom prst="rect">
            <a:avLst/>
          </a:prstGeom>
          <a:noFill/>
        </p:spPr>
        <p:txBody>
          <a:bodyPr wrap="square" anchor="t"/>
          <a:lstStyle/>
          <a:p>
            <a:pPr algn="l"/>
            <a:r>
              <a:rPr sz="1800" b="1">
                <a:solidFill>
                  <a:srgbClr val="0B2C4A"/>
                </a:solidFill>
                <a:latin typeface="Calibri"/>
              </a:rPr>
              <a:t>Neuro exam</a:t>
            </a:r>
          </a:p>
        </p:txBody>
      </p:sp>
      <p:sp>
        <p:nvSpPr>
          <p:cNvPr id="16" name="TextBox 15"/>
          <p:cNvSpPr txBox="1"/>
          <p:nvPr/>
        </p:nvSpPr>
        <p:spPr>
          <a:xfrm>
            <a:off x="4553712" y="2651760"/>
            <a:ext cx="3291840" cy="2039112"/>
          </a:xfrm>
          <a:prstGeom prst="rect">
            <a:avLst/>
          </a:prstGeom>
          <a:noFill/>
        </p:spPr>
        <p:txBody>
          <a:bodyPr wrap="square" anchor="t"/>
          <a:lstStyle/>
          <a:p>
            <a:pPr algn="l"/>
            <a:r>
              <a:rPr sz="1600" b="0">
                <a:solidFill>
                  <a:srgbClr val="3D4A57"/>
                </a:solidFill>
                <a:latin typeface="Calibri"/>
              </a:rPr>
              <a:t>Ataxia. Disorientation. Could not stand without falling. Abnormal paw placement / sliding on a forelimb. Dull, quiet.</a:t>
            </a:r>
          </a:p>
        </p:txBody>
      </p:sp>
      <p:sp>
        <p:nvSpPr>
          <p:cNvPr id="17" name="Rounded Rectangle 16"/>
          <p:cNvSpPr/>
          <p:nvPr/>
        </p:nvSpPr>
        <p:spPr>
          <a:xfrm>
            <a:off x="8138160" y="2194560"/>
            <a:ext cx="356616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38160" y="2194560"/>
            <a:ext cx="91440" cy="26060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94192" y="2304288"/>
            <a:ext cx="3200400" cy="329184"/>
          </a:xfrm>
          <a:prstGeom prst="rect">
            <a:avLst/>
          </a:prstGeom>
          <a:noFill/>
        </p:spPr>
        <p:txBody>
          <a:bodyPr wrap="square" anchor="t"/>
          <a:lstStyle/>
          <a:p>
            <a:pPr algn="l"/>
            <a:r>
              <a:rPr sz="1800" b="1">
                <a:solidFill>
                  <a:srgbClr val="0B2C4A"/>
                </a:solidFill>
                <a:latin typeface="Calibri"/>
              </a:rPr>
              <a:t>Also on PE</a:t>
            </a:r>
          </a:p>
        </p:txBody>
      </p:sp>
      <p:sp>
        <p:nvSpPr>
          <p:cNvPr id="20" name="TextBox 19"/>
          <p:cNvSpPr txBox="1"/>
          <p:nvPr/>
        </p:nvSpPr>
        <p:spPr>
          <a:xfrm>
            <a:off x="8394192" y="2651760"/>
            <a:ext cx="3200400" cy="2039112"/>
          </a:xfrm>
          <a:prstGeom prst="rect">
            <a:avLst/>
          </a:prstGeom>
          <a:noFill/>
        </p:spPr>
        <p:txBody>
          <a:bodyPr wrap="square" anchor="t"/>
          <a:lstStyle/>
          <a:p>
            <a:pPr algn="l"/>
            <a:r>
              <a:rPr sz="1600" b="0">
                <a:solidFill>
                  <a:srgbClr val="3D4A57"/>
                </a:solidFill>
                <a:latin typeface="Calibri"/>
              </a:rPr>
              <a:t>Grade II/VI left systolic murmur. Lungs clear, eupneic. Heavy tartar. Yellow crusts on the nasal philtrum. Eyes: PLR present.</a:t>
            </a:r>
          </a:p>
        </p:txBody>
      </p:sp>
      <p:sp>
        <p:nvSpPr>
          <p:cNvPr id="21" name="Rounded Rectangle 20"/>
          <p:cNvSpPr/>
          <p:nvPr/>
        </p:nvSpPr>
        <p:spPr>
          <a:xfrm>
            <a:off x="457200" y="4937760"/>
            <a:ext cx="11247120"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029200"/>
            <a:ext cx="10789920" cy="1234440"/>
          </a:xfrm>
          <a:prstGeom prst="rect">
            <a:avLst/>
          </a:prstGeom>
          <a:noFill/>
        </p:spPr>
        <p:txBody>
          <a:bodyPr wrap="square" anchor="t"/>
          <a:lstStyle/>
          <a:p>
            <a:pPr algn="l"/>
            <a:r>
              <a:rPr sz="1600" b="0">
                <a:solidFill>
                  <a:srgbClr val="1C1C1C"/>
                </a:solidFill>
                <a:latin typeface="Calibri"/>
              </a:rPr>
              <a:t>This slide is the examination. Next: today’s chemistry and CBC, including HCT and TP. Then you write the ASA. Add E if this is an emergency. Owner identifiers stay off these slides. Do not use a drug list on this dog.</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8  /  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labs. Write the ASA</a:t>
            </a:r>
          </a:p>
        </p:txBody>
      </p:sp>
      <p:sp>
        <p:nvSpPr>
          <p:cNvPr id="7" name="Rounded Rectangle 6"/>
          <p:cNvSpPr/>
          <p:nvPr/>
        </p:nvSpPr>
        <p:spPr>
          <a:xfrm>
            <a:off x="41148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161288"/>
            <a:ext cx="2423160" cy="329184"/>
          </a:xfrm>
          <a:prstGeom prst="rect">
            <a:avLst/>
          </a:prstGeom>
          <a:noFill/>
        </p:spPr>
        <p:txBody>
          <a:bodyPr wrap="square" anchor="t"/>
          <a:lstStyle/>
          <a:p>
            <a:pPr algn="l"/>
            <a:r>
              <a:rPr sz="1800" b="1">
                <a:solidFill>
                  <a:srgbClr val="0B2C4A"/>
                </a:solidFill>
                <a:latin typeface="Calibri"/>
              </a:rPr>
              <a:t>HCT</a:t>
            </a:r>
          </a:p>
        </p:txBody>
      </p:sp>
      <p:sp>
        <p:nvSpPr>
          <p:cNvPr id="10" name="TextBox 9"/>
          <p:cNvSpPr txBox="1"/>
          <p:nvPr/>
        </p:nvSpPr>
        <p:spPr>
          <a:xfrm>
            <a:off x="667512" y="1508760"/>
            <a:ext cx="2423160" cy="1399032"/>
          </a:xfrm>
          <a:prstGeom prst="rect">
            <a:avLst/>
          </a:prstGeom>
          <a:noFill/>
        </p:spPr>
        <p:txBody>
          <a:bodyPr wrap="square" anchor="t"/>
          <a:lstStyle/>
          <a:p>
            <a:pPr algn="l"/>
            <a:r>
              <a:rPr sz="1600" b="0">
                <a:solidFill>
                  <a:srgbClr val="3D4A57"/>
                </a:solidFill>
                <a:latin typeface="Calibri"/>
              </a:rPr>
              <a:t>47.5%  (36.9–60.0)</a:t>
            </a:r>
          </a:p>
        </p:txBody>
      </p:sp>
      <p:sp>
        <p:nvSpPr>
          <p:cNvPr id="11" name="Rounded Rectangle 10"/>
          <p:cNvSpPr/>
          <p:nvPr/>
        </p:nvSpPr>
        <p:spPr>
          <a:xfrm>
            <a:off x="333756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756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2" y="1161288"/>
            <a:ext cx="2423160" cy="329184"/>
          </a:xfrm>
          <a:prstGeom prst="rect">
            <a:avLst/>
          </a:prstGeom>
          <a:noFill/>
        </p:spPr>
        <p:txBody>
          <a:bodyPr wrap="square" anchor="t"/>
          <a:lstStyle/>
          <a:p>
            <a:pPr algn="l"/>
            <a:r>
              <a:rPr sz="1800" b="1">
                <a:solidFill>
                  <a:srgbClr val="0B2C4A"/>
                </a:solidFill>
                <a:latin typeface="Calibri"/>
              </a:rPr>
              <a:t>TP</a:t>
            </a:r>
          </a:p>
        </p:txBody>
      </p:sp>
      <p:sp>
        <p:nvSpPr>
          <p:cNvPr id="14" name="TextBox 13"/>
          <p:cNvSpPr txBox="1"/>
          <p:nvPr/>
        </p:nvSpPr>
        <p:spPr>
          <a:xfrm>
            <a:off x="3593592" y="1508760"/>
            <a:ext cx="2423160" cy="1399032"/>
          </a:xfrm>
          <a:prstGeom prst="rect">
            <a:avLst/>
          </a:prstGeom>
          <a:noFill/>
        </p:spPr>
        <p:txBody>
          <a:bodyPr wrap="square" anchor="t"/>
          <a:lstStyle/>
          <a:p>
            <a:pPr algn="l"/>
            <a:r>
              <a:rPr sz="1600" b="0">
                <a:solidFill>
                  <a:srgbClr val="3D4A57"/>
                </a:solidFill>
                <a:latin typeface="Calibri"/>
              </a:rPr>
              <a:t>6.4 g/dL  (5.5–7.6)</a:t>
            </a:r>
          </a:p>
        </p:txBody>
      </p:sp>
      <p:sp>
        <p:nvSpPr>
          <p:cNvPr id="15" name="Rounded Rectangle 14"/>
          <p:cNvSpPr/>
          <p:nvPr/>
        </p:nvSpPr>
        <p:spPr>
          <a:xfrm>
            <a:off x="626364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63640" y="1051560"/>
            <a:ext cx="91440" cy="196596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19672" y="1161288"/>
            <a:ext cx="2423160" cy="329184"/>
          </a:xfrm>
          <a:prstGeom prst="rect">
            <a:avLst/>
          </a:prstGeom>
          <a:noFill/>
        </p:spPr>
        <p:txBody>
          <a:bodyPr wrap="square" anchor="t"/>
          <a:lstStyle/>
          <a:p>
            <a:pPr algn="l"/>
            <a:r>
              <a:rPr sz="1800" b="1">
                <a:solidFill>
                  <a:srgbClr val="0B2C4A"/>
                </a:solidFill>
                <a:latin typeface="Calibri"/>
              </a:rPr>
              <a:t>BUN / creatinine</a:t>
            </a:r>
          </a:p>
        </p:txBody>
      </p:sp>
      <p:sp>
        <p:nvSpPr>
          <p:cNvPr id="18" name="TextBox 17"/>
          <p:cNvSpPr txBox="1"/>
          <p:nvPr/>
        </p:nvSpPr>
        <p:spPr>
          <a:xfrm>
            <a:off x="6519672" y="1508760"/>
            <a:ext cx="2423160" cy="1399032"/>
          </a:xfrm>
          <a:prstGeom prst="rect">
            <a:avLst/>
          </a:prstGeom>
          <a:noFill/>
        </p:spPr>
        <p:txBody>
          <a:bodyPr wrap="square" anchor="t"/>
          <a:lstStyle/>
          <a:p>
            <a:pPr algn="l"/>
            <a:r>
              <a:rPr sz="1600" b="0">
                <a:solidFill>
                  <a:srgbClr val="3D4A57"/>
                </a:solidFill>
                <a:latin typeface="Calibri"/>
              </a:rPr>
              <a:t>BUN 11.9  (9.0–29.0)
Cr 0.7  (0.4–1.4)</a:t>
            </a:r>
          </a:p>
        </p:txBody>
      </p:sp>
      <p:sp>
        <p:nvSpPr>
          <p:cNvPr id="19" name="Rounded Rectangle 18"/>
          <p:cNvSpPr/>
          <p:nvPr/>
        </p:nvSpPr>
        <p:spPr>
          <a:xfrm>
            <a:off x="9189720" y="1051560"/>
            <a:ext cx="260604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189720" y="1051560"/>
            <a:ext cx="91440" cy="19659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45752" y="1161288"/>
            <a:ext cx="2240280" cy="329184"/>
          </a:xfrm>
          <a:prstGeom prst="rect">
            <a:avLst/>
          </a:prstGeom>
          <a:noFill/>
        </p:spPr>
        <p:txBody>
          <a:bodyPr wrap="square" anchor="t"/>
          <a:lstStyle/>
          <a:p>
            <a:pPr algn="l"/>
            <a:r>
              <a:rPr sz="1800" b="1">
                <a:solidFill>
                  <a:srgbClr val="0B2C4A"/>
                </a:solidFill>
                <a:latin typeface="Calibri"/>
              </a:rPr>
              <a:t>Out of range</a:t>
            </a:r>
          </a:p>
        </p:txBody>
      </p:sp>
      <p:sp>
        <p:nvSpPr>
          <p:cNvPr id="22" name="TextBox 21"/>
          <p:cNvSpPr txBox="1"/>
          <p:nvPr/>
        </p:nvSpPr>
        <p:spPr>
          <a:xfrm>
            <a:off x="9445752" y="1508760"/>
            <a:ext cx="2240280" cy="1399032"/>
          </a:xfrm>
          <a:prstGeom prst="rect">
            <a:avLst/>
          </a:prstGeom>
          <a:noFill/>
        </p:spPr>
        <p:txBody>
          <a:bodyPr wrap="square" anchor="t"/>
          <a:lstStyle/>
          <a:p>
            <a:pPr algn="l"/>
            <a:r>
              <a:rPr sz="1600" b="0">
                <a:solidFill>
                  <a:srgbClr val="3D4A57"/>
                </a:solidFill>
                <a:latin typeface="Calibri"/>
              </a:rPr>
              <a:t>Phos 6.0  (1.9–5.0)
Glucose 130  (75–125)
CBC in range</a:t>
            </a:r>
          </a:p>
        </p:txBody>
      </p:sp>
      <p:sp>
        <p:nvSpPr>
          <p:cNvPr id="23" name="Rounded Rectangle 22"/>
          <p:cNvSpPr/>
          <p:nvPr/>
        </p:nvSpPr>
        <p:spPr>
          <a:xfrm>
            <a:off x="411480" y="3154680"/>
            <a:ext cx="11338560" cy="12344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3246120"/>
            <a:ext cx="10927080" cy="1051560"/>
          </a:xfrm>
          <a:prstGeom prst="rect">
            <a:avLst/>
          </a:prstGeom>
          <a:noFill/>
        </p:spPr>
        <p:txBody>
          <a:bodyPr wrap="square" anchor="ctr"/>
          <a:lstStyle/>
          <a:p>
            <a:pPr algn="l"/>
            <a:r>
              <a:rPr sz="1800" b="1">
                <a:solidFill>
                  <a:srgbClr val="0B2C4A"/>
                </a:solidFill>
                <a:latin typeface="Calibri"/>
              </a:rPr>
              <a:t>Quiz. Assign ASA. Add E if emergency. Write it before you hear the key. HCT in range does not write Status 1.</a:t>
            </a:r>
          </a:p>
        </p:txBody>
      </p:sp>
      <p:sp>
        <p:nvSpPr>
          <p:cNvPr id="25" name="Rounded Rectangle 24"/>
          <p:cNvSpPr/>
          <p:nvPr/>
        </p:nvSpPr>
        <p:spPr>
          <a:xfrm>
            <a:off x="41148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526280"/>
            <a:ext cx="91440" cy="1920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4636008"/>
            <a:ext cx="3337560" cy="329184"/>
          </a:xfrm>
          <a:prstGeom prst="rect">
            <a:avLst/>
          </a:prstGeom>
          <a:noFill/>
        </p:spPr>
        <p:txBody>
          <a:bodyPr wrap="square" anchor="t"/>
          <a:lstStyle/>
          <a:p>
            <a:pPr algn="l"/>
            <a:r>
              <a:rPr sz="1800" b="1">
                <a:solidFill>
                  <a:srgbClr val="0B2C4A"/>
                </a:solidFill>
                <a:latin typeface="Calibri"/>
              </a:rPr>
              <a:t>1. Status?</a:t>
            </a:r>
          </a:p>
        </p:txBody>
      </p:sp>
      <p:sp>
        <p:nvSpPr>
          <p:cNvPr id="28" name="TextBox 27"/>
          <p:cNvSpPr txBox="1"/>
          <p:nvPr/>
        </p:nvSpPr>
        <p:spPr>
          <a:xfrm>
            <a:off x="667512" y="4983480"/>
            <a:ext cx="3337560" cy="1353312"/>
          </a:xfrm>
          <a:prstGeom prst="rect">
            <a:avLst/>
          </a:prstGeom>
          <a:noFill/>
        </p:spPr>
        <p:txBody>
          <a:bodyPr wrap="square" anchor="t"/>
          <a:lstStyle/>
          <a:p>
            <a:pPr algn="l"/>
            <a:r>
              <a:rPr sz="1600" b="0">
                <a:solidFill>
                  <a:srgbClr val="3D4A57"/>
                </a:solidFill>
                <a:latin typeface="Calibri"/>
              </a:rPr>
              <a:t>Number, and E or not.</a:t>
            </a:r>
          </a:p>
        </p:txBody>
      </p:sp>
      <p:sp>
        <p:nvSpPr>
          <p:cNvPr id="29" name="Rounded Rectangle 28"/>
          <p:cNvSpPr/>
          <p:nvPr/>
        </p:nvSpPr>
        <p:spPr>
          <a:xfrm>
            <a:off x="425196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51960" y="4526280"/>
            <a:ext cx="91440" cy="19202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07992" y="4636008"/>
            <a:ext cx="3337560" cy="329184"/>
          </a:xfrm>
          <a:prstGeom prst="rect">
            <a:avLst/>
          </a:prstGeom>
          <a:noFill/>
        </p:spPr>
        <p:txBody>
          <a:bodyPr wrap="square" anchor="t"/>
          <a:lstStyle/>
          <a:p>
            <a:pPr algn="l"/>
            <a:r>
              <a:rPr sz="1800" b="1">
                <a:solidFill>
                  <a:srgbClr val="0B2C4A"/>
                </a:solidFill>
                <a:latin typeface="Calibri"/>
              </a:rPr>
              <a:t>2. Why not Status 1?</a:t>
            </a:r>
          </a:p>
        </p:txBody>
      </p:sp>
      <p:sp>
        <p:nvSpPr>
          <p:cNvPr id="32" name="TextBox 31"/>
          <p:cNvSpPr txBox="1"/>
          <p:nvPr/>
        </p:nvSpPr>
        <p:spPr>
          <a:xfrm>
            <a:off x="4507992" y="4983480"/>
            <a:ext cx="3337560" cy="1353312"/>
          </a:xfrm>
          <a:prstGeom prst="rect">
            <a:avLst/>
          </a:prstGeom>
          <a:noFill/>
        </p:spPr>
        <p:txBody>
          <a:bodyPr wrap="square" anchor="t"/>
          <a:lstStyle/>
          <a:p>
            <a:pPr algn="l"/>
            <a:r>
              <a:rPr sz="1600" b="0">
                <a:solidFill>
                  <a:srgbClr val="3D4A57"/>
                </a:solidFill>
                <a:latin typeface="Calibri"/>
              </a:rPr>
              <a:t>What on today’s PE is not a normal healthy patient?</a:t>
            </a:r>
          </a:p>
        </p:txBody>
      </p:sp>
      <p:sp>
        <p:nvSpPr>
          <p:cNvPr id="33" name="Rounded Rectangle 32"/>
          <p:cNvSpPr/>
          <p:nvPr/>
        </p:nvSpPr>
        <p:spPr>
          <a:xfrm>
            <a:off x="8092440" y="4526280"/>
            <a:ext cx="365760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92440" y="4526280"/>
            <a:ext cx="91440" cy="19202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48472" y="4636008"/>
            <a:ext cx="3291840" cy="329184"/>
          </a:xfrm>
          <a:prstGeom prst="rect">
            <a:avLst/>
          </a:prstGeom>
          <a:noFill/>
        </p:spPr>
        <p:txBody>
          <a:bodyPr wrap="square" anchor="t"/>
          <a:lstStyle/>
          <a:p>
            <a:pPr algn="l"/>
            <a:r>
              <a:rPr sz="1800" b="1">
                <a:solidFill>
                  <a:srgbClr val="0B2C4A"/>
                </a:solidFill>
                <a:latin typeface="Calibri"/>
              </a:rPr>
              <a:t>3. Why not Status 4?</a:t>
            </a:r>
          </a:p>
        </p:txBody>
      </p:sp>
      <p:sp>
        <p:nvSpPr>
          <p:cNvPr id="36" name="TextBox 35"/>
          <p:cNvSpPr txBox="1"/>
          <p:nvPr/>
        </p:nvSpPr>
        <p:spPr>
          <a:xfrm>
            <a:off x="8348472" y="4983480"/>
            <a:ext cx="3291840" cy="1353312"/>
          </a:xfrm>
          <a:prstGeom prst="rect">
            <a:avLst/>
          </a:prstGeom>
          <a:noFill/>
        </p:spPr>
        <p:txBody>
          <a:bodyPr wrap="square" anchor="t"/>
          <a:lstStyle/>
          <a:p>
            <a:pPr algn="l"/>
            <a:r>
              <a:rPr sz="1600" b="0">
                <a:solidFill>
                  <a:srgbClr val="3D4A57"/>
                </a:solidFill>
                <a:latin typeface="Calibri"/>
              </a:rPr>
              <a:t>Is this a constant threat to life today?</a:t>
            </a:r>
          </a:p>
        </p:txBody>
      </p:sp>
      <p:sp>
        <p:nvSpPr>
          <p:cNvPr id="37" name="Rectangle 3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9" name="TextBox 3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9  /  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PE, labs, write the ASA</a:t>
            </a:r>
          </a:p>
        </p:txBody>
      </p:sp>
      <p:pic>
        <p:nvPicPr>
          <p:cNvPr id="7" name="Picture 6" descr="momo.jpg"/>
          <p:cNvPicPr>
            <a:picLocks noChangeAspect="1"/>
          </p:cNvPicPr>
          <p:nvPr/>
        </p:nvPicPr>
        <p:blipFill>
          <a:blip r:embed="rId2"/>
          <a:stretch>
            <a:fillRect/>
          </a:stretch>
        </p:blipFill>
        <p:spPr>
          <a:xfrm>
            <a:off x="365760" y="1024128"/>
            <a:ext cx="4041648" cy="5394960"/>
          </a:xfrm>
          <a:prstGeom prst="rect">
            <a:avLst/>
          </a:prstGeom>
        </p:spPr>
      </p:pic>
      <p:sp>
        <p:nvSpPr>
          <p:cNvPr id="8" name="Rounded Rectangle 7"/>
          <p:cNvSpPr/>
          <p:nvPr/>
        </p:nvSpPr>
        <p:spPr>
          <a:xfrm>
            <a:off x="4553712" y="1024128"/>
            <a:ext cx="7178040" cy="1170432"/>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36592" y="1097280"/>
            <a:ext cx="6858000" cy="1024128"/>
          </a:xfrm>
          <a:prstGeom prst="rect">
            <a:avLst/>
          </a:prstGeom>
          <a:noFill/>
        </p:spPr>
        <p:txBody>
          <a:bodyPr wrap="square" anchor="t"/>
          <a:lstStyle/>
          <a:p>
            <a:pPr algn="l"/>
            <a:r>
              <a:rPr sz="1500" b="0">
                <a:solidFill>
                  <a:srgbClr val="0B2C4A"/>
                </a:solidFill>
                <a:latin typeface="Calibri"/>
              </a:rPr>
              <a:t>Acute vomiting and lethargy. Two vomits. Household construction. Possible FB. T 98.0 °F, HR 200, RR 30, mm pink tacky, CRT &lt;2 s, QAR. Write the ASA after the labs. Do not clip on history alone.</a:t>
            </a:r>
          </a:p>
        </p:txBody>
      </p:sp>
      <p:sp>
        <p:nvSpPr>
          <p:cNvPr id="10" name="Rounded Rectangle 9"/>
          <p:cNvSpPr/>
          <p:nvPr/>
        </p:nvSpPr>
        <p:spPr>
          <a:xfrm>
            <a:off x="4553712" y="2304288"/>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53712" y="2304288"/>
            <a:ext cx="91440" cy="117043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9744" y="2414016"/>
            <a:ext cx="6812280" cy="329184"/>
          </a:xfrm>
          <a:prstGeom prst="rect">
            <a:avLst/>
          </a:prstGeom>
          <a:noFill/>
        </p:spPr>
        <p:txBody>
          <a:bodyPr wrap="square" anchor="t"/>
          <a:lstStyle/>
          <a:p>
            <a:pPr algn="l"/>
            <a:r>
              <a:rPr sz="1800" b="1">
                <a:solidFill>
                  <a:srgbClr val="0B2C4A"/>
                </a:solidFill>
                <a:latin typeface="Calibri"/>
              </a:rPr>
              <a:t>Why this looked surgical</a:t>
            </a:r>
          </a:p>
        </p:txBody>
      </p:sp>
      <p:sp>
        <p:nvSpPr>
          <p:cNvPr id="13" name="TextBox 12"/>
          <p:cNvSpPr txBox="1"/>
          <p:nvPr/>
        </p:nvSpPr>
        <p:spPr>
          <a:xfrm>
            <a:off x="4809744" y="2761488"/>
            <a:ext cx="6812280" cy="603504"/>
          </a:xfrm>
          <a:prstGeom prst="rect">
            <a:avLst/>
          </a:prstGeom>
          <a:noFill/>
        </p:spPr>
        <p:txBody>
          <a:bodyPr wrap="square" anchor="t"/>
          <a:lstStyle/>
          <a:p>
            <a:pPr algn="l"/>
            <a:r>
              <a:rPr sz="1600" b="0">
                <a:solidFill>
                  <a:srgbClr val="3D4A57"/>
                </a:solidFill>
                <a:latin typeface="Calibri"/>
              </a:rPr>
              <a:t>FB obstruction was on the list. Mildly enlarged abdomen. That is how cats get booked for an exploratory.</a:t>
            </a:r>
          </a:p>
        </p:txBody>
      </p:sp>
      <p:sp>
        <p:nvSpPr>
          <p:cNvPr id="14" name="Rounded Rectangle 13"/>
          <p:cNvSpPr/>
          <p:nvPr/>
        </p:nvSpPr>
        <p:spPr>
          <a:xfrm>
            <a:off x="4553712" y="3566160"/>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53712" y="3566160"/>
            <a:ext cx="91440" cy="117043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9744" y="3675888"/>
            <a:ext cx="6812280" cy="329184"/>
          </a:xfrm>
          <a:prstGeom prst="rect">
            <a:avLst/>
          </a:prstGeom>
          <a:noFill/>
        </p:spPr>
        <p:txBody>
          <a:bodyPr wrap="square" anchor="t"/>
          <a:lstStyle/>
          <a:p>
            <a:pPr algn="l"/>
            <a:r>
              <a:rPr sz="1800" b="1">
                <a:solidFill>
                  <a:srgbClr val="0B2C4A"/>
                </a:solidFill>
                <a:latin typeface="Calibri"/>
              </a:rPr>
              <a:t>What the PE showed</a:t>
            </a:r>
          </a:p>
        </p:txBody>
      </p:sp>
      <p:sp>
        <p:nvSpPr>
          <p:cNvPr id="17" name="TextBox 16"/>
          <p:cNvSpPr txBox="1"/>
          <p:nvPr/>
        </p:nvSpPr>
        <p:spPr>
          <a:xfrm>
            <a:off x="4809744" y="4023360"/>
            <a:ext cx="6812280" cy="603504"/>
          </a:xfrm>
          <a:prstGeom prst="rect">
            <a:avLst/>
          </a:prstGeom>
          <a:noFill/>
        </p:spPr>
        <p:txBody>
          <a:bodyPr wrap="square" anchor="t"/>
          <a:lstStyle/>
          <a:p>
            <a:pPr algn="l"/>
            <a:r>
              <a:rPr sz="1600" b="0">
                <a:solidFill>
                  <a:srgbClr val="3D4A57"/>
                </a:solidFill>
                <a:latin typeface="Calibri"/>
              </a:rPr>
              <a:t>Heart/lungs normal. Ambulatory ×4. Dehydrated. Quiet and recumbent in this photograph. The PE did not prove a foreign body.</a:t>
            </a:r>
          </a:p>
        </p:txBody>
      </p:sp>
      <p:sp>
        <p:nvSpPr>
          <p:cNvPr id="18" name="Rounded Rectangle 17"/>
          <p:cNvSpPr/>
          <p:nvPr/>
        </p:nvSpPr>
        <p:spPr>
          <a:xfrm>
            <a:off x="4553712" y="4828032"/>
            <a:ext cx="7178040" cy="1591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53712" y="4828032"/>
            <a:ext cx="91440" cy="1591056"/>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09744" y="4937760"/>
            <a:ext cx="6812280" cy="329184"/>
          </a:xfrm>
          <a:prstGeom prst="rect">
            <a:avLst/>
          </a:prstGeom>
          <a:noFill/>
        </p:spPr>
        <p:txBody>
          <a:bodyPr wrap="square" anchor="t"/>
          <a:lstStyle/>
          <a:p>
            <a:pPr algn="l"/>
            <a:r>
              <a:rPr sz="1800" b="1">
                <a:solidFill>
                  <a:srgbClr val="0B2C4A"/>
                </a:solidFill>
                <a:latin typeface="Calibri"/>
              </a:rPr>
              <a:t>Labs, then write ASA</a:t>
            </a:r>
          </a:p>
        </p:txBody>
      </p:sp>
      <p:sp>
        <p:nvSpPr>
          <p:cNvPr id="21" name="TextBox 20"/>
          <p:cNvSpPr txBox="1"/>
          <p:nvPr/>
        </p:nvSpPr>
        <p:spPr>
          <a:xfrm>
            <a:off x="4809744" y="5285232"/>
            <a:ext cx="6812280" cy="1024128"/>
          </a:xfrm>
          <a:prstGeom prst="rect">
            <a:avLst/>
          </a:prstGeom>
          <a:noFill/>
        </p:spPr>
        <p:txBody>
          <a:bodyPr wrap="square" anchor="t"/>
          <a:lstStyle/>
          <a:p>
            <a:pPr algn="l"/>
            <a:r>
              <a:rPr sz="1600" b="0">
                <a:solidFill>
                  <a:srgbClr val="3D4A57"/>
                </a:solidFill>
                <a:latin typeface="Calibri"/>
              </a:rPr>
              <a:t>Right kidney fluid-filled and non-functional on AUS. Creatinine 3.0 → 4.71 on fluids. Mechanism not assigned. Quiz: what ASA? Then: do you cut today?</a:t>
            </a:r>
          </a:p>
        </p:txBody>
      </p:sp>
      <p:sp>
        <p:nvSpPr>
          <p:cNvPr id="22" name="Rectangle 2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4" name="TextBox 2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10  /  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Pre-anesthetic assessment</a:t>
            </a:r>
          </a:p>
        </p:txBody>
      </p:sp>
      <p:sp>
        <p:nvSpPr>
          <p:cNvPr id="7" name="Rounded Rectangle 6"/>
          <p:cNvSpPr/>
          <p:nvPr/>
        </p:nvSpPr>
        <p:spPr>
          <a:xfrm>
            <a:off x="365760" y="987552"/>
            <a:ext cx="11475720" cy="6400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24128"/>
            <a:ext cx="11201400" cy="566928"/>
          </a:xfrm>
          <a:prstGeom prst="rect">
            <a:avLst/>
          </a:prstGeom>
          <a:noFill/>
        </p:spPr>
        <p:txBody>
          <a:bodyPr wrap="square" anchor="ctr"/>
          <a:lstStyle/>
          <a:p>
            <a:pPr algn="l"/>
            <a:r>
              <a:rPr sz="1600" b="0">
                <a:solidFill>
                  <a:srgbClr val="0B2C4A"/>
                </a:solidFill>
                <a:latin typeface="Calibri"/>
              </a:rPr>
              <a:t>PCV / TP: EDTA tube → spin hematocrit → read PCV → snap the capillary tube → refractometer TP.  BUN: chemistry or Azo stick.  Request, record, interpret. Then ASA. Then premed IM/SQ. Not before the exam.</a:t>
            </a:r>
          </a:p>
        </p:txBody>
      </p:sp>
      <p:pic>
        <p:nvPicPr>
          <p:cNvPr id="9" name="Picture 8" descr="preanesthetic_assessment_table.png"/>
          <p:cNvPicPr>
            <a:picLocks noChangeAspect="1"/>
          </p:cNvPicPr>
          <p:nvPr/>
        </p:nvPicPr>
        <p:blipFill>
          <a:blip r:embed="rId2"/>
          <a:stretch>
            <a:fillRect/>
          </a:stretch>
        </p:blipFill>
        <p:spPr>
          <a:xfrm>
            <a:off x="256032" y="1700784"/>
            <a:ext cx="11686032" cy="4791456"/>
          </a:xfrm>
          <a:prstGeom prst="rect">
            <a:avLst/>
          </a:prstGeom>
        </p:spPr>
      </p:pic>
      <p:sp>
        <p:nvSpPr>
          <p:cNvPr id="10" name="Rectangle 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2" name="TextBox 1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11  /  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Laboratory values inform risk</a:t>
            </a:r>
          </a:p>
        </p:txBody>
      </p:sp>
      <p:sp>
        <p:nvSpPr>
          <p:cNvPr id="7" name="Rectangle 6"/>
          <p:cNvSpPr/>
          <p:nvPr/>
        </p:nvSpPr>
        <p:spPr>
          <a:xfrm>
            <a:off x="411480" y="1078992"/>
            <a:ext cx="1133856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78992"/>
            <a:ext cx="3200400" cy="502920"/>
          </a:xfrm>
          <a:prstGeom prst="rect">
            <a:avLst/>
          </a:prstGeom>
          <a:noFill/>
        </p:spPr>
        <p:txBody>
          <a:bodyPr wrap="square" anchor="ctr"/>
          <a:lstStyle/>
          <a:p>
            <a:pPr algn="l"/>
            <a:r>
              <a:rPr sz="1600" b="1">
                <a:solidFill>
                  <a:srgbClr val="C5A35A"/>
                </a:solidFill>
                <a:latin typeface="Calibri"/>
              </a:rPr>
              <a:t>Finding</a:t>
            </a:r>
          </a:p>
        </p:txBody>
      </p:sp>
      <p:sp>
        <p:nvSpPr>
          <p:cNvPr id="9" name="TextBox 8"/>
          <p:cNvSpPr txBox="1"/>
          <p:nvPr/>
        </p:nvSpPr>
        <p:spPr>
          <a:xfrm>
            <a:off x="3749039" y="1078992"/>
            <a:ext cx="3657600" cy="502920"/>
          </a:xfrm>
          <a:prstGeom prst="rect">
            <a:avLst/>
          </a:prstGeom>
          <a:noFill/>
        </p:spPr>
        <p:txBody>
          <a:bodyPr wrap="square" anchor="ctr"/>
          <a:lstStyle/>
          <a:p>
            <a:pPr algn="l"/>
            <a:r>
              <a:rPr sz="1600" b="1">
                <a:solidFill>
                  <a:srgbClr val="FFFFFF"/>
                </a:solidFill>
                <a:latin typeface="Calibri"/>
              </a:rPr>
              <a:t>Typical healthy adult</a:t>
            </a:r>
          </a:p>
        </p:txBody>
      </p:sp>
      <p:sp>
        <p:nvSpPr>
          <p:cNvPr id="10" name="TextBox 9"/>
          <p:cNvSpPr txBox="1"/>
          <p:nvPr/>
        </p:nvSpPr>
        <p:spPr>
          <a:xfrm>
            <a:off x="7498079" y="1078992"/>
            <a:ext cx="4023360" cy="502920"/>
          </a:xfrm>
          <a:prstGeom prst="rect">
            <a:avLst/>
          </a:prstGeom>
          <a:noFill/>
        </p:spPr>
        <p:txBody>
          <a:bodyPr wrap="square" anchor="ctr"/>
          <a:lstStyle/>
          <a:p>
            <a:pPr algn="l"/>
            <a:r>
              <a:rPr sz="1600" b="1">
                <a:solidFill>
                  <a:srgbClr val="FFFFFF"/>
                </a:solidFill>
                <a:latin typeface="Calibri"/>
              </a:rPr>
              <a:t>Repeat / stabilize first</a:t>
            </a:r>
          </a:p>
        </p:txBody>
      </p:sp>
      <p:sp>
        <p:nvSpPr>
          <p:cNvPr id="11" name="Rounded Rectangle 10"/>
          <p:cNvSpPr/>
          <p:nvPr/>
        </p:nvSpPr>
        <p:spPr>
          <a:xfrm>
            <a:off x="411480" y="1645920"/>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1645920"/>
            <a:ext cx="3017520" cy="768096"/>
          </a:xfrm>
          <a:prstGeom prst="rect">
            <a:avLst/>
          </a:prstGeom>
          <a:noFill/>
        </p:spPr>
        <p:txBody>
          <a:bodyPr wrap="square" anchor="ctr"/>
          <a:lstStyle/>
          <a:p>
            <a:pPr algn="l"/>
            <a:r>
              <a:rPr sz="1800" b="1">
                <a:solidFill>
                  <a:srgbClr val="0B2C4A"/>
                </a:solidFill>
                <a:latin typeface="Calibri"/>
              </a:rPr>
              <a:t>PCV</a:t>
            </a:r>
          </a:p>
        </p:txBody>
      </p:sp>
      <p:sp>
        <p:nvSpPr>
          <p:cNvPr id="13" name="TextBox 12"/>
          <p:cNvSpPr txBox="1"/>
          <p:nvPr/>
        </p:nvSpPr>
        <p:spPr>
          <a:xfrm>
            <a:off x="3749039" y="1645920"/>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4" name="TextBox 13"/>
          <p:cNvSpPr txBox="1"/>
          <p:nvPr/>
        </p:nvSpPr>
        <p:spPr>
          <a:xfrm>
            <a:off x="7498079" y="1645920"/>
            <a:ext cx="4023360" cy="768096"/>
          </a:xfrm>
          <a:prstGeom prst="rect">
            <a:avLst/>
          </a:prstGeom>
          <a:noFill/>
        </p:spPr>
        <p:txBody>
          <a:bodyPr wrap="square" anchor="ctr"/>
          <a:lstStyle/>
          <a:p>
            <a:pPr algn="l"/>
            <a:r>
              <a:rPr sz="1600" b="0">
                <a:solidFill>
                  <a:srgbClr val="8B2E2E"/>
                </a:solidFill>
                <a:latin typeface="Calibri"/>
              </a:rPr>
              <a:t>Anemia: use severity and chronicity (Grubb 2020)</a:t>
            </a:r>
          </a:p>
        </p:txBody>
      </p:sp>
      <p:sp>
        <p:nvSpPr>
          <p:cNvPr id="15" name="Rounded Rectangle 14"/>
          <p:cNvSpPr/>
          <p:nvPr/>
        </p:nvSpPr>
        <p:spPr>
          <a:xfrm>
            <a:off x="411480" y="2487168"/>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2487168"/>
            <a:ext cx="3017520" cy="768096"/>
          </a:xfrm>
          <a:prstGeom prst="rect">
            <a:avLst/>
          </a:prstGeom>
          <a:noFill/>
        </p:spPr>
        <p:txBody>
          <a:bodyPr wrap="square" anchor="ctr"/>
          <a:lstStyle/>
          <a:p>
            <a:pPr algn="l"/>
            <a:r>
              <a:rPr sz="1800" b="1">
                <a:solidFill>
                  <a:srgbClr val="0B2C4A"/>
                </a:solidFill>
                <a:latin typeface="Calibri"/>
              </a:rPr>
              <a:t>TP</a:t>
            </a:r>
          </a:p>
        </p:txBody>
      </p:sp>
      <p:sp>
        <p:nvSpPr>
          <p:cNvPr id="17" name="TextBox 16"/>
          <p:cNvSpPr txBox="1"/>
          <p:nvPr/>
        </p:nvSpPr>
        <p:spPr>
          <a:xfrm>
            <a:off x="3749039" y="2487168"/>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8" name="TextBox 17"/>
          <p:cNvSpPr txBox="1"/>
          <p:nvPr/>
        </p:nvSpPr>
        <p:spPr>
          <a:xfrm>
            <a:off x="7498079" y="2487168"/>
            <a:ext cx="4023360" cy="768096"/>
          </a:xfrm>
          <a:prstGeom prst="rect">
            <a:avLst/>
          </a:prstGeom>
          <a:noFill/>
        </p:spPr>
        <p:txBody>
          <a:bodyPr wrap="square" anchor="ctr"/>
          <a:lstStyle/>
          <a:p>
            <a:pPr algn="l"/>
            <a:r>
              <a:rPr sz="1600" b="0">
                <a:solidFill>
                  <a:srgbClr val="8B2E2E"/>
                </a:solidFill>
                <a:latin typeface="Calibri"/>
              </a:rPr>
              <a:t>High with PCV: dehydration. Low: loss / dilution</a:t>
            </a:r>
          </a:p>
        </p:txBody>
      </p:sp>
      <p:sp>
        <p:nvSpPr>
          <p:cNvPr id="19" name="Rounded Rectangle 18"/>
          <p:cNvSpPr/>
          <p:nvPr/>
        </p:nvSpPr>
        <p:spPr>
          <a:xfrm>
            <a:off x="411480" y="3328416"/>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3328416"/>
            <a:ext cx="3017520" cy="768096"/>
          </a:xfrm>
          <a:prstGeom prst="rect">
            <a:avLst/>
          </a:prstGeom>
          <a:noFill/>
        </p:spPr>
        <p:txBody>
          <a:bodyPr wrap="square" anchor="ctr"/>
          <a:lstStyle/>
          <a:p>
            <a:pPr algn="l"/>
            <a:r>
              <a:rPr sz="1800" b="1">
                <a:solidFill>
                  <a:srgbClr val="0B2C4A"/>
                </a:solidFill>
                <a:latin typeface="Calibri"/>
              </a:rPr>
              <a:t>BUN</a:t>
            </a:r>
          </a:p>
        </p:txBody>
      </p:sp>
      <p:sp>
        <p:nvSpPr>
          <p:cNvPr id="21" name="TextBox 20"/>
          <p:cNvSpPr txBox="1"/>
          <p:nvPr/>
        </p:nvSpPr>
        <p:spPr>
          <a:xfrm>
            <a:off x="3749039" y="3328416"/>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2" name="TextBox 21"/>
          <p:cNvSpPr txBox="1"/>
          <p:nvPr/>
        </p:nvSpPr>
        <p:spPr>
          <a:xfrm>
            <a:off x="7498079" y="3328416"/>
            <a:ext cx="4023360" cy="768096"/>
          </a:xfrm>
          <a:prstGeom prst="rect">
            <a:avLst/>
          </a:prstGeom>
          <a:noFill/>
        </p:spPr>
        <p:txBody>
          <a:bodyPr wrap="square" anchor="ctr"/>
          <a:lstStyle/>
          <a:p>
            <a:pPr algn="l"/>
            <a:r>
              <a:rPr sz="1600" b="0">
                <a:solidFill>
                  <a:srgbClr val="8B2E2E"/>
                </a:solidFill>
                <a:latin typeface="Calibri"/>
              </a:rPr>
              <a:t>Azotemia: skip NSAID, rethink fluids and the cut</a:t>
            </a:r>
          </a:p>
        </p:txBody>
      </p:sp>
      <p:sp>
        <p:nvSpPr>
          <p:cNvPr id="23" name="Rounded Rectangle 22"/>
          <p:cNvSpPr/>
          <p:nvPr/>
        </p:nvSpPr>
        <p:spPr>
          <a:xfrm>
            <a:off x="411480" y="416966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4169664"/>
            <a:ext cx="3017520" cy="768096"/>
          </a:xfrm>
          <a:prstGeom prst="rect">
            <a:avLst/>
          </a:prstGeom>
          <a:noFill/>
        </p:spPr>
        <p:txBody>
          <a:bodyPr wrap="square" anchor="ctr"/>
          <a:lstStyle/>
          <a:p>
            <a:pPr algn="l"/>
            <a:r>
              <a:rPr sz="1800" b="1">
                <a:solidFill>
                  <a:srgbClr val="0B2C4A"/>
                </a:solidFill>
                <a:latin typeface="Calibri"/>
              </a:rPr>
              <a:t>Potassium</a:t>
            </a:r>
          </a:p>
        </p:txBody>
      </p:sp>
      <p:sp>
        <p:nvSpPr>
          <p:cNvPr id="25" name="TextBox 24"/>
          <p:cNvSpPr txBox="1"/>
          <p:nvPr/>
        </p:nvSpPr>
        <p:spPr>
          <a:xfrm>
            <a:off x="3749039" y="4169664"/>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6" name="TextBox 25"/>
          <p:cNvSpPr txBox="1"/>
          <p:nvPr/>
        </p:nvSpPr>
        <p:spPr>
          <a:xfrm>
            <a:off x="7498079" y="4169664"/>
            <a:ext cx="4023360" cy="768096"/>
          </a:xfrm>
          <a:prstGeom prst="rect">
            <a:avLst/>
          </a:prstGeom>
          <a:noFill/>
        </p:spPr>
        <p:txBody>
          <a:bodyPr wrap="square" anchor="ctr"/>
          <a:lstStyle/>
          <a:p>
            <a:pPr algn="l"/>
            <a:r>
              <a:rPr sz="1600" b="0">
                <a:solidFill>
                  <a:srgbClr val="8B2E2E"/>
                </a:solidFill>
                <a:latin typeface="Calibri"/>
              </a:rPr>
              <a:t>&gt;6.0 mEq/L (Grubb 2020: correct first)</a:t>
            </a:r>
          </a:p>
        </p:txBody>
      </p:sp>
      <p:sp>
        <p:nvSpPr>
          <p:cNvPr id="27" name="Rounded Rectangle 26"/>
          <p:cNvSpPr/>
          <p:nvPr/>
        </p:nvSpPr>
        <p:spPr>
          <a:xfrm>
            <a:off x="411480" y="5010912"/>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010912"/>
            <a:ext cx="3017520" cy="768096"/>
          </a:xfrm>
          <a:prstGeom prst="rect">
            <a:avLst/>
          </a:prstGeom>
          <a:noFill/>
        </p:spPr>
        <p:txBody>
          <a:bodyPr wrap="square" anchor="ctr"/>
          <a:lstStyle/>
          <a:p>
            <a:pPr algn="l"/>
            <a:r>
              <a:rPr sz="1800" b="1">
                <a:solidFill>
                  <a:srgbClr val="0B2C4A"/>
                </a:solidFill>
                <a:latin typeface="Calibri"/>
              </a:rPr>
              <a:t>Albumin</a:t>
            </a:r>
          </a:p>
        </p:txBody>
      </p:sp>
      <p:sp>
        <p:nvSpPr>
          <p:cNvPr id="29" name="TextBox 28"/>
          <p:cNvSpPr txBox="1"/>
          <p:nvPr/>
        </p:nvSpPr>
        <p:spPr>
          <a:xfrm>
            <a:off x="3749039" y="5010912"/>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30" name="TextBox 29"/>
          <p:cNvSpPr txBox="1"/>
          <p:nvPr/>
        </p:nvSpPr>
        <p:spPr>
          <a:xfrm>
            <a:off x="7498079" y="5010912"/>
            <a:ext cx="4023360" cy="768096"/>
          </a:xfrm>
          <a:prstGeom prst="rect">
            <a:avLst/>
          </a:prstGeom>
          <a:noFill/>
        </p:spPr>
        <p:txBody>
          <a:bodyPr wrap="square" anchor="ctr"/>
          <a:lstStyle/>
          <a:p>
            <a:pPr algn="l"/>
            <a:r>
              <a:rPr sz="1600" b="0">
                <a:solidFill>
                  <a:srgbClr val="8B2E2E"/>
                </a:solidFill>
                <a:latin typeface="Calibri"/>
              </a:rPr>
              <a:t>&lt;2.0 g/dL: edema, poor healing (Pardo 2024)</a:t>
            </a:r>
          </a:p>
        </p:txBody>
      </p:sp>
      <p:sp>
        <p:nvSpPr>
          <p:cNvPr id="31" name="TextBox 30"/>
          <p:cNvSpPr txBox="1"/>
          <p:nvPr/>
        </p:nvSpPr>
        <p:spPr>
          <a:xfrm>
            <a:off x="502920" y="5943600"/>
            <a:ext cx="11155680" cy="457200"/>
          </a:xfrm>
          <a:prstGeom prst="rect">
            <a:avLst/>
          </a:prstGeom>
          <a:noFill/>
        </p:spPr>
        <p:txBody>
          <a:bodyPr wrap="square" anchor="t"/>
          <a:lstStyle/>
          <a:p>
            <a:pPr algn="l"/>
            <a:r>
              <a:rPr sz="1600" b="0">
                <a:solidFill>
                  <a:srgbClr val="0B2C4A"/>
                </a:solidFill>
                <a:latin typeface="Calibri"/>
              </a:rPr>
              <a:t>MOA minimum is PCV, TP, BUN. A normal CBC does not assign Status 1. Azotemia can cancel the cut. Low albumin is a deficit, not an ASA number.</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12  /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Anesthetic drug protocol</a:t>
            </a:r>
          </a:p>
        </p:txBody>
      </p:sp>
      <p:sp>
        <p:nvSpPr>
          <p:cNvPr id="7" name="Rounded Rectangle 6"/>
          <p:cNvSpPr/>
          <p:nvPr/>
        </p:nvSpPr>
        <p:spPr>
          <a:xfrm>
            <a:off x="365760"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987552"/>
            <a:ext cx="3767328" cy="3474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987552"/>
            <a:ext cx="3767328" cy="347472"/>
          </a:xfrm>
          <a:prstGeom prst="rect">
            <a:avLst/>
          </a:prstGeom>
          <a:noFill/>
        </p:spPr>
        <p:txBody>
          <a:bodyPr wrap="square" anchor="ctr"/>
          <a:lstStyle/>
          <a:p>
            <a:pPr algn="ctr"/>
            <a:r>
              <a:rPr sz="1600" b="1">
                <a:solidFill>
                  <a:srgbClr val="FFFFFF"/>
                </a:solidFill>
                <a:latin typeface="Calibri"/>
              </a:rPr>
              <a:t>1. Premed after ASA</a:t>
            </a:r>
          </a:p>
        </p:txBody>
      </p:sp>
      <p:sp>
        <p:nvSpPr>
          <p:cNvPr id="10" name="TextBox 9"/>
          <p:cNvSpPr txBox="1"/>
          <p:nvPr/>
        </p:nvSpPr>
        <p:spPr>
          <a:xfrm>
            <a:off x="475488" y="1371600"/>
            <a:ext cx="3547872" cy="621792"/>
          </a:xfrm>
          <a:prstGeom prst="rect">
            <a:avLst/>
          </a:prstGeom>
          <a:noFill/>
        </p:spPr>
        <p:txBody>
          <a:bodyPr wrap="square" anchor="t"/>
          <a:lstStyle/>
          <a:p>
            <a:pPr algn="l"/>
            <a:r>
              <a:rPr sz="1400" b="0">
                <a:solidFill>
                  <a:srgbClr val="1C1C1C"/>
                </a:solidFill>
                <a:latin typeface="Calibri"/>
              </a:rPr>
              <a:t>IM or SQ. Not before the exam. Healthy: DKT or BAA.</a:t>
            </a:r>
          </a:p>
        </p:txBody>
      </p:sp>
      <p:sp>
        <p:nvSpPr>
          <p:cNvPr id="11" name="Rounded Rectangle 10"/>
          <p:cNvSpPr/>
          <p:nvPr/>
        </p:nvSpPr>
        <p:spPr>
          <a:xfrm>
            <a:off x="4279392"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79392" y="987552"/>
            <a:ext cx="3767328" cy="3474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79392" y="987552"/>
            <a:ext cx="3767328" cy="347472"/>
          </a:xfrm>
          <a:prstGeom prst="rect">
            <a:avLst/>
          </a:prstGeom>
          <a:noFill/>
        </p:spPr>
        <p:txBody>
          <a:bodyPr wrap="square" anchor="ctr"/>
          <a:lstStyle/>
          <a:p>
            <a:pPr algn="ctr"/>
            <a:r>
              <a:rPr sz="1600" b="1">
                <a:solidFill>
                  <a:srgbClr val="FFFFFF"/>
                </a:solidFill>
                <a:latin typeface="Calibri"/>
              </a:rPr>
              <a:t>2. Induce IV to effect</a:t>
            </a:r>
          </a:p>
        </p:txBody>
      </p:sp>
      <p:sp>
        <p:nvSpPr>
          <p:cNvPr id="14" name="TextBox 13"/>
          <p:cNvSpPr txBox="1"/>
          <p:nvPr/>
        </p:nvSpPr>
        <p:spPr>
          <a:xfrm>
            <a:off x="4389120" y="1371600"/>
            <a:ext cx="3547872" cy="621792"/>
          </a:xfrm>
          <a:prstGeom prst="rect">
            <a:avLst/>
          </a:prstGeom>
          <a:noFill/>
        </p:spPr>
        <p:txBody>
          <a:bodyPr wrap="square" anchor="t"/>
          <a:lstStyle/>
          <a:p>
            <a:pPr algn="l"/>
            <a:r>
              <a:rPr sz="1400" b="0">
                <a:solidFill>
                  <a:srgbClr val="1C1C1C"/>
                </a:solidFill>
                <a:latin typeface="Calibri"/>
              </a:rPr>
              <a:t>Alfaxalone, propofol, or ketamine + benzo. Then intubate.</a:t>
            </a:r>
          </a:p>
        </p:txBody>
      </p:sp>
      <p:sp>
        <p:nvSpPr>
          <p:cNvPr id="15" name="Rounded Rectangle 14"/>
          <p:cNvSpPr/>
          <p:nvPr/>
        </p:nvSpPr>
        <p:spPr>
          <a:xfrm>
            <a:off x="8193024"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93024" y="987552"/>
            <a:ext cx="3767328"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93024" y="987552"/>
            <a:ext cx="3767328" cy="347472"/>
          </a:xfrm>
          <a:prstGeom prst="rect">
            <a:avLst/>
          </a:prstGeom>
          <a:noFill/>
        </p:spPr>
        <p:txBody>
          <a:bodyPr wrap="square" anchor="ctr"/>
          <a:lstStyle/>
          <a:p>
            <a:pPr algn="ctr"/>
            <a:r>
              <a:rPr sz="1600" b="1">
                <a:solidFill>
                  <a:srgbClr val="FFFFFF"/>
                </a:solidFill>
                <a:latin typeface="Calibri"/>
              </a:rPr>
              <a:t>3. Iso or sevo to MAC</a:t>
            </a:r>
          </a:p>
        </p:txBody>
      </p:sp>
      <p:sp>
        <p:nvSpPr>
          <p:cNvPr id="18" name="TextBox 17"/>
          <p:cNvSpPr txBox="1"/>
          <p:nvPr/>
        </p:nvSpPr>
        <p:spPr>
          <a:xfrm>
            <a:off x="8302752" y="1371600"/>
            <a:ext cx="3547872" cy="621792"/>
          </a:xfrm>
          <a:prstGeom prst="rect">
            <a:avLst/>
          </a:prstGeom>
          <a:noFill/>
        </p:spPr>
        <p:txBody>
          <a:bodyPr wrap="square" anchor="t"/>
          <a:lstStyle/>
          <a:p>
            <a:pPr algn="l"/>
            <a:r>
              <a:rPr sz="1400" b="0">
                <a:solidFill>
                  <a:srgbClr val="1C1C1C"/>
                </a:solidFill>
                <a:latin typeface="Calibri"/>
              </a:rPr>
              <a:t>Premed lowers MAC. Circle the inhalant you used.</a:t>
            </a:r>
          </a:p>
        </p:txBody>
      </p:sp>
      <p:pic>
        <p:nvPicPr>
          <p:cNvPr id="19" name="Picture 18" descr="anesthesia_protocol_record.png"/>
          <p:cNvPicPr>
            <a:picLocks noChangeAspect="1"/>
          </p:cNvPicPr>
          <p:nvPr/>
        </p:nvPicPr>
        <p:blipFill>
          <a:blip r:embed="rId2"/>
          <a:stretch>
            <a:fillRect/>
          </a:stretch>
        </p:blipFill>
        <p:spPr>
          <a:xfrm>
            <a:off x="256032" y="2121408"/>
            <a:ext cx="11686032" cy="4389120"/>
          </a:xfrm>
          <a:prstGeom prst="rect">
            <a:avLst/>
          </a:prstGeom>
        </p:spPr>
      </p:pic>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13  /  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Correct deficits before you cut</a:t>
            </a:r>
          </a:p>
        </p:txBody>
      </p:sp>
      <p:sp>
        <p:nvSpPr>
          <p:cNvPr id="7" name="Rounded Rectangle 6"/>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97280"/>
            <a:ext cx="3703320" cy="548640"/>
          </a:xfrm>
          <a:prstGeom prst="rect">
            <a:avLst/>
          </a:prstGeom>
          <a:noFill/>
        </p:spPr>
        <p:txBody>
          <a:bodyPr wrap="square" anchor="ctr"/>
          <a:lstStyle/>
          <a:p>
            <a:pPr algn="ctr"/>
            <a:r>
              <a:rPr sz="1800" b="1">
                <a:solidFill>
                  <a:srgbClr val="FFFFFF"/>
                </a:solidFill>
                <a:latin typeface="Calibri"/>
              </a:rPr>
              <a:t>Correct these first</a:t>
            </a:r>
          </a:p>
        </p:txBody>
      </p:sp>
      <p:sp>
        <p:nvSpPr>
          <p:cNvPr id="10" name="TextBox 9"/>
          <p:cNvSpPr txBox="1"/>
          <p:nvPr/>
        </p:nvSpPr>
        <p:spPr>
          <a:xfrm>
            <a:off x="576072" y="1755648"/>
            <a:ext cx="3383280" cy="4160520"/>
          </a:xfrm>
          <a:prstGeom prst="rect">
            <a:avLst/>
          </a:prstGeom>
          <a:noFill/>
        </p:spPr>
        <p:txBody>
          <a:bodyPr wrap="square" anchor="t"/>
          <a:lstStyle/>
          <a:p>
            <a:pPr algn="l"/>
            <a:r>
              <a:rPr sz="1400" b="0">
                <a:solidFill>
                  <a:srgbClr val="1C1C1C"/>
                </a:solidFill>
                <a:latin typeface="Calibri"/>
              </a:rPr>
              <a:t>Grubb et al. 2020, before anesthesia:
Dehydration / hypovolemia
K+ &gt;6.0 mEq/L
pH &lt;7.2
Glucose &lt;60 mg/dL
Hypothermia &lt;99 °F
Anemia (severity, chronicity)
Life-threatening arrhythmia
CHF, cyanosis, pneumothorax
Oliguria / anuria
Uncontrolled pain or anxiety</a:t>
            </a:r>
          </a:p>
        </p:txBody>
      </p:sp>
      <p:sp>
        <p:nvSpPr>
          <p:cNvPr id="11" name="Rounded Rectangle 10"/>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1097280"/>
            <a:ext cx="3703320" cy="548640"/>
          </a:xfrm>
          <a:prstGeom prst="rect">
            <a:avLst/>
          </a:prstGeom>
          <a:noFill/>
        </p:spPr>
        <p:txBody>
          <a:bodyPr wrap="square" anchor="ctr"/>
          <a:lstStyle/>
          <a:p>
            <a:pPr algn="ctr"/>
            <a:r>
              <a:rPr sz="1800" b="1">
                <a:solidFill>
                  <a:srgbClr val="FFFFFF"/>
                </a:solidFill>
                <a:latin typeface="Calibri"/>
              </a:rPr>
              <a:t>If albumin is low</a:t>
            </a:r>
          </a:p>
        </p:txBody>
      </p:sp>
      <p:sp>
        <p:nvSpPr>
          <p:cNvPr id="14" name="TextBox 13"/>
          <p:cNvSpPr txBox="1"/>
          <p:nvPr/>
        </p:nvSpPr>
        <p:spPr>
          <a:xfrm>
            <a:off x="4462272" y="1755648"/>
            <a:ext cx="3383280" cy="4160520"/>
          </a:xfrm>
          <a:prstGeom prst="rect">
            <a:avLst/>
          </a:prstGeom>
          <a:noFill/>
        </p:spPr>
        <p:txBody>
          <a:bodyPr wrap="square" anchor="t"/>
          <a:lstStyle/>
          <a:p>
            <a:pPr algn="l"/>
            <a:r>
              <a:rPr sz="1400" b="0">
                <a:solidFill>
                  <a:srgbClr val="1C1C1C"/>
                </a:solidFill>
                <a:latin typeface="Calibri"/>
              </a:rPr>
              <a:t>Find the cause: GI loss, kidney, liver, exudate, starvation.
Delay elective surgery if you can treat and feed.
&lt;2.0 g/dL: edema, poor perfusion, poor wound healing (Pardo 2024).
Plasma: about 20–25 mL/kg to raise albumin 0.5 g/dL. Often impractical.
Species-specific albumin if severe and you must operate. Human albumin can cause anaphylaxis.
Do not flood with crystalloid when the problem is oncotic pressure.</a:t>
            </a:r>
          </a:p>
        </p:txBody>
      </p:sp>
      <p:sp>
        <p:nvSpPr>
          <p:cNvPr id="15" name="Rounded Rectangle 14"/>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1097280"/>
            <a:ext cx="3703320" cy="548640"/>
          </a:xfrm>
          <a:prstGeom prst="rect">
            <a:avLst/>
          </a:prstGeom>
          <a:noFill/>
        </p:spPr>
        <p:txBody>
          <a:bodyPr wrap="square" anchor="ctr"/>
          <a:lstStyle/>
          <a:p>
            <a:pPr algn="ctr"/>
            <a:r>
              <a:rPr sz="1800" b="1">
                <a:solidFill>
                  <a:srgbClr val="FFFFFF"/>
                </a:solidFill>
                <a:latin typeface="Calibri"/>
              </a:rPr>
              <a:t>If you still operate</a:t>
            </a:r>
          </a:p>
        </p:txBody>
      </p:sp>
      <p:sp>
        <p:nvSpPr>
          <p:cNvPr id="18" name="TextBox 17"/>
          <p:cNvSpPr txBox="1"/>
          <p:nvPr/>
        </p:nvSpPr>
        <p:spPr>
          <a:xfrm>
            <a:off x="8348472" y="1755648"/>
            <a:ext cx="3383280" cy="4160520"/>
          </a:xfrm>
          <a:prstGeom prst="rect">
            <a:avLst/>
          </a:prstGeom>
          <a:noFill/>
        </p:spPr>
        <p:txBody>
          <a:bodyPr wrap="square" anchor="t"/>
          <a:lstStyle/>
          <a:p>
            <a:pPr algn="l"/>
            <a:r>
              <a:rPr sz="1400" b="0">
                <a:solidFill>
                  <a:srgbClr val="1C1C1C"/>
                </a:solidFill>
                <a:latin typeface="Calibri"/>
              </a:rPr>
              <a:t>Delay elective for pyoderma over the site.
Emergency: resuscitate volume, then cut. You cannot wait for albumin to normalize in GDV or septic abdomen.
Gentle tissue handling. Obliterate dead space. Warm the patient. Nutrition as soon as the gut allows.
Rising creatinine that threatens life: cancel the elective or exploratory cut.</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14  /  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Fasting and informed consent</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Fasting (Grubb et al. 2020 AAHA)</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Healthy adult dog/cat: food 4–6 h; water until premedication.</a:t>
            </a:r>
          </a:p>
          <a:p>
            <a:pPr algn="l">
              <a:spcAft>
                <a:spcPts val="600"/>
              </a:spcAft>
            </a:pPr>
            <a:r>
              <a:rPr sz="1600" b="0">
                <a:solidFill>
                  <a:srgbClr val="1C1C1C"/>
                </a:solidFill>
                <a:latin typeface="Calibri"/>
              </a:rPr>
              <a:t>▸  Some hospitals still use 8–12 h NPO. Teach aspiration versus hypoglycemia.</a:t>
            </a:r>
          </a:p>
          <a:p>
            <a:pPr algn="l">
              <a:spcAft>
                <a:spcPts val="600"/>
              </a:spcAft>
            </a:pPr>
            <a:r>
              <a:rPr sz="1600" b="0">
                <a:solidFill>
                  <a:srgbClr val="1C1C1C"/>
                </a:solidFill>
                <a:latin typeface="Calibri"/>
              </a:rPr>
              <a:t>▸  Neonates / &lt;2 kg: food fast no longer than 1–2 h.</a:t>
            </a:r>
          </a:p>
          <a:p>
            <a:pPr algn="l">
              <a:spcAft>
                <a:spcPts val="600"/>
              </a:spcAft>
            </a:pPr>
            <a:r>
              <a:rPr sz="1600" b="0">
                <a:solidFill>
                  <a:srgbClr val="1C1C1C"/>
                </a:solidFill>
                <a:latin typeface="Calibri"/>
              </a:rPr>
              <a:t>▸  Brachycephalics: same fasting as the adult or neonate row. Pre-oxygenate 3 min with 100% O2 (Grubb 2020). Extubate when they can protect the airway, not at the first swallow.</a:t>
            </a:r>
          </a:p>
          <a:p>
            <a:pPr algn="l">
              <a:spcAft>
                <a:spcPts val="600"/>
              </a:spcAft>
            </a:pPr>
            <a:r>
              <a:rPr sz="1600" b="0">
                <a:solidFill>
                  <a:srgbClr val="1C1C1C"/>
                </a:solidFill>
                <a:latin typeface="Calibri"/>
              </a:rPr>
              <a:t>▸  Ask what was eaten this morning. Clients feed ‘just a biscuit.’</a:t>
            </a:r>
          </a:p>
          <a:p>
            <a:pPr algn="l">
              <a:spcAft>
                <a:spcPts val="600"/>
              </a:spcAft>
            </a:pPr>
            <a:r>
              <a:rPr sz="1600" b="0">
                <a:solidFill>
                  <a:srgbClr val="1C1C1C"/>
                </a:solidFill>
                <a:latin typeface="Calibri"/>
              </a:rPr>
              <a:t>▸  Diabetics: write the insulin dose and a small meal with anesthesia before drop-off.</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Consent, then file it</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Procedure name in plain language, and the reason.</a:t>
            </a:r>
          </a:p>
          <a:p>
            <a:pPr algn="l">
              <a:spcAft>
                <a:spcPts val="600"/>
              </a:spcAft>
            </a:pPr>
            <a:r>
              <a:rPr sz="1600" b="0">
                <a:solidFill>
                  <a:srgbClr val="1C1C1C"/>
                </a:solidFill>
                <a:latin typeface="Calibri"/>
              </a:rPr>
              <a:t>▸  Benefits, alternatives including medical management, and what happens if we wait.</a:t>
            </a:r>
          </a:p>
          <a:p>
            <a:pPr algn="l">
              <a:spcAft>
                <a:spcPts val="600"/>
              </a:spcAft>
            </a:pPr>
            <a:r>
              <a:rPr sz="1600" b="0">
                <a:solidFill>
                  <a:srgbClr val="1C1C1C"/>
                </a:solidFill>
                <a:latin typeface="Calibri"/>
              </a:rPr>
              <a:t>▸  Material risks in one sentence each: anesthesia death, hemorrhage, infection, dehiscence. After OHE, name urinary incontinence.</a:t>
            </a:r>
          </a:p>
          <a:p>
            <a:pPr algn="l">
              <a:spcAft>
                <a:spcPts val="600"/>
              </a:spcAft>
            </a:pPr>
            <a:r>
              <a:rPr sz="1600" b="0">
                <a:solidFill>
                  <a:srgbClr val="1C1C1C"/>
                </a:solidFill>
                <a:latin typeface="Calibri"/>
              </a:rPr>
              <a:t>▸  Estimate: what is included and what is not.</a:t>
            </a:r>
          </a:p>
          <a:p>
            <a:pPr algn="l">
              <a:spcAft>
                <a:spcPts val="600"/>
              </a:spcAft>
            </a:pPr>
            <a:r>
              <a:rPr sz="1600" b="0">
                <a:solidFill>
                  <a:srgbClr val="1C1C1C"/>
                </a:solidFill>
                <a:latin typeface="Calibri"/>
              </a:rPr>
              <a:t>▸  Resuscitation code / DNR before induction.</a:t>
            </a:r>
          </a:p>
          <a:p>
            <a:pPr algn="l">
              <a:spcAft>
                <a:spcPts val="600"/>
              </a:spcAft>
            </a:pPr>
            <a:r>
              <a:rPr sz="1600" b="0">
                <a:solidFill>
                  <a:srgbClr val="1C1C1C"/>
                </a:solidFill>
                <a:latin typeface="Calibri"/>
              </a:rPr>
              <a:t>▸  File the signed form. Then start induction.</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15  /  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tube, bag, and fluid rate</a:t>
            </a:r>
          </a:p>
        </p:txBody>
      </p:sp>
      <p:sp>
        <p:nvSpPr>
          <p:cNvPr id="7" name="Rounded Rectangle 6"/>
          <p:cNvSpPr/>
          <p:nvPr/>
        </p:nvSpPr>
        <p:spPr>
          <a:xfrm>
            <a:off x="365760"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987552"/>
            <a:ext cx="3767328" cy="3108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987552"/>
            <a:ext cx="3767328" cy="310896"/>
          </a:xfrm>
          <a:prstGeom prst="rect">
            <a:avLst/>
          </a:prstGeom>
          <a:noFill/>
        </p:spPr>
        <p:txBody>
          <a:bodyPr wrap="square" anchor="ctr"/>
          <a:lstStyle/>
          <a:p>
            <a:pPr algn="ctr"/>
            <a:r>
              <a:rPr sz="1600" b="1">
                <a:solidFill>
                  <a:srgbClr val="0B2C4A"/>
                </a:solidFill>
                <a:latin typeface="Calibri"/>
              </a:rPr>
              <a:t>Endotracheal tube</a:t>
            </a:r>
          </a:p>
        </p:txBody>
      </p:sp>
      <p:sp>
        <p:nvSpPr>
          <p:cNvPr id="10" name="TextBox 9"/>
          <p:cNvSpPr txBox="1"/>
          <p:nvPr/>
        </p:nvSpPr>
        <p:spPr>
          <a:xfrm>
            <a:off x="438912" y="1316736"/>
            <a:ext cx="3621024" cy="365760"/>
          </a:xfrm>
          <a:prstGeom prst="rect">
            <a:avLst/>
          </a:prstGeom>
          <a:noFill/>
        </p:spPr>
        <p:txBody>
          <a:bodyPr wrap="square" anchor="ctr"/>
          <a:lstStyle/>
          <a:p>
            <a:pPr algn="ctr"/>
            <a:r>
              <a:rPr sz="1600" b="1">
                <a:solidFill>
                  <a:srgbClr val="0B2C4A"/>
                </a:solidFill>
                <a:latin typeface="Calibri"/>
              </a:rPr>
              <a:t>ID mm  =  (kg / 4)  +  3.5</a:t>
            </a:r>
          </a:p>
        </p:txBody>
      </p:sp>
      <p:sp>
        <p:nvSpPr>
          <p:cNvPr id="11" name="TextBox 10"/>
          <p:cNvSpPr txBox="1"/>
          <p:nvPr/>
        </p:nvSpPr>
        <p:spPr>
          <a:xfrm>
            <a:off x="475488" y="1682496"/>
            <a:ext cx="3547872" cy="603504"/>
          </a:xfrm>
          <a:prstGeom prst="rect">
            <a:avLst/>
          </a:prstGeom>
          <a:noFill/>
        </p:spPr>
        <p:txBody>
          <a:bodyPr wrap="square" anchor="t"/>
          <a:lstStyle/>
          <a:p>
            <a:pPr algn="l"/>
            <a:r>
              <a:rPr sz="1400" b="0">
                <a:solidFill>
                  <a:srgbClr val="1C1C1C"/>
                </a:solidFill>
                <a:latin typeface="Calibri"/>
              </a:rPr>
              <a:t>Dog start. ±0.5 mm ready. Largest through arytenoids (Grubb 2020). Cat: 3.0–4.5 mm (not the dog formula).</a:t>
            </a:r>
          </a:p>
        </p:txBody>
      </p:sp>
      <p:sp>
        <p:nvSpPr>
          <p:cNvPr id="12" name="Rounded Rectangle 11"/>
          <p:cNvSpPr/>
          <p:nvPr/>
        </p:nvSpPr>
        <p:spPr>
          <a:xfrm>
            <a:off x="4279392"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79392" y="987552"/>
            <a:ext cx="3767328" cy="310896"/>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79392" y="987552"/>
            <a:ext cx="3767328" cy="310896"/>
          </a:xfrm>
          <a:prstGeom prst="rect">
            <a:avLst/>
          </a:prstGeom>
          <a:noFill/>
        </p:spPr>
        <p:txBody>
          <a:bodyPr wrap="square" anchor="ctr"/>
          <a:lstStyle/>
          <a:p>
            <a:pPr algn="ctr"/>
            <a:r>
              <a:rPr sz="1600" b="1">
                <a:solidFill>
                  <a:srgbClr val="C5A35A"/>
                </a:solidFill>
                <a:latin typeface="Calibri"/>
              </a:rPr>
              <a:t>Reservoir bag</a:t>
            </a:r>
          </a:p>
        </p:txBody>
      </p:sp>
      <p:sp>
        <p:nvSpPr>
          <p:cNvPr id="15" name="TextBox 14"/>
          <p:cNvSpPr txBox="1"/>
          <p:nvPr/>
        </p:nvSpPr>
        <p:spPr>
          <a:xfrm>
            <a:off x="4352544" y="1316736"/>
            <a:ext cx="3621024" cy="365760"/>
          </a:xfrm>
          <a:prstGeom prst="rect">
            <a:avLst/>
          </a:prstGeom>
          <a:noFill/>
        </p:spPr>
        <p:txBody>
          <a:bodyPr wrap="square" anchor="ctr"/>
          <a:lstStyle/>
          <a:p>
            <a:pPr algn="ctr"/>
            <a:r>
              <a:rPr sz="1600" b="1">
                <a:solidFill>
                  <a:srgbClr val="0B2C4A"/>
                </a:solidFill>
                <a:latin typeface="Calibri"/>
              </a:rPr>
              <a:t>mL  =  kg  ×  60,  round UP</a:t>
            </a:r>
          </a:p>
        </p:txBody>
      </p:sp>
      <p:sp>
        <p:nvSpPr>
          <p:cNvPr id="16" name="TextBox 15"/>
          <p:cNvSpPr txBox="1"/>
          <p:nvPr/>
        </p:nvSpPr>
        <p:spPr>
          <a:xfrm>
            <a:off x="4389120" y="1682496"/>
            <a:ext cx="3547872" cy="603504"/>
          </a:xfrm>
          <a:prstGeom prst="rect">
            <a:avLst/>
          </a:prstGeom>
          <a:noFill/>
        </p:spPr>
        <p:txBody>
          <a:bodyPr wrap="square" anchor="t"/>
          <a:lstStyle/>
          <a:p>
            <a:pPr algn="l"/>
            <a:r>
              <a:rPr sz="1400" b="0">
                <a:solidFill>
                  <a:srgbClr val="1C1C1C"/>
                </a:solidFill>
                <a:latin typeface="Calibri"/>
              </a:rPr>
              <a:t>Round up to 0.5, 1, 2, or 3 L. NRC if &lt;3–5 kg. Circle if larger. Leak-test, then OPEN the pop-off.</a:t>
            </a:r>
          </a:p>
        </p:txBody>
      </p:sp>
      <p:sp>
        <p:nvSpPr>
          <p:cNvPr id="17" name="Rounded Rectangle 16"/>
          <p:cNvSpPr/>
          <p:nvPr/>
        </p:nvSpPr>
        <p:spPr>
          <a:xfrm>
            <a:off x="8193024"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93024" y="987552"/>
            <a:ext cx="3767328" cy="310896"/>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93024" y="987552"/>
            <a:ext cx="3767328" cy="310896"/>
          </a:xfrm>
          <a:prstGeom prst="rect">
            <a:avLst/>
          </a:prstGeom>
          <a:noFill/>
        </p:spPr>
        <p:txBody>
          <a:bodyPr wrap="square" anchor="ctr"/>
          <a:lstStyle/>
          <a:p>
            <a:pPr algn="ctr"/>
            <a:r>
              <a:rPr sz="1600" b="1">
                <a:solidFill>
                  <a:srgbClr val="FFFFFF"/>
                </a:solidFill>
                <a:latin typeface="Calibri"/>
              </a:rPr>
              <a:t>IV fluid rate</a:t>
            </a:r>
          </a:p>
        </p:txBody>
      </p:sp>
      <p:sp>
        <p:nvSpPr>
          <p:cNvPr id="20" name="TextBox 19"/>
          <p:cNvSpPr txBox="1"/>
          <p:nvPr/>
        </p:nvSpPr>
        <p:spPr>
          <a:xfrm>
            <a:off x="8266176" y="1316736"/>
            <a:ext cx="3621024" cy="365760"/>
          </a:xfrm>
          <a:prstGeom prst="rect">
            <a:avLst/>
          </a:prstGeom>
          <a:noFill/>
        </p:spPr>
        <p:txBody>
          <a:bodyPr wrap="square" anchor="ctr"/>
          <a:lstStyle/>
          <a:p>
            <a:pPr algn="ctr"/>
            <a:r>
              <a:rPr sz="1600" b="1">
                <a:solidFill>
                  <a:srgbClr val="0B2C4A"/>
                </a:solidFill>
                <a:latin typeface="Calibri"/>
              </a:rPr>
              <a:t>Dog  kg × 5   ·   cat  kg × 3–5</a:t>
            </a:r>
          </a:p>
        </p:txBody>
      </p:sp>
      <p:sp>
        <p:nvSpPr>
          <p:cNvPr id="21" name="TextBox 20"/>
          <p:cNvSpPr txBox="1"/>
          <p:nvPr/>
        </p:nvSpPr>
        <p:spPr>
          <a:xfrm>
            <a:off x="8302752" y="1682496"/>
            <a:ext cx="3547872" cy="603504"/>
          </a:xfrm>
          <a:prstGeom prst="rect">
            <a:avLst/>
          </a:prstGeom>
          <a:noFill/>
        </p:spPr>
        <p:txBody>
          <a:bodyPr wrap="square" anchor="t"/>
          <a:lstStyle/>
          <a:p>
            <a:pPr algn="l"/>
            <a:r>
              <a:rPr sz="1400" b="0">
                <a:solidFill>
                  <a:srgbClr val="1C1C1C"/>
                </a:solidFill>
                <a:latin typeface="Calibri"/>
              </a:rPr>
              <a:t>mL/hr. Balanced crystalloid (Pardo 2024). Not 10 mL/kg/hr. Example: 20 × 5 = 100 mL/hr.</a:t>
            </a:r>
          </a:p>
        </p:txBody>
      </p:sp>
      <p:pic>
        <p:nvPicPr>
          <p:cNvPr id="22" name="Picture 21" descr="anesthesia_setup_table.png"/>
          <p:cNvPicPr>
            <a:picLocks noChangeAspect="1"/>
          </p:cNvPicPr>
          <p:nvPr/>
        </p:nvPicPr>
        <p:blipFill>
          <a:blip r:embed="rId2"/>
          <a:stretch>
            <a:fillRect/>
          </a:stretch>
        </p:blipFill>
        <p:spPr>
          <a:xfrm>
            <a:off x="256032" y="2395728"/>
            <a:ext cx="11686032" cy="4114800"/>
          </a:xfrm>
          <a:prstGeom prst="rect">
            <a:avLst/>
          </a:prstGeom>
        </p:spPr>
      </p:pic>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16  /  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Write ASA after PE and labs</a:t>
            </a:r>
          </a:p>
        </p:txBody>
      </p:sp>
      <p:pic>
        <p:nvPicPr>
          <p:cNvPr id="7" name="Picture 6" descr="anesthesia_record_blank.png"/>
          <p:cNvPicPr>
            <a:picLocks noChangeAspect="1"/>
          </p:cNvPicPr>
          <p:nvPr/>
        </p:nvPicPr>
        <p:blipFill>
          <a:blip r:embed="rId2"/>
          <a:stretch>
            <a:fillRect/>
          </a:stretch>
        </p:blipFill>
        <p:spPr>
          <a:xfrm>
            <a:off x="256032" y="987552"/>
            <a:ext cx="11686032" cy="544068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17  /  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MoMo’s perioperative record</a:t>
            </a:r>
          </a:p>
        </p:txBody>
      </p:sp>
      <p:pic>
        <p:nvPicPr>
          <p:cNvPr id="7" name="Picture 6" descr="anesthesia_record_momo.png"/>
          <p:cNvPicPr>
            <a:picLocks noChangeAspect="1"/>
          </p:cNvPicPr>
          <p:nvPr/>
        </p:nvPicPr>
        <p:blipFill>
          <a:blip r:embed="rId2"/>
          <a:stretch>
            <a:fillRect/>
          </a:stretch>
        </p:blipFill>
        <p:spPr>
          <a:xfrm>
            <a:off x="256032" y="987552"/>
            <a:ext cx="11686032" cy="544068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18  /  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wound classification</a:t>
            </a:r>
          </a:p>
        </p:txBody>
      </p:sp>
      <p:sp>
        <p:nvSpPr>
          <p:cNvPr id="7" name="Rounded Rectangle 6"/>
          <p:cNvSpPr/>
          <p:nvPr/>
        </p:nvSpPr>
        <p:spPr>
          <a:xfrm>
            <a:off x="41148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24128"/>
            <a:ext cx="5715000" cy="43891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24128"/>
            <a:ext cx="5715000" cy="438912"/>
          </a:xfrm>
          <a:prstGeom prst="rect">
            <a:avLst/>
          </a:prstGeom>
          <a:noFill/>
        </p:spPr>
        <p:txBody>
          <a:bodyPr wrap="square" anchor="ctr"/>
          <a:lstStyle/>
          <a:p>
            <a:pPr algn="ctr"/>
            <a:r>
              <a:rPr sz="1800" b="1">
                <a:solidFill>
                  <a:srgbClr val="FFFFFF"/>
                </a:solidFill>
                <a:latin typeface="Calibri"/>
              </a:rPr>
              <a:t>1. Clean</a:t>
            </a:r>
          </a:p>
        </p:txBody>
      </p:sp>
      <p:sp>
        <p:nvSpPr>
          <p:cNvPr id="10" name="TextBox 9"/>
          <p:cNvSpPr txBox="1"/>
          <p:nvPr/>
        </p:nvSpPr>
        <p:spPr>
          <a:xfrm>
            <a:off x="612648" y="1554480"/>
            <a:ext cx="5349240" cy="1371600"/>
          </a:xfrm>
          <a:prstGeom prst="rect">
            <a:avLst/>
          </a:prstGeom>
          <a:noFill/>
        </p:spPr>
        <p:txBody>
          <a:bodyPr wrap="square" anchor="t"/>
          <a:lstStyle/>
          <a:p>
            <a:pPr algn="l"/>
            <a:r>
              <a:rPr sz="1600" b="0">
                <a:solidFill>
                  <a:srgbClr val="1C1C1C"/>
                </a:solidFill>
                <a:latin typeface="Calibri"/>
              </a:rPr>
              <a:t>No infection. Hollow viscus not entered.
Elective OHE, orchiectomy, simple skin mass.
Skip routine prophylaxis (Frey 2022).</a:t>
            </a:r>
          </a:p>
        </p:txBody>
      </p:sp>
      <p:sp>
        <p:nvSpPr>
          <p:cNvPr id="11" name="Rounded Rectangle 10"/>
          <p:cNvSpPr/>
          <p:nvPr/>
        </p:nvSpPr>
        <p:spPr>
          <a:xfrm>
            <a:off x="630936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24128"/>
            <a:ext cx="5715000"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0" y="1024128"/>
            <a:ext cx="5715000" cy="438912"/>
          </a:xfrm>
          <a:prstGeom prst="rect">
            <a:avLst/>
          </a:prstGeom>
          <a:noFill/>
        </p:spPr>
        <p:txBody>
          <a:bodyPr wrap="square" anchor="ctr"/>
          <a:lstStyle/>
          <a:p>
            <a:pPr algn="ctr"/>
            <a:r>
              <a:rPr sz="1800" b="1">
                <a:solidFill>
                  <a:srgbClr val="FFFFFF"/>
                </a:solidFill>
                <a:latin typeface="Calibri"/>
              </a:rPr>
              <a:t>2. Clean-contaminated</a:t>
            </a:r>
          </a:p>
        </p:txBody>
      </p:sp>
      <p:sp>
        <p:nvSpPr>
          <p:cNvPr id="14" name="TextBox 13"/>
          <p:cNvSpPr txBox="1"/>
          <p:nvPr/>
        </p:nvSpPr>
        <p:spPr>
          <a:xfrm>
            <a:off x="6510528" y="1554480"/>
            <a:ext cx="5349240" cy="1371600"/>
          </a:xfrm>
          <a:prstGeom prst="rect">
            <a:avLst/>
          </a:prstGeom>
          <a:noFill/>
        </p:spPr>
        <p:txBody>
          <a:bodyPr wrap="square" anchor="t"/>
          <a:lstStyle/>
          <a:p>
            <a:pPr algn="l"/>
            <a:r>
              <a:rPr sz="1600" b="0">
                <a:solidFill>
                  <a:srgbClr val="1C1C1C"/>
                </a:solidFill>
                <a:latin typeface="Calibri"/>
              </a:rPr>
              <a:t>GI, respiratory, or urinary tract entered under control. Minor break in asepsis.
Cystotomy. Enterotomy without spillage.</a:t>
            </a:r>
          </a:p>
        </p:txBody>
      </p:sp>
      <p:sp>
        <p:nvSpPr>
          <p:cNvPr id="15" name="Rounded Rectangle 14"/>
          <p:cNvSpPr/>
          <p:nvPr/>
        </p:nvSpPr>
        <p:spPr>
          <a:xfrm>
            <a:off x="41148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172968"/>
            <a:ext cx="57150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1480" y="3172968"/>
            <a:ext cx="5715000" cy="438912"/>
          </a:xfrm>
          <a:prstGeom prst="rect">
            <a:avLst/>
          </a:prstGeom>
          <a:noFill/>
        </p:spPr>
        <p:txBody>
          <a:bodyPr wrap="square" anchor="ctr"/>
          <a:lstStyle/>
          <a:p>
            <a:pPr algn="ctr"/>
            <a:r>
              <a:rPr sz="1800" b="1">
                <a:solidFill>
                  <a:srgbClr val="FFFFFF"/>
                </a:solidFill>
                <a:latin typeface="Calibri"/>
              </a:rPr>
              <a:t>3. Contaminated</a:t>
            </a:r>
          </a:p>
        </p:txBody>
      </p:sp>
      <p:sp>
        <p:nvSpPr>
          <p:cNvPr id="18" name="TextBox 17"/>
          <p:cNvSpPr txBox="1"/>
          <p:nvPr/>
        </p:nvSpPr>
        <p:spPr>
          <a:xfrm>
            <a:off x="612648" y="3703320"/>
            <a:ext cx="5349240" cy="1371600"/>
          </a:xfrm>
          <a:prstGeom prst="rect">
            <a:avLst/>
          </a:prstGeom>
          <a:noFill/>
        </p:spPr>
        <p:txBody>
          <a:bodyPr wrap="square" anchor="t"/>
          <a:lstStyle/>
          <a:p>
            <a:pPr algn="l"/>
            <a:r>
              <a:rPr sz="1600" b="0">
                <a:solidFill>
                  <a:srgbClr val="1C1C1C"/>
                </a:solidFill>
                <a:latin typeface="Calibri"/>
              </a:rPr>
              <a:t>Fresh open trauma. Major viscus spillage. Major break in sterile technique.
Time IV prophylaxis. Fix the break.</a:t>
            </a:r>
          </a:p>
        </p:txBody>
      </p:sp>
      <p:sp>
        <p:nvSpPr>
          <p:cNvPr id="19" name="Rounded Rectangle 18"/>
          <p:cNvSpPr/>
          <p:nvPr/>
        </p:nvSpPr>
        <p:spPr>
          <a:xfrm>
            <a:off x="630936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3172968"/>
            <a:ext cx="5715000" cy="43891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09360" y="3172968"/>
            <a:ext cx="5715000" cy="438912"/>
          </a:xfrm>
          <a:prstGeom prst="rect">
            <a:avLst/>
          </a:prstGeom>
          <a:noFill/>
        </p:spPr>
        <p:txBody>
          <a:bodyPr wrap="square" anchor="ctr"/>
          <a:lstStyle/>
          <a:p>
            <a:pPr algn="ctr"/>
            <a:r>
              <a:rPr sz="1800" b="1">
                <a:solidFill>
                  <a:srgbClr val="FFFFFF"/>
                </a:solidFill>
                <a:latin typeface="Calibri"/>
              </a:rPr>
              <a:t>4. Dirty / infected</a:t>
            </a:r>
          </a:p>
        </p:txBody>
      </p:sp>
      <p:sp>
        <p:nvSpPr>
          <p:cNvPr id="22" name="TextBox 21"/>
          <p:cNvSpPr txBox="1"/>
          <p:nvPr/>
        </p:nvSpPr>
        <p:spPr>
          <a:xfrm>
            <a:off x="6510528" y="3703320"/>
            <a:ext cx="5349240" cy="1371600"/>
          </a:xfrm>
          <a:prstGeom prst="rect">
            <a:avLst/>
          </a:prstGeom>
          <a:noFill/>
        </p:spPr>
        <p:txBody>
          <a:bodyPr wrap="square" anchor="t"/>
          <a:lstStyle/>
          <a:p>
            <a:pPr algn="l"/>
            <a:r>
              <a:rPr sz="1600" b="0">
                <a:solidFill>
                  <a:srgbClr val="1C1C1C"/>
                </a:solidFill>
                <a:latin typeface="Calibri"/>
              </a:rPr>
              <a:t>Pus, abscess, old trauma, perforated viscus with peritonitis.
Infected ear canal. Pyometra with pus.
This is treatment, not prophylaxis.</a:t>
            </a:r>
          </a:p>
        </p:txBody>
      </p:sp>
      <p:sp>
        <p:nvSpPr>
          <p:cNvPr id="23" name="Rounded Rectangle 22"/>
          <p:cNvSpPr/>
          <p:nvPr/>
        </p:nvSpPr>
        <p:spPr>
          <a:xfrm>
            <a:off x="411480" y="5394960"/>
            <a:ext cx="11338560" cy="1078992"/>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468112"/>
            <a:ext cx="11018520" cy="932688"/>
          </a:xfrm>
          <a:prstGeom prst="rect">
            <a:avLst/>
          </a:prstGeom>
          <a:noFill/>
        </p:spPr>
        <p:txBody>
          <a:bodyPr wrap="square" anchor="ctr"/>
          <a:lstStyle/>
          <a:p>
            <a:pPr algn="l"/>
            <a:r>
              <a:rPr sz="1600" b="0">
                <a:solidFill>
                  <a:srgbClr val="0B2C4A"/>
                </a:solidFill>
                <a:latin typeface="Calibri"/>
              </a:rPr>
              <a:t>Write the class before you draw cefazolin. Clean elective: skip. When prophylaxis is indicated: cefazolin 22 mg/kg IV 30–60 min before incision (Gonzalez 2017; Frey 2022). Second dose if surgery lasts &gt;90 min (Whittem 1999). Stop at closure unless you are treating infection.</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19  /  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Clip, dirty scrub, then the OR</a:t>
            </a:r>
          </a:p>
        </p:txBody>
      </p:sp>
      <p:pic>
        <p:nvPicPr>
          <p:cNvPr id="7" name="Picture 6" descr="prep_or_sequence.png"/>
          <p:cNvPicPr>
            <a:picLocks noChangeAspect="1"/>
          </p:cNvPicPr>
          <p:nvPr/>
        </p:nvPicPr>
        <p:blipFill>
          <a:blip r:embed="rId2"/>
          <a:stretch>
            <a:fillRect/>
          </a:stretch>
        </p:blipFill>
        <p:spPr>
          <a:xfrm>
            <a:off x="201168" y="960120"/>
            <a:ext cx="11795760" cy="553212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20  /  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Hair removal</a:t>
            </a:r>
          </a:p>
        </p:txBody>
      </p:sp>
      <p:sp>
        <p:nvSpPr>
          <p:cNvPr id="7" name="Rounded Rectangle 6"/>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Too narrow. Hair at the margin.</a:t>
            </a:r>
          </a:p>
        </p:txBody>
      </p:sp>
      <p:pic>
        <p:nvPicPr>
          <p:cNvPr id="9" name="Picture 8" descr="clip_cat.jpg"/>
          <p:cNvPicPr>
            <a:picLocks noChangeAspect="1"/>
          </p:cNvPicPr>
          <p:nvPr/>
        </p:nvPicPr>
        <p:blipFill>
          <a:blip r:embed="rId2"/>
          <a:stretch>
            <a:fillRect/>
          </a:stretch>
        </p:blipFill>
        <p:spPr>
          <a:xfrm>
            <a:off x="365760" y="1481328"/>
            <a:ext cx="5669280" cy="3108960"/>
          </a:xfrm>
          <a:prstGeom prst="rect">
            <a:avLst/>
          </a:prstGeom>
        </p:spPr>
      </p:pic>
      <p:sp>
        <p:nvSpPr>
          <p:cNvPr id="10" name="Rounded Rectangle 9"/>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24 hours after OHE. Clip was wide enough.</a:t>
            </a:r>
          </a:p>
        </p:txBody>
      </p:sp>
      <p:pic>
        <p:nvPicPr>
          <p:cNvPr id="12" name="Picture 11" descr="spay_incision.jpg"/>
          <p:cNvPicPr>
            <a:picLocks noChangeAspect="1"/>
          </p:cNvPicPr>
          <p:nvPr/>
        </p:nvPicPr>
        <p:blipFill>
          <a:blip r:embed="rId3"/>
          <a:stretch>
            <a:fillRect/>
          </a:stretch>
        </p:blipFill>
        <p:spPr>
          <a:xfrm>
            <a:off x="6172200" y="1481328"/>
            <a:ext cx="5669280" cy="3108960"/>
          </a:xfrm>
          <a:prstGeom prst="rect">
            <a:avLst/>
          </a:prstGeom>
        </p:spPr>
      </p:pic>
      <p:sp>
        <p:nvSpPr>
          <p:cNvPr id="13" name="Rounded Rectangle 12"/>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Celiotomy: ~4 cm cranial to the xiphoid, ~4 cm caudal to the pubis, 3–4 cm past the nipples (Thieman Mankin 2019). A 4 kg cat does not have 20 cm of extra body wall. Wide enough to extend or place a drain. Warm the patient (Grubb: hypothermia &lt;98 °F).
Photos: Uwe Gille, CC0; Liannadavis, CC BY-SA 4.0.</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21  /  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Skin antiseptics</a:t>
            </a:r>
          </a:p>
        </p:txBody>
      </p:sp>
      <p:sp>
        <p:nvSpPr>
          <p:cNvPr id="7" name="Rounded Rectangle 6"/>
          <p:cNvSpPr/>
          <p:nvPr/>
        </p:nvSpPr>
        <p:spPr>
          <a:xfrm>
            <a:off x="365760" y="1024128"/>
            <a:ext cx="11448288" cy="10972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78992"/>
            <a:ext cx="11155680" cy="987552"/>
          </a:xfrm>
          <a:prstGeom prst="rect">
            <a:avLst/>
          </a:prstGeom>
          <a:noFill/>
        </p:spPr>
        <p:txBody>
          <a:bodyPr wrap="square" anchor="ctr"/>
          <a:lstStyle/>
          <a:p>
            <a:pPr algn="ctr"/>
            <a:r>
              <a:rPr sz="1800" b="1">
                <a:solidFill>
                  <a:srgbClr val="0B2C4A"/>
                </a:solidFill>
                <a:latin typeface="Calibri"/>
              </a:rPr>
              <a:t>Human Betadine Solution = 10% PVP-I.   Veterinary paint = 5%, not 10%.
Eye: intact cornea only. 10% stock 1:50, or 5% bottle 1:25. Both = 0.2% (Roberts 1986).</a:t>
            </a:r>
          </a:p>
        </p:txBody>
      </p:sp>
      <p:sp>
        <p:nvSpPr>
          <p:cNvPr id="9" name="Rounded Rectangle 8"/>
          <p:cNvSpPr/>
          <p:nvPr/>
        </p:nvSpPr>
        <p:spPr>
          <a:xfrm>
            <a:off x="365760"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2267712"/>
            <a:ext cx="3749039"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2267712"/>
            <a:ext cx="3749039" cy="438912"/>
          </a:xfrm>
          <a:prstGeom prst="rect">
            <a:avLst/>
          </a:prstGeom>
          <a:noFill/>
        </p:spPr>
        <p:txBody>
          <a:bodyPr wrap="square" anchor="ctr"/>
          <a:lstStyle/>
          <a:p>
            <a:pPr algn="ctr"/>
            <a:r>
              <a:rPr sz="1800" b="1">
                <a:solidFill>
                  <a:srgbClr val="FFFFFF"/>
                </a:solidFill>
                <a:latin typeface="Calibri"/>
              </a:rPr>
              <a:t>CHG  ·  Nolvasan</a:t>
            </a:r>
          </a:p>
        </p:txBody>
      </p:sp>
      <p:sp>
        <p:nvSpPr>
          <p:cNvPr id="12" name="TextBox 11"/>
          <p:cNvSpPr txBox="1"/>
          <p:nvPr/>
        </p:nvSpPr>
        <p:spPr>
          <a:xfrm>
            <a:off x="502920" y="2779776"/>
            <a:ext cx="3474720" cy="1828800"/>
          </a:xfrm>
          <a:prstGeom prst="rect">
            <a:avLst/>
          </a:prstGeom>
          <a:noFill/>
        </p:spPr>
        <p:txBody>
          <a:bodyPr wrap="square" anchor="t"/>
          <a:lstStyle/>
          <a:p>
            <a:pPr algn="l"/>
            <a:r>
              <a:rPr sz="1600" b="0">
                <a:solidFill>
                  <a:srgbClr val="1C1C1C"/>
                </a:solidFill>
                <a:latin typeface="Calibri"/>
              </a:rPr>
              <a:t>2% chlorhexidine acetate
MIN contact: 2 to 4 min
Keep out of eyes
Trunk / intact skin
Alcohol: rinse, then dry</a:t>
            </a:r>
          </a:p>
        </p:txBody>
      </p:sp>
      <p:sp>
        <p:nvSpPr>
          <p:cNvPr id="13" name="Rounded Rectangle 12"/>
          <p:cNvSpPr/>
          <p:nvPr/>
        </p:nvSpPr>
        <p:spPr>
          <a:xfrm>
            <a:off x="4224528"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24528" y="2267712"/>
            <a:ext cx="3749039"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24528" y="2267712"/>
            <a:ext cx="3749039" cy="438912"/>
          </a:xfrm>
          <a:prstGeom prst="rect">
            <a:avLst/>
          </a:prstGeom>
          <a:noFill/>
        </p:spPr>
        <p:txBody>
          <a:bodyPr wrap="square" anchor="ctr"/>
          <a:lstStyle/>
          <a:p>
            <a:pPr algn="ctr"/>
            <a:r>
              <a:rPr sz="1800" b="1">
                <a:solidFill>
                  <a:srgbClr val="0B2C4A"/>
                </a:solidFill>
                <a:latin typeface="Calibri"/>
              </a:rPr>
              <a:t>Skin  ·  Betadine vet</a:t>
            </a:r>
          </a:p>
        </p:txBody>
      </p:sp>
      <p:sp>
        <p:nvSpPr>
          <p:cNvPr id="16" name="TextBox 15"/>
          <p:cNvSpPr txBox="1"/>
          <p:nvPr/>
        </p:nvSpPr>
        <p:spPr>
          <a:xfrm>
            <a:off x="4361688" y="2779776"/>
            <a:ext cx="3474720" cy="1828800"/>
          </a:xfrm>
          <a:prstGeom prst="rect">
            <a:avLst/>
          </a:prstGeom>
          <a:noFill/>
        </p:spPr>
        <p:txBody>
          <a:bodyPr wrap="square" anchor="t"/>
          <a:lstStyle/>
          <a:p>
            <a:pPr algn="l"/>
            <a:r>
              <a:rPr sz="1600" b="0">
                <a:solidFill>
                  <a:srgbClr val="1C1C1C"/>
                </a:solidFill>
                <a:latin typeface="Calibri"/>
              </a:rPr>
              <a:t>7.5% scrub
MIN contact: about 5 min
Rinse with sterile water
Paint 5% solution
Dry, then drape</a:t>
            </a:r>
          </a:p>
        </p:txBody>
      </p:sp>
      <p:sp>
        <p:nvSpPr>
          <p:cNvPr id="17" name="Rounded Rectangle 16"/>
          <p:cNvSpPr/>
          <p:nvPr/>
        </p:nvSpPr>
        <p:spPr>
          <a:xfrm>
            <a:off x="8083296" y="2267712"/>
            <a:ext cx="3730752"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83296" y="2267712"/>
            <a:ext cx="3730752"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83296" y="2267712"/>
            <a:ext cx="3730752" cy="438912"/>
          </a:xfrm>
          <a:prstGeom prst="rect">
            <a:avLst/>
          </a:prstGeom>
          <a:noFill/>
        </p:spPr>
        <p:txBody>
          <a:bodyPr wrap="square" anchor="ctr"/>
          <a:lstStyle/>
          <a:p>
            <a:pPr algn="ctr"/>
            <a:r>
              <a:rPr sz="1800" b="1">
                <a:solidFill>
                  <a:srgbClr val="C5A35A"/>
                </a:solidFill>
                <a:latin typeface="Calibri"/>
              </a:rPr>
              <a:t>Eye  ·  Roberts 1986</a:t>
            </a:r>
          </a:p>
        </p:txBody>
      </p:sp>
      <p:sp>
        <p:nvSpPr>
          <p:cNvPr id="20" name="TextBox 19"/>
          <p:cNvSpPr txBox="1"/>
          <p:nvPr/>
        </p:nvSpPr>
        <p:spPr>
          <a:xfrm>
            <a:off x="8220456" y="2779776"/>
            <a:ext cx="3456432" cy="1828800"/>
          </a:xfrm>
          <a:prstGeom prst="rect">
            <a:avLst/>
          </a:prstGeom>
          <a:noFill/>
        </p:spPr>
        <p:txBody>
          <a:bodyPr wrap="square" anchor="t"/>
          <a:lstStyle/>
          <a:p>
            <a:pPr algn="l"/>
            <a:r>
              <a:rPr sz="1600" b="0">
                <a:solidFill>
                  <a:srgbClr val="1C1C1C"/>
                </a:solidFill>
                <a:latin typeface="Calibri"/>
              </a:rPr>
              <a:t>Goal: 0.2% on intact cornea
10% stock → dilute 1:50
5% bottle → dilute 1:25
MIN: 2 min + 2 min
Perforation: saline only</a:t>
            </a:r>
          </a:p>
        </p:txBody>
      </p:sp>
      <p:sp>
        <p:nvSpPr>
          <p:cNvPr id="21" name="Rounded Rectangle 20"/>
          <p:cNvSpPr/>
          <p:nvPr/>
        </p:nvSpPr>
        <p:spPr>
          <a:xfrm>
            <a:off x="365760" y="4919472"/>
            <a:ext cx="11448288" cy="1463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029200"/>
            <a:ext cx="11082528" cy="1243584"/>
          </a:xfrm>
          <a:prstGeom prst="rect">
            <a:avLst/>
          </a:prstGeom>
          <a:noFill/>
        </p:spPr>
        <p:txBody>
          <a:bodyPr wrap="square" anchor="t"/>
          <a:lstStyle/>
          <a:p>
            <a:pPr algn="l"/>
            <a:r>
              <a:rPr sz="1400" b="0">
                <a:solidFill>
                  <a:srgbClr val="3D4A57"/>
                </a:solidFill>
                <a:latin typeface="Calibri"/>
              </a:rPr>
              <a:t>Nolvasan Surgical Scrub: 2% chlorhexidine acetate, DailyMed NDC 54771-8701, wash 2 to 4 min, keep out of eyes.
BETADINE Surgical Scrub Veterinary NDC 67618-154 (7.5%, lather about 5 min). BETADINE Solution Veterinary NDC 67618-155 (5% paint, not 10%).
Eye: Roberts 1986 studied healthy corneas. 1:50 of 10% = 0.2%. 1:2 caused edema in 1/15 eyes. Deep ulcer, descemetocele, or perforation: do not run this prep; saline and ophthalmology.</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22  /  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skin preparation technique</a:t>
            </a:r>
          </a:p>
        </p:txBody>
      </p:sp>
      <p:pic>
        <p:nvPicPr>
          <p:cNvPr id="7" name="Picture 6" descr="prep_spiral_antiseptic.png"/>
          <p:cNvPicPr>
            <a:picLocks noChangeAspect="1"/>
          </p:cNvPicPr>
          <p:nvPr/>
        </p:nvPicPr>
        <p:blipFill>
          <a:blip r:embed="rId2"/>
          <a:stretch>
            <a:fillRect/>
          </a:stretch>
        </p:blipFill>
        <p:spPr>
          <a:xfrm>
            <a:off x="365760" y="1051560"/>
            <a:ext cx="6766560" cy="5394960"/>
          </a:xfrm>
          <a:prstGeom prst="rect">
            <a:avLst/>
          </a:prstGeom>
        </p:spPr>
      </p:pic>
      <p:sp>
        <p:nvSpPr>
          <p:cNvPr id="8" name="Rounded Rectangle 7"/>
          <p:cNvSpPr/>
          <p:nvPr/>
        </p:nvSpPr>
        <p:spPr>
          <a:xfrm>
            <a:off x="7269480" y="1051560"/>
            <a:ext cx="448056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52360" y="1188720"/>
            <a:ext cx="4160520" cy="365760"/>
          </a:xfrm>
          <a:prstGeom prst="rect">
            <a:avLst/>
          </a:prstGeom>
          <a:noFill/>
        </p:spPr>
        <p:txBody>
          <a:bodyPr wrap="square" anchor="t"/>
          <a:lstStyle/>
          <a:p>
            <a:pPr algn="l"/>
            <a:r>
              <a:rPr sz="1800" b="1">
                <a:solidFill>
                  <a:srgbClr val="0B2C4A"/>
                </a:solidFill>
                <a:latin typeface="Calibri"/>
              </a:rPr>
              <a:t>Technique</a:t>
            </a:r>
          </a:p>
        </p:txBody>
      </p:sp>
      <p:sp>
        <p:nvSpPr>
          <p:cNvPr id="10" name="TextBox 9"/>
          <p:cNvSpPr txBox="1"/>
          <p:nvPr/>
        </p:nvSpPr>
        <p:spPr>
          <a:xfrm>
            <a:off x="7406640" y="1600200"/>
            <a:ext cx="4160520" cy="4572000"/>
          </a:xfrm>
          <a:prstGeom prst="rect">
            <a:avLst/>
          </a:prstGeom>
          <a:noFill/>
        </p:spPr>
        <p:txBody>
          <a:bodyPr wrap="square">
            <a:spAutoFit/>
          </a:bodyPr>
          <a:lstStyle/>
          <a:p>
            <a:pPr algn="l">
              <a:spcAft>
                <a:spcPts val="1000"/>
              </a:spcAft>
            </a:pPr>
            <a:r>
              <a:rPr sz="1600" b="0">
                <a:solidFill>
                  <a:srgbClr val="1C1C1C"/>
                </a:solidFill>
                <a:latin typeface="Calibri"/>
              </a:rPr>
              <a:t>▸  Dirty (preliminary) scrub in the prep area, after the clip.</a:t>
            </a:r>
          </a:p>
          <a:p>
            <a:pPr algn="l">
              <a:spcAft>
                <a:spcPts val="1000"/>
              </a:spcAft>
            </a:pPr>
            <a:r>
              <a:rPr sz="1600" b="0">
                <a:solidFill>
                  <a:srgbClr val="1C1C1C"/>
                </a:solidFill>
                <a:latin typeface="Calibri"/>
              </a:rPr>
              <a:t>▸  Move to the OR. Position, pad, tie.</a:t>
            </a:r>
          </a:p>
          <a:p>
            <a:pPr algn="l">
              <a:spcAft>
                <a:spcPts val="1000"/>
              </a:spcAft>
            </a:pPr>
            <a:r>
              <a:rPr sz="1600" b="0">
                <a:solidFill>
                  <a:srgbClr val="1C1C1C"/>
                </a:solidFill>
                <a:latin typeface="Calibri"/>
              </a:rPr>
              <a:t>▸  Full (sterile) scrub in the room. Start at the incision. Spiral out. Drop the sponge.</a:t>
            </a:r>
          </a:p>
          <a:p>
            <a:pPr algn="l">
              <a:spcAft>
                <a:spcPts val="1000"/>
              </a:spcAft>
            </a:pPr>
            <a:r>
              <a:rPr sz="1600" b="0">
                <a:solidFill>
                  <a:srgbClr val="1C1C1C"/>
                </a:solidFill>
                <a:latin typeface="Calibri"/>
              </a:rPr>
              <a:t>▸  Clock the minimum contact time.</a:t>
            </a:r>
          </a:p>
          <a:p>
            <a:pPr algn="l">
              <a:spcAft>
                <a:spcPts val="1000"/>
              </a:spcAft>
            </a:pPr>
            <a:r>
              <a:rPr sz="1600" b="0">
                <a:solidFill>
                  <a:srgbClr val="1C1C1C"/>
                </a:solidFill>
                <a:latin typeface="Calibri"/>
              </a:rPr>
              <a:t>▸  Skin: 7.5% ~5 min, then 5% paint.</a:t>
            </a:r>
          </a:p>
          <a:p>
            <a:pPr algn="l">
              <a:spcAft>
                <a:spcPts val="1000"/>
              </a:spcAft>
            </a:pPr>
            <a:r>
              <a:rPr sz="1600" b="0">
                <a:solidFill>
                  <a:srgbClr val="1C1C1C"/>
                </a:solidFill>
                <a:latin typeface="Calibri"/>
              </a:rPr>
              <a:t>▸  Eye: 10% 1:50 or 5% 1:25. Intact cornea. Perforation: saline only.</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23  /  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positioning</a:t>
            </a:r>
          </a:p>
        </p:txBody>
      </p:sp>
      <p:pic>
        <p:nvPicPr>
          <p:cNvPr id="7" name="Picture 6" descr="dog_or.jpg"/>
          <p:cNvPicPr>
            <a:picLocks noChangeAspect="1"/>
          </p:cNvPicPr>
          <p:nvPr/>
        </p:nvPicPr>
        <p:blipFill>
          <a:blip r:embed="rId2"/>
          <a:stretch>
            <a:fillRect/>
          </a:stretch>
        </p:blipFill>
        <p:spPr>
          <a:xfrm>
            <a:off x="320040" y="1024128"/>
            <a:ext cx="7635240" cy="5440680"/>
          </a:xfrm>
          <a:prstGeom prst="rect">
            <a:avLst/>
          </a:prstGeom>
        </p:spPr>
      </p:pic>
      <p:sp>
        <p:nvSpPr>
          <p:cNvPr id="8" name="Rounded Rectangle 7"/>
          <p:cNvSpPr/>
          <p:nvPr/>
        </p:nvSpPr>
        <p:spPr>
          <a:xfrm>
            <a:off x="8092440" y="1024128"/>
            <a:ext cx="37490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75320" y="1170432"/>
            <a:ext cx="3429000" cy="411480"/>
          </a:xfrm>
          <a:prstGeom prst="rect">
            <a:avLst/>
          </a:prstGeom>
          <a:noFill/>
        </p:spPr>
        <p:txBody>
          <a:bodyPr wrap="square" anchor="t"/>
          <a:lstStyle/>
          <a:p>
            <a:pPr algn="l"/>
            <a:r>
              <a:rPr sz="1800" b="1">
                <a:solidFill>
                  <a:srgbClr val="0B2C4A"/>
                </a:solidFill>
                <a:latin typeface="Calibri"/>
              </a:rPr>
              <a:t>Visible in this photograph</a:t>
            </a:r>
          </a:p>
        </p:txBody>
      </p:sp>
      <p:sp>
        <p:nvSpPr>
          <p:cNvPr id="10" name="TextBox 9"/>
          <p:cNvSpPr txBox="1"/>
          <p:nvPr/>
        </p:nvSpPr>
        <p:spPr>
          <a:xfrm>
            <a:off x="8275320" y="1645920"/>
            <a:ext cx="3429000" cy="4572000"/>
          </a:xfrm>
          <a:prstGeom prst="rect">
            <a:avLst/>
          </a:prstGeom>
          <a:noFill/>
        </p:spPr>
        <p:txBody>
          <a:bodyPr wrap="square" anchor="t"/>
          <a:lstStyle/>
          <a:p>
            <a:pPr algn="l"/>
            <a:r>
              <a:rPr sz="1600" b="0">
                <a:solidFill>
                  <a:srgbClr val="1C1C1C"/>
                </a:solidFill>
                <a:latin typeface="Calibri"/>
              </a:rPr>
              <a:t>• ET tube + pulse ox
• IV catheter + fluids
• Circle + reservoir bag
• V-trough / padding
• Ties snug; pulse distal to each tie
• Clip after a surgical plane
Tube tip: midway larynx to thoracic inlet (Grubb 2020).
Confirm: ETCO2, bag move, no esophageal tube.
Photo: Anja, CC BY-SA 4.0.</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24  /  38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Draping</a:t>
            </a:r>
          </a:p>
        </p:txBody>
      </p:sp>
      <p:sp>
        <p:nvSpPr>
          <p:cNvPr id="7" name="Rounded Rectangle 6"/>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OHE: hair visible at the drape edge</a:t>
            </a:r>
          </a:p>
        </p:txBody>
      </p:sp>
      <p:pic>
        <p:nvPicPr>
          <p:cNvPr id="9" name="Picture 8" descr="cherry_point_spay.jpg"/>
          <p:cNvPicPr>
            <a:picLocks noChangeAspect="1"/>
          </p:cNvPicPr>
          <p:nvPr/>
        </p:nvPicPr>
        <p:blipFill>
          <a:blip r:embed="rId2"/>
          <a:stretch>
            <a:fillRect/>
          </a:stretch>
        </p:blipFill>
        <p:spPr>
          <a:xfrm>
            <a:off x="365760" y="1481328"/>
            <a:ext cx="5669280" cy="3108960"/>
          </a:xfrm>
          <a:prstGeom prst="rect">
            <a:avLst/>
          </a:prstGeom>
        </p:spPr>
      </p:pic>
      <p:sp>
        <p:nvSpPr>
          <p:cNvPr id="10" name="Rounded Rectangle 9"/>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Sterile field: gown, glove, drape</a:t>
            </a:r>
          </a:p>
        </p:txBody>
      </p:sp>
      <p:pic>
        <p:nvPicPr>
          <p:cNvPr id="12" name="Picture 11" descr="hektor_drape.jpg"/>
          <p:cNvPicPr>
            <a:picLocks noChangeAspect="1"/>
          </p:cNvPicPr>
          <p:nvPr/>
        </p:nvPicPr>
        <p:blipFill>
          <a:blip r:embed="rId3"/>
          <a:stretch>
            <a:fillRect/>
          </a:stretch>
        </p:blipFill>
        <p:spPr>
          <a:xfrm>
            <a:off x="6172200" y="1481328"/>
            <a:ext cx="5669280" cy="3108960"/>
          </a:xfrm>
          <a:prstGeom prst="rect">
            <a:avLst/>
          </a:prstGeom>
        </p:spPr>
      </p:pic>
      <p:sp>
        <p:nvSpPr>
          <p:cNvPr id="13" name="Rounded Rectangle 12"/>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Near towel first. Four towels box the field. Towel clamps on skin, not through the drape to viscera. Large drape last. Only the incision is in the window. Re-clip until the window is hair-free.
Photos: Cpl. Samuel A. Nasso, USMC, public domain; MSgt Carlotta Holley, USAF, public domain.</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25  /  38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OR attire, gown, glove, instruments</a:t>
            </a:r>
          </a:p>
        </p:txBody>
      </p:sp>
      <p:pic>
        <p:nvPicPr>
          <p:cNvPr id="7" name="Picture 6" descr="prep_closed_gloving.png"/>
          <p:cNvPicPr>
            <a:picLocks noChangeAspect="1"/>
          </p:cNvPicPr>
          <p:nvPr/>
        </p:nvPicPr>
        <p:blipFill>
          <a:blip r:embed="rId2"/>
          <a:stretch>
            <a:fillRect/>
          </a:stretch>
        </p:blipFill>
        <p:spPr>
          <a:xfrm>
            <a:off x="320040" y="1024128"/>
            <a:ext cx="5760720" cy="3794760"/>
          </a:xfrm>
          <a:prstGeom prst="rect">
            <a:avLst/>
          </a:prstGeom>
        </p:spPr>
      </p:pic>
      <p:sp>
        <p:nvSpPr>
          <p:cNvPr id="8" name="Rounded Rectangle 7"/>
          <p:cNvSpPr/>
          <p:nvPr/>
        </p:nvSpPr>
        <p:spPr>
          <a:xfrm>
            <a:off x="6172200" y="1024128"/>
            <a:ext cx="5669280" cy="3794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1133856"/>
            <a:ext cx="5349240" cy="365760"/>
          </a:xfrm>
          <a:prstGeom prst="rect">
            <a:avLst/>
          </a:prstGeom>
          <a:noFill/>
        </p:spPr>
        <p:txBody>
          <a:bodyPr wrap="square" anchor="t"/>
          <a:lstStyle/>
          <a:p>
            <a:pPr algn="l"/>
            <a:r>
              <a:rPr sz="1800" b="1">
                <a:solidFill>
                  <a:srgbClr val="0B2C4A"/>
                </a:solidFill>
                <a:latin typeface="Calibri"/>
              </a:rPr>
              <a:t>Before you cut</a:t>
            </a:r>
          </a:p>
        </p:txBody>
      </p:sp>
      <p:sp>
        <p:nvSpPr>
          <p:cNvPr id="10" name="TextBox 9"/>
          <p:cNvSpPr txBox="1"/>
          <p:nvPr/>
        </p:nvSpPr>
        <p:spPr>
          <a:xfrm>
            <a:off x="6309360" y="1554480"/>
            <a:ext cx="5394960" cy="3108960"/>
          </a:xfrm>
          <a:prstGeom prst="rect">
            <a:avLst/>
          </a:prstGeom>
          <a:noFill/>
        </p:spPr>
        <p:txBody>
          <a:bodyPr wrap="square">
            <a:spAutoFit/>
          </a:bodyPr>
          <a:lstStyle/>
          <a:p>
            <a:pPr algn="l">
              <a:spcAft>
                <a:spcPts val="800"/>
              </a:spcAft>
            </a:pPr>
            <a:r>
              <a:rPr sz="1600" b="0">
                <a:solidFill>
                  <a:srgbClr val="1C1C1C"/>
                </a:solidFill>
                <a:latin typeface="Calibri"/>
              </a:rPr>
              <a:t>▸  Door: shoe covers, hair cap, mask. Then enter.</a:t>
            </a:r>
          </a:p>
          <a:p>
            <a:pPr algn="l">
              <a:spcAft>
                <a:spcPts val="800"/>
              </a:spcAft>
            </a:pPr>
            <a:r>
              <a:rPr sz="1600" b="0">
                <a:solidFill>
                  <a:srgbClr val="1C1C1C"/>
                </a:solidFill>
                <a:latin typeface="Calibri"/>
              </a:rPr>
              <a:t>▸  Surgical hand scrub. Gown. Closed glove (hands stay in the cuffs).</a:t>
            </a:r>
          </a:p>
          <a:p>
            <a:pPr algn="l">
              <a:spcAft>
                <a:spcPts val="800"/>
              </a:spcAft>
            </a:pPr>
            <a:r>
              <a:rPr sz="1600" b="0">
                <a:solidFill>
                  <a:srgbClr val="1C1C1C"/>
                </a:solidFill>
                <a:latin typeface="Calibri"/>
              </a:rPr>
              <a:t>▸  Drape. Then open the instrument pack. Check the indicator.</a:t>
            </a:r>
          </a:p>
          <a:p>
            <a:pPr algn="l">
              <a:spcAft>
                <a:spcPts val="800"/>
              </a:spcAft>
            </a:pPr>
            <a:r>
              <a:rPr sz="1600" b="0">
                <a:solidFill>
                  <a:srgbClr val="1C1C1C"/>
                </a:solidFill>
                <a:latin typeface="Calibri"/>
              </a:rPr>
              <a:t>▸  Arrange. Count sponges and instruments. Mayo stand.</a:t>
            </a:r>
          </a:p>
          <a:p>
            <a:pPr algn="l">
              <a:spcAft>
                <a:spcPts val="800"/>
              </a:spcAft>
            </a:pPr>
            <a:r>
              <a:rPr sz="1600" b="0">
                <a:solidFill>
                  <a:srgbClr val="1C1C1C"/>
                </a:solidFill>
                <a:latin typeface="Calibri"/>
              </a:rPr>
              <a:t>▸  Name the monitors: ECG, SpO2, ETCO2, temp, fluids.</a:t>
            </a:r>
          </a:p>
        </p:txBody>
      </p:sp>
      <p:sp>
        <p:nvSpPr>
          <p:cNvPr id="11" name="Rounded Rectangle 10"/>
          <p:cNvSpPr/>
          <p:nvPr/>
        </p:nvSpPr>
        <p:spPr>
          <a:xfrm>
            <a:off x="320040" y="4919472"/>
            <a:ext cx="1152144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029200"/>
            <a:ext cx="11155680" cy="1325880"/>
          </a:xfrm>
          <a:prstGeom prst="rect">
            <a:avLst/>
          </a:prstGeom>
          <a:noFill/>
        </p:spPr>
        <p:txBody>
          <a:bodyPr wrap="square" anchor="t"/>
          <a:lstStyle/>
          <a:p>
            <a:pPr algn="l"/>
            <a:r>
              <a:rPr sz="1600" b="0">
                <a:solidFill>
                  <a:srgbClr val="1C1C1C"/>
                </a:solidFill>
                <a:latin typeface="Calibri"/>
              </a:rPr>
              <a:t>Left: closed-gloving technique (hands stay inside the gown cuffs). Right: door attire, then gown, drape, open the pack, count, Mayo stand. Timeout. Announce the incision and mark it on the chart.</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26  /  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Breaks in asepsis</a:t>
            </a:r>
          </a:p>
        </p:txBody>
      </p:sp>
      <p:sp>
        <p:nvSpPr>
          <p:cNvPr id="7" name="Rounded Rectangle 6"/>
          <p:cNvSpPr/>
          <p:nvPr/>
        </p:nvSpPr>
        <p:spPr>
          <a:xfrm>
            <a:off x="411480" y="1051560"/>
            <a:ext cx="562356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20040"/>
          </a:xfrm>
          <a:prstGeom prst="rect">
            <a:avLst/>
          </a:prstGeom>
          <a:noFill/>
        </p:spPr>
        <p:txBody>
          <a:bodyPr wrap="square" anchor="t"/>
          <a:lstStyle/>
          <a:p>
            <a:pPr algn="l"/>
            <a:r>
              <a:rPr sz="1800" b="1">
                <a:solidFill>
                  <a:srgbClr val="1B6B7A"/>
                </a:solidFill>
                <a:latin typeface="Calibri"/>
              </a:rPr>
              <a:t>If you contaminate</a:t>
            </a:r>
          </a:p>
        </p:txBody>
      </p:sp>
      <p:sp>
        <p:nvSpPr>
          <p:cNvPr id="9" name="TextBox 8"/>
          <p:cNvSpPr txBox="1"/>
          <p:nvPr/>
        </p:nvSpPr>
        <p:spPr>
          <a:xfrm>
            <a:off x="640080" y="1554480"/>
            <a:ext cx="5212080" cy="2560320"/>
          </a:xfrm>
          <a:prstGeom prst="rect">
            <a:avLst/>
          </a:prstGeom>
          <a:noFill/>
        </p:spPr>
        <p:txBody>
          <a:bodyPr wrap="square" anchor="t"/>
          <a:lstStyle/>
          <a:p>
            <a:pPr algn="l"/>
            <a:r>
              <a:rPr sz="1600" b="0">
                <a:solidFill>
                  <a:srgbClr val="1C1C1C"/>
                </a:solidFill>
                <a:latin typeface="Calibri"/>
              </a:rPr>
              <a:t>Prep, gown, glove, drape: say it immediately. Re-glove, re-gown, or re-drape. Do not continue with a contaminated field.
After the incision: notice, announce, and fully correct. Sleeve in the abdomen, instrument off the table, hole in a glove: stop and fix it.</a:t>
            </a:r>
          </a:p>
        </p:txBody>
      </p:sp>
      <p:sp>
        <p:nvSpPr>
          <p:cNvPr id="10" name="Rounded Rectangle 9"/>
          <p:cNvSpPr/>
          <p:nvPr/>
        </p:nvSpPr>
        <p:spPr>
          <a:xfrm>
            <a:off x="6217920" y="1051560"/>
            <a:ext cx="553212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20040"/>
          </a:xfrm>
          <a:prstGeom prst="rect">
            <a:avLst/>
          </a:prstGeom>
          <a:noFill/>
        </p:spPr>
        <p:txBody>
          <a:bodyPr wrap="square" anchor="t"/>
          <a:lstStyle/>
          <a:p>
            <a:pPr algn="l"/>
            <a:r>
              <a:rPr sz="1800" b="1">
                <a:solidFill>
                  <a:srgbClr val="0B2C4A"/>
                </a:solidFill>
                <a:latin typeface="Calibri"/>
              </a:rPr>
              <a:t>Protect the patient</a:t>
            </a:r>
          </a:p>
        </p:txBody>
      </p:sp>
      <p:sp>
        <p:nvSpPr>
          <p:cNvPr id="12" name="TextBox 11"/>
          <p:cNvSpPr txBox="1"/>
          <p:nvPr/>
        </p:nvSpPr>
        <p:spPr>
          <a:xfrm>
            <a:off x="6446520" y="1554480"/>
            <a:ext cx="5120640" cy="2560320"/>
          </a:xfrm>
          <a:prstGeom prst="rect">
            <a:avLst/>
          </a:prstGeom>
          <a:noFill/>
        </p:spPr>
        <p:txBody>
          <a:bodyPr wrap="square" anchor="t"/>
          <a:lstStyle/>
          <a:p>
            <a:pPr algn="l"/>
            <a:r>
              <a:rPr sz="1600" b="0">
                <a:solidFill>
                  <a:srgbClr val="1C1C1C"/>
                </a:solidFill>
                <a:latin typeface="Calibri"/>
              </a:rPr>
              <a:t>1. Control significant hemorrhage.
2. Create a secure abdominal wall closure.
3. Achieve and maintain an aseptic field.
4. Identify and protect adjacent organs before you clamp.
5. Complete a sponge and instrument count before closure.</a:t>
            </a:r>
          </a:p>
        </p:txBody>
      </p:sp>
      <p:sp>
        <p:nvSpPr>
          <p:cNvPr id="13" name="Rounded Rectangle 12"/>
          <p:cNvSpPr/>
          <p:nvPr/>
        </p:nvSpPr>
        <p:spPr>
          <a:xfrm>
            <a:off x="411480" y="4434840"/>
            <a:ext cx="11338560" cy="1920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4617720"/>
            <a:ext cx="10927080" cy="1600200"/>
          </a:xfrm>
          <a:prstGeom prst="rect">
            <a:avLst/>
          </a:prstGeom>
          <a:noFill/>
        </p:spPr>
        <p:txBody>
          <a:bodyPr wrap="square" anchor="t"/>
          <a:lstStyle/>
          <a:p>
            <a:pPr algn="l"/>
            <a:r>
              <a:rPr sz="1600" b="0">
                <a:solidFill>
                  <a:srgbClr val="0B2C4A"/>
                </a:solidFill>
                <a:latin typeface="Calibri"/>
              </a:rPr>
              <a:t>Surgical competence includes the first 24 hours of physiologic monitoring and complication management (CPE MOA 2026 Surgery). A weak ligature or a weak linea is a technical failure you must recognize. That is not infinite legal liability for every recovery-ward or owner event.</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27  /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Knowledge check</a:t>
            </a:r>
          </a:p>
        </p:txBody>
      </p:sp>
      <p:sp>
        <p:nvSpPr>
          <p:cNvPr id="7" name="Rounded Rectangle 6"/>
          <p:cNvSpPr/>
          <p:nvPr/>
        </p:nvSpPr>
        <p:spPr>
          <a:xfrm>
            <a:off x="457200" y="105156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1188720"/>
          </a:xfrm>
          <a:prstGeom prst="rect">
            <a:avLst/>
          </a:prstGeom>
          <a:noFill/>
        </p:spPr>
        <p:txBody>
          <a:bodyPr wrap="square" anchor="ctr"/>
          <a:lstStyle/>
          <a:p>
            <a:pPr algn="ctr"/>
            <a:r>
              <a:rPr sz="2200" b="1">
                <a:solidFill>
                  <a:srgbClr val="C5A35A"/>
                </a:solidFill>
                <a:latin typeface="Calibri"/>
              </a:rPr>
              <a:t>A</a:t>
            </a:r>
          </a:p>
        </p:txBody>
      </p:sp>
      <p:sp>
        <p:nvSpPr>
          <p:cNvPr id="10" name="TextBox 9"/>
          <p:cNvSpPr txBox="1"/>
          <p:nvPr/>
        </p:nvSpPr>
        <p:spPr>
          <a:xfrm>
            <a:off x="1417320" y="1161288"/>
            <a:ext cx="9966960" cy="457200"/>
          </a:xfrm>
          <a:prstGeom prst="rect">
            <a:avLst/>
          </a:prstGeom>
          <a:noFill/>
        </p:spPr>
        <p:txBody>
          <a:bodyPr wrap="square" anchor="t"/>
          <a:lstStyle/>
          <a:p>
            <a:pPr algn="l"/>
            <a:r>
              <a:rPr sz="1800" b="1">
                <a:solidFill>
                  <a:srgbClr val="1C1C1C"/>
                </a:solidFill>
                <a:latin typeface="Calibri"/>
              </a:rPr>
              <a:t>When do you clip the OHE field?</a:t>
            </a:r>
          </a:p>
        </p:txBody>
      </p:sp>
      <p:sp>
        <p:nvSpPr>
          <p:cNvPr id="11" name="TextBox 10"/>
          <p:cNvSpPr txBox="1"/>
          <p:nvPr/>
        </p:nvSpPr>
        <p:spPr>
          <a:xfrm>
            <a:off x="1417320" y="1673352"/>
            <a:ext cx="9966960" cy="438912"/>
          </a:xfrm>
          <a:prstGeom prst="rect">
            <a:avLst/>
          </a:prstGeom>
          <a:noFill/>
        </p:spPr>
        <p:txBody>
          <a:bodyPr wrap="square" anchor="t"/>
          <a:lstStyle/>
          <a:p>
            <a:pPr algn="l"/>
            <a:r>
              <a:rPr sz="1600" b="0">
                <a:solidFill>
                  <a:srgbClr val="1B6B7A"/>
                </a:solidFill>
                <a:latin typeface="Calibri"/>
              </a:rPr>
              <a:t>After ready for prep. Clip and dirty-scrub in the prep area. Full sterile scrub in the OR after positioning.</a:t>
            </a:r>
          </a:p>
        </p:txBody>
      </p:sp>
      <p:sp>
        <p:nvSpPr>
          <p:cNvPr id="12" name="Rounded Rectangle 11"/>
          <p:cNvSpPr/>
          <p:nvPr/>
        </p:nvSpPr>
        <p:spPr>
          <a:xfrm>
            <a:off x="457200" y="235000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2350008"/>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2350008"/>
            <a:ext cx="777240" cy="1188720"/>
          </a:xfrm>
          <a:prstGeom prst="rect">
            <a:avLst/>
          </a:prstGeom>
          <a:noFill/>
        </p:spPr>
        <p:txBody>
          <a:bodyPr wrap="square" anchor="ctr"/>
          <a:lstStyle/>
          <a:p>
            <a:pPr algn="ctr"/>
            <a:r>
              <a:rPr sz="2200" b="1">
                <a:solidFill>
                  <a:srgbClr val="C5A35A"/>
                </a:solidFill>
                <a:latin typeface="Calibri"/>
              </a:rPr>
              <a:t>B</a:t>
            </a:r>
          </a:p>
        </p:txBody>
      </p:sp>
      <p:sp>
        <p:nvSpPr>
          <p:cNvPr id="15" name="TextBox 14"/>
          <p:cNvSpPr txBox="1"/>
          <p:nvPr/>
        </p:nvSpPr>
        <p:spPr>
          <a:xfrm>
            <a:off x="1417320" y="2459736"/>
            <a:ext cx="9966960" cy="457200"/>
          </a:xfrm>
          <a:prstGeom prst="rect">
            <a:avLst/>
          </a:prstGeom>
          <a:noFill/>
        </p:spPr>
        <p:txBody>
          <a:bodyPr wrap="square" anchor="t"/>
          <a:lstStyle/>
          <a:p>
            <a:pPr algn="l"/>
            <a:r>
              <a:rPr sz="1800" b="1">
                <a:solidFill>
                  <a:srgbClr val="1C1C1C"/>
                </a:solidFill>
                <a:latin typeface="Calibri"/>
              </a:rPr>
              <a:t>How do you prep conjunctiva with iodine?</a:t>
            </a:r>
          </a:p>
        </p:txBody>
      </p:sp>
      <p:sp>
        <p:nvSpPr>
          <p:cNvPr id="16" name="TextBox 15"/>
          <p:cNvSpPr txBox="1"/>
          <p:nvPr/>
        </p:nvSpPr>
        <p:spPr>
          <a:xfrm>
            <a:off x="1417320" y="2971800"/>
            <a:ext cx="9966960" cy="438912"/>
          </a:xfrm>
          <a:prstGeom prst="rect">
            <a:avLst/>
          </a:prstGeom>
          <a:noFill/>
        </p:spPr>
        <p:txBody>
          <a:bodyPr wrap="square" anchor="t"/>
          <a:lstStyle/>
          <a:p>
            <a:pPr algn="l"/>
            <a:r>
              <a:rPr sz="1600" b="0">
                <a:solidFill>
                  <a:srgbClr val="1B6B7A"/>
                </a:solidFill>
                <a:latin typeface="Calibri"/>
              </a:rPr>
              <a:t>Intact cornea: 10% stock 1:50, 2 min + 2 min. 5% bottle: 1:25. Perforation: saline only.</a:t>
            </a:r>
          </a:p>
        </p:txBody>
      </p:sp>
      <p:sp>
        <p:nvSpPr>
          <p:cNvPr id="17" name="Rounded Rectangle 16"/>
          <p:cNvSpPr/>
          <p:nvPr/>
        </p:nvSpPr>
        <p:spPr>
          <a:xfrm>
            <a:off x="457200" y="364845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648456"/>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648456"/>
            <a:ext cx="777240" cy="1188720"/>
          </a:xfrm>
          <a:prstGeom prst="rect">
            <a:avLst/>
          </a:prstGeom>
          <a:noFill/>
        </p:spPr>
        <p:txBody>
          <a:bodyPr wrap="square" anchor="ctr"/>
          <a:lstStyle/>
          <a:p>
            <a:pPr algn="ctr"/>
            <a:r>
              <a:rPr sz="2200" b="1">
                <a:solidFill>
                  <a:srgbClr val="C5A35A"/>
                </a:solidFill>
                <a:latin typeface="Calibri"/>
              </a:rPr>
              <a:t>C</a:t>
            </a:r>
          </a:p>
        </p:txBody>
      </p:sp>
      <p:sp>
        <p:nvSpPr>
          <p:cNvPr id="20" name="TextBox 19"/>
          <p:cNvSpPr txBox="1"/>
          <p:nvPr/>
        </p:nvSpPr>
        <p:spPr>
          <a:xfrm>
            <a:off x="1417320" y="3758184"/>
            <a:ext cx="9966960" cy="457200"/>
          </a:xfrm>
          <a:prstGeom prst="rect">
            <a:avLst/>
          </a:prstGeom>
          <a:noFill/>
        </p:spPr>
        <p:txBody>
          <a:bodyPr wrap="square" anchor="t"/>
          <a:lstStyle/>
          <a:p>
            <a:pPr algn="l"/>
            <a:r>
              <a:rPr sz="1800" b="1">
                <a:solidFill>
                  <a:srgbClr val="1C1C1C"/>
                </a:solidFill>
                <a:latin typeface="Calibri"/>
              </a:rPr>
              <a:t>Albumin 1.6 g/dL, elective mass. First move?</a:t>
            </a:r>
          </a:p>
        </p:txBody>
      </p:sp>
      <p:sp>
        <p:nvSpPr>
          <p:cNvPr id="21" name="TextBox 20"/>
          <p:cNvSpPr txBox="1"/>
          <p:nvPr/>
        </p:nvSpPr>
        <p:spPr>
          <a:xfrm>
            <a:off x="1417320" y="4270248"/>
            <a:ext cx="9966960" cy="438912"/>
          </a:xfrm>
          <a:prstGeom prst="rect">
            <a:avLst/>
          </a:prstGeom>
          <a:noFill/>
        </p:spPr>
        <p:txBody>
          <a:bodyPr wrap="square" anchor="t"/>
          <a:lstStyle/>
          <a:p>
            <a:pPr algn="l"/>
            <a:r>
              <a:rPr sz="1600" b="0">
                <a:solidFill>
                  <a:srgbClr val="1B6B7A"/>
                </a:solidFill>
                <a:latin typeface="Calibri"/>
              </a:rPr>
              <a:t>Delay. Find the cause. Feed. Do not crystalloid-flood. Do not cut today.</a:t>
            </a:r>
          </a:p>
        </p:txBody>
      </p:sp>
      <p:sp>
        <p:nvSpPr>
          <p:cNvPr id="22" name="Rounded Rectangle 21"/>
          <p:cNvSpPr/>
          <p:nvPr/>
        </p:nvSpPr>
        <p:spPr>
          <a:xfrm>
            <a:off x="457200" y="4946904"/>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4946904"/>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946904"/>
            <a:ext cx="777240" cy="1188720"/>
          </a:xfrm>
          <a:prstGeom prst="rect">
            <a:avLst/>
          </a:prstGeom>
          <a:noFill/>
        </p:spPr>
        <p:txBody>
          <a:bodyPr wrap="square" anchor="ctr"/>
          <a:lstStyle/>
          <a:p>
            <a:pPr algn="ctr"/>
            <a:r>
              <a:rPr sz="2200" b="1">
                <a:solidFill>
                  <a:srgbClr val="C5A35A"/>
                </a:solidFill>
                <a:latin typeface="Calibri"/>
              </a:rPr>
              <a:t>D</a:t>
            </a:r>
          </a:p>
        </p:txBody>
      </p:sp>
      <p:sp>
        <p:nvSpPr>
          <p:cNvPr id="25" name="TextBox 24"/>
          <p:cNvSpPr txBox="1"/>
          <p:nvPr/>
        </p:nvSpPr>
        <p:spPr>
          <a:xfrm>
            <a:off x="1417320" y="5056632"/>
            <a:ext cx="9966960" cy="457200"/>
          </a:xfrm>
          <a:prstGeom prst="rect">
            <a:avLst/>
          </a:prstGeom>
          <a:noFill/>
        </p:spPr>
        <p:txBody>
          <a:bodyPr wrap="square" anchor="t"/>
          <a:lstStyle/>
          <a:p>
            <a:pPr algn="l"/>
            <a:r>
              <a:rPr sz="1800" b="1">
                <a:solidFill>
                  <a:srgbClr val="1C1C1C"/>
                </a:solidFill>
                <a:latin typeface="Calibri"/>
              </a:rPr>
              <a:t>25 kg dog. Tube, bag, and IV fluid rate if you intubate?</a:t>
            </a:r>
          </a:p>
        </p:txBody>
      </p:sp>
      <p:sp>
        <p:nvSpPr>
          <p:cNvPr id="26" name="TextBox 25"/>
          <p:cNvSpPr txBox="1"/>
          <p:nvPr/>
        </p:nvSpPr>
        <p:spPr>
          <a:xfrm>
            <a:off x="1417320" y="5568696"/>
            <a:ext cx="9966960" cy="438912"/>
          </a:xfrm>
          <a:prstGeom prst="rect">
            <a:avLst/>
          </a:prstGeom>
          <a:noFill/>
        </p:spPr>
        <p:txBody>
          <a:bodyPr wrap="square" anchor="t"/>
          <a:lstStyle/>
          <a:p>
            <a:pPr algn="l"/>
            <a:r>
              <a:rPr sz="1600" b="0">
                <a:solidFill>
                  <a:srgbClr val="1B6B7A"/>
                </a:solidFill>
                <a:latin typeface="Calibri"/>
              </a:rPr>
              <a:t>10 mm, 2 L circle, LRS 125 mL/hr (5 mL/kg/hr).</a:t>
            </a:r>
          </a:p>
        </p:txBody>
      </p:sp>
      <p:sp>
        <p:nvSpPr>
          <p:cNvPr id="27" name="Rectangle 2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9" name="TextBox 2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28  /  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Immediate recovery</a:t>
            </a:r>
          </a:p>
        </p:txBody>
      </p:sp>
      <p:pic>
        <p:nvPicPr>
          <p:cNvPr id="7" name="Picture 6" descr="remus_recovery.jpg"/>
          <p:cNvPicPr>
            <a:picLocks noChangeAspect="1"/>
          </p:cNvPicPr>
          <p:nvPr/>
        </p:nvPicPr>
        <p:blipFill>
          <a:blip r:embed="rId2"/>
          <a:stretch>
            <a:fillRect/>
          </a:stretch>
        </p:blipFill>
        <p:spPr>
          <a:xfrm>
            <a:off x="320040" y="1024128"/>
            <a:ext cx="7452360" cy="5440680"/>
          </a:xfrm>
          <a:prstGeom prst="rect">
            <a:avLst/>
          </a:prstGeom>
        </p:spPr>
      </p:pic>
      <p:sp>
        <p:nvSpPr>
          <p:cNvPr id="8" name="Rounded Rectangle 7"/>
          <p:cNvSpPr/>
          <p:nvPr/>
        </p:nvSpPr>
        <p:spPr>
          <a:xfrm>
            <a:off x="7863840" y="1024128"/>
            <a:ext cx="39776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0" y="1170432"/>
            <a:ext cx="3657600" cy="365760"/>
          </a:xfrm>
          <a:prstGeom prst="rect">
            <a:avLst/>
          </a:prstGeom>
          <a:noFill/>
        </p:spPr>
        <p:txBody>
          <a:bodyPr wrap="square" anchor="t"/>
          <a:lstStyle/>
          <a:p>
            <a:pPr algn="l"/>
            <a:r>
              <a:rPr sz="1800" b="1">
                <a:solidFill>
                  <a:srgbClr val="0B2C4A"/>
                </a:solidFill>
                <a:latin typeface="Calibri"/>
              </a:rPr>
              <a:t>Recovery priorities</a:t>
            </a:r>
          </a:p>
        </p:txBody>
      </p:sp>
      <p:sp>
        <p:nvSpPr>
          <p:cNvPr id="10" name="TextBox 9"/>
          <p:cNvSpPr txBox="1"/>
          <p:nvPr/>
        </p:nvSpPr>
        <p:spPr>
          <a:xfrm>
            <a:off x="8001000" y="1691640"/>
            <a:ext cx="3703320" cy="4480560"/>
          </a:xfrm>
          <a:prstGeom prst="rect">
            <a:avLst/>
          </a:prstGeom>
          <a:noFill/>
        </p:spPr>
        <p:txBody>
          <a:bodyPr wrap="square">
            <a:spAutoFit/>
          </a:bodyPr>
          <a:lstStyle/>
          <a:p>
            <a:pPr algn="l">
              <a:spcAft>
                <a:spcPts val="1000"/>
              </a:spcAft>
            </a:pPr>
            <a:r>
              <a:rPr sz="1600" b="0">
                <a:solidFill>
                  <a:srgbClr val="1C1C1C"/>
                </a:solidFill>
                <a:latin typeface="Calibri"/>
              </a:rPr>
              <a:t>▸  Extubate when swallow returns.</a:t>
            </a:r>
          </a:p>
          <a:p>
            <a:pPr algn="l">
              <a:spcAft>
                <a:spcPts val="1000"/>
              </a:spcAft>
            </a:pPr>
            <a:r>
              <a:rPr sz="1600" b="0">
                <a:solidFill>
                  <a:srgbClr val="1C1C1C"/>
                </a:solidFill>
                <a:latin typeface="Calibri"/>
              </a:rPr>
              <a:t>▸  Most anesthetic deaths are in recovery, often in the first 3 hours (Grubb 2020).</a:t>
            </a:r>
          </a:p>
          <a:p>
            <a:pPr algn="l">
              <a:spcAft>
                <a:spcPts val="1000"/>
              </a:spcAft>
            </a:pPr>
            <a:r>
              <a:rPr sz="1600" b="0">
                <a:solidFill>
                  <a:srgbClr val="1C1C1C"/>
                </a:solidFill>
                <a:latin typeface="Calibri"/>
              </a:rPr>
              <a:t>▸  Pale + tachycardic after celiotomy: return to OR.</a:t>
            </a:r>
          </a:p>
          <a:p>
            <a:pPr algn="l">
              <a:spcAft>
                <a:spcPts val="1000"/>
              </a:spcAft>
            </a:pPr>
            <a:r>
              <a:rPr sz="1600" b="0">
                <a:solidFill>
                  <a:srgbClr val="1C1C1C"/>
                </a:solidFill>
                <a:latin typeface="Calibri"/>
              </a:rPr>
              <a:t>▸  NSAID: carprofen in the dog, Onsior in the cat. Do not stack with a steroid.</a:t>
            </a:r>
          </a:p>
          <a:p>
            <a:pPr algn="l">
              <a:spcAft>
                <a:spcPts val="1000"/>
              </a:spcAft>
            </a:pPr>
            <a:r>
              <a:rPr sz="1600" b="0">
                <a:solidFill>
                  <a:srgbClr val="1C1C1C"/>
                </a:solidFill>
                <a:latin typeface="Calibri"/>
              </a:rPr>
              <a:t>▸  E-collar on before they can lick.</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29  /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Anesthesia chart: start, incision, criteria</a:t>
            </a:r>
          </a:p>
        </p:txBody>
      </p:sp>
      <p:pic>
        <p:nvPicPr>
          <p:cNvPr id="7" name="Picture 6" descr="anesthesia_chart_recovery.png"/>
          <p:cNvPicPr>
            <a:picLocks noChangeAspect="1"/>
          </p:cNvPicPr>
          <p:nvPr/>
        </p:nvPicPr>
        <p:blipFill>
          <a:blip r:embed="rId2"/>
          <a:stretch>
            <a:fillRect/>
          </a:stretch>
        </p:blipFill>
        <p:spPr>
          <a:xfrm>
            <a:off x="201168" y="960120"/>
            <a:ext cx="11795760" cy="553212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30  /  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Postop analgesia and incision care</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On-label NSAID</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Score pain. Dogs: Glasgow CMPS-SF. Cats: Feline Grimace Scale. Opioid as planned.</a:t>
            </a:r>
          </a:p>
          <a:p>
            <a:pPr algn="l">
              <a:spcAft>
                <a:spcPts val="600"/>
              </a:spcAft>
            </a:pPr>
            <a:r>
              <a:rPr sz="1600" b="0">
                <a:solidFill>
                  <a:srgbClr val="1C1C1C"/>
                </a:solidFill>
                <a:latin typeface="Calibri"/>
              </a:rPr>
              <a:t>▸  Dog: carprofen (Rimadyl) 4.4 mg/kg SQ. Dogs only. Give ~2 hours before incision so levels are on board (pre-emptive; Rimadyl label).</a:t>
            </a:r>
          </a:p>
          <a:p>
            <a:pPr algn="l">
              <a:spcAft>
                <a:spcPts val="600"/>
              </a:spcAft>
            </a:pPr>
            <a:r>
              <a:rPr sz="1600" b="0">
                <a:solidFill>
                  <a:srgbClr val="1C1C1C"/>
                </a:solidFill>
                <a:latin typeface="Calibri"/>
              </a:rPr>
              <a:t>▸  Cat: Onsior (robenacoxib) 2 mg/kg SQ. Cats only. First dose ~30 min before incision so levels are on board. OHE, castration, orthopedic. Up to 3 days.</a:t>
            </a:r>
          </a:p>
          <a:p>
            <a:pPr algn="l">
              <a:spcAft>
                <a:spcPts val="600"/>
              </a:spcAft>
            </a:pPr>
            <a:r>
              <a:rPr sz="1600" b="0">
                <a:solidFill>
                  <a:srgbClr val="1C1C1C"/>
                </a:solidFill>
                <a:latin typeface="Calibri"/>
              </a:rPr>
              <a:t>▸  Dog: carprofen. Cat: Onsior. Do not swap species in this course.</a:t>
            </a:r>
          </a:p>
          <a:p>
            <a:pPr algn="l">
              <a:spcAft>
                <a:spcPts val="600"/>
              </a:spcAft>
            </a:pPr>
            <a:r>
              <a:rPr sz="1600" b="0">
                <a:solidFill>
                  <a:srgbClr val="1C1C1C"/>
                </a:solidFill>
                <a:latin typeface="Calibri"/>
              </a:rPr>
              <a:t>▸  Do not stack an NSAID with a steroid. Skip NSAID if the patient is azotemic.</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Antibiotic injection and incision</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A postoperative antibiotic injection is treatment. Write the drug, dose, and why.</a:t>
            </a:r>
          </a:p>
          <a:p>
            <a:pPr algn="l">
              <a:spcAft>
                <a:spcPts val="600"/>
              </a:spcAft>
            </a:pPr>
            <a:r>
              <a:rPr sz="1600" b="0">
                <a:solidFill>
                  <a:srgbClr val="1C1C1C"/>
                </a:solidFill>
                <a:latin typeface="Calibri"/>
              </a:rPr>
              <a:t>▸  Clean elective OHE: skip (Frey 2022). Do not send home 14 days of cephalexin.</a:t>
            </a:r>
          </a:p>
          <a:p>
            <a:pPr algn="l">
              <a:spcAft>
                <a:spcPts val="600"/>
              </a:spcAft>
            </a:pPr>
            <a:r>
              <a:rPr sz="1600" b="0">
                <a:solidFill>
                  <a:srgbClr val="1C1C1C"/>
                </a:solidFill>
                <a:latin typeface="Calibri"/>
              </a:rPr>
              <a:t>▸  Dirty or infected: continue as therapy, not prophylaxis.</a:t>
            </a:r>
          </a:p>
          <a:p>
            <a:pPr algn="l">
              <a:spcAft>
                <a:spcPts val="600"/>
              </a:spcAft>
            </a:pPr>
            <a:r>
              <a:rPr sz="1600" b="0">
                <a:solidFill>
                  <a:srgbClr val="1C1C1C"/>
                </a:solidFill>
                <a:latin typeface="Calibri"/>
              </a:rPr>
              <a:t>▸  Look twice daily: swelling, discharge, gapping, smell, heat.</a:t>
            </a:r>
          </a:p>
          <a:p>
            <a:pPr algn="l">
              <a:spcAft>
                <a:spcPts val="600"/>
              </a:spcAft>
            </a:pPr>
            <a:r>
              <a:rPr sz="1600" b="0">
                <a:solidFill>
                  <a:srgbClr val="1C1C1C"/>
                </a:solidFill>
                <a:latin typeface="Calibri"/>
              </a:rPr>
              <a:t>▸  E-collar that stays on. Leash walks 14 days.</a:t>
            </a:r>
          </a:p>
          <a:p>
            <a:pPr algn="l">
              <a:spcAft>
                <a:spcPts val="600"/>
              </a:spcAft>
            </a:pPr>
            <a:r>
              <a:rPr sz="1600" b="0">
                <a:solidFill>
                  <a:srgbClr val="1C1C1C"/>
                </a:solidFill>
                <a:latin typeface="Calibri"/>
              </a:rPr>
              <a:t>▸  Skin sutures typically 10–14 days.</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31  /  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Complications in the first 24 hours</a:t>
            </a:r>
          </a:p>
        </p:txBody>
      </p:sp>
      <p:sp>
        <p:nvSpPr>
          <p:cNvPr id="7" name="Rounded Rectangle 6"/>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188720"/>
            <a:ext cx="5212080" cy="365760"/>
          </a:xfrm>
          <a:prstGeom prst="rect">
            <a:avLst/>
          </a:prstGeom>
          <a:noFill/>
        </p:spPr>
        <p:txBody>
          <a:bodyPr wrap="square" anchor="t"/>
          <a:lstStyle/>
          <a:p>
            <a:pPr algn="l"/>
            <a:r>
              <a:rPr sz="1800" b="1">
                <a:solidFill>
                  <a:srgbClr val="8B2E2E"/>
                </a:solidFill>
                <a:latin typeface="Calibri"/>
              </a:rPr>
              <a:t>Hemorrhage</a:t>
            </a:r>
          </a:p>
        </p:txBody>
      </p:sp>
      <p:sp>
        <p:nvSpPr>
          <p:cNvPr id="10" name="TextBox 9"/>
          <p:cNvSpPr txBox="1"/>
          <p:nvPr/>
        </p:nvSpPr>
        <p:spPr>
          <a:xfrm>
            <a:off x="731520" y="1581912"/>
            <a:ext cx="5212080" cy="914400"/>
          </a:xfrm>
          <a:prstGeom prst="rect">
            <a:avLst/>
          </a:prstGeom>
          <a:noFill/>
        </p:spPr>
        <p:txBody>
          <a:bodyPr wrap="square" anchor="t"/>
          <a:lstStyle/>
          <a:p>
            <a:pPr algn="l"/>
            <a:r>
              <a:rPr sz="1600" b="0">
                <a:solidFill>
                  <a:srgbClr val="3D4A57"/>
                </a:solidFill>
                <a:latin typeface="Calibri"/>
              </a:rPr>
              <a:t>Pale mm, tachycardia, distending abdomen, drip from incision, collapsing. Stabilize and return to OR.</a:t>
            </a:r>
          </a:p>
        </p:txBody>
      </p:sp>
      <p:sp>
        <p:nvSpPr>
          <p:cNvPr id="11" name="Rounded Rectangle 10"/>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1188720"/>
            <a:ext cx="5212080" cy="365760"/>
          </a:xfrm>
          <a:prstGeom prst="rect">
            <a:avLst/>
          </a:prstGeom>
          <a:noFill/>
        </p:spPr>
        <p:txBody>
          <a:bodyPr wrap="square" anchor="t"/>
          <a:lstStyle/>
          <a:p>
            <a:pPr algn="l"/>
            <a:r>
              <a:rPr sz="1800" b="1">
                <a:solidFill>
                  <a:srgbClr val="1B6B7A"/>
                </a:solidFill>
                <a:latin typeface="Calibri"/>
              </a:rPr>
              <a:t>Airway / aspiration</a:t>
            </a:r>
          </a:p>
        </p:txBody>
      </p:sp>
      <p:sp>
        <p:nvSpPr>
          <p:cNvPr id="14" name="TextBox 13"/>
          <p:cNvSpPr txBox="1"/>
          <p:nvPr/>
        </p:nvSpPr>
        <p:spPr>
          <a:xfrm>
            <a:off x="6629400" y="1581912"/>
            <a:ext cx="5212080" cy="914400"/>
          </a:xfrm>
          <a:prstGeom prst="rect">
            <a:avLst/>
          </a:prstGeom>
          <a:noFill/>
        </p:spPr>
        <p:txBody>
          <a:bodyPr wrap="square" anchor="t"/>
          <a:lstStyle/>
          <a:p>
            <a:pPr algn="l"/>
            <a:r>
              <a:rPr sz="1600" b="0">
                <a:solidFill>
                  <a:srgbClr val="3D4A57"/>
                </a:solidFill>
                <a:latin typeface="Calibri"/>
              </a:rPr>
              <a:t>Stertor, crackles, regurg on the pillow. Especially brachycephalics and after opioids.</a:t>
            </a:r>
          </a:p>
        </p:txBody>
      </p:sp>
      <p:sp>
        <p:nvSpPr>
          <p:cNvPr id="15" name="Rounded Rectangle 14"/>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2880360"/>
            <a:ext cx="5212080" cy="365760"/>
          </a:xfrm>
          <a:prstGeom prst="rect">
            <a:avLst/>
          </a:prstGeom>
          <a:noFill/>
        </p:spPr>
        <p:txBody>
          <a:bodyPr wrap="square" anchor="t"/>
          <a:lstStyle/>
          <a:p>
            <a:pPr algn="l"/>
            <a:r>
              <a:rPr sz="1800" b="1">
                <a:solidFill>
                  <a:srgbClr val="0B2C4A"/>
                </a:solidFill>
                <a:latin typeface="Calibri"/>
              </a:rPr>
              <a:t>Hernia / evisceration</a:t>
            </a:r>
          </a:p>
        </p:txBody>
      </p:sp>
      <p:sp>
        <p:nvSpPr>
          <p:cNvPr id="18" name="TextBox 17"/>
          <p:cNvSpPr txBox="1"/>
          <p:nvPr/>
        </p:nvSpPr>
        <p:spPr>
          <a:xfrm>
            <a:off x="731520" y="3273552"/>
            <a:ext cx="5212080" cy="914400"/>
          </a:xfrm>
          <a:prstGeom prst="rect">
            <a:avLst/>
          </a:prstGeom>
          <a:noFill/>
        </p:spPr>
        <p:txBody>
          <a:bodyPr wrap="square" anchor="t"/>
          <a:lstStyle/>
          <a:p>
            <a:pPr algn="l"/>
            <a:r>
              <a:rPr sz="1600" b="0">
                <a:solidFill>
                  <a:srgbClr val="3D4A57"/>
                </a:solidFill>
                <a:latin typeface="Calibri"/>
              </a:rPr>
              <a:t>Linea failure. Emergency. Protect viscera with sterile moist towels, opioids, OR now.</a:t>
            </a:r>
          </a:p>
        </p:txBody>
      </p:sp>
      <p:sp>
        <p:nvSpPr>
          <p:cNvPr id="19" name="Rounded Rectangle 18"/>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29400" y="2880360"/>
            <a:ext cx="5212080" cy="365760"/>
          </a:xfrm>
          <a:prstGeom prst="rect">
            <a:avLst/>
          </a:prstGeom>
          <a:noFill/>
        </p:spPr>
        <p:txBody>
          <a:bodyPr wrap="square" anchor="t"/>
          <a:lstStyle/>
          <a:p>
            <a:pPr algn="l"/>
            <a:r>
              <a:rPr sz="1800" b="1">
                <a:solidFill>
                  <a:srgbClr val="C5A35A"/>
                </a:solidFill>
                <a:latin typeface="Calibri"/>
              </a:rPr>
              <a:t>Dehiscence (later)</a:t>
            </a:r>
          </a:p>
        </p:txBody>
      </p:sp>
      <p:sp>
        <p:nvSpPr>
          <p:cNvPr id="22" name="TextBox 21"/>
          <p:cNvSpPr txBox="1"/>
          <p:nvPr/>
        </p:nvSpPr>
        <p:spPr>
          <a:xfrm>
            <a:off x="6629400" y="3273552"/>
            <a:ext cx="5212080" cy="914400"/>
          </a:xfrm>
          <a:prstGeom prst="rect">
            <a:avLst/>
          </a:prstGeom>
          <a:noFill/>
        </p:spPr>
        <p:txBody>
          <a:bodyPr wrap="square" anchor="t"/>
          <a:lstStyle/>
          <a:p>
            <a:pPr algn="l"/>
            <a:r>
              <a:rPr sz="1600" b="0">
                <a:solidFill>
                  <a:srgbClr val="3D4A57"/>
                </a:solidFill>
                <a:latin typeface="Calibri"/>
              </a:rPr>
              <a:t>Often day 3–5. Skin versus fascia: fascial dehiscence is the emergency.</a:t>
            </a:r>
          </a:p>
        </p:txBody>
      </p:sp>
      <p:sp>
        <p:nvSpPr>
          <p:cNvPr id="23" name="Rounded Rectangle 22"/>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4572000"/>
            <a:ext cx="5212080" cy="365760"/>
          </a:xfrm>
          <a:prstGeom prst="rect">
            <a:avLst/>
          </a:prstGeom>
          <a:noFill/>
        </p:spPr>
        <p:txBody>
          <a:bodyPr wrap="square" anchor="t"/>
          <a:lstStyle/>
          <a:p>
            <a:pPr algn="l"/>
            <a:r>
              <a:rPr sz="1800" b="1">
                <a:solidFill>
                  <a:srgbClr val="2E6B4F"/>
                </a:solidFill>
                <a:latin typeface="Calibri"/>
              </a:rPr>
              <a:t>SSI</a:t>
            </a:r>
          </a:p>
        </p:txBody>
      </p:sp>
      <p:sp>
        <p:nvSpPr>
          <p:cNvPr id="26" name="TextBox 25"/>
          <p:cNvSpPr txBox="1"/>
          <p:nvPr/>
        </p:nvSpPr>
        <p:spPr>
          <a:xfrm>
            <a:off x="731520" y="4965192"/>
            <a:ext cx="5212080" cy="914400"/>
          </a:xfrm>
          <a:prstGeom prst="rect">
            <a:avLst/>
          </a:prstGeom>
          <a:noFill/>
        </p:spPr>
        <p:txBody>
          <a:bodyPr wrap="square" anchor="t"/>
          <a:lstStyle/>
          <a:p>
            <a:pPr algn="l"/>
            <a:r>
              <a:rPr sz="1600" b="0">
                <a:solidFill>
                  <a:srgbClr val="3D4A57"/>
                </a:solidFill>
                <a:latin typeface="Calibri"/>
              </a:rPr>
              <a:t>Redness, pain, discharge, fever, usually after day 3. Culture. Open, lavage, and treat the organism you grow.</a:t>
            </a:r>
          </a:p>
        </p:txBody>
      </p:sp>
      <p:sp>
        <p:nvSpPr>
          <p:cNvPr id="27" name="Rounded Rectangle 26"/>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29400" y="4572000"/>
            <a:ext cx="5212080" cy="365760"/>
          </a:xfrm>
          <a:prstGeom prst="rect">
            <a:avLst/>
          </a:prstGeom>
          <a:noFill/>
        </p:spPr>
        <p:txBody>
          <a:bodyPr wrap="square" anchor="t"/>
          <a:lstStyle/>
          <a:p>
            <a:pPr algn="l"/>
            <a:r>
              <a:rPr sz="1800" b="1">
                <a:solidFill>
                  <a:srgbClr val="1B6B7A"/>
                </a:solidFill>
                <a:latin typeface="Calibri"/>
              </a:rPr>
              <a:t>Seroma / self-trauma</a:t>
            </a:r>
          </a:p>
        </p:txBody>
      </p:sp>
      <p:sp>
        <p:nvSpPr>
          <p:cNvPr id="30" name="TextBox 29"/>
          <p:cNvSpPr txBox="1"/>
          <p:nvPr/>
        </p:nvSpPr>
        <p:spPr>
          <a:xfrm>
            <a:off x="6629400" y="4965192"/>
            <a:ext cx="5212080" cy="914400"/>
          </a:xfrm>
          <a:prstGeom prst="rect">
            <a:avLst/>
          </a:prstGeom>
          <a:noFill/>
        </p:spPr>
        <p:txBody>
          <a:bodyPr wrap="square" anchor="t"/>
          <a:lstStyle/>
          <a:p>
            <a:pPr algn="l"/>
            <a:r>
              <a:rPr sz="1600" b="0">
                <a:solidFill>
                  <a:srgbClr val="3D4A57"/>
                </a:solidFill>
                <a:latin typeface="Calibri"/>
              </a:rPr>
              <a:t>Dead space + motion. Restrict activity. Bandage if needed. Leave the fluid unless it is infected.</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32  /  38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report and discharge</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Minimum report elements</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Date/time, patient ID, surgeon, anesthesia, ASA.</a:t>
            </a:r>
          </a:p>
          <a:p>
            <a:pPr algn="l">
              <a:spcAft>
                <a:spcPts val="600"/>
              </a:spcAft>
            </a:pPr>
            <a:r>
              <a:rPr sz="1600" b="0">
                <a:solidFill>
                  <a:srgbClr val="1C1C1C"/>
                </a:solidFill>
                <a:latin typeface="Calibri"/>
              </a:rPr>
              <a:t>▸  Procedure name and side. Position, clip/prep, approach.</a:t>
            </a:r>
          </a:p>
          <a:p>
            <a:pPr algn="l">
              <a:spcAft>
                <a:spcPts val="600"/>
              </a:spcAft>
            </a:pPr>
            <a:r>
              <a:rPr sz="1600" b="0">
                <a:solidFill>
                  <a:srgbClr val="1C1C1C"/>
                </a:solidFill>
                <a:latin typeface="Calibri"/>
              </a:rPr>
              <a:t>▸  Findings in order. Ligatures, implants, samples.</a:t>
            </a:r>
          </a:p>
          <a:p>
            <a:pPr algn="l">
              <a:spcAft>
                <a:spcPts val="600"/>
              </a:spcAft>
            </a:pPr>
            <a:r>
              <a:rPr sz="1600" b="0">
                <a:solidFill>
                  <a:srgbClr val="1C1C1C"/>
                </a:solidFill>
                <a:latin typeface="Calibri"/>
              </a:rPr>
              <a:t>▸  Suture: layer, material, size, pattern.</a:t>
            </a:r>
          </a:p>
          <a:p>
            <a:pPr algn="l">
              <a:spcAft>
                <a:spcPts val="600"/>
              </a:spcAft>
            </a:pPr>
            <a:r>
              <a:rPr sz="1600" b="0">
                <a:solidFill>
                  <a:srgbClr val="1C1C1C"/>
                </a:solidFill>
                <a:latin typeface="Calibri"/>
              </a:rPr>
              <a:t>▸  Hemostasis, blood loss, sponge count, complications.</a:t>
            </a:r>
          </a:p>
          <a:p>
            <a:pPr algn="l">
              <a:spcAft>
                <a:spcPts val="600"/>
              </a:spcAft>
            </a:pPr>
            <a:r>
              <a:rPr sz="1600" b="0">
                <a:solidFill>
                  <a:srgbClr val="1C1C1C"/>
                </a:solidFill>
                <a:latin typeface="Calibri"/>
              </a:rPr>
              <a:t>▸  Postop plan: fluids, pain, feeding, recheck.</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Discharge, verbal and written</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What we did, in one sentence.</a:t>
            </a:r>
          </a:p>
          <a:p>
            <a:pPr algn="l">
              <a:spcAft>
                <a:spcPts val="600"/>
              </a:spcAft>
            </a:pPr>
            <a:r>
              <a:rPr sz="1600" b="0">
                <a:solidFill>
                  <a:srgbClr val="1C1C1C"/>
                </a:solidFill>
                <a:latin typeface="Calibri"/>
              </a:rPr>
              <a:t>▸  When to start food and water, and how much.</a:t>
            </a:r>
          </a:p>
          <a:p>
            <a:pPr algn="l">
              <a:spcAft>
                <a:spcPts val="600"/>
              </a:spcAft>
            </a:pPr>
            <a:r>
              <a:rPr sz="1600" b="0">
                <a:solidFill>
                  <a:srgbClr val="1C1C1C"/>
                </a:solidFill>
                <a:latin typeface="Calibri"/>
              </a:rPr>
              <a:t>▸  Every medication: name, dose, time, with food?</a:t>
            </a:r>
          </a:p>
          <a:p>
            <a:pPr algn="l">
              <a:spcAft>
                <a:spcPts val="600"/>
              </a:spcAft>
            </a:pPr>
            <a:r>
              <a:rPr sz="1600" b="0">
                <a:solidFill>
                  <a:srgbClr val="1C1C1C"/>
                </a:solidFill>
                <a:latin typeface="Calibri"/>
              </a:rPr>
              <a:t>▸  Incision care and 14-day leash walks.</a:t>
            </a:r>
          </a:p>
          <a:p>
            <a:pPr algn="l">
              <a:spcAft>
                <a:spcPts val="600"/>
              </a:spcAft>
            </a:pPr>
            <a:r>
              <a:rPr sz="1600" b="0">
                <a:solidFill>
                  <a:srgbClr val="1C1C1C"/>
                </a:solidFill>
                <a:latin typeface="Calibri"/>
              </a:rPr>
              <a:t>▸  E-collar on except when directly watching.</a:t>
            </a:r>
          </a:p>
          <a:p>
            <a:pPr algn="l">
              <a:spcAft>
                <a:spcPts val="600"/>
              </a:spcAft>
            </a:pPr>
            <a:r>
              <a:rPr sz="1600" b="0">
                <a:solidFill>
                  <a:srgbClr val="1C1C1C"/>
                </a:solidFill>
                <a:latin typeface="Calibri"/>
              </a:rPr>
              <a:t>▸  Next appointment. ER criteria. After-hours number.</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33  /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Emergency criteria for discharge</a:t>
            </a:r>
          </a:p>
        </p:txBody>
      </p:sp>
      <p:sp>
        <p:nvSpPr>
          <p:cNvPr id="7" name="Rounded Rectangle 6"/>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97280"/>
            <a:ext cx="3703320" cy="640080"/>
          </a:xfrm>
          <a:prstGeom prst="rect">
            <a:avLst/>
          </a:prstGeom>
          <a:noFill/>
        </p:spPr>
        <p:txBody>
          <a:bodyPr wrap="square" anchor="ctr"/>
          <a:lstStyle/>
          <a:p>
            <a:pPr algn="ctr"/>
            <a:r>
              <a:rPr sz="2000" b="1">
                <a:solidFill>
                  <a:srgbClr val="FFFFFF"/>
                </a:solidFill>
                <a:latin typeface="Calibri"/>
              </a:rPr>
              <a:t>Come now</a:t>
            </a:r>
          </a:p>
        </p:txBody>
      </p:sp>
      <p:sp>
        <p:nvSpPr>
          <p:cNvPr id="10" name="TextBox 9"/>
          <p:cNvSpPr txBox="1"/>
          <p:nvPr/>
        </p:nvSpPr>
        <p:spPr>
          <a:xfrm>
            <a:off x="640080" y="1920240"/>
            <a:ext cx="3246120" cy="3931920"/>
          </a:xfrm>
          <a:prstGeom prst="rect">
            <a:avLst/>
          </a:prstGeom>
          <a:noFill/>
        </p:spPr>
        <p:txBody>
          <a:bodyPr wrap="square" anchor="t"/>
          <a:lstStyle/>
          <a:p>
            <a:pPr algn="l"/>
            <a:r>
              <a:rPr sz="1800" b="0">
                <a:solidFill>
                  <a:srgbClr val="1C1C1C"/>
                </a:solidFill>
                <a:latin typeface="Calibri"/>
              </a:rPr>
              <a:t>Collapse. Pale gums. Distended abdomen. Unstoppable bleeding. Can’t breathe. Can’t urinate. Evisceration. Uncontrolled pain.</a:t>
            </a:r>
          </a:p>
        </p:txBody>
      </p:sp>
      <p:sp>
        <p:nvSpPr>
          <p:cNvPr id="11" name="Rounded Rectangle 10"/>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1097280"/>
            <a:ext cx="3703320" cy="640080"/>
          </a:xfrm>
          <a:prstGeom prst="rect">
            <a:avLst/>
          </a:prstGeom>
          <a:noFill/>
        </p:spPr>
        <p:txBody>
          <a:bodyPr wrap="square" anchor="ctr"/>
          <a:lstStyle/>
          <a:p>
            <a:pPr algn="ctr"/>
            <a:r>
              <a:rPr sz="2000" b="1">
                <a:solidFill>
                  <a:srgbClr val="FFFFFF"/>
                </a:solidFill>
                <a:latin typeface="Calibri"/>
              </a:rPr>
              <a:t>Call today</a:t>
            </a:r>
          </a:p>
        </p:txBody>
      </p:sp>
      <p:sp>
        <p:nvSpPr>
          <p:cNvPr id="14" name="TextBox 13"/>
          <p:cNvSpPr txBox="1"/>
          <p:nvPr/>
        </p:nvSpPr>
        <p:spPr>
          <a:xfrm>
            <a:off x="4526280" y="1920240"/>
            <a:ext cx="3246120" cy="3931920"/>
          </a:xfrm>
          <a:prstGeom prst="rect">
            <a:avLst/>
          </a:prstGeom>
          <a:noFill/>
        </p:spPr>
        <p:txBody>
          <a:bodyPr wrap="square" anchor="t"/>
          <a:lstStyle/>
          <a:p>
            <a:pPr algn="l"/>
            <a:r>
              <a:rPr sz="1800" b="0">
                <a:solidFill>
                  <a:srgbClr val="1C1C1C"/>
                </a:solidFill>
                <a:latin typeface="Calibri"/>
              </a:rPr>
              <a:t>Not eating by morning. A few vomits. Mild incision redness. Diarrhea. E-collar problems.</a:t>
            </a:r>
          </a:p>
        </p:txBody>
      </p:sp>
      <p:sp>
        <p:nvSpPr>
          <p:cNvPr id="15" name="Rounded Rectangle 14"/>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1097280"/>
            <a:ext cx="3703320" cy="640080"/>
          </a:xfrm>
          <a:prstGeom prst="rect">
            <a:avLst/>
          </a:prstGeom>
          <a:noFill/>
        </p:spPr>
        <p:txBody>
          <a:bodyPr wrap="square" anchor="ctr"/>
          <a:lstStyle/>
          <a:p>
            <a:pPr algn="ctr"/>
            <a:r>
              <a:rPr sz="2000" b="1">
                <a:solidFill>
                  <a:srgbClr val="FFFFFF"/>
                </a:solidFill>
                <a:latin typeface="Calibri"/>
              </a:rPr>
              <a:t>Expected</a:t>
            </a:r>
          </a:p>
        </p:txBody>
      </p:sp>
      <p:sp>
        <p:nvSpPr>
          <p:cNvPr id="18" name="TextBox 17"/>
          <p:cNvSpPr txBox="1"/>
          <p:nvPr/>
        </p:nvSpPr>
        <p:spPr>
          <a:xfrm>
            <a:off x="8412480" y="1920240"/>
            <a:ext cx="3246120" cy="3931920"/>
          </a:xfrm>
          <a:prstGeom prst="rect">
            <a:avLst/>
          </a:prstGeom>
          <a:noFill/>
        </p:spPr>
        <p:txBody>
          <a:bodyPr wrap="square" anchor="t"/>
          <a:lstStyle/>
          <a:p>
            <a:pPr algn="l"/>
            <a:r>
              <a:rPr sz="1800" b="0">
                <a:solidFill>
                  <a:srgbClr val="1C1C1C"/>
                </a:solidFill>
                <a:latin typeface="Calibri"/>
              </a:rPr>
              <a:t>Sleepy tonight. Small bruise. Slightly tacky incision. Reduced appetite this evening.</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34  /  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Answer: Willie is Status 3-E</a:t>
            </a:r>
          </a:p>
        </p:txBody>
      </p:sp>
      <p:sp>
        <p:nvSpPr>
          <p:cNvPr id="7" name="Rounded Rectangle 6"/>
          <p:cNvSpPr/>
          <p:nvPr/>
        </p:nvSpPr>
        <p:spPr>
          <a:xfrm>
            <a:off x="457200" y="1051560"/>
            <a:ext cx="11247120" cy="7315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Willie  ·  Cavalier  ·  13.7 kg  ·  today’s PE and today’s labs write the status</a:t>
            </a:r>
          </a:p>
        </p:txBody>
      </p:sp>
      <p:sp>
        <p:nvSpPr>
          <p:cNvPr id="9" name="Rounded Rectangle 8"/>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1920240"/>
            <a:ext cx="2788920" cy="594360"/>
          </a:xfrm>
          <a:prstGeom prst="rect">
            <a:avLst/>
          </a:prstGeom>
          <a:noFill/>
        </p:spPr>
        <p:txBody>
          <a:bodyPr wrap="square" anchor="ctr"/>
          <a:lstStyle/>
          <a:p>
            <a:pPr algn="ctr"/>
            <a:r>
              <a:rPr sz="1800" b="1">
                <a:solidFill>
                  <a:srgbClr val="C5A35A"/>
                </a:solidFill>
                <a:latin typeface="Calibri"/>
              </a:rPr>
              <a:t>Disease</a:t>
            </a:r>
          </a:p>
        </p:txBody>
      </p:sp>
      <p:sp>
        <p:nvSpPr>
          <p:cNvPr id="12" name="TextBox 11"/>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Acute ataxia and disorientation. AS otitis. Grade II/VI murmur. That is moderate systemic disease, not a normal PE.</a:t>
            </a:r>
          </a:p>
        </p:txBody>
      </p:sp>
      <p:sp>
        <p:nvSpPr>
          <p:cNvPr id="13" name="Rounded Rectangle 12"/>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920240"/>
            <a:ext cx="2788920" cy="594360"/>
          </a:xfrm>
          <a:prstGeom prst="rect">
            <a:avLst/>
          </a:prstGeom>
          <a:noFill/>
        </p:spPr>
        <p:txBody>
          <a:bodyPr wrap="square" anchor="ctr"/>
          <a:lstStyle/>
          <a:p>
            <a:pPr algn="ctr"/>
            <a:r>
              <a:rPr sz="1800" b="1">
                <a:solidFill>
                  <a:srgbClr val="C5A35A"/>
                </a:solidFill>
                <a:latin typeface="Calibri"/>
              </a:rPr>
              <a:t>Compensated</a:t>
            </a:r>
          </a:p>
        </p:txBody>
      </p:sp>
      <p:sp>
        <p:nvSpPr>
          <p:cNvPr id="16" name="TextBox 15"/>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Pink, CRT 2 s. BUN 11.9 and creatinine 0.7 in range. Not a constant threat to life today.</a:t>
            </a:r>
          </a:p>
        </p:txBody>
      </p:sp>
      <p:sp>
        <p:nvSpPr>
          <p:cNvPr id="17" name="Rounded Rectangle 16"/>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920240"/>
            <a:ext cx="2788920" cy="594360"/>
          </a:xfrm>
          <a:prstGeom prst="rect">
            <a:avLst/>
          </a:prstGeom>
          <a:noFill/>
        </p:spPr>
        <p:txBody>
          <a:bodyPr wrap="square" anchor="ctr"/>
          <a:lstStyle/>
          <a:p>
            <a:pPr algn="ctr"/>
            <a:r>
              <a:rPr sz="1800" b="1">
                <a:solidFill>
                  <a:srgbClr val="C5A35A"/>
                </a:solidFill>
                <a:latin typeface="Calibri"/>
              </a:rPr>
              <a:t>Not Status 1</a:t>
            </a:r>
          </a:p>
        </p:txBody>
      </p:sp>
      <p:sp>
        <p:nvSpPr>
          <p:cNvPr id="20" name="TextBox 19"/>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HCT 47.5% in range does not write Status 1. Otitis plus ataxia plus a murmur is not Status 1.</a:t>
            </a:r>
          </a:p>
        </p:txBody>
      </p:sp>
      <p:sp>
        <p:nvSpPr>
          <p:cNvPr id="21" name="Rounded Rectangle 20"/>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8972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9720" y="1920240"/>
            <a:ext cx="2788920" cy="594360"/>
          </a:xfrm>
          <a:prstGeom prst="rect">
            <a:avLst/>
          </a:prstGeom>
          <a:noFill/>
        </p:spPr>
        <p:txBody>
          <a:bodyPr wrap="square" anchor="ctr"/>
          <a:lstStyle/>
          <a:p>
            <a:pPr algn="ctr"/>
            <a:r>
              <a:rPr sz="1800" b="1">
                <a:solidFill>
                  <a:srgbClr val="C5A35A"/>
                </a:solidFill>
                <a:latin typeface="Calibri"/>
              </a:rPr>
              <a:t>Not Status 4</a:t>
            </a:r>
          </a:p>
        </p:txBody>
      </p:sp>
      <p:sp>
        <p:nvSpPr>
          <p:cNvPr id="24" name="TextBox 23"/>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Phos 6.0 and glucose 130 are high. They do not write Status 4. Status 4 is a constant threat to life.</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35  /  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Answer: Willie 3-E, MoMo 4-E</a:t>
            </a:r>
          </a:p>
        </p:txBody>
      </p:sp>
      <p:sp>
        <p:nvSpPr>
          <p:cNvPr id="7" name="Rounded Rectangle 6"/>
          <p:cNvSpPr/>
          <p:nvPr/>
        </p:nvSpPr>
        <p:spPr>
          <a:xfrm>
            <a:off x="41148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91440" cy="5029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207008"/>
            <a:ext cx="5257800" cy="329184"/>
          </a:xfrm>
          <a:prstGeom prst="rect">
            <a:avLst/>
          </a:prstGeom>
          <a:noFill/>
        </p:spPr>
        <p:txBody>
          <a:bodyPr wrap="square" anchor="t"/>
          <a:lstStyle/>
          <a:p>
            <a:pPr algn="l"/>
            <a:r>
              <a:rPr sz="1800" b="1">
                <a:solidFill>
                  <a:srgbClr val="0B2C4A"/>
                </a:solidFill>
                <a:latin typeface="Calibri"/>
              </a:rPr>
              <a:t>Willie, Status 3-E</a:t>
            </a:r>
          </a:p>
        </p:txBody>
      </p:sp>
      <p:sp>
        <p:nvSpPr>
          <p:cNvPr id="10" name="TextBox 9"/>
          <p:cNvSpPr txBox="1"/>
          <p:nvPr/>
        </p:nvSpPr>
        <p:spPr>
          <a:xfrm>
            <a:off x="667512" y="1554480"/>
            <a:ext cx="5257800" cy="4462272"/>
          </a:xfrm>
          <a:prstGeom prst="rect">
            <a:avLst/>
          </a:prstGeom>
          <a:noFill/>
        </p:spPr>
        <p:txBody>
          <a:bodyPr wrap="square" anchor="t"/>
          <a:lstStyle/>
          <a:p>
            <a:pPr algn="l"/>
            <a:r>
              <a:rPr sz="1600" b="0">
                <a:solidFill>
                  <a:srgbClr val="3D4A57"/>
                </a:solidFill>
                <a:latin typeface="Calibri"/>
              </a:rPr>
              <a:t>Cavalier, 13.7 kg. Acute ataxia + AS otitis + murmur. HCT 47.5%, TP 6.4, BUN 11.9, Cr 0.7 in range. Phos 6.0 and glucose 130 high. Still compensated. Status 3-E from today’s PE and labs.</a:t>
            </a:r>
          </a:p>
        </p:txBody>
      </p:sp>
      <p:sp>
        <p:nvSpPr>
          <p:cNvPr id="11" name="Rounded Rectangle 10"/>
          <p:cNvSpPr/>
          <p:nvPr/>
        </p:nvSpPr>
        <p:spPr>
          <a:xfrm>
            <a:off x="617220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097280"/>
            <a:ext cx="91440" cy="502920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207008"/>
            <a:ext cx="5257800" cy="329184"/>
          </a:xfrm>
          <a:prstGeom prst="rect">
            <a:avLst/>
          </a:prstGeom>
          <a:noFill/>
        </p:spPr>
        <p:txBody>
          <a:bodyPr wrap="square" anchor="t"/>
          <a:lstStyle/>
          <a:p>
            <a:pPr algn="l"/>
            <a:r>
              <a:rPr sz="1800" b="1">
                <a:solidFill>
                  <a:srgbClr val="0B2C4A"/>
                </a:solidFill>
                <a:latin typeface="Calibri"/>
              </a:rPr>
              <a:t>MoMo, Status 4-E</a:t>
            </a:r>
          </a:p>
        </p:txBody>
      </p:sp>
      <p:sp>
        <p:nvSpPr>
          <p:cNvPr id="14" name="TextBox 13"/>
          <p:cNvSpPr txBox="1"/>
          <p:nvPr/>
        </p:nvSpPr>
        <p:spPr>
          <a:xfrm>
            <a:off x="6428232" y="1554480"/>
            <a:ext cx="5257800" cy="4462272"/>
          </a:xfrm>
          <a:prstGeom prst="rect">
            <a:avLst/>
          </a:prstGeom>
          <a:noFill/>
        </p:spPr>
        <p:txBody>
          <a:bodyPr wrap="square" anchor="t"/>
          <a:lstStyle/>
          <a:p>
            <a:pPr algn="l"/>
            <a:r>
              <a:rPr sz="1600" b="0">
                <a:solidFill>
                  <a:srgbClr val="3D4A57"/>
                </a:solidFill>
                <a:latin typeface="Calibri"/>
              </a:rPr>
              <a:t>Do not cut today. DSH, 4.25 kg. Vomiting that looked like FB. Right kidney fluid-filled and non-functional on AUS. Creatinine 3.0 → 4.71 on fluids; mechanism not assigned from this record. NSAIDs contraindicated. Record the decision. Offer supportive care, referral, or euthanasia.</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36  /  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Key points</a:t>
            </a:r>
          </a:p>
        </p:txBody>
      </p:sp>
      <p:sp>
        <p:nvSpPr>
          <p:cNvPr id="7" name="Rounded Rectangle 6"/>
          <p:cNvSpPr/>
          <p:nvPr/>
        </p:nvSpPr>
        <p:spPr>
          <a:xfrm>
            <a:off x="457200" y="105156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768096"/>
          </a:xfrm>
          <a:prstGeom prst="rect">
            <a:avLst/>
          </a:prstGeom>
          <a:noFill/>
        </p:spPr>
        <p:txBody>
          <a:bodyPr wrap="square" anchor="ctr"/>
          <a:lstStyle/>
          <a:p>
            <a:pPr algn="ctr"/>
            <a:r>
              <a:rPr sz="2000" b="1">
                <a:solidFill>
                  <a:srgbClr val="0B2C4A"/>
                </a:solidFill>
                <a:latin typeface="Calibri"/>
              </a:rPr>
              <a:t>1</a:t>
            </a:r>
          </a:p>
        </p:txBody>
      </p:sp>
      <p:sp>
        <p:nvSpPr>
          <p:cNvPr id="10" name="TextBox 9"/>
          <p:cNvSpPr txBox="1"/>
          <p:nvPr/>
        </p:nvSpPr>
        <p:spPr>
          <a:xfrm>
            <a:off x="1417320" y="1051560"/>
            <a:ext cx="9966960" cy="768096"/>
          </a:xfrm>
          <a:prstGeom prst="rect">
            <a:avLst/>
          </a:prstGeom>
          <a:noFill/>
        </p:spPr>
        <p:txBody>
          <a:bodyPr wrap="square" anchor="ctr"/>
          <a:lstStyle/>
          <a:p>
            <a:pPr algn="l"/>
            <a:r>
              <a:rPr sz="1800" b="0">
                <a:solidFill>
                  <a:srgbClr val="1C1C1C"/>
                </a:solidFill>
                <a:latin typeface="Calibri"/>
              </a:rPr>
              <a:t>Pre-anesthetic assessment: TPR, mm/CRT, then PCV, TP, BUN. Interpret. Circle ASA. Then IM or SQ premed.</a:t>
            </a:r>
          </a:p>
        </p:txBody>
      </p:sp>
      <p:sp>
        <p:nvSpPr>
          <p:cNvPr id="11" name="Rounded Rectangle 10"/>
          <p:cNvSpPr/>
          <p:nvPr/>
        </p:nvSpPr>
        <p:spPr>
          <a:xfrm>
            <a:off x="457200" y="1892808"/>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892808"/>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1892808"/>
            <a:ext cx="777240" cy="768096"/>
          </a:xfrm>
          <a:prstGeom prst="rect">
            <a:avLst/>
          </a:prstGeom>
          <a:noFill/>
        </p:spPr>
        <p:txBody>
          <a:bodyPr wrap="square" anchor="ctr"/>
          <a:lstStyle/>
          <a:p>
            <a:pPr algn="ctr"/>
            <a:r>
              <a:rPr sz="2000" b="1">
                <a:solidFill>
                  <a:srgbClr val="0B2C4A"/>
                </a:solidFill>
                <a:latin typeface="Calibri"/>
              </a:rPr>
              <a:t>2</a:t>
            </a:r>
          </a:p>
        </p:txBody>
      </p:sp>
      <p:sp>
        <p:nvSpPr>
          <p:cNvPr id="14" name="TextBox 13"/>
          <p:cNvSpPr txBox="1"/>
          <p:nvPr/>
        </p:nvSpPr>
        <p:spPr>
          <a:xfrm>
            <a:off x="1417320" y="1892808"/>
            <a:ext cx="9966960" cy="768096"/>
          </a:xfrm>
          <a:prstGeom prst="rect">
            <a:avLst/>
          </a:prstGeom>
          <a:noFill/>
        </p:spPr>
        <p:txBody>
          <a:bodyPr wrap="square" anchor="ctr"/>
          <a:lstStyle/>
          <a:p>
            <a:pPr algn="l"/>
            <a:r>
              <a:rPr sz="1800" b="0">
                <a:solidFill>
                  <a:srgbClr val="1C1C1C"/>
                </a:solidFill>
                <a:latin typeface="Calibri"/>
              </a:rPr>
              <a:t>Write drug, concentration, dose, volume, and route. Then IV fluid name and rate, ETT size, circuit, and fresh-gas flow.</a:t>
            </a:r>
          </a:p>
        </p:txBody>
      </p:sp>
      <p:sp>
        <p:nvSpPr>
          <p:cNvPr id="15" name="Rounded Rectangle 14"/>
          <p:cNvSpPr/>
          <p:nvPr/>
        </p:nvSpPr>
        <p:spPr>
          <a:xfrm>
            <a:off x="457200" y="2734056"/>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734056"/>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2734056"/>
            <a:ext cx="777240" cy="768096"/>
          </a:xfrm>
          <a:prstGeom prst="rect">
            <a:avLst/>
          </a:prstGeom>
          <a:noFill/>
        </p:spPr>
        <p:txBody>
          <a:bodyPr wrap="square" anchor="ctr"/>
          <a:lstStyle/>
          <a:p>
            <a:pPr algn="ctr"/>
            <a:r>
              <a:rPr sz="2000" b="1">
                <a:solidFill>
                  <a:srgbClr val="0B2C4A"/>
                </a:solidFill>
                <a:latin typeface="Calibri"/>
              </a:rPr>
              <a:t>3</a:t>
            </a:r>
          </a:p>
        </p:txBody>
      </p:sp>
      <p:sp>
        <p:nvSpPr>
          <p:cNvPr id="18" name="TextBox 17"/>
          <p:cNvSpPr txBox="1"/>
          <p:nvPr/>
        </p:nvSpPr>
        <p:spPr>
          <a:xfrm>
            <a:off x="1417320" y="2734056"/>
            <a:ext cx="9966960" cy="768096"/>
          </a:xfrm>
          <a:prstGeom prst="rect">
            <a:avLst/>
          </a:prstGeom>
          <a:noFill/>
        </p:spPr>
        <p:txBody>
          <a:bodyPr wrap="square" anchor="ctr"/>
          <a:lstStyle/>
          <a:p>
            <a:pPr algn="l"/>
            <a:r>
              <a:rPr sz="1800" b="0">
                <a:solidFill>
                  <a:srgbClr val="1C1C1C"/>
                </a:solidFill>
                <a:latin typeface="Calibri"/>
              </a:rPr>
              <a:t>Ready for surgical prep: airway secured, machine on, patent IV running, surgical plane, monitoring started.</a:t>
            </a:r>
          </a:p>
        </p:txBody>
      </p:sp>
      <p:sp>
        <p:nvSpPr>
          <p:cNvPr id="19" name="Rounded Rectangle 18"/>
          <p:cNvSpPr/>
          <p:nvPr/>
        </p:nvSpPr>
        <p:spPr>
          <a:xfrm>
            <a:off x="457200" y="3575304"/>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3575304"/>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575304"/>
            <a:ext cx="777240" cy="768096"/>
          </a:xfrm>
          <a:prstGeom prst="rect">
            <a:avLst/>
          </a:prstGeom>
          <a:noFill/>
        </p:spPr>
        <p:txBody>
          <a:bodyPr wrap="square" anchor="ctr"/>
          <a:lstStyle/>
          <a:p>
            <a:pPr algn="ctr"/>
            <a:r>
              <a:rPr sz="2000" b="1">
                <a:solidFill>
                  <a:srgbClr val="0B2C4A"/>
                </a:solidFill>
                <a:latin typeface="Calibri"/>
              </a:rPr>
              <a:t>4</a:t>
            </a:r>
          </a:p>
        </p:txBody>
      </p:sp>
      <p:sp>
        <p:nvSpPr>
          <p:cNvPr id="22" name="TextBox 21"/>
          <p:cNvSpPr txBox="1"/>
          <p:nvPr/>
        </p:nvSpPr>
        <p:spPr>
          <a:xfrm>
            <a:off x="1417320" y="3575304"/>
            <a:ext cx="9966960" cy="768096"/>
          </a:xfrm>
          <a:prstGeom prst="rect">
            <a:avLst/>
          </a:prstGeom>
          <a:noFill/>
        </p:spPr>
        <p:txBody>
          <a:bodyPr wrap="square" anchor="ctr"/>
          <a:lstStyle/>
          <a:p>
            <a:pPr algn="l"/>
            <a:r>
              <a:rPr sz="1800" b="0">
                <a:solidFill>
                  <a:srgbClr val="1C1C1C"/>
                </a:solidFill>
                <a:latin typeface="Calibri"/>
              </a:rPr>
              <a:t>Patient: clip, dirty scrub, move, full scrub, drape. Surgeon: shoe covers, cap, mask, then gown and closed glove. Instrument table, then announce incision.</a:t>
            </a:r>
          </a:p>
        </p:txBody>
      </p:sp>
      <p:sp>
        <p:nvSpPr>
          <p:cNvPr id="23" name="Rounded Rectangle 22"/>
          <p:cNvSpPr/>
          <p:nvPr/>
        </p:nvSpPr>
        <p:spPr>
          <a:xfrm>
            <a:off x="457200" y="4416552"/>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416552"/>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416552"/>
            <a:ext cx="777240" cy="768096"/>
          </a:xfrm>
          <a:prstGeom prst="rect">
            <a:avLst/>
          </a:prstGeom>
          <a:noFill/>
        </p:spPr>
        <p:txBody>
          <a:bodyPr wrap="square" anchor="ctr"/>
          <a:lstStyle/>
          <a:p>
            <a:pPr algn="ctr"/>
            <a:r>
              <a:rPr sz="2000" b="1">
                <a:solidFill>
                  <a:srgbClr val="0B2C4A"/>
                </a:solidFill>
                <a:latin typeface="Calibri"/>
              </a:rPr>
              <a:t>5</a:t>
            </a:r>
          </a:p>
        </p:txBody>
      </p:sp>
      <p:sp>
        <p:nvSpPr>
          <p:cNvPr id="26" name="TextBox 25"/>
          <p:cNvSpPr txBox="1"/>
          <p:nvPr/>
        </p:nvSpPr>
        <p:spPr>
          <a:xfrm>
            <a:off x="1417320" y="4416552"/>
            <a:ext cx="9966960" cy="768096"/>
          </a:xfrm>
          <a:prstGeom prst="rect">
            <a:avLst/>
          </a:prstGeom>
          <a:noFill/>
        </p:spPr>
        <p:txBody>
          <a:bodyPr wrap="square" anchor="ctr"/>
          <a:lstStyle/>
          <a:p>
            <a:pPr algn="l"/>
            <a:r>
              <a:rPr sz="1800" b="0">
                <a:solidFill>
                  <a:srgbClr val="1C1C1C"/>
                </a:solidFill>
                <a:latin typeface="Calibri"/>
              </a:rPr>
              <a:t>Mark anesthesia start and first incision. Fill the chart every 5–10 min against the operating range. Then complications, recovery analgesics, and sign.</a:t>
            </a:r>
          </a:p>
        </p:txBody>
      </p:sp>
      <p:sp>
        <p:nvSpPr>
          <p:cNvPr id="27" name="Rounded Rectangle 26"/>
          <p:cNvSpPr/>
          <p:nvPr/>
        </p:nvSpPr>
        <p:spPr>
          <a:xfrm>
            <a:off x="457200" y="525780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525780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5257800"/>
            <a:ext cx="777240" cy="768096"/>
          </a:xfrm>
          <a:prstGeom prst="rect">
            <a:avLst/>
          </a:prstGeom>
          <a:noFill/>
        </p:spPr>
        <p:txBody>
          <a:bodyPr wrap="square" anchor="ctr"/>
          <a:lstStyle/>
          <a:p>
            <a:pPr algn="ctr"/>
            <a:r>
              <a:rPr sz="2000" b="1">
                <a:solidFill>
                  <a:srgbClr val="0B2C4A"/>
                </a:solidFill>
                <a:latin typeface="Calibri"/>
              </a:rPr>
              <a:t>6</a:t>
            </a:r>
          </a:p>
        </p:txBody>
      </p:sp>
      <p:sp>
        <p:nvSpPr>
          <p:cNvPr id="30" name="TextBox 29"/>
          <p:cNvSpPr txBox="1"/>
          <p:nvPr/>
        </p:nvSpPr>
        <p:spPr>
          <a:xfrm>
            <a:off x="1417320" y="5257800"/>
            <a:ext cx="9966960" cy="768096"/>
          </a:xfrm>
          <a:prstGeom prst="rect">
            <a:avLst/>
          </a:prstGeom>
          <a:noFill/>
        </p:spPr>
        <p:txBody>
          <a:bodyPr wrap="square" anchor="ctr"/>
          <a:lstStyle/>
          <a:p>
            <a:pPr algn="l"/>
            <a:r>
              <a:rPr sz="1800" b="0">
                <a:solidFill>
                  <a:srgbClr val="1C1C1C"/>
                </a:solidFill>
                <a:latin typeface="Calibri"/>
              </a:rPr>
              <a:t>First 24 hours: monitor and manage complications. A weak ligature or a weak linea is still your technical problem.</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37  /  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37744"/>
            <a:ext cx="11155680" cy="256032"/>
          </a:xfrm>
          <a:prstGeom prst="rect">
            <a:avLst/>
          </a:prstGeom>
          <a:noFill/>
        </p:spPr>
        <p:txBody>
          <a:bodyPr wrap="square" anchor="t"/>
          <a:lstStyle/>
          <a:p>
            <a:pPr algn="l"/>
            <a:r>
              <a:rPr sz="1400" b="1">
                <a:solidFill>
                  <a:srgbClr val="C5A35A"/>
                </a:solidFill>
                <a:latin typeface="Calibri"/>
              </a:rPr>
              <a:t>DVM 612  ·  PRINCIPLES OF SURGERY</a:t>
            </a:r>
          </a:p>
        </p:txBody>
      </p:sp>
      <p:sp>
        <p:nvSpPr>
          <p:cNvPr id="6" name="TextBox 5"/>
          <p:cNvSpPr txBox="1"/>
          <p:nvPr/>
        </p:nvSpPr>
        <p:spPr>
          <a:xfrm>
            <a:off x="502920" y="475488"/>
            <a:ext cx="11155680" cy="438912"/>
          </a:xfrm>
          <a:prstGeom prst="rect">
            <a:avLst/>
          </a:prstGeom>
          <a:noFill/>
        </p:spPr>
        <p:txBody>
          <a:bodyPr wrap="square" anchor="t"/>
          <a:lstStyle/>
          <a:p>
            <a:pPr algn="l"/>
            <a:r>
              <a:rPr sz="2800" b="1">
                <a:solidFill>
                  <a:srgbClr val="FFFFFF"/>
                </a:solidFill>
                <a:latin typeface="Calibri"/>
              </a:rPr>
              <a:t>Questions</a:t>
            </a:r>
          </a:p>
        </p:txBody>
      </p:sp>
      <p:sp>
        <p:nvSpPr>
          <p:cNvPr id="7" name="TextBox 6"/>
          <p:cNvSpPr txBox="1"/>
          <p:nvPr/>
        </p:nvSpPr>
        <p:spPr>
          <a:xfrm>
            <a:off x="502920" y="932688"/>
            <a:ext cx="11155680" cy="640080"/>
          </a:xfrm>
          <a:prstGeom prst="rect">
            <a:avLst/>
          </a:prstGeom>
          <a:noFill/>
        </p:spPr>
        <p:txBody>
          <a:bodyPr wrap="square" anchor="t"/>
          <a:lstStyle/>
          <a:p>
            <a:pPr algn="l"/>
            <a:r>
              <a:rPr sz="1600" b="0">
                <a:solidFill>
                  <a:srgbClr val="F4EBD3"/>
                </a:solidFill>
                <a:latin typeface="Calibri"/>
              </a:rPr>
              <a:t>When is the patient ready for clippers?
What do you write before the first IM or SQ premed?</a:t>
            </a:r>
          </a:p>
        </p:txBody>
      </p:sp>
      <p:sp>
        <p:nvSpPr>
          <p:cNvPr id="8" name="TextBox 7"/>
          <p:cNvSpPr txBox="1"/>
          <p:nvPr/>
        </p:nvSpPr>
        <p:spPr>
          <a:xfrm>
            <a:off x="502920" y="1627632"/>
            <a:ext cx="11155680" cy="292608"/>
          </a:xfrm>
          <a:prstGeom prst="rect">
            <a:avLst/>
          </a:prstGeom>
          <a:noFill/>
        </p:spPr>
        <p:txBody>
          <a:bodyPr wrap="square" anchor="t"/>
          <a:lstStyle/>
          <a:p>
            <a:pPr algn="l"/>
            <a:r>
              <a:rPr sz="1400" b="1">
                <a:solidFill>
                  <a:srgbClr val="C5A35A"/>
                </a:solidFill>
                <a:latin typeface="Calibri"/>
              </a:rPr>
              <a:t>References  (course texts, guidelines, labels, and papers used in this hour)</a:t>
            </a:r>
          </a:p>
        </p:txBody>
      </p:sp>
      <p:sp>
        <p:nvSpPr>
          <p:cNvPr id="9" name="TextBox 8"/>
          <p:cNvSpPr txBox="1"/>
          <p:nvPr/>
        </p:nvSpPr>
        <p:spPr>
          <a:xfrm>
            <a:off x="502920" y="1938528"/>
            <a:ext cx="5532120" cy="4160520"/>
          </a:xfrm>
          <a:prstGeom prst="rect">
            <a:avLst/>
          </a:prstGeom>
          <a:noFill/>
        </p:spPr>
        <p:txBody>
          <a:bodyPr wrap="square" anchor="t"/>
          <a:lstStyle/>
          <a:p>
            <a:pPr algn="l"/>
            <a:r>
              <a:rPr sz="1300" b="0">
                <a:solidFill>
                  <a:srgbClr val="FFFFFF"/>
                </a:solidFill>
                <a:latin typeface="Calibri"/>
              </a:rPr>
              <a:t>1. Fossum TW. Small Animal Surgery. 5th ed. Elsevier; 2018. ISBN 978-0-323-44344-9. Ch. 4, 5, 6, 9.
2. Hendrickson DA, Baird AN. Turner and McIlwraith’s Techniques in Large Animal Surgery. 4th ed. Wiley-Blackwell; 2013. ISBN 978-1-118-27323-4.
3. Johnston SA, Tobias KM. Veterinary Surgery: Small Animal. 2nd ed. Elsevier Saunders; 2017. ISBN 978-0-323-32065-8.
4. Grubb T, Sager J, Gaynor JS, Montgomery E, Parker JA, Shafford H, Tearney C. 2020 AAHA Anesthesia and Monitoring Guidelines for Dogs and Cats. J Am Anim Hosp Assoc. 2020;56(2):59–82.
5. Frey E, Costin M, Granick J, Kornya M, Weese JS. 2022 AAFP/AAHA Antimicrobial Stewardship Guidelines. J Am Anim Hosp Assoc. 2022;58(4):1–5.
6. Roberts SM, Severin GA, Lavach JD. Am J Vet Res. 1986;47(6):1207–1210. Intact cornea.
14. Epstein ME, et al. 2015 AAHA/AAFP Pain. JAAHA 2015;51:67–84.</a:t>
            </a:r>
          </a:p>
        </p:txBody>
      </p:sp>
      <p:sp>
        <p:nvSpPr>
          <p:cNvPr id="10" name="TextBox 9"/>
          <p:cNvSpPr txBox="1"/>
          <p:nvPr/>
        </p:nvSpPr>
        <p:spPr>
          <a:xfrm>
            <a:off x="6172200" y="1938528"/>
            <a:ext cx="5532120" cy="4160520"/>
          </a:xfrm>
          <a:prstGeom prst="rect">
            <a:avLst/>
          </a:prstGeom>
          <a:noFill/>
        </p:spPr>
        <p:txBody>
          <a:bodyPr wrap="square" anchor="t"/>
          <a:lstStyle/>
          <a:p>
            <a:pPr algn="l"/>
            <a:r>
              <a:rPr sz="1300" b="0">
                <a:solidFill>
                  <a:srgbClr val="FFFFFF"/>
                </a:solidFill>
                <a:latin typeface="Calibri"/>
              </a:rPr>
              <a:t>7. Whittem TL, Johnson AL, Smith CW, et al. J Am Vet Med Assoc. 1999;215(2):212–216.
8. Gonzalez OJ, Renberg WC, Roush JK, KuKanich B, Warner M. Am J Vet Res. 2017;78(6):695–701.
9. BETADINE Surgical Scrub Veterinary. 7.5% povidone-iodine. DailyMed NDC 67618-154.
10. BETADINE Solution Veterinary. 5% povidone-iodine (not 10%). DailyMed NDC 67618-155.
11. Nolvasan Surgical Scrub. 2% chlorhexidine acetate. DailyMed NDC 54771-8701.
12. ECFVG. CPE Manual of Administration. 2026 ed. Anesthesia; Surgery.
13. Pardo et al. 2024 AAHA Fluid Therapy. JAAHA. 2024;60:131–163.
15. Thieman Mankin K. Exploratory celiotomy. Clinician’s Brief. 2019. Clip to landmarks, not 20 cm.</a:t>
            </a:r>
          </a:p>
        </p:txBody>
      </p:sp>
      <p:sp>
        <p:nvSpPr>
          <p:cNvPr id="11" name="TextBox 10"/>
          <p:cNvSpPr txBox="1"/>
          <p:nvPr/>
        </p:nvSpPr>
        <p:spPr>
          <a:xfrm>
            <a:off x="502920" y="6144768"/>
            <a:ext cx="11155680" cy="292608"/>
          </a:xfrm>
          <a:prstGeom prst="rect">
            <a:avLst/>
          </a:prstGeom>
          <a:noFill/>
        </p:spPr>
        <p:txBody>
          <a:bodyPr wrap="square" anchor="t"/>
          <a:lstStyle/>
          <a:p>
            <a:pPr algn="l"/>
            <a:r>
              <a:rPr sz="1400" b="0">
                <a:solidFill>
                  <a:srgbClr val="C5A35A"/>
                </a:solidFill>
                <a:latin typeface="Calibri"/>
              </a:rPr>
              <a:t>Dr. Yujin Kim, D.V.M., Ph.D., FFCP  ·  Lewyt CVM  ·  Long Island University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38  /  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