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Do your own PE, then use technician vitals as a second set of numbers. Order: examine, then premedicate.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Locals are underused.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skip NSAID. Grid every 5 minutes while sedated. Recovery boxes are part of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Recording the cancellation is a surgical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attribute 22 mg/kg every 90 minutes to AAHA 2022. That guideline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plane before clippers. Veterinary Betadine labels: 7.5% scrub, lather about 5 minutes, rinse, paint 5% Solution Veterinary, allow to dry. Eye: Roberts 1986, 1:50 of 10% PVP-I stock, 2-minute scrub plus 2-minute soak. Do not paint 10% from the veterinary bottle; that bottle is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monitoring are on before the clip.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Ureter injury is a calm,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B is Roberts 1986 bottle math. D is CHG off the cornea. C is the stabilize-first cat.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unsupervised running are the two discharge failures after otherwise adequate closure.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iodine: Roberts 1 to 50 of 10 percent stock, 2 minutes plus 2 minutes on the eye; intact skin is the 7.5 percent scrub for about 5 minutes then 5 percent veterinary paint.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reading: Fossum, Small Animal Surgery, 5th ed. (2018)
Hendrickson &amp; Baird (2013)</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400"/>
              </a:spcAft>
            </a:pPr>
            <a:r>
              <a:rPr sz="2000" b="0">
                <a:solidFill>
                  <a:srgbClr val="1C1C1C"/>
                </a:solidFill>
                <a:latin typeface="Calibri"/>
              </a:rPr>
              <a:t>▸  Assign ASA after today’s PE and labs. Proceed, delay, or stabilize.</a:t>
            </a:r>
          </a:p>
          <a:p>
            <a:pPr algn="l">
              <a:spcAft>
                <a:spcPts val="1400"/>
              </a:spcAft>
            </a:pPr>
            <a:r>
              <a:rPr sz="2000" b="0">
                <a:solidFill>
                  <a:srgbClr val="1C1C1C"/>
                </a:solidFill>
                <a:latin typeface="Calibri"/>
              </a:rPr>
              <a:t>▸  Write the peri-op plan: fasting, analgesia, antibiotics, consent, checklist.</a:t>
            </a:r>
          </a:p>
          <a:p>
            <a:pPr algn="l">
              <a:spcAft>
                <a:spcPts val="1400"/>
              </a:spcAft>
            </a:pPr>
            <a:r>
              <a:rPr sz="2000" b="0">
                <a:solidFill>
                  <a:srgbClr val="1C1C1C"/>
                </a:solidFill>
                <a:latin typeface="Calibri"/>
              </a:rPr>
              <a:t>▸  Prep for aseptic surgery: clip, labeled antiseptics, 10% PVP-I 1:50 for the eye, drape, closed glove.</a:t>
            </a:r>
          </a:p>
          <a:p>
            <a:pPr algn="l">
              <a:spcAft>
                <a:spcPts val="1400"/>
              </a:spcAft>
            </a:pPr>
            <a:r>
              <a:rPr sz="2000" b="0">
                <a:solidFill>
                  <a:srgbClr val="1C1C1C"/>
                </a:solidFill>
                <a:latin typeface="Calibri"/>
              </a:rPr>
              <a:t>▸  Name a break in asepsis and correct it, before or after the incision.</a:t>
            </a:r>
          </a:p>
          <a:p>
            <a:pPr algn="l">
              <a:spcAft>
                <a:spcPts val="14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5394960"/>
            <a:ext cx="11247120" cy="10058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32120"/>
            <a:ext cx="10881360" cy="731520"/>
          </a:xfrm>
          <a:prstGeom prst="rect">
            <a:avLst/>
          </a:prstGeom>
          <a:noFill/>
        </p:spPr>
        <p:txBody>
          <a:bodyPr wrap="square" anchor="t"/>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or herniation in recovery is still the operation.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PREOPERATIVE, PREPARATION, INTRAOPERATIVE, POSTOPERATIVE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20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8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20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8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20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8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20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800" b="0">
                <a:solidFill>
                  <a:srgbClr val="1C1C1C"/>
                </a:solidFill>
                <a:latin typeface="Calibri"/>
              </a:rPr>
              <a:t>Airway, pain, heat
Watch 24 hours
Report + discharge
Recheck plan</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EXAMINE, REQUEST INDICATED LABS, INTERPRET, THEN ASSIGN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COMPANION 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WHO-ADAPTED TIMEOUT AND MULTIMODAL PLAN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Pre-incision checklist and analgesia</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800" b="1">
                <a:solidFill>
                  <a:srgbClr val="0B2C4A"/>
                </a:solidFill>
                <a:latin typeface="Calibri"/>
              </a:rPr>
              <a:t>Pre-incision checklist</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500"/>
              </a:spcAft>
            </a:pPr>
            <a:r>
              <a:rPr sz="1600" b="0">
                <a:solidFill>
                  <a:srgbClr val="1C1C1C"/>
                </a:solidFill>
                <a:latin typeface="Calibri"/>
              </a:rPr>
              <a:t>▸  Identity, procedure, site/side confirmed.</a:t>
            </a:r>
          </a:p>
          <a:p>
            <a:pPr algn="l">
              <a:spcAft>
                <a:spcPts val="500"/>
              </a:spcAft>
            </a:pPr>
            <a:r>
              <a:rPr sz="1600" b="0">
                <a:solidFill>
                  <a:srgbClr val="1C1C1C"/>
                </a:solidFill>
                <a:latin typeface="Calibri"/>
              </a:rPr>
              <a:t>▸  Consent, estimate, DNR documented.</a:t>
            </a:r>
          </a:p>
          <a:p>
            <a:pPr algn="l">
              <a:spcAft>
                <a:spcPts val="500"/>
              </a:spcAft>
            </a:pPr>
            <a:r>
              <a:rPr sz="1600" b="0">
                <a:solidFill>
                  <a:srgbClr val="1C1C1C"/>
                </a:solidFill>
                <a:latin typeface="Calibri"/>
              </a:rPr>
              <a:t>▸  ASA, allergies, last meal.</a:t>
            </a:r>
          </a:p>
          <a:p>
            <a:pPr algn="l">
              <a:spcAft>
                <a:spcPts val="500"/>
              </a:spcAft>
            </a:pPr>
            <a:r>
              <a:rPr sz="1600" b="0">
                <a:solidFill>
                  <a:srgbClr val="1C1C1C"/>
                </a:solidFill>
                <a:latin typeface="Calibri"/>
              </a:rPr>
              <a:t>▸  IV catheter patent; fluids running.</a:t>
            </a:r>
          </a:p>
          <a:p>
            <a:pPr algn="l">
              <a:spcAft>
                <a:spcPts val="500"/>
              </a:spcAft>
            </a:pPr>
            <a:r>
              <a:rPr sz="1600" b="0">
                <a:solidFill>
                  <a:srgbClr val="1C1C1C"/>
                </a:solidFill>
                <a:latin typeface="Calibri"/>
              </a:rPr>
              <a:t>▸  Airway secured; monitoring on.</a:t>
            </a:r>
          </a:p>
          <a:p>
            <a:pPr algn="l">
              <a:spcAft>
                <a:spcPts val="500"/>
              </a:spcAft>
            </a:pPr>
            <a:r>
              <a:rPr sz="1600" b="0">
                <a:solidFill>
                  <a:srgbClr val="1C1C1C"/>
                </a:solidFill>
                <a:latin typeface="Calibri"/>
              </a:rPr>
              <a:t>▸  Antibiotics given (if indicated) 30 minutes before incision.</a:t>
            </a:r>
          </a:p>
          <a:p>
            <a:pPr algn="l">
              <a:spcAft>
                <a:spcPts val="500"/>
              </a:spcAft>
            </a:pPr>
            <a:r>
              <a:rPr sz="1600" b="0">
                <a:solidFill>
                  <a:srgbClr val="1C1C1C"/>
                </a:solidFill>
                <a:latin typeface="Calibri"/>
              </a:rPr>
              <a:t>▸  Local block planned (incisional, testicular, TAP, splash).</a:t>
            </a:r>
          </a:p>
          <a:p>
            <a:pPr algn="l">
              <a:spcAft>
                <a:spcPts val="500"/>
              </a:spcAft>
            </a:pPr>
            <a:r>
              <a:rPr sz="1600" b="0">
                <a:solidFill>
                  <a:srgbClr val="1C1C1C"/>
                </a:solidFill>
                <a:latin typeface="Calibri"/>
              </a:rPr>
              <a:t>▸  Instruments, suture, extra gloves, cautery, suction.</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800" b="1">
                <a:solidFill>
                  <a:srgbClr val="0B2C4A"/>
                </a:solidFill>
                <a:latin typeface="Calibri"/>
              </a:rPr>
              <a:t>Multimodal analgesia</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600"/>
              </a:spcAft>
            </a:pPr>
            <a:r>
              <a:rPr sz="1600" b="0">
                <a:solidFill>
                  <a:srgbClr val="1C1C1C"/>
                </a:solidFill>
                <a:latin typeface="Calibri"/>
              </a:rPr>
              <a:t>▸  Opioid as part of premed or induction.</a:t>
            </a:r>
          </a:p>
          <a:p>
            <a:pPr algn="l">
              <a:spcAft>
                <a:spcPts val="600"/>
              </a:spcAft>
            </a:pPr>
            <a:r>
              <a:rPr sz="1600" b="0">
                <a:solidFill>
                  <a:srgbClr val="1C1C1C"/>
                </a:solidFill>
                <a:latin typeface="Calibri"/>
              </a:rPr>
              <a:t>▸  NSAID if perfusion, kidneys, and GI tract allow. Often at recovery.</a:t>
            </a:r>
          </a:p>
          <a:p>
            <a:pPr algn="l">
              <a:spcAft>
                <a:spcPts val="600"/>
              </a:spcAft>
            </a:pPr>
            <a:r>
              <a:rPr sz="1600" b="0">
                <a:solidFill>
                  <a:srgbClr val="1C1C1C"/>
                </a:solidFill>
                <a:latin typeface="Calibri"/>
              </a:rPr>
              <a:t>▸  Local/regional: the cheapest MAC-sparing tool you have.</a:t>
            </a:r>
          </a:p>
          <a:p>
            <a:pPr algn="l">
              <a:spcAft>
                <a:spcPts val="600"/>
              </a:spcAft>
            </a:pPr>
            <a:r>
              <a:rPr sz="1600" b="0">
                <a:solidFill>
                  <a:srgbClr val="1C1C1C"/>
                </a:solidFill>
                <a:latin typeface="Calibri"/>
              </a:rPr>
              <a:t>▸  Adjuncts: ketamine CRI, dexmedetomidine CRI, gabapentin, acetaminophen (dog only).</a:t>
            </a:r>
          </a:p>
          <a:p>
            <a:pPr algn="l">
              <a:spcAft>
                <a:spcPts val="600"/>
              </a:spcAft>
            </a:pPr>
            <a:r>
              <a:rPr sz="1600" b="0">
                <a:solidFill>
                  <a:srgbClr val="1C1C1C"/>
                </a:solidFill>
                <a:latin typeface="Calibri"/>
              </a:rPr>
              <a:t>▸  Cats: skip acetaminophen; careful NSAID choice and dose.</a:t>
            </a:r>
          </a:p>
          <a:p>
            <a:pPr algn="l">
              <a:spcAft>
                <a:spcPts val="600"/>
              </a:spcAft>
            </a:pPr>
            <a:r>
              <a:rPr sz="1600" b="0">
                <a:solidFill>
                  <a:srgbClr val="1C1C1C"/>
                </a:solidFill>
                <a:latin typeface="Calibri"/>
              </a:rPr>
              <a:t>▸  Write the pain plan before the patient leaves the table.</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COMPLETE THE HEADER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record, Willie</a:t>
            </a:r>
          </a:p>
        </p:txBody>
      </p:sp>
      <p:pic>
        <p:nvPicPr>
          <p:cNvPr id="8" name="Picture 7" descr="anesthesia_record_willie.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1800" b="1">
                <a:solidFill>
                  <a:srgbClr val="C5A35A"/>
                </a:solidFill>
                <a:latin typeface="Calibri"/>
              </a:rPr>
              <a:t>Read this</a:t>
            </a:r>
          </a:p>
        </p:txBody>
      </p:sp>
      <p:sp>
        <p:nvSpPr>
          <p:cNvPr id="11" name="TextBox 10"/>
          <p:cNvSpPr txBox="1"/>
          <p:nvPr/>
        </p:nvSpPr>
        <p:spPr>
          <a:xfrm>
            <a:off x="8229600" y="1737360"/>
            <a:ext cx="3474720" cy="4389120"/>
          </a:xfrm>
          <a:prstGeom prst="rect">
            <a:avLst/>
          </a:prstGeom>
          <a:noFill/>
        </p:spPr>
        <p:txBody>
          <a:bodyPr wrap="square" anchor="t"/>
          <a:lstStyle/>
          <a:p>
            <a:pPr algn="l"/>
            <a:r>
              <a:rPr sz="1800" b="0">
                <a:solidFill>
                  <a:srgbClr val="FFFFFF"/>
                </a:solidFill>
                <a:latin typeface="Calibri"/>
              </a:rPr>
              <a:t>ASA III-E
before alfaxalone
Skip NSAID
(DexSP already given)
Grid every 5 min
while sedated
Recovery is on
the same page</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record, MoMo</a:t>
            </a:r>
          </a:p>
        </p:txBody>
      </p:sp>
      <p:pic>
        <p:nvPicPr>
          <p:cNvPr id="8" name="Picture 7" descr="anesthesia_record_momo.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1800" b="1">
                <a:solidFill>
                  <a:srgbClr val="C5A35A"/>
                </a:solidFill>
                <a:latin typeface="Calibri"/>
              </a:rPr>
              <a:t>Read this</a:t>
            </a:r>
          </a:p>
        </p:txBody>
      </p:sp>
      <p:sp>
        <p:nvSpPr>
          <p:cNvPr id="11" name="TextBox 10"/>
          <p:cNvSpPr txBox="1"/>
          <p:nvPr/>
        </p:nvSpPr>
        <p:spPr>
          <a:xfrm>
            <a:off x="8229600" y="1737360"/>
            <a:ext cx="3474720" cy="4389120"/>
          </a:xfrm>
          <a:prstGeom prst="rect">
            <a:avLst/>
          </a:prstGeom>
          <a:noFill/>
        </p:spPr>
        <p:txBody>
          <a:bodyPr wrap="square" anchor="t"/>
          <a:lstStyle/>
          <a:p>
            <a:pPr algn="l"/>
            <a:r>
              <a:rPr sz="1800" b="0">
                <a:solidFill>
                  <a:srgbClr val="FFFFFF"/>
                </a:solidFill>
                <a:latin typeface="Calibri"/>
              </a:rPr>
              <a:t>ASA IV-E
No clippers
No incision
Creatinine 3.0
then 4.71
Write:
SURGERY
CANCELLED</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AAFP/AAHA: WHEN. WHITTEM 1999 AND GONZALEZ 2017: HOW.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antimicrobial prophylaxis</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57200"/>
          </a:xfrm>
          <a:prstGeom prst="rect">
            <a:avLst/>
          </a:prstGeom>
          <a:noFill/>
        </p:spPr>
        <p:txBody>
          <a:bodyPr wrap="square" anchor="t"/>
          <a:lstStyle/>
          <a:p>
            <a:pPr algn="l"/>
            <a:r>
              <a:rPr sz="1800" b="1">
                <a:solidFill>
                  <a:srgbClr val="8B2E2E"/>
                </a:solidFill>
                <a:latin typeface="Calibri"/>
              </a:rPr>
              <a:t>When indicated: timed IV, then stop</a:t>
            </a:r>
          </a:p>
        </p:txBody>
      </p:sp>
      <p:sp>
        <p:nvSpPr>
          <p:cNvPr id="13" name="TextBox 12"/>
          <p:cNvSpPr txBox="1"/>
          <p:nvPr/>
        </p:nvSpPr>
        <p:spPr>
          <a:xfrm>
            <a:off x="6492240" y="1783080"/>
            <a:ext cx="5029200" cy="4114800"/>
          </a:xfrm>
          <a:prstGeom prst="rect">
            <a:avLst/>
          </a:prstGeom>
          <a:noFill/>
        </p:spPr>
        <p:txBody>
          <a:bodyPr wrap="square" anchor="t"/>
          <a:lstStyle/>
          <a:p>
            <a:pPr algn="l"/>
            <a:r>
              <a:rPr sz="1600" b="0">
                <a:solidFill>
                  <a:srgbClr val="1C1C1C"/>
                </a:solidFill>
                <a:latin typeface="Calibri"/>
              </a:rPr>
              <a:t>AAFP/AAHA 2022 has no cefazolin mg/kg.
1. Start 30–60 min before incision.
2. Extra-label: 22 mg/kg IV (Gonzalez 2017).
3. Second dose if &gt;90 min (Whittem 1999).
4. Stop at closure unless treating infection.
Willie’s infected ear: treatment, not prophylaxis.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PREP ROOM, THEN OPERATING ROOM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Skin: 7.5% ~5 min, then 5% paint. Eye: 1:50 of 10%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 checklist → announce incision</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READ THE BOTTLE. CITE THE LABEL OR THE PAPER.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4114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53035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53035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907792"/>
            <a:ext cx="3474720" cy="3291840"/>
          </a:xfrm>
          <a:prstGeom prst="rect">
            <a:avLst/>
          </a:prstGeom>
          <a:noFill/>
        </p:spPr>
        <p:txBody>
          <a:bodyPr wrap="square" anchor="t"/>
          <a:lstStyle/>
          <a:p>
            <a:pPr algn="l"/>
            <a:r>
              <a:rPr sz="1600" b="0">
                <a:solidFill>
                  <a:srgbClr val="1C1C1C"/>
                </a:solidFill>
                <a:latin typeface="Calibri"/>
              </a:rPr>
              <a:t>2% chlorhexidine acetate
Wash 2 to 4 minutes
Keep out of eyes
Trunk / intact skin
Alcohol: rinse, then dry</a:t>
            </a:r>
          </a:p>
        </p:txBody>
      </p:sp>
      <p:sp>
        <p:nvSpPr>
          <p:cNvPr id="14" name="Rounded Rectangle 13"/>
          <p:cNvSpPr/>
          <p:nvPr/>
        </p:nvSpPr>
        <p:spPr>
          <a:xfrm>
            <a:off x="4224528" y="2267712"/>
            <a:ext cx="3749039" cy="4114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53035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53035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907792"/>
            <a:ext cx="3474720" cy="3291840"/>
          </a:xfrm>
          <a:prstGeom prst="rect">
            <a:avLst/>
          </a:prstGeom>
          <a:noFill/>
        </p:spPr>
        <p:txBody>
          <a:bodyPr wrap="square" anchor="t"/>
          <a:lstStyle/>
          <a:p>
            <a:pPr algn="l"/>
            <a:r>
              <a:rPr sz="1600" b="0">
                <a:solidFill>
                  <a:srgbClr val="1C1C1C"/>
                </a:solidFill>
                <a:latin typeface="Calibri"/>
              </a:rPr>
              <a:t>7.5% scrub
Lather about 5 minutes
Rinse with sterile water
Paint 5% solution
Dry, then drape</a:t>
            </a:r>
          </a:p>
        </p:txBody>
      </p:sp>
      <p:sp>
        <p:nvSpPr>
          <p:cNvPr id="18" name="Rounded Rectangle 17"/>
          <p:cNvSpPr/>
          <p:nvPr/>
        </p:nvSpPr>
        <p:spPr>
          <a:xfrm>
            <a:off x="8083296" y="2267712"/>
            <a:ext cx="3730752" cy="4114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5303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53035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907792"/>
            <a:ext cx="3456432" cy="3291840"/>
          </a:xfrm>
          <a:prstGeom prst="rect">
            <a:avLst/>
          </a:prstGeom>
          <a:noFill/>
        </p:spPr>
        <p:txBody>
          <a:bodyPr wrap="square" anchor="t"/>
          <a:lstStyle/>
          <a:p>
            <a:pPr algn="l"/>
            <a:r>
              <a:rPr sz="1600" b="0">
                <a:solidFill>
                  <a:srgbClr val="1C1C1C"/>
                </a:solidFill>
                <a:latin typeface="Calibri"/>
              </a:rPr>
              <a:t>10% stock, dilute 1:50
2 min scrub + 2 min soak
1:2: corneal edema (1/15)
5% bottle: use 1:25
Not full strength on cornea</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Anesthesia machine
• V-trough / padding
• Ties snug, then check the pulse distal to each tie
• Clip after a surgical plane of anesthesia
Keep the hips in a neutral spread.
Lubricate the eyes. Confirm the tube is patent.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Monitoring is on before the first drug. Willie needed this for an ear clean.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RECOGNIZE, ANNOUNCE, CORRECT. THEN PROTECT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800" b="0">
                <a:solidFill>
                  <a:srgbClr val="1C1C1C"/>
                </a:solidFill>
                <a:latin typeface="Calibri"/>
              </a:rPr>
              <a:t>Say it immediately. Re-glove, re-gown, or re-drape. Name the break once. Fix it completely.
After the incision is made, the same rule: notice, announce,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8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8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induction, immediately before the scrub.</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(1 + 49 mL).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Blocked cat, K+ 8.2, booked for PU.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Stabilize K+. Decompress. Recheck. Then decide on anesthesia.</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Rewarm. Check skin every 15 minutes.</a:t>
            </a:r>
          </a:p>
          <a:p>
            <a:pPr algn="l">
              <a:spcAft>
                <a:spcPts val="1000"/>
              </a:spcAft>
            </a:pPr>
            <a:r>
              <a:rPr sz="1600" b="0">
                <a:solidFill>
                  <a:srgbClr val="1C1C1C"/>
                </a:solidFill>
                <a:latin typeface="Calibri"/>
              </a:rPr>
              <a:t>▸  E-collar on before they can lick.</a:t>
            </a:r>
          </a:p>
          <a:p>
            <a:pPr algn="l">
              <a:spcAft>
                <a:spcPts val="1000"/>
              </a:spcAft>
            </a:pPr>
            <a:r>
              <a:rPr sz="1600" b="0">
                <a:solidFill>
                  <a:srgbClr val="1C1C1C"/>
                </a:solidFill>
                <a:latin typeface="Calibri"/>
              </a:rPr>
              <a:t>▸  Willie: skip NSAID after DexSP.</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1800" b="1">
                <a:solidFill>
                  <a:srgbClr val="C5A35A"/>
                </a:solidFill>
                <a:latin typeface="Calibri"/>
              </a:rPr>
              <a:t>Every 15 minutes</a:t>
            </a:r>
          </a:p>
        </p:txBody>
      </p:sp>
      <p:sp>
        <p:nvSpPr>
          <p:cNvPr id="11" name="TextBox 10"/>
          <p:cNvSpPr txBox="1"/>
          <p:nvPr/>
        </p:nvSpPr>
        <p:spPr>
          <a:xfrm>
            <a:off x="8229600" y="1737360"/>
            <a:ext cx="3474720" cy="4389120"/>
          </a:xfrm>
          <a:prstGeom prst="rect">
            <a:avLst/>
          </a:prstGeom>
          <a:noFill/>
        </p:spPr>
        <p:txBody>
          <a:bodyPr wrap="square" anchor="t"/>
          <a:lstStyle/>
          <a:p>
            <a:pPr algn="l"/>
            <a:r>
              <a:rPr sz="1800" b="0">
                <a:solidFill>
                  <a:srgbClr val="FFFFFF"/>
                </a:solidFill>
                <a:latin typeface="Calibri"/>
              </a:rPr>
              <a:t>Airway
mm / CRT / pulse
Temperature
Pain score
Incision
E-collar on
Pale + tachycardic
after celiotomy:
return to OR</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SCORE PAIN.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Pain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Score pain and record the number</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Dogs: Glasgow CMPS-SF. Cats: Feline Grimace Scale plus behavior.</a:t>
            </a:r>
          </a:p>
          <a:p>
            <a:pPr algn="l">
              <a:spcAft>
                <a:spcPts val="600"/>
              </a:spcAft>
            </a:pPr>
            <a:r>
              <a:rPr sz="1600" b="0">
                <a:solidFill>
                  <a:srgbClr val="1C1C1C"/>
                </a:solidFill>
                <a:latin typeface="Calibri"/>
              </a:rPr>
              <a:t>▸  Re-score after intervention.</a:t>
            </a:r>
          </a:p>
          <a:p>
            <a:pPr algn="l">
              <a:spcAft>
                <a:spcPts val="600"/>
              </a:spcAft>
            </a:pPr>
            <a:r>
              <a:rPr sz="1600" b="0">
                <a:solidFill>
                  <a:srgbClr val="1C1C1C"/>
                </a:solidFill>
                <a:latin typeface="Calibri"/>
              </a:rPr>
              <a:t>▸  Soft tissue elective: opioid ± NSAID ± local.</a:t>
            </a:r>
          </a:p>
          <a:p>
            <a:pPr algn="l">
              <a:spcAft>
                <a:spcPts val="600"/>
              </a:spcAft>
            </a:pPr>
            <a:r>
              <a:rPr sz="1600" b="0">
                <a:solidFill>
                  <a:srgbClr val="1C1C1C"/>
                </a:solidFill>
                <a:latin typeface="Calibri"/>
              </a:rPr>
              <a:t>▸  Celiotomy / orthopedic: CRIs, extra locals, overnight monitoring.</a:t>
            </a:r>
          </a:p>
          <a:p>
            <a:pPr algn="l">
              <a:spcAft>
                <a:spcPts val="600"/>
              </a:spcAft>
            </a:pPr>
            <a:r>
              <a:rPr sz="1600" b="0">
                <a:solidFill>
                  <a:srgbClr val="1C1C1C"/>
                </a:solidFill>
                <a:latin typeface="Calibri"/>
              </a:rPr>
              <a:t>▸  Send home the opioid + NSAID (if kidneys and GI allow) + the local you already placed. Write the dosing times.</a:t>
            </a:r>
          </a:p>
          <a:p>
            <a:pPr algn="l">
              <a:spcAft>
                <a:spcPts val="600"/>
              </a:spcAft>
            </a:pPr>
            <a:r>
              <a:rPr sz="1600" b="0">
                <a:solidFill>
                  <a:srgbClr val="1C1C1C"/>
                </a:solidFill>
                <a:latin typeface="Calibri"/>
              </a:rPr>
              <a:t>▸  Willie already received DexSP: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Incision care</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actually stays on.</a:t>
            </a:r>
          </a:p>
          <a:p>
            <a:pPr algn="l">
              <a:spcAft>
                <a:spcPts val="600"/>
              </a:spcAft>
            </a:pPr>
            <a:r>
              <a:rPr sz="1600" b="0">
                <a:solidFill>
                  <a:srgbClr val="1C1C1C"/>
                </a:solidFill>
                <a:latin typeface="Calibri"/>
              </a:rPr>
              <a:t>▸  Leash walks only for 14 days. Keep the patient confined indoors otherwise.</a:t>
            </a:r>
          </a:p>
          <a:p>
            <a:pPr algn="l">
              <a:spcAft>
                <a:spcPts val="600"/>
              </a:spcAft>
            </a:pPr>
            <a:r>
              <a:rPr sz="1600" b="0">
                <a:solidFill>
                  <a:srgbClr val="1C1C1C"/>
                </a:solidFill>
                <a:latin typeface="Calibri"/>
              </a:rPr>
              <a:t>▸  Saline if dirty. Skin sutures typically 10–14 days.</a:t>
            </a:r>
          </a:p>
          <a:p>
            <a:pPr algn="l">
              <a:spcAft>
                <a:spcPts val="600"/>
              </a:spcAft>
            </a:pPr>
            <a:r>
              <a:rPr sz="1600" b="0">
                <a:solidFill>
                  <a:srgbClr val="1C1C1C"/>
                </a:solidFill>
                <a:latin typeface="Calibri"/>
              </a:rPr>
              <a:t>▸  Heart or kidney patients: measured fluid rate and a written stop time.</a:t>
            </a:r>
          </a:p>
          <a:p>
            <a:pPr algn="l">
              <a:spcAft>
                <a:spcPts val="600"/>
              </a:spcAft>
            </a:pPr>
            <a:r>
              <a:rPr sz="1600" b="0">
                <a:solidFill>
                  <a:srgbClr val="1C1C1C"/>
                </a:solidFill>
                <a:latin typeface="Calibri"/>
              </a:rPr>
              <a:t>▸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HEMORRHAGE, AIRWAY, HERNIA, DEHISCENCE, SSI, SEROMA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Monitors on. Then alfaxalone. Canal and eye: dilute PVP-I, 1:50 of 10%. Pad him.</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III-E: sedate with a plan. MoMo is IV-E: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Serial creatinine can cancel a surgery. That is a successful preoperative evaluation.</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Clean elective OHE: skip routine postoperative antibiotics.</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Clip after induction. Spiral prep. Re-clip until the window is hair-free.</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Skin: 7.5% PVP-I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How do you dilute 10% povidone-iodine for the eye?</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