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Students often skip number 3 and 4. Do your own PE, then use technician vitals as a second set of numbers. CPE MOA 2026 Anesthesia: premedicating before the examination is a dismissible event. Premed is IM or SQ. If today’s ASA is not Status 1, change the drug plan before you inject.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MoMo is the cat whose films looked like maybe GI and were kidneys. Cold-call: who would have clipped her on history alone? Be respectful; this cat died. The teaching point is judgment.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Request labs that change the plan. They inform the ASA number. Today’s PE writes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AAHA 2020 lists K greater than 6.0 as a condition to correct before anesthesia. PCV and platelet numbers are teaching flags. Willie: CBC is unremarkable; Status 3-E is the exam. MoMo: WBC about 26 and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want to average numbers into an ASA score. Do not. The PE assigns status. MoMo’s kidneys set Status 4. Willie’s neuro exam set Status 3 even with a normal CBC.</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Resuscitate first, then clip. Delay elective OHE for pyoderma. Take GDV to surgery after resuscitation. MoMo: image and run labs, then cancel the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two formulas. Dog ETT starting estimate: kilograms divided by 4, plus 3.5. Confirm with Grubb 2020: largest tube that passes the arytenoids without trauma; tip midway from larynx to thoracic inlet. Cuff holds a leak to 20 centimeters of water; that number is in the CPE MOA. Bag: kilograms times 60 milliliters, round up. Willie: 7.0 millimeter tube, 1 liter bag, circle. A 4 kilogram cat: 0.5 liter bag, non-rebreathing, 200 to 400 milliliters per kilogram per minute of oxygen per Grubb 2020. Leak-test, then open the pop-off. Premed still belongs here: exam first, IM or SQ, DKT and BAA for healthy patients, alfaxalone for Willie.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Skip NSAID after DexSP. Recovery is on the same page. This hour is preop, patient prep, and recovery, not the intra-op grid.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22 milligrams per kilogram IV out loud. Do not attribute that dose to AAHA 2022. Frey 2022 says when: 30 to 60 minutes before incision, skip clean OHE, stop postop. Whittem 1999 timed a second dose if surgery lasted more than 90 minutes. Gonzalez 2017 used 22 mg/kg IV. Elective canine OHE: skip the 14-day cephalexin prescription.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the board math: Willie 7.0 millimeter tube, 1 liter bag. B is Roberts 1986 bottle math. D is CHG off the cornea. If a student asks about the blocked cat: stabilize potassium first.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should be able to fill this after a spay. Photograph it. Pale plus tachycardic after celiotomy: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from the 2020 AAHA table, then Willie 13.7 kg: start 7.0 mm ETT, 1 L bag. Iodine if asked: Roberts 1 to 50 of 10 percent stock.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image" Target="../media/image10.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Proceed, delay, or stabilize. Premedicate only after that exam.</a:t>
            </a:r>
          </a:p>
          <a:p>
            <a:pPr algn="l">
              <a:spcAft>
                <a:spcPts val="1200"/>
              </a:spcAft>
            </a:pPr>
            <a:r>
              <a:rPr sz="2000" b="0">
                <a:solidFill>
                  <a:srgbClr val="1C1C1C"/>
                </a:solidFill>
                <a:latin typeface="Calibri"/>
              </a:rPr>
              <a:t>▸  Write the peri-op plan: fasting, analgesia, antibiotics, consent, ETT, reservoir bag, breathing system.</a:t>
            </a:r>
          </a:p>
          <a:p>
            <a:pPr algn="l">
              <a:spcAft>
                <a:spcPts val="1200"/>
              </a:spcAft>
            </a:pPr>
            <a:r>
              <a:rPr sz="2000" b="0">
                <a:solidFill>
                  <a:srgbClr val="1C1C1C"/>
                </a:solidFill>
                <a:latin typeface="Calibri"/>
              </a:rPr>
              <a:t>▸  Prep for aseptic surgery: clip, labeled antiseptics, 10% PVP-I 1:50 for the eye, drape, closed glove.</a:t>
            </a:r>
          </a:p>
          <a:p>
            <a:pPr algn="l">
              <a:spcAft>
                <a:spcPts val="1200"/>
              </a:spcAft>
            </a:pPr>
            <a:r>
              <a:rPr sz="2000" b="0">
                <a:solidFill>
                  <a:srgbClr val="1C1C1C"/>
                </a:solidFill>
                <a:latin typeface="Calibri"/>
              </a:rPr>
              <a:t>▸  Name a break in asepsis and correct it, before or after the incision.</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then labs, ASA
Then IM/SQ premed
ETT, bag, circuit
Leak-test the machine</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ANESTHESIA: EXAMINE, REQUEST LABS, ASSIGN ASA, THEN PREMEDICATE.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evaluation</a:t>
            </a:r>
          </a:p>
        </p:txBody>
      </p:sp>
      <p:sp>
        <p:nvSpPr>
          <p:cNvPr id="8" name="Rounded Rectangle 7"/>
          <p:cNvSpPr/>
          <p:nvPr/>
        </p:nvSpPr>
        <p:spPr>
          <a:xfrm>
            <a:off x="41148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640080" cy="1298448"/>
          </a:xfrm>
          <a:prstGeom prst="rect">
            <a:avLst/>
          </a:prstGeom>
          <a:noFill/>
        </p:spPr>
        <p:txBody>
          <a:bodyPr wrap="square" anchor="ctr"/>
          <a:lstStyle/>
          <a:p>
            <a:pPr algn="ctr"/>
            <a:r>
              <a:rPr sz="1800" b="1">
                <a:solidFill>
                  <a:srgbClr val="C5A35A"/>
                </a:solidFill>
                <a:latin typeface="Calibri"/>
              </a:rPr>
              <a:t>01</a:t>
            </a:r>
          </a:p>
        </p:txBody>
      </p:sp>
      <p:sp>
        <p:nvSpPr>
          <p:cNvPr id="11" name="TextBox 10"/>
          <p:cNvSpPr txBox="1"/>
          <p:nvPr/>
        </p:nvSpPr>
        <p:spPr>
          <a:xfrm>
            <a:off x="1234440" y="1133856"/>
            <a:ext cx="4709160" cy="365760"/>
          </a:xfrm>
          <a:prstGeom prst="rect">
            <a:avLst/>
          </a:prstGeom>
          <a:noFill/>
        </p:spPr>
        <p:txBody>
          <a:bodyPr wrap="square" anchor="t"/>
          <a:lstStyle/>
          <a:p>
            <a:pPr algn="l"/>
            <a:r>
              <a:rPr sz="1800" b="1">
                <a:solidFill>
                  <a:srgbClr val="0B2C4A"/>
                </a:solidFill>
                <a:latin typeface="Calibri"/>
              </a:rPr>
              <a:t>Identify surgical disease</a:t>
            </a:r>
          </a:p>
        </p:txBody>
      </p:sp>
      <p:sp>
        <p:nvSpPr>
          <p:cNvPr id="12" name="TextBox 11"/>
          <p:cNvSpPr txBox="1"/>
          <p:nvPr/>
        </p:nvSpPr>
        <p:spPr>
          <a:xfrm>
            <a:off x="1234440" y="1527048"/>
            <a:ext cx="4709160" cy="685800"/>
          </a:xfrm>
          <a:prstGeom prst="rect">
            <a:avLst/>
          </a:prstGeom>
          <a:noFill/>
        </p:spPr>
        <p:txBody>
          <a:bodyPr wrap="square" anchor="t"/>
          <a:lstStyle/>
          <a:p>
            <a:pPr algn="l"/>
            <a:r>
              <a:rPr sz="1600" b="0">
                <a:solidFill>
                  <a:srgbClr val="3D4A57"/>
                </a:solidFill>
                <a:latin typeface="Calibri"/>
              </a:rPr>
              <a:t>Confirm the lesion, laterality, and that surgery is indicated.</a:t>
            </a:r>
          </a:p>
        </p:txBody>
      </p:sp>
      <p:sp>
        <p:nvSpPr>
          <p:cNvPr id="13" name="Rounded Rectangle 12"/>
          <p:cNvSpPr/>
          <p:nvPr/>
        </p:nvSpPr>
        <p:spPr>
          <a:xfrm>
            <a:off x="6309360" y="102412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02412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9360" y="1024128"/>
            <a:ext cx="640080" cy="1298448"/>
          </a:xfrm>
          <a:prstGeom prst="rect">
            <a:avLst/>
          </a:prstGeom>
          <a:noFill/>
        </p:spPr>
        <p:txBody>
          <a:bodyPr wrap="square" anchor="ctr"/>
          <a:lstStyle/>
          <a:p>
            <a:pPr algn="ctr"/>
            <a:r>
              <a:rPr sz="1800" b="1">
                <a:solidFill>
                  <a:srgbClr val="C5A35A"/>
                </a:solidFill>
                <a:latin typeface="Calibri"/>
              </a:rPr>
              <a:t>02</a:t>
            </a:r>
          </a:p>
        </p:txBody>
      </p:sp>
      <p:sp>
        <p:nvSpPr>
          <p:cNvPr id="16" name="TextBox 15"/>
          <p:cNvSpPr txBox="1"/>
          <p:nvPr/>
        </p:nvSpPr>
        <p:spPr>
          <a:xfrm>
            <a:off x="7132320" y="1133856"/>
            <a:ext cx="4709160" cy="365760"/>
          </a:xfrm>
          <a:prstGeom prst="rect">
            <a:avLst/>
          </a:prstGeom>
          <a:noFill/>
        </p:spPr>
        <p:txBody>
          <a:bodyPr wrap="square" anchor="t"/>
          <a:lstStyle/>
          <a:p>
            <a:pPr algn="l"/>
            <a:r>
              <a:rPr sz="1800" b="1">
                <a:solidFill>
                  <a:srgbClr val="0B2C4A"/>
                </a:solidFill>
                <a:latin typeface="Calibri"/>
              </a:rPr>
              <a:t>Quantify anesthetic risk</a:t>
            </a:r>
          </a:p>
        </p:txBody>
      </p:sp>
      <p:sp>
        <p:nvSpPr>
          <p:cNvPr id="17" name="TextBox 16"/>
          <p:cNvSpPr txBox="1"/>
          <p:nvPr/>
        </p:nvSpPr>
        <p:spPr>
          <a:xfrm>
            <a:off x="7132320" y="1527048"/>
            <a:ext cx="4709160" cy="685800"/>
          </a:xfrm>
          <a:prstGeom prst="rect">
            <a:avLst/>
          </a:prstGeom>
          <a:noFill/>
        </p:spPr>
        <p:txBody>
          <a:bodyPr wrap="square" anchor="t"/>
          <a:lstStyle/>
          <a:p>
            <a:pPr algn="l"/>
            <a:r>
              <a:rPr sz="1600" b="0">
                <a:solidFill>
                  <a:srgbClr val="3D4A57"/>
                </a:solidFill>
                <a:latin typeface="Calibri"/>
              </a:rPr>
              <a:t>Assign ASA after today’s examination and labs. Write that number on the record.</a:t>
            </a:r>
          </a:p>
        </p:txBody>
      </p:sp>
      <p:sp>
        <p:nvSpPr>
          <p:cNvPr id="18" name="Rounded Rectangle 17"/>
          <p:cNvSpPr/>
          <p:nvPr/>
        </p:nvSpPr>
        <p:spPr>
          <a:xfrm>
            <a:off x="41148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1148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441448"/>
            <a:ext cx="640080" cy="1298448"/>
          </a:xfrm>
          <a:prstGeom prst="rect">
            <a:avLst/>
          </a:prstGeom>
          <a:noFill/>
        </p:spPr>
        <p:txBody>
          <a:bodyPr wrap="square" anchor="ctr"/>
          <a:lstStyle/>
          <a:p>
            <a:pPr algn="ctr"/>
            <a:r>
              <a:rPr sz="1800" b="1">
                <a:solidFill>
                  <a:srgbClr val="C5A35A"/>
                </a:solidFill>
                <a:latin typeface="Calibri"/>
              </a:rPr>
              <a:t>03</a:t>
            </a:r>
          </a:p>
        </p:txBody>
      </p:sp>
      <p:sp>
        <p:nvSpPr>
          <p:cNvPr id="21" name="TextBox 20"/>
          <p:cNvSpPr txBox="1"/>
          <p:nvPr/>
        </p:nvSpPr>
        <p:spPr>
          <a:xfrm>
            <a:off x="1234440" y="2551176"/>
            <a:ext cx="4709160" cy="365760"/>
          </a:xfrm>
          <a:prstGeom prst="rect">
            <a:avLst/>
          </a:prstGeom>
          <a:noFill/>
        </p:spPr>
        <p:txBody>
          <a:bodyPr wrap="square" anchor="t"/>
          <a:lstStyle/>
          <a:p>
            <a:pPr algn="l"/>
            <a:r>
              <a:rPr sz="1800" b="1">
                <a:solidFill>
                  <a:srgbClr val="0B2C4A"/>
                </a:solidFill>
                <a:latin typeface="Calibri"/>
              </a:rPr>
              <a:t>Fix what you can first</a:t>
            </a:r>
          </a:p>
        </p:txBody>
      </p:sp>
      <p:sp>
        <p:nvSpPr>
          <p:cNvPr id="22" name="TextBox 21"/>
          <p:cNvSpPr txBox="1"/>
          <p:nvPr/>
        </p:nvSpPr>
        <p:spPr>
          <a:xfrm>
            <a:off x="1234440" y="2944368"/>
            <a:ext cx="4709160" cy="685800"/>
          </a:xfrm>
          <a:prstGeom prst="rect">
            <a:avLst/>
          </a:prstGeom>
          <a:noFill/>
        </p:spPr>
        <p:txBody>
          <a:bodyPr wrap="square" anchor="t"/>
          <a:lstStyle/>
          <a:p>
            <a:pPr algn="l"/>
            <a:r>
              <a:rPr sz="1600" b="0">
                <a:solidFill>
                  <a:srgbClr val="3D4A57"/>
                </a:solidFill>
                <a:latin typeface="Calibri"/>
              </a:rPr>
              <a:t>Dehydration, anemia, electrolyte crises, uncontrolled diabetes, full bladder, pyoderma over the site.</a:t>
            </a:r>
          </a:p>
        </p:txBody>
      </p:sp>
      <p:sp>
        <p:nvSpPr>
          <p:cNvPr id="23" name="Rounded Rectangle 22"/>
          <p:cNvSpPr/>
          <p:nvPr/>
        </p:nvSpPr>
        <p:spPr>
          <a:xfrm>
            <a:off x="6309360" y="2441448"/>
            <a:ext cx="5715000" cy="129844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309360" y="2441448"/>
            <a:ext cx="640080" cy="12984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0" y="2441448"/>
            <a:ext cx="640080" cy="1298448"/>
          </a:xfrm>
          <a:prstGeom prst="rect">
            <a:avLst/>
          </a:prstGeom>
          <a:noFill/>
        </p:spPr>
        <p:txBody>
          <a:bodyPr wrap="square" anchor="ctr"/>
          <a:lstStyle/>
          <a:p>
            <a:pPr algn="ctr"/>
            <a:r>
              <a:rPr sz="1800" b="1">
                <a:solidFill>
                  <a:srgbClr val="C5A35A"/>
                </a:solidFill>
                <a:latin typeface="Calibri"/>
              </a:rPr>
              <a:t>04</a:t>
            </a:r>
          </a:p>
        </p:txBody>
      </p:sp>
      <p:sp>
        <p:nvSpPr>
          <p:cNvPr id="26" name="TextBox 25"/>
          <p:cNvSpPr txBox="1"/>
          <p:nvPr/>
        </p:nvSpPr>
        <p:spPr>
          <a:xfrm>
            <a:off x="7132320" y="2551176"/>
            <a:ext cx="4709160" cy="365760"/>
          </a:xfrm>
          <a:prstGeom prst="rect">
            <a:avLst/>
          </a:prstGeom>
          <a:noFill/>
        </p:spPr>
        <p:txBody>
          <a:bodyPr wrap="square" anchor="t"/>
          <a:lstStyle/>
          <a:p>
            <a:pPr algn="l"/>
            <a:r>
              <a:rPr sz="1800" b="1">
                <a:solidFill>
                  <a:srgbClr val="0B2C4A"/>
                </a:solidFill>
                <a:latin typeface="Calibri"/>
              </a:rPr>
              <a:t>Plan the day</a:t>
            </a:r>
          </a:p>
        </p:txBody>
      </p:sp>
      <p:sp>
        <p:nvSpPr>
          <p:cNvPr id="27" name="TextBox 26"/>
          <p:cNvSpPr txBox="1"/>
          <p:nvPr/>
        </p:nvSpPr>
        <p:spPr>
          <a:xfrm>
            <a:off x="7132320" y="2944368"/>
            <a:ext cx="4709160" cy="685800"/>
          </a:xfrm>
          <a:prstGeom prst="rect">
            <a:avLst/>
          </a:prstGeom>
          <a:noFill/>
        </p:spPr>
        <p:txBody>
          <a:bodyPr wrap="square" anchor="t"/>
          <a:lstStyle/>
          <a:p>
            <a:pPr algn="l"/>
            <a:r>
              <a:rPr sz="1600" b="0">
                <a:solidFill>
                  <a:srgbClr val="3D4A57"/>
                </a:solidFill>
                <a:latin typeface="Calibri"/>
              </a:rPr>
              <a:t>Approach, positioning, implants, blood products, ICU bed, who calls the client.</a:t>
            </a:r>
          </a:p>
        </p:txBody>
      </p:sp>
      <p:sp>
        <p:nvSpPr>
          <p:cNvPr id="28" name="Rounded Rectangle 27"/>
          <p:cNvSpPr/>
          <p:nvPr/>
        </p:nvSpPr>
        <p:spPr>
          <a:xfrm>
            <a:off x="411480" y="3950208"/>
            <a:ext cx="7452360" cy="24231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041648"/>
            <a:ext cx="7040880" cy="292608"/>
          </a:xfrm>
          <a:prstGeom prst="rect">
            <a:avLst/>
          </a:prstGeom>
          <a:noFill/>
        </p:spPr>
        <p:txBody>
          <a:bodyPr wrap="square" anchor="t"/>
          <a:lstStyle/>
          <a:p>
            <a:pPr algn="l"/>
            <a:r>
              <a:rPr sz="1600" b="1">
                <a:solidFill>
                  <a:srgbClr val="1B6B7A"/>
                </a:solidFill>
                <a:latin typeface="Calibri"/>
              </a:rPr>
              <a:t>History and PE, then any drug</a:t>
            </a:r>
          </a:p>
        </p:txBody>
      </p:sp>
      <p:sp>
        <p:nvSpPr>
          <p:cNvPr id="30" name="TextBox 29"/>
          <p:cNvSpPr txBox="1"/>
          <p:nvPr/>
        </p:nvSpPr>
        <p:spPr>
          <a:xfrm>
            <a:off x="594360" y="4370832"/>
            <a:ext cx="7086600" cy="1874519"/>
          </a:xfrm>
          <a:prstGeom prst="rect">
            <a:avLst/>
          </a:prstGeom>
          <a:noFill/>
        </p:spPr>
        <p:txBody>
          <a:bodyPr wrap="square">
            <a:spAutoFit/>
          </a:bodyPr>
          <a:lstStyle/>
          <a:p>
            <a:pPr algn="l">
              <a:spcAft>
                <a:spcPts val="500"/>
              </a:spcAft>
            </a:pPr>
            <a:r>
              <a:rPr sz="1600" b="0">
                <a:solidFill>
                  <a:srgbClr val="1C1C1C"/>
                </a:solidFill>
                <a:latin typeface="Calibri"/>
              </a:rPr>
              <a:t>▸  Signalment, last meal, medications, prior anesthesia, bleeding tendency.</a:t>
            </a:r>
          </a:p>
          <a:p>
            <a:pPr algn="l">
              <a:spcAft>
                <a:spcPts val="500"/>
              </a:spcAft>
            </a:pPr>
            <a:r>
              <a:rPr sz="1600" b="0">
                <a:solidFill>
                  <a:srgbClr val="1C1C1C"/>
                </a:solidFill>
                <a:latin typeface="Calibri"/>
              </a:rPr>
              <a:t>▸  TPR, mm, CRT, hydration, murmur, lungs, surgical site, abdomen, neuro if indicated.</a:t>
            </a:r>
          </a:p>
          <a:p>
            <a:pPr algn="l">
              <a:spcAft>
                <a:spcPts val="500"/>
              </a:spcAft>
            </a:pPr>
            <a:r>
              <a:rPr sz="1600" b="0">
                <a:solidFill>
                  <a:srgbClr val="1C1C1C"/>
                </a:solidFill>
                <a:latin typeface="Calibri"/>
              </a:rPr>
              <a:t>▸  Record the examination. The next clinician reads what you wrote.</a:t>
            </a:r>
          </a:p>
        </p:txBody>
      </p:sp>
      <p:sp>
        <p:nvSpPr>
          <p:cNvPr id="31" name="Rounded Rectangle 30"/>
          <p:cNvSpPr/>
          <p:nvPr/>
        </p:nvSpPr>
        <p:spPr>
          <a:xfrm>
            <a:off x="8046720" y="3950208"/>
            <a:ext cx="3611880" cy="2423160"/>
          </a:xfrm>
          <a:prstGeom prst="roundRect">
            <a:avLst>
              <a:gd name="adj" fmla="val 8000"/>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4069080"/>
            <a:ext cx="3291840" cy="365760"/>
          </a:xfrm>
          <a:prstGeom prst="rect">
            <a:avLst/>
          </a:prstGeom>
          <a:noFill/>
        </p:spPr>
        <p:txBody>
          <a:bodyPr wrap="square" anchor="t"/>
          <a:lstStyle/>
          <a:p>
            <a:pPr algn="l"/>
            <a:r>
              <a:rPr sz="1600" b="1">
                <a:solidFill>
                  <a:srgbClr val="C5A35A"/>
                </a:solidFill>
                <a:latin typeface="Calibri"/>
              </a:rPr>
              <a:t>Order of operations</a:t>
            </a:r>
          </a:p>
        </p:txBody>
      </p:sp>
      <p:sp>
        <p:nvSpPr>
          <p:cNvPr id="33" name="TextBox 32"/>
          <p:cNvSpPr txBox="1"/>
          <p:nvPr/>
        </p:nvSpPr>
        <p:spPr>
          <a:xfrm>
            <a:off x="8229600" y="4526280"/>
            <a:ext cx="3291840" cy="1691640"/>
          </a:xfrm>
          <a:prstGeom prst="rect">
            <a:avLst/>
          </a:prstGeom>
          <a:noFill/>
        </p:spPr>
        <p:txBody>
          <a:bodyPr wrap="square" anchor="t"/>
          <a:lstStyle/>
          <a:p>
            <a:pPr algn="l"/>
            <a:r>
              <a:rPr sz="1600" b="0">
                <a:solidFill>
                  <a:srgbClr val="FFFFFF"/>
                </a:solidFill>
                <a:latin typeface="Calibri"/>
              </a:rPr>
              <a:t>1. Examine the patient
2. Request indicated labs
3. Interpret the results
4. Assign ASA status
5. Adjust the drug plan
6. Premedicate IM or SQ</a:t>
            </a:r>
          </a:p>
        </p:txBody>
      </p:sp>
      <p:sp>
        <p:nvSpPr>
          <p:cNvPr id="34" name="Rectangle 3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6" name="TextBox 3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sp>
        <p:nvSpPr>
          <p:cNvPr id="8" name="Rounded Rectangle 7"/>
          <p:cNvSpPr/>
          <p:nvPr/>
        </p:nvSpPr>
        <p:spPr>
          <a:xfrm>
            <a:off x="457200" y="1024128"/>
            <a:ext cx="11247120" cy="105156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vomiting and lethargy. Two vomits. Household construction. Possible FB. Vitals: T 98.0 °F, HR 200, RR 30, mm pink tacky, CRT &lt;2 s, QAR. ASA Status 4-E: severe systemic disease that is a constant threat to life (rising azotemia; non-functional kidney). Cancelling the exploratory is a successful preoperative evaluation.</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Heart/lungs normal. Ambulatory ×4. Dehydrated. The PE did not prove a foreign body.</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Next: labs and imaging</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POCUS: abnormal kidneys, bladder intact. 3-view abdomen STAT. CBC/chem. Assign ASA after those results.</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Work-up: IVF 1.5×, Cerenia, ondansetron, Unasyn. Creatinine 3.0 → 4.71 on fluids. AUS: right kidney fluid-filled and non-functional. Skip NSAIDs. Cancel the exploratory. Record the decision. Owner elected humane euthanasia.</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TESTS INDICATED FOR THIS PATIENT AND THIS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diagnostics</a:t>
            </a:r>
          </a:p>
        </p:txBody>
      </p:sp>
      <p:sp>
        <p:nvSpPr>
          <p:cNvPr id="8" name="Rounded Rectangle 7"/>
          <p:cNvSpPr/>
          <p:nvPr/>
        </p:nvSpPr>
        <p:spPr>
          <a:xfrm>
            <a:off x="457200" y="1097280"/>
            <a:ext cx="557784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331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5212080" cy="329184"/>
          </a:xfrm>
          <a:prstGeom prst="rect">
            <a:avLst/>
          </a:prstGeom>
          <a:noFill/>
        </p:spPr>
        <p:txBody>
          <a:bodyPr wrap="square" anchor="t"/>
          <a:lstStyle/>
          <a:p>
            <a:pPr algn="l"/>
            <a:r>
              <a:rPr sz="1800" b="1">
                <a:solidFill>
                  <a:srgbClr val="0B2C4A"/>
                </a:solidFill>
                <a:latin typeface="Calibri"/>
              </a:rPr>
              <a:t>Young, healthy, elective (ASA I)</a:t>
            </a:r>
          </a:p>
        </p:txBody>
      </p:sp>
      <p:sp>
        <p:nvSpPr>
          <p:cNvPr id="11" name="TextBox 10"/>
          <p:cNvSpPr txBox="1"/>
          <p:nvPr/>
        </p:nvSpPr>
        <p:spPr>
          <a:xfrm>
            <a:off x="713232" y="1554480"/>
            <a:ext cx="5212080" cy="1764792"/>
          </a:xfrm>
          <a:prstGeom prst="rect">
            <a:avLst/>
          </a:prstGeom>
          <a:noFill/>
        </p:spPr>
        <p:txBody>
          <a:bodyPr wrap="square" anchor="t"/>
          <a:lstStyle/>
          <a:p>
            <a:pPr algn="l"/>
            <a:r>
              <a:rPr sz="1600" b="0">
                <a:solidFill>
                  <a:srgbClr val="3D4A57"/>
                </a:solidFill>
                <a:latin typeface="Calibri"/>
              </a:rPr>
              <a:t>PCV/TS ± blood glucose and Azo stick is a defensible minimum. Many hospitals still run a preanesthetic chemistry/CBC. Know your hospital policy and be able to defend either choice.</a:t>
            </a:r>
          </a:p>
        </p:txBody>
      </p:sp>
      <p:sp>
        <p:nvSpPr>
          <p:cNvPr id="12" name="Rounded Rectangle 11"/>
          <p:cNvSpPr/>
          <p:nvPr/>
        </p:nvSpPr>
        <p:spPr>
          <a:xfrm>
            <a:off x="6217920" y="1097280"/>
            <a:ext cx="54864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217920" y="1097280"/>
            <a:ext cx="91440" cy="2331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73952" y="1207008"/>
            <a:ext cx="5120640" cy="329184"/>
          </a:xfrm>
          <a:prstGeom prst="rect">
            <a:avLst/>
          </a:prstGeom>
          <a:noFill/>
        </p:spPr>
        <p:txBody>
          <a:bodyPr wrap="square" anchor="t"/>
          <a:lstStyle/>
          <a:p>
            <a:pPr algn="l"/>
            <a:r>
              <a:rPr sz="1800" b="1">
                <a:solidFill>
                  <a:srgbClr val="0B2C4A"/>
                </a:solidFill>
                <a:latin typeface="Calibri"/>
              </a:rPr>
              <a:t>Age, disease, or invasive procedure</a:t>
            </a:r>
          </a:p>
        </p:txBody>
      </p:sp>
      <p:sp>
        <p:nvSpPr>
          <p:cNvPr id="15" name="TextBox 14"/>
          <p:cNvSpPr txBox="1"/>
          <p:nvPr/>
        </p:nvSpPr>
        <p:spPr>
          <a:xfrm>
            <a:off x="6473952" y="1554480"/>
            <a:ext cx="5120640" cy="1764792"/>
          </a:xfrm>
          <a:prstGeom prst="rect">
            <a:avLst/>
          </a:prstGeom>
          <a:noFill/>
        </p:spPr>
        <p:txBody>
          <a:bodyPr wrap="square" anchor="t"/>
          <a:lstStyle/>
          <a:p>
            <a:pPr algn="l"/>
            <a:r>
              <a:rPr sz="1600" b="0">
                <a:solidFill>
                  <a:srgbClr val="3D4A57"/>
                </a:solidFill>
                <a:latin typeface="Calibri"/>
              </a:rPr>
              <a:t>CBC, chemistry, UA. Add clotting (PT/PTT or BMBT) if bleeding risk. T4 in older cats. Blood pressure. ECG if arrhythmia. Imaging if it changes the approach.</a:t>
            </a:r>
          </a:p>
        </p:txBody>
      </p:sp>
      <p:sp>
        <p:nvSpPr>
          <p:cNvPr id="16" name="Rounded Rectangle 15"/>
          <p:cNvSpPr/>
          <p:nvPr/>
        </p:nvSpPr>
        <p:spPr>
          <a:xfrm>
            <a:off x="457200" y="3611880"/>
            <a:ext cx="11247120" cy="2743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749039"/>
            <a:ext cx="10789920" cy="320040"/>
          </a:xfrm>
          <a:prstGeom prst="rect">
            <a:avLst/>
          </a:prstGeom>
          <a:noFill/>
        </p:spPr>
        <p:txBody>
          <a:bodyPr wrap="square" anchor="t"/>
          <a:lstStyle/>
          <a:p>
            <a:pPr algn="l"/>
            <a:r>
              <a:rPr sz="1800" b="1">
                <a:solidFill>
                  <a:srgbClr val="0B2C4A"/>
                </a:solidFill>
                <a:latin typeface="Calibri"/>
              </a:rPr>
              <a:t>How to use the tests you order</a:t>
            </a:r>
          </a:p>
        </p:txBody>
      </p:sp>
      <p:sp>
        <p:nvSpPr>
          <p:cNvPr id="18" name="TextBox 17"/>
          <p:cNvSpPr txBox="1"/>
          <p:nvPr/>
        </p:nvSpPr>
        <p:spPr>
          <a:xfrm>
            <a:off x="685800" y="4160520"/>
            <a:ext cx="10789920" cy="2011680"/>
          </a:xfrm>
          <a:prstGeom prst="rect">
            <a:avLst/>
          </a:prstGeom>
          <a:noFill/>
        </p:spPr>
        <p:txBody>
          <a:bodyPr wrap="square">
            <a:spAutoFit/>
          </a:bodyPr>
          <a:lstStyle/>
          <a:p>
            <a:pPr algn="l">
              <a:spcAft>
                <a:spcPts val="700"/>
              </a:spcAft>
            </a:pPr>
            <a:r>
              <a:rPr sz="1800" b="0">
                <a:solidFill>
                  <a:srgbClr val="1C1C1C"/>
                </a:solidFill>
                <a:latin typeface="Calibri"/>
              </a:rPr>
              <a:t>▸  Anemia, hypoalbuminemia, azotemia, electrolyte storms, and thrombocytopenia change drugs, fluids, and whether you cut today.</a:t>
            </a:r>
          </a:p>
          <a:p>
            <a:pPr algn="l">
              <a:spcAft>
                <a:spcPts val="700"/>
              </a:spcAft>
            </a:pPr>
            <a:r>
              <a:rPr sz="1800" b="0">
                <a:solidFill>
                  <a:srgbClr val="1C1C1C"/>
                </a:solidFill>
                <a:latin typeface="Calibri"/>
              </a:rPr>
              <a:t>▸  Abdominal surgery: image first so you know whether you are cutting a pyometra, a mass that needs a different approach, or a medical abdomen. MoMo: POCUS/AUS cancelled the cut.</a:t>
            </a:r>
          </a:p>
          <a:p>
            <a:pPr algn="l">
              <a:spcAft>
                <a:spcPts val="700"/>
              </a:spcAft>
            </a:pPr>
            <a:r>
              <a:rPr sz="1800" b="0">
                <a:solidFill>
                  <a:srgbClr val="1C1C1C"/>
                </a:solidFill>
                <a:latin typeface="Calibri"/>
              </a:rPr>
              <a:t>▸  Repeat a value that changes the plan. MoMo: creatinine 3.0 then 4.71. Act on the rising creatinine.</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Platelets</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Teaching: &lt;50 K</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Creatinine</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Rising or severe + uremia (MoMo)</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WBC</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Severe change + systemic disease</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Willie: CBC does not assign Status 1. His 3-E is the vestibular exam. MoMo: PE + rising creatinine = 4-E.</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LABS INFORM RISK. THE PHYSICAL EXAMINATION ASSIGNS ASA (GRUBB ET AL. 2020).</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Applying the lab tables</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51560"/>
            <a:ext cx="91440" cy="5074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161288"/>
            <a:ext cx="5257800" cy="329184"/>
          </a:xfrm>
          <a:prstGeom prst="rect">
            <a:avLst/>
          </a:prstGeom>
          <a:noFill/>
        </p:spPr>
        <p:txBody>
          <a:bodyPr wrap="square" anchor="t"/>
          <a:lstStyle/>
          <a:p>
            <a:pPr algn="l"/>
            <a:r>
              <a:rPr sz="1800" b="1">
                <a:solidFill>
                  <a:srgbClr val="0B2C4A"/>
                </a:solidFill>
                <a:latin typeface="Calibri"/>
              </a:rPr>
              <a:t>Willie, laboratory results</a:t>
            </a:r>
          </a:p>
        </p:txBody>
      </p:sp>
      <p:sp>
        <p:nvSpPr>
          <p:cNvPr id="11" name="TextBox 10"/>
          <p:cNvSpPr txBox="1"/>
          <p:nvPr/>
        </p:nvSpPr>
        <p:spPr>
          <a:xfrm>
            <a:off x="667512" y="1508760"/>
            <a:ext cx="5257800" cy="4507992"/>
          </a:xfrm>
          <a:prstGeom prst="rect">
            <a:avLst/>
          </a:prstGeom>
          <a:noFill/>
        </p:spPr>
        <p:txBody>
          <a:bodyPr wrap="square" anchor="t"/>
          <a:lstStyle/>
          <a:p>
            <a:pPr algn="l"/>
            <a:r>
              <a:rPr sz="1600" b="0">
                <a:solidFill>
                  <a:srgbClr val="3D4A57"/>
                </a:solidFill>
                <a:latin typeface="Calibri"/>
              </a:rPr>
              <a:t>CBC WNL. That does not make him Status 1.
Phosphorus 6.0, mild increase.
Glucose 130, stress.
Kidneys, liver, electrolytes normal.
Skip the EPOC for this ear clean.
ASA Status 3-E from today’s PE: acute vestibular disease, severe AS otitis, murmur. An unremarkable chemistry leaves that Status 3 in place.</a:t>
            </a:r>
          </a:p>
        </p:txBody>
      </p:sp>
      <p:sp>
        <p:nvSpPr>
          <p:cNvPr id="12" name="Rounded Rectangle 11"/>
          <p:cNvSpPr/>
          <p:nvPr/>
        </p:nvSpPr>
        <p:spPr>
          <a:xfrm>
            <a:off x="617220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51560"/>
            <a:ext cx="91440" cy="50749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161288"/>
            <a:ext cx="5257800" cy="329184"/>
          </a:xfrm>
          <a:prstGeom prst="rect">
            <a:avLst/>
          </a:prstGeom>
          <a:noFill/>
        </p:spPr>
        <p:txBody>
          <a:bodyPr wrap="square" anchor="t"/>
          <a:lstStyle/>
          <a:p>
            <a:pPr algn="l"/>
            <a:r>
              <a:rPr sz="1800" b="1">
                <a:solidFill>
                  <a:srgbClr val="0B2C4A"/>
                </a:solidFill>
                <a:latin typeface="Calibri"/>
              </a:rPr>
              <a:t>MoMo, laboratory results and EPOC</a:t>
            </a:r>
          </a:p>
        </p:txBody>
      </p:sp>
      <p:sp>
        <p:nvSpPr>
          <p:cNvPr id="15" name="TextBox 14"/>
          <p:cNvSpPr txBox="1"/>
          <p:nvPr/>
        </p:nvSpPr>
        <p:spPr>
          <a:xfrm>
            <a:off x="6428232" y="1508760"/>
            <a:ext cx="5257800" cy="4507992"/>
          </a:xfrm>
          <a:prstGeom prst="rect">
            <a:avLst/>
          </a:prstGeom>
          <a:noFill/>
        </p:spPr>
        <p:txBody>
          <a:bodyPr wrap="square" anchor="t"/>
          <a:lstStyle/>
          <a:p>
            <a:pPr algn="l"/>
            <a:r>
              <a:rPr sz="1600" b="0">
                <a:solidFill>
                  <a:srgbClr val="3D4A57"/>
                </a:solidFill>
                <a:latin typeface="Calibri"/>
              </a:rPr>
              <a:t>WBC about 26K with neutrophilia.
Platelets 74 K.
Creatinine 3.0 to 4.71; BUN 49.7 to 100.
Phosphorus 8.0.
EPOC pH 7.255; BE −7.4; lactate 2.05.
Venous pO2 33 is a venous sample.
ASA Status 4-E: severe renal disease that is a constant threat to life. Cancel the exploratory.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WHEN TO DELAY, WHEN TO PROCEED URGENTLY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Stabilization before elective surgery</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Fix first</a:t>
            </a:r>
          </a:p>
        </p:txBody>
      </p:sp>
      <p:sp>
        <p:nvSpPr>
          <p:cNvPr id="11" name="TextBox 10"/>
          <p:cNvSpPr txBox="1"/>
          <p:nvPr/>
        </p:nvSpPr>
        <p:spPr>
          <a:xfrm>
            <a:off x="640080" y="1828800"/>
            <a:ext cx="3246120" cy="4023360"/>
          </a:xfrm>
          <a:prstGeom prst="rect">
            <a:avLst/>
          </a:prstGeom>
          <a:noFill/>
        </p:spPr>
        <p:txBody>
          <a:bodyPr wrap="square" anchor="t"/>
          <a:lstStyle/>
          <a:p>
            <a:pPr algn="l"/>
            <a:r>
              <a:rPr sz="1800" b="0">
                <a:solidFill>
                  <a:srgbClr val="1C1C1C"/>
                </a:solidFill>
                <a:latin typeface="Calibri"/>
              </a:rPr>
              <a:t>Hypovolemia / shock
Electrolyte crises (K+, Na+)
Severe anemia (transfuse)
Respiratory distress
Uncontrolled pain
Hypoglycemia
Hyperthermia / heat stroke</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Often delay elective</a:t>
            </a:r>
          </a:p>
        </p:txBody>
      </p:sp>
      <p:sp>
        <p:nvSpPr>
          <p:cNvPr id="15" name="TextBox 14"/>
          <p:cNvSpPr txBox="1"/>
          <p:nvPr/>
        </p:nvSpPr>
        <p:spPr>
          <a:xfrm>
            <a:off x="4526280" y="1828800"/>
            <a:ext cx="3246120" cy="4023360"/>
          </a:xfrm>
          <a:prstGeom prst="rect">
            <a:avLst/>
          </a:prstGeom>
          <a:noFill/>
        </p:spPr>
        <p:txBody>
          <a:bodyPr wrap="square" anchor="t"/>
          <a:lstStyle/>
          <a:p>
            <a:pPr algn="l"/>
            <a:r>
              <a:rPr sz="1800" b="0">
                <a:solidFill>
                  <a:srgbClr val="1C1C1C"/>
                </a:solidFill>
                <a:latin typeface="Calibri"/>
              </a:rPr>
              <a:t>Pyoderma over the site
Anestrus vs. heat if policy
Unstable endocrine disease
Active URI in cats
Recent live vaccines (clinic policy)
Client cannot confine / medicate
Full-stomach elective: suction or reschedule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May proceed urgently</a:t>
            </a:r>
          </a:p>
        </p:txBody>
      </p:sp>
      <p:sp>
        <p:nvSpPr>
          <p:cNvPr id="19" name="TextBox 18"/>
          <p:cNvSpPr txBox="1"/>
          <p:nvPr/>
        </p:nvSpPr>
        <p:spPr>
          <a:xfrm>
            <a:off x="8412480" y="1828800"/>
            <a:ext cx="3246120" cy="4023360"/>
          </a:xfrm>
          <a:prstGeom prst="rect">
            <a:avLst/>
          </a:prstGeom>
          <a:noFill/>
        </p:spPr>
        <p:txBody>
          <a:bodyPr wrap="square" anchor="t"/>
          <a:lstStyle/>
          <a:p>
            <a:pPr algn="l"/>
            <a:r>
              <a:rPr sz="1800" b="0">
                <a:solidFill>
                  <a:srgbClr val="1C1C1C"/>
                </a:solidFill>
                <a:latin typeface="Calibri"/>
              </a:rPr>
              <a:t>GDV
Septic abdomen
C-section with fetal distress
Airway obstruction
Hemorrhage you cannot pack
Open fracture (after resuscitation)
Uterine rupture / pyometra shock</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SELECT ETT, BREATHING SYSTEM, AND RESERVOIR BAG. THEN LEAK-TEST.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Premedication, tube, and bag</a:t>
            </a:r>
          </a:p>
        </p:txBody>
      </p:sp>
      <p:sp>
        <p:nvSpPr>
          <p:cNvPr id="8" name="Rounded Rectangle 7"/>
          <p:cNvSpPr/>
          <p:nvPr/>
        </p:nvSpPr>
        <p:spPr>
          <a:xfrm>
            <a:off x="365760"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051560"/>
            <a:ext cx="3767328" cy="5029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1051560"/>
            <a:ext cx="3767328" cy="502920"/>
          </a:xfrm>
          <a:prstGeom prst="rect">
            <a:avLst/>
          </a:prstGeom>
          <a:noFill/>
        </p:spPr>
        <p:txBody>
          <a:bodyPr wrap="square" anchor="ctr"/>
          <a:lstStyle/>
          <a:p>
            <a:pPr algn="ctr"/>
            <a:r>
              <a:rPr sz="1600" b="1">
                <a:solidFill>
                  <a:srgbClr val="FFFFFF"/>
                </a:solidFill>
                <a:latin typeface="Calibri"/>
              </a:rPr>
              <a:t>Premed, then MAC</a:t>
            </a:r>
          </a:p>
        </p:txBody>
      </p:sp>
      <p:sp>
        <p:nvSpPr>
          <p:cNvPr id="11" name="TextBox 10"/>
          <p:cNvSpPr txBox="1"/>
          <p:nvPr/>
        </p:nvSpPr>
        <p:spPr>
          <a:xfrm>
            <a:off x="512064" y="1627632"/>
            <a:ext cx="3474720" cy="4370832"/>
          </a:xfrm>
          <a:prstGeom prst="rect">
            <a:avLst/>
          </a:prstGeom>
          <a:noFill/>
        </p:spPr>
        <p:txBody>
          <a:bodyPr wrap="square" anchor="t"/>
          <a:lstStyle/>
          <a:p>
            <a:pPr algn="l"/>
            <a:r>
              <a:rPr sz="1400" b="0">
                <a:solidFill>
                  <a:srgbClr val="1C1C1C"/>
                </a:solidFill>
                <a:latin typeface="Calibri"/>
              </a:rPr>
              <a:t>Exam first. Then IM or SQ premed.
Calm, analgesia, lower induction dose, lower MAC, safer clip.
DKT: dexmedetomidine + ketamine + butorphanol. One IM syringe. Healthy ASA 1–2.
BAA: butorphanol + acepromazine + atropine. Healthy patients.
Heart / murmur: skip ace and dexmed as the default. Opioid + alfaxalone. That is Willie.
MAC = alveolar % that stops movement in 50% of patients. Premed lowers it. Turn the dial down.</a:t>
            </a:r>
          </a:p>
        </p:txBody>
      </p:sp>
      <p:sp>
        <p:nvSpPr>
          <p:cNvPr id="12" name="Rounded Rectangle 11"/>
          <p:cNvSpPr/>
          <p:nvPr/>
        </p:nvSpPr>
        <p:spPr>
          <a:xfrm>
            <a:off x="4279392"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1051560"/>
            <a:ext cx="3767328" cy="5029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1051560"/>
            <a:ext cx="3767328" cy="502920"/>
          </a:xfrm>
          <a:prstGeom prst="rect">
            <a:avLst/>
          </a:prstGeom>
          <a:noFill/>
        </p:spPr>
        <p:txBody>
          <a:bodyPr wrap="square" anchor="ctr"/>
          <a:lstStyle/>
          <a:p>
            <a:pPr algn="ctr"/>
            <a:r>
              <a:rPr sz="1600" b="1">
                <a:solidFill>
                  <a:srgbClr val="FFFFFF"/>
                </a:solidFill>
                <a:latin typeface="Calibri"/>
              </a:rPr>
              <a:t>Endotracheal tube</a:t>
            </a:r>
          </a:p>
        </p:txBody>
      </p:sp>
      <p:sp>
        <p:nvSpPr>
          <p:cNvPr id="15" name="TextBox 14"/>
          <p:cNvSpPr txBox="1"/>
          <p:nvPr/>
        </p:nvSpPr>
        <p:spPr>
          <a:xfrm>
            <a:off x="4425696" y="1627632"/>
            <a:ext cx="3474720" cy="4370832"/>
          </a:xfrm>
          <a:prstGeom prst="rect">
            <a:avLst/>
          </a:prstGeom>
          <a:noFill/>
        </p:spPr>
        <p:txBody>
          <a:bodyPr wrap="square" anchor="t"/>
          <a:lstStyle/>
          <a:p>
            <a:pPr algn="l"/>
            <a:r>
              <a:rPr sz="1400" b="0">
                <a:solidFill>
                  <a:srgbClr val="1C1C1C"/>
                </a:solidFill>
                <a:latin typeface="Calibri"/>
              </a:rPr>
              <a:t>CPE MOA: choose a tube that fits. Cuff holds to 20 cm H2O. Grossly too large or too small is unsafe.
Grubb 2020: largest ID that passes the arytenoids without trauma. Tip midway from larynx to thoracic inlet. Proximal end at or just past the incisors.
Dog starting estimate: ID mm = (kg / 4) + 3.5. Have 0.5 mm larger and smaller.
Willie 13.7 kg: (13.7 / 4) + 3.5 = 6.9. Start 7.0 mm. Have 6.5 and 7.5.
Cat: typically 3.0–4.5 mm. Confirm on the larynx.</a:t>
            </a:r>
          </a:p>
        </p:txBody>
      </p:sp>
      <p:sp>
        <p:nvSpPr>
          <p:cNvPr id="16" name="Rounded Rectangle 15"/>
          <p:cNvSpPr/>
          <p:nvPr/>
        </p:nvSpPr>
        <p:spPr>
          <a:xfrm>
            <a:off x="8193024" y="1051560"/>
            <a:ext cx="3767328"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1051560"/>
            <a:ext cx="3767328"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1051560"/>
            <a:ext cx="3767328" cy="502920"/>
          </a:xfrm>
          <a:prstGeom prst="rect">
            <a:avLst/>
          </a:prstGeom>
          <a:noFill/>
        </p:spPr>
        <p:txBody>
          <a:bodyPr wrap="square" anchor="ctr"/>
          <a:lstStyle/>
          <a:p>
            <a:pPr algn="ctr"/>
            <a:r>
              <a:rPr sz="1600" b="1">
                <a:solidFill>
                  <a:srgbClr val="FFFFFF"/>
                </a:solidFill>
                <a:latin typeface="Calibri"/>
              </a:rPr>
              <a:t>Reservoir bag and circuit</a:t>
            </a:r>
          </a:p>
        </p:txBody>
      </p:sp>
      <p:sp>
        <p:nvSpPr>
          <p:cNvPr id="19" name="TextBox 18"/>
          <p:cNvSpPr txBox="1"/>
          <p:nvPr/>
        </p:nvSpPr>
        <p:spPr>
          <a:xfrm>
            <a:off x="8339328" y="1627632"/>
            <a:ext cx="3474720" cy="4370832"/>
          </a:xfrm>
          <a:prstGeom prst="rect">
            <a:avLst/>
          </a:prstGeom>
          <a:noFill/>
        </p:spPr>
        <p:txBody>
          <a:bodyPr wrap="square" anchor="t"/>
          <a:lstStyle/>
          <a:p>
            <a:pPr algn="l"/>
            <a:r>
              <a:rPr sz="1400" b="0">
                <a:solidFill>
                  <a:srgbClr val="1C1C1C"/>
                </a:solidFill>
                <a:latin typeface="Calibri"/>
              </a:rPr>
              <a:t>CPE MOA: select the circuit and the bag. Calculate fresh-gas flow.
Tidal volume about 10–15 mL/kg (Grubb 2020: dead space ≤2–3 mL/kg is ≤20% of TV).
Bag = 5–6 × TV. Shortcut: kg × 60 mL. Round UP to 0.5, 1, 2, or 3 L.
Willie 13.7 kg: 822 mL → 1 L bag. Circle.
MoMo 4.25 kg, if ever anesthetized: 255 mL → 0.5 L. NRC (Grubb: cats and dogs &lt;3–5 kg).
NRC O2: 200–400 mL/kg/min.
Leak-test to 20–30 cm H2O. Then OPEN the pop-off.</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PREOP HEADER AND RECOVERY.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FREY ET AL. 2022: WHEN. GONZALEZ 2017: 22 MG/KG IV. WHITTEM 1999: REDOSE IF &gt;90 MIN.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Perioperative cefazolin</a:t>
            </a:r>
          </a:p>
        </p:txBody>
      </p:sp>
      <p:sp>
        <p:nvSpPr>
          <p:cNvPr id="8" name="Rounded Rectangle 7"/>
          <p:cNvSpPr/>
          <p:nvPr/>
        </p:nvSpPr>
        <p:spPr>
          <a:xfrm>
            <a:off x="457200" y="1097280"/>
            <a:ext cx="5577840" cy="5029200"/>
          </a:xfrm>
          <a:prstGeom prst="roundRect">
            <a:avLst>
              <a:gd name="adj" fmla="val 8000"/>
            </a:avLst>
          </a:prstGeom>
          <a:solidFill>
            <a:srgbClr val="E6F3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234440"/>
            <a:ext cx="5120640" cy="457200"/>
          </a:xfrm>
          <a:prstGeom prst="rect">
            <a:avLst/>
          </a:prstGeom>
          <a:noFill/>
        </p:spPr>
        <p:txBody>
          <a:bodyPr wrap="square" anchor="t"/>
          <a:lstStyle/>
          <a:p>
            <a:pPr algn="l"/>
            <a:r>
              <a:rPr sz="1800" b="1">
                <a:solidFill>
                  <a:srgbClr val="2E6B4F"/>
                </a:solidFill>
                <a:latin typeface="Calibri"/>
              </a:rPr>
              <a:t>Clean elective: skip prophylaxis</a:t>
            </a:r>
          </a:p>
        </p:txBody>
      </p:sp>
      <p:sp>
        <p:nvSpPr>
          <p:cNvPr id="10" name="TextBox 9"/>
          <p:cNvSpPr txBox="1"/>
          <p:nvPr/>
        </p:nvSpPr>
        <p:spPr>
          <a:xfrm>
            <a:off x="685800" y="1783080"/>
            <a:ext cx="5120640" cy="4114800"/>
          </a:xfrm>
          <a:prstGeom prst="rect">
            <a:avLst/>
          </a:prstGeom>
          <a:noFill/>
        </p:spPr>
        <p:txBody>
          <a:bodyPr wrap="square" anchor="t"/>
          <a:lstStyle/>
          <a:p>
            <a:pPr algn="l"/>
            <a:r>
              <a:rPr sz="1600" b="0">
                <a:solidFill>
                  <a:srgbClr val="1C1C1C"/>
                </a:solidFill>
                <a:latin typeface="Calibri"/>
              </a:rPr>
              <a:t>2022 AAFP/AAHA (Frey et al.)
Start 30–60 min before incision.
Not usually needed for clean procedures.
Skip OHE, orchiectomy, most sterile cases.
Postop antimicrobials are rarely required.
Hold asepsis. Stop at closure.
A postoperative antibiotic injection is treatment, not a gift after every spay.</a:t>
            </a:r>
          </a:p>
        </p:txBody>
      </p:sp>
      <p:sp>
        <p:nvSpPr>
          <p:cNvPr id="11" name="Rounded Rectangle 10"/>
          <p:cNvSpPr/>
          <p:nvPr/>
        </p:nvSpPr>
        <p:spPr>
          <a:xfrm>
            <a:off x="6263640" y="1097280"/>
            <a:ext cx="5440680" cy="5029200"/>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234440"/>
            <a:ext cx="5029200" cy="411480"/>
          </a:xfrm>
          <a:prstGeom prst="rect">
            <a:avLst/>
          </a:prstGeom>
          <a:noFill/>
        </p:spPr>
        <p:txBody>
          <a:bodyPr wrap="square" anchor="t"/>
          <a:lstStyle/>
          <a:p>
            <a:pPr algn="l"/>
            <a:r>
              <a:rPr sz="1800" b="1">
                <a:solidFill>
                  <a:srgbClr val="8B2E2E"/>
                </a:solidFill>
                <a:latin typeface="Calibri"/>
              </a:rPr>
              <a:t>When indicated</a:t>
            </a:r>
          </a:p>
        </p:txBody>
      </p:sp>
      <p:sp>
        <p:nvSpPr>
          <p:cNvPr id="13" name="TextBox 12"/>
          <p:cNvSpPr txBox="1"/>
          <p:nvPr/>
        </p:nvSpPr>
        <p:spPr>
          <a:xfrm>
            <a:off x="6492240" y="1691640"/>
            <a:ext cx="5029200" cy="777240"/>
          </a:xfrm>
          <a:prstGeom prst="rect">
            <a:avLst/>
          </a:prstGeom>
          <a:noFill/>
        </p:spPr>
        <p:txBody>
          <a:bodyPr wrap="square" anchor="t"/>
          <a:lstStyle/>
          <a:p>
            <a:pPr algn="l"/>
            <a:r>
              <a:rPr sz="2800" b="1">
                <a:solidFill>
                  <a:srgbClr val="8B2E2E"/>
                </a:solidFill>
                <a:latin typeface="Calibri"/>
              </a:rPr>
              <a:t>Cefazolin 22 mg/kg IV</a:t>
            </a:r>
          </a:p>
        </p:txBody>
      </p:sp>
      <p:sp>
        <p:nvSpPr>
          <p:cNvPr id="14" name="TextBox 13"/>
          <p:cNvSpPr txBox="1"/>
          <p:nvPr/>
        </p:nvSpPr>
        <p:spPr>
          <a:xfrm>
            <a:off x="6492240" y="2468880"/>
            <a:ext cx="5029200" cy="3383280"/>
          </a:xfrm>
          <a:prstGeom prst="rect">
            <a:avLst/>
          </a:prstGeom>
          <a:noFill/>
        </p:spPr>
        <p:txBody>
          <a:bodyPr wrap="square" anchor="t"/>
          <a:lstStyle/>
          <a:p>
            <a:pPr algn="l"/>
            <a:r>
              <a:rPr sz="1600" b="0">
                <a:solidFill>
                  <a:srgbClr val="1C1C1C"/>
                </a:solidFill>
                <a:latin typeface="Calibri"/>
              </a:rPr>
              <a:t>Gonzalez 2017: extra-label 22 mg/kg IV in dogs.
1. Give 30–60 min before incision (Frey 2022).
2. Second dose if surgery lasts &gt;90 min (Whittem 1999).
3. Stop at closure unless you are treating infection.
AAFP/AAHA 2022 has no cefazolin mg/kg.
Willie’s infected ear: treatment, not prophylaxis.</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the patient is ready for prep: tube in, IV running, surgical plane.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Willie is 13.7 kg. Tube and bag?</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Start 7.0 mm ID. 13.7 × 60 mL = 822 mL → 1 L bag. Circle. Confirm on the larynx.</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CHG runs into the eye. Next three steps?</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Stop. Irrigate with saline. Finish the field with dilute PVP-I.</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AIRWAY, PERFUSION, HEAT, PAIN, INCISION. STAY WITH THE PATIENT.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Postoperative flowsheet, first 2 hours</a:t>
            </a:r>
          </a:p>
        </p:txBody>
      </p:sp>
      <p:pic>
        <p:nvPicPr>
          <p:cNvPr id="8" name="Picture 7" descr="recovery_flowsheet.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Culture the ear. Radiographs are not MRI. Central until proven otherwise. Exam before any drug.</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Examine, request labs, assign ASA, then premedicate. Never the other way around.</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Dog ETT start: (kg / 4) + 3.5 mm. Bag: kg × 60 mL, round up. Willie: 7.0 mm and 1 L.</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When prophylaxis is indicated: cefazolin 22 mg/kg IV 30–60 min before incision. Clean OHE: skip.</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Skin: 7.5% ~5 min, then 5% paint. Eye: 10% 1:50, 2 min + 2 min.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Willie is 13.7 kg. What ETT and reservoir bag do you start with?</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Wash 2 to 4 min. Avoid eyes and mucous membranes.
12. ECFVG. Clinical Proficiency Examination Manual of Administration. 2026 ed. AVMA. Anesthesia; Surgery.</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