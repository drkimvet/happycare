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Do your own PE, then use technician vitals as a second set of numbers. Order: examine, then premedicate.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Purpose of premed: calm, analgesia, lower induction dose, lower MAC. DKT is dexmedetomidine, ketamine, butorphanol. BAA is butorphanol, acepromazine, atropine. Ace and dexmed are not the default in heart-compromised patients; Willie got alfaxalone. MAC is how we talk about inhalant dose. Timeout includes cefazolin 22 mg/kg IV when prophylaxis is indicated.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plane before clippers. Veterinary Betadine labels: 7.5% scrub, lather about 5 minutes, rinse, paint 5% Solution Veterinary, allow to dry. Eye: Roberts 1986, 1:50 of 10% PVP-I stock, 2-minute scrub plus 2-minute soak. Do not paint 10% from the veterinary bottle; that bottle is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monitoring are on before the clip.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Ureter injury is a calm,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B is Roberts 1986 bottle math. D is CHG off the cornea. C is the stabilize-first cat.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iodine: Roberts 1 to 50 of 10 percent stock, 2 minutes plus 2 minutes on the eye; intact skin is the 7.5 percent scrub for about 5 minutes then 5 percent veterinary paint.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reading: Fossum, Small Animal Surgery, 5th ed. (2018)
Hendrickson &amp; Baird (2013)</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a:t>
            </a:r>
          </a:p>
          <a:p>
            <a:pPr algn="l">
              <a:spcAft>
                <a:spcPts val="1200"/>
              </a:spcAft>
            </a:pPr>
            <a:r>
              <a:rPr sz="2000" b="0">
                <a:solidFill>
                  <a:srgbClr val="1C1C1C"/>
                </a:solidFill>
                <a:latin typeface="Calibri"/>
              </a:rPr>
              <a:t>▸  Write the peri-op plan: fasting, analgesia, antibiotics, consent, checklist.</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or herniation in recovery is still the operation.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PREOPERATIVE, PREPARATION, INTRAOPERATIVE, POSTOPERATIVE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20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8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20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8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20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8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20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800" b="0">
                <a:solidFill>
                  <a:srgbClr val="1C1C1C"/>
                </a:solidFill>
                <a:latin typeface="Calibri"/>
              </a:rPr>
              <a:t>Airway, pain, heat
Watch 24 hours
Report + discharge
Recheck plan</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EXAMINE, REQUEST INDICATED LABS, INTERPRET, THEN ASSIGN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COMPANION 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BRIEF ANESTHESIA VOCABULARY FOR THIS HOUR. NOT AN ANESTHESIA COURSE.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MAC, and the timeout</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Why we premedicate</a:t>
            </a:r>
          </a:p>
        </p:txBody>
      </p:sp>
      <p:sp>
        <p:nvSpPr>
          <p:cNvPr id="11" name="TextBox 10"/>
          <p:cNvSpPr txBox="1"/>
          <p:nvPr/>
        </p:nvSpPr>
        <p:spPr>
          <a:xfrm>
            <a:off x="530352" y="1664208"/>
            <a:ext cx="3438144" cy="4297680"/>
          </a:xfrm>
          <a:prstGeom prst="rect">
            <a:avLst/>
          </a:prstGeom>
          <a:noFill/>
        </p:spPr>
        <p:txBody>
          <a:bodyPr wrap="square" anchor="t"/>
          <a:lstStyle/>
          <a:p>
            <a:pPr algn="l"/>
            <a:r>
              <a:rPr sz="1500" b="0">
                <a:solidFill>
                  <a:srgbClr val="1C1C1C"/>
                </a:solidFill>
                <a:latin typeface="Calibri"/>
              </a:rPr>
              <a:t>Calm the patient. Give preemptive analgesia.
Lower the induction dose.
Lower MAC of the vaporizer.
Smoother intubation and recovery.
Safer handling before the clip.</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Injectables you will hear</a:t>
            </a:r>
          </a:p>
        </p:txBody>
      </p:sp>
      <p:sp>
        <p:nvSpPr>
          <p:cNvPr id="15" name="TextBox 14"/>
          <p:cNvSpPr txBox="1"/>
          <p:nvPr/>
        </p:nvSpPr>
        <p:spPr>
          <a:xfrm>
            <a:off x="4443984" y="1664208"/>
            <a:ext cx="3438144" cy="4297680"/>
          </a:xfrm>
          <a:prstGeom prst="rect">
            <a:avLst/>
          </a:prstGeom>
          <a:noFill/>
        </p:spPr>
        <p:txBody>
          <a:bodyPr wrap="square" anchor="t"/>
          <a:lstStyle/>
          <a:p>
            <a:pPr algn="l"/>
            <a:r>
              <a:rPr sz="1500" b="0">
                <a:solidFill>
                  <a:srgbClr val="1C1C1C"/>
                </a:solidFill>
                <a:latin typeface="Calibri"/>
              </a:rPr>
              <a:t>DKT: dexmedetomidine + ketamine + butorphanol (torb). One IM syringe: sedation, analgesia, muscle relaxation. Ketamine supports HR. Dexmed is reversible. Healthy ASA 1–2 short procedures.
BAA: butorphanol (torb) + acepromazine + atropine. Classic MAC-sparing premed in healthy patients.
Heart-compromised / murmur: skip acepromazine and dexmedetomidine as the default. Opioid + alfaxalone is a common plan. That is why Willie received alfaxalone.</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Gas and MAC</a:t>
            </a:r>
          </a:p>
        </p:txBody>
      </p:sp>
      <p:sp>
        <p:nvSpPr>
          <p:cNvPr id="19" name="TextBox 18"/>
          <p:cNvSpPr txBox="1"/>
          <p:nvPr/>
        </p:nvSpPr>
        <p:spPr>
          <a:xfrm>
            <a:off x="8357616" y="1664208"/>
            <a:ext cx="3438144" cy="4297680"/>
          </a:xfrm>
          <a:prstGeom prst="rect">
            <a:avLst/>
          </a:prstGeom>
          <a:noFill/>
        </p:spPr>
        <p:txBody>
          <a:bodyPr wrap="square" anchor="t"/>
          <a:lstStyle/>
          <a:p>
            <a:pPr algn="l"/>
            <a:r>
              <a:rPr sz="1500" b="0">
                <a:solidFill>
                  <a:srgbClr val="1C1C1C"/>
                </a:solidFill>
                <a:latin typeface="Calibri"/>
              </a:rPr>
              <a:t>MAC = minimum alveolar concentration: the alveolar % of inhalant that stops movement in 50% of patients to a surgical stimulus.
Isoflurane or sevoflurane maintain anesthesia after injectable induction.
Premeds, local blocks, and hypothermia lower MAC. Turn the vaporizer down.
Timeout before incision: identity, site, ASA, last meal, monitors on, cefazolin 22 mg/kg IV if indicated.</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PREP ROOM, THEN OPERATING ROOM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 checklist → announce incision</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Anesthesia machine
• V-trough / padding
• Ties snug, then check the pulse distal to each tie
• Clip after a surgical plane of anesthesia
Keep the hips in a neutral spread.
Lubricate the eyes. Confirm the tube is patent.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RECOGNIZE, ANNOUNCE, CORRECT. THEN PROTECT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800" b="0">
                <a:solidFill>
                  <a:srgbClr val="1C1C1C"/>
                </a:solidFill>
                <a:latin typeface="Calibri"/>
              </a:rPr>
              <a:t>Say it immediately. Re-glove, re-gown, or re-drape. Name the break once. Fix it completely.
After the incision is made, the same rule: notice, announce,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8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8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induction, immediately before the scrub.</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Blocked cat, K+ 8.2, booked for PU.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Stabilize K+. Decompress. Recheck. Then decide on anesthesia.</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a:p>
            <a:pPr algn="l">
              <a:spcAft>
                <a:spcPts val="1000"/>
              </a:spcAft>
            </a:pPr>
            <a:r>
              <a:rPr sz="1600" b="0">
                <a:solidFill>
                  <a:srgbClr val="1C1C1C"/>
                </a:solidFill>
                <a:latin typeface="Calibri"/>
              </a:rPr>
              <a:t>▸  Antibiotic injection only if you are treating.</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HEMORRHAGE, AIRWAY, HERNIA, DEHISCENCE, SSI, SEROMA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Monitors on. Then alfaxalone. Canal and eye: dilute PVP-I, 1:50 of 10%. Pad him.</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Serial creatinine can cancel a surgery. That is a successful preoperative evaluation.</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Clock minimum contact time. Skin: 7.5% ~5 min, then 5% paint. Eye: 10% 1:50, 2 min + 2 min.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Premed lowers MAC. Heart-compromised: opioid + alfaxalone. DKT and BAA are healthy-patient combinations.</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How do you dilute 10% povidone-iodine for the eye?</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