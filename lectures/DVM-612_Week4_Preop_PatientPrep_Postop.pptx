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The competency list is the 2026 CPE Manual of Administration, Anesthesia and Surgery chapters, taught as DVM 612, not as an exam-prep course. Two hospital patients are only ASA examples: Willie, compensated, Status 3-E, sedated for an ear clean; MoMo, uncompensated, Status 4-E, exploratory cancelled. Owner identifiers stay off these slides. Thirty-eight slides. If discussion runs, protect antiseptics, ready-for-prep,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antiseptics, draping, and recovery. The two hospital patients are ASA practice, not the point of the hour.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Surgical competence includes the first 24 hours of physiologic monitoring and complication management. That is not a claim of infinite legal liability for every recovery-ward or owner event. Hemorrhage from a weak ligature is still your technical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teams monitor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Do not premedicate before the examination. Add other labs if the PE says so. A normal CBC does not make a vestibular dog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with MOA Appendix 2: Status 1 healthy, Status 2 mild and compensated, Status 3 moderate and compensated, Status 4 a constant threat to life, Status 5 moribund. E means emergency. Then use the two hospital patients only as practice: compensated vestibular crisis is 3-E; uncompensated azotemia that threatens life is 4-E.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a compensated emergency (sedation). D is uncompensated; labs cancelled the exploratory. The names on later slides are only these examples.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Willie is an ASA example, not the thesis of the hour. Tonight is a sedated ear clean. Skip NSAID because DexSP is already on board: AAHA/AAFP 2015, concurrent corticosteroid plus NSAID is a leading risk for GI perforation. Washout periods are largely undefined; about 7 days for a short-acting steroid if you later start an NSAID. Do not invent DexSP milligrams or albumin. Murmur: skip acepromazine and dexmedetomidine. Alfaxalone to effect. Plot blood pressure. Treat hypotension at SAP less than 80 to 90 or MAP less than 60 to 70, Grubb 2020. That is the safety plan. Do not invent a Willie blood-pressure tracing.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ASA example, not the point of the hour. Pause on the photograph. Be respectful; this cat died. Cold-call: who would have clipped her on history alone? Rising creatinine on fluids is a recorded fact. Do not invent a fluid rate or an iatrogenic mechanism. Status 4-E because the disease threatened life. The workup cancelled the cut. The owner then elected euthanasia.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 blanks are weight, HR, RR, mucous membranes and CRT, temperature, other PE findings, PCV, TP, BUN, other labs, then ASA 1 through 5. Perform and record the preoperative examination. Request, record, and interpret the minimum labs. Assign ASA. PCV and TP method: EDTA, spin, read PCV, snap the capillary tube, refractometer TP. Do not invent percentages. A normal CBC does not write Status 1. Azotemia can cancel the cut. High PCV plus high TP is dehydration. Low PCV plus low TP is blood loss. High BUN: skip NSAIDs.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Do not invent PCV cutoffs as ASA numbers.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taught as an original record, not the copyrighted form. The three steps at the top are the general sequence. The filled table is one worked example: ear disease, DexSP already given, murmur. Healthy default is not that table. Skip NSAID because of AAHA/AAFP 2015 GI risk, not because albumin was measured. DexSP dose and time are not on this teaching record: do not invent them. Blood-pressure floors are Grubb 2020, not a Willie tracing. Students write drug, concentration, dose, volume, and route.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Uncompensated azotemia that is getting worse: do not cut. That is the preoperative evaluation working. It is not a diagnosis of why the creatinine rose.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Pre-oxygenation: 3 minutes of 100 percent oxygen gives almost 6 minutes of saturation. Brachycephalics: delay extubation until they can protect the airway.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A 13.7 kg dog: start 7.0 millimeter, 6.5 and 7.5 in the hand. Bag: kilograms times 60, round up. 822 milliliters is a 1 liter bag, circle. Fluids: Pardo 2024, dog 5 milliliters per kilogram per hour; write 69 milliliters per hour. Circle FGF: 2 to 3 liters per minute at induction, then 20 to 40 milliliters per kilogram per minute, minimum 500 milliliters per minute (Grubb 2020). NRC 200 to 400 milliliters per kilogram per minute. After the tube is in: inhalant to effect. Premed already lowered MAC. Then clip, sterile prep, and drape. Do not teach tube math as if a sedated ear-clean patient was intubated.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large boxes: ASA Status 3-E before alfaxalone. PCV, TP, BUN WNL. Skip NSAID after DexSP, AAHA 2015. Plot BP; treat Grubb hypotension floors. Recovery is on the same page. Drug protocol is slide 13. The intra-op chart is slide 30. Tube and bag numbers are only if you intubate.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Rising creatinine on fluids is written as recorded. Do not invent a fluid rate or blame overload.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Frey 2022. Clean-contaminated: controlled entry into gut, airway, or bladder. Contaminated: fresh trauma or major spillage. Dirty: pus. Willie’s ear is dirty: treatment, not clean prophylaxis. Then say 22 milligrams per kilogram IV. Do not attribute that dose to AAHA 2022.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clip until the patient is ready for prep: tube in, cuff holds to 20 centimeters of water, correct bag, IV running, surgical plane. CPE MOA 2026 Surgery scores hair, skin, position, and drape, then wants you to announce the incision. Veterinary Betadine labels: 7.5% scrub about 5 minutes, rinse, paint 5% Solution Veterinary, dry. Eye: Roberts 1986, 1:50 of 10%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Do not teach a fixed 20 centimeter margin. Teach landmarks that scale with the patient. Protect heat.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 healthy corneas. One case of corneal edema at 1 to 2. Deep ulcer, descemetocele, or open globe: saline only, call ophthalmology. Nolvasan: keep out of eyes. Ear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closed gloving. Students name SpO2, ETCO2, ECG, temp, and fluids off the workstation photo. Do not mix MAC and case names onto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Teach the clinical rule, not exam scoring. The 24-hour window is why recovery is in this lecture: monitor, recognize hemorrhage and hernia, write the discharge plan.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board math for a 13.7 kg dog if you intubate: 7.0 millimeter, 1 liter circle, 69 milliliters per hour, alfaxalone if there is a murmur, and plot blood pressure. B is Roberts 1986 on an intact cornea; perforation is saline only. A is airway before clippers, then sterile prep and drape.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as an original chart. The filled column is the intraoperative operating range, not the awake exam. Heart rate: anesthetized dog 60 to 120, Ko and Krimins 2012 Table 2. Anesthetized cat 100 to 180, AAFP 2018, which Grubb cites. Fossum Table 31-1 is 70 to 140 in the conscious dog; do not use that row as the intra-op band. Grubb does not publish a dog floor; the tachycardia alert remains 150 to 190 by size. Blood pressure: stay at or above SAP 90, MAP 70, DAP 40; hypertension is MAP over 120 to 140 or SAP over 160 to 180. ETCO2 40 to 50, up to 55, start PPV if over 60. SpO2 at least 95 percent. Temperature at least 98 Fahrenheit. Circle oxygen 2 to 3 liters then 20 to 40 milliliters per kilogram per minute, minimum 500. Fluids: dog 5, cat 3 to 5 milliliters per kilogram per hour. Inhalant to effect. Time cells empty until a real patient.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as pre-emptive analgesia: give before incision so levels are on board. Dog: carprofen 4.4 milligrams per kilogram SQ, about 2 hours before incision. Do not use carprofen in cats. Cat: Onsior 2 milligrams per kilogram SQ, about 30 minutes before incision. Do not teach Onsior in the dog. Do not combine NSAID with DexSP.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this as an ASA example, not as the lecture thesis. One sentence on the other example: the same preoperative evaluation cancelled an exploratory when the disease was uncompensated.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These two patients are ASA examples only. Healthy Lab OHE is the ASA Status 1 contrast.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lines are the Appendix 3 record and the Surgery competencies: assessment and ASA, drug protocol and equipment, ready for prep, hair-skin-position-drape, the chart and signature, then the first 24 hours. Do not recap the hospital patients here.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ready for clippers means airway secured, machine on, patent IV running, surgical plane, monitoring started. Before the first premed: today’s PE, PCV, TP, BUN, and ASA.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Exam, labs, ASA, then prep. Then 24 hours of monitoring and complication management.
Two hospital cases are ASA examples only.</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DVM 612 WEEK 4  ·  38 SLIDES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8" name="TextBox 7"/>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labeled antiseptics, minimum contact time, four-quadrant drape,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9" name="Rounded Rectangle 8"/>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983480"/>
            <a:ext cx="10881360" cy="594360"/>
          </a:xfrm>
          <a:prstGeom prst="rect">
            <a:avLst/>
          </a:prstGeom>
          <a:noFill/>
        </p:spPr>
        <p:txBody>
          <a:bodyPr wrap="square" anchor="ctr"/>
          <a:lstStyle/>
          <a:p>
            <a:pPr algn="l"/>
            <a:r>
              <a:rPr sz="1600" b="0">
                <a:solidFill>
                  <a:srgbClr val="0B2C4A"/>
                </a:solidFill>
                <a:latin typeface="Calibri"/>
              </a:rPr>
              <a:t>Exam → labs → ASA → correct deficits → premed → induce → ready for prep → clip, prep, drape → first 24 hours.</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THEN 24 HOURS OF MONITORING AND COMPLICATION MANAGEMENT. CPE MOA 2026 SURGERY.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Prepare the patient and yourself</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1" name="TextBox 10"/>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5" name="TextBox 14"/>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surgical care.</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Set before you cut</a:t>
            </a:r>
          </a:p>
        </p:txBody>
      </p:sp>
      <p:sp>
        <p:nvSpPr>
          <p:cNvPr id="19" name="TextBox 18"/>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monitor the first 24 hours: a weak ligature or a weak linea is a technical failure you must recognize (CPE MOA 2026 Surgery).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EACH PRINCIPLE HAS A PREOPERATIVE OR POSTOPERATIVE ACTION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8" name="Rounded Rectangle 7"/>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1" name="TextBox 10"/>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2" name="Rounded Rectangle 11"/>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5" name="TextBox 14"/>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6" name="Rounded Rectangle 15"/>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9" name="TextBox 18"/>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20" name="Rounded Rectangle 19"/>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3" name="TextBox 22"/>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4" name="Rounded Rectangle 23"/>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7" name="TextBox 26"/>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8" name="Rounded Rectangle 27"/>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1" name="TextBox 30"/>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2" name="Rounded Rectangle 31"/>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5" name="TextBox 34"/>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6" name="Rectangle 3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8" name="TextBox 3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TWO TEAM CLOCKS. CPE MOA 2026 ANESTHESIA AND SURGERY.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8" name="Rounded Rectangle 7"/>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2" name="TextBox 11"/>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3" name="Rounded Rectangle 12"/>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Ready for clip:
airway, IV, plane
Hair, skin, position
Drape, gown, glove</a:t>
            </a:r>
          </a:p>
        </p:txBody>
      </p:sp>
      <p:sp>
        <p:nvSpPr>
          <p:cNvPr id="17" name="TextBox 16"/>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8" name="Rounded Rectangle 17"/>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Announce incision
Hold asepsis
Halsted, temp, pain
Record every 5–10 min</a:t>
            </a:r>
          </a:p>
        </p:txBody>
      </p:sp>
      <p:sp>
        <p:nvSpPr>
          <p:cNvPr id="22" name="TextBox 21"/>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3" name="Rounded Rectangle 22"/>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ounded Rectangle 26"/>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9" name="TextBox 28"/>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30" name="Rounded Rectangle 29"/>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2" name="TextBox 31"/>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24 hours of monitoring and complication management (CPE MOA 2026 Surgery).</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TPR, MM/CRT, THEN PCV, TP, BUN. THEN ASA. THEN PREMED.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8" name="Rounded Rectangle 7"/>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1" name="TextBox 10"/>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Temperature, heart rate, respiratory rate. Write the numbers. Do not copy yesterday’s chart.</a:t>
            </a:r>
          </a:p>
        </p:txBody>
      </p:sp>
      <p:sp>
        <p:nvSpPr>
          <p:cNvPr id="12" name="Rounded Rectangle 11"/>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5" name="TextBox 14"/>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6" name="Rounded Rectangle 15"/>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9" name="TextBox 18"/>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Record any murmur, arrhythmia, or crackles before you choose drugs.</a:t>
            </a:r>
          </a:p>
        </p:txBody>
      </p:sp>
      <p:sp>
        <p:nvSpPr>
          <p:cNvPr id="20" name="Rounded Rectangle 19"/>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3" name="TextBox 22"/>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4" name="Rectangle 23"/>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6" name="Rounded Rectangle 25"/>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9" name="TextBox 28"/>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30" name="Rounded Rectangle 29"/>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3" name="TextBox 32"/>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4" name="Rounded Rectangle 33"/>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7" name="TextBox 36"/>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AAHA TABLE. CPE MOA 2026 ANESTHESIA APPENDIX 2 USES THE SAME 1–5 SCALE.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8" name="Rectangle 7"/>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10" name="TextBox 9"/>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1" name="TextBox 10"/>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2" name="Rounded Rectangle 11"/>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5" name="TextBox 14"/>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6" name="TextBox 15"/>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7" name="Rounded Rectangle 16"/>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20" name="TextBox 19"/>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1" name="TextBox 20"/>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2" name="Rounded Rectangle 21"/>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5" name="TextBox 24"/>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6" name="TextBox 25"/>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7" name="Rounded Rectangle 26"/>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30" name="TextBox 29"/>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1" name="TextBox 30"/>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2" name="Rounded Rectangle 31"/>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5" name="TextBox 34"/>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6" name="TextBox 35"/>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7" name="Rounded Rectangle 36"/>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Status 3 is compensated. Status 4 is uncompensated and a threat to life. Today’s PE writes the number.</a:t>
            </a:r>
          </a:p>
        </p:txBody>
      </p:sp>
      <p:sp>
        <p:nvSpPr>
          <p:cNvPr id="39" name="Rectangle 3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1" name="TextBox 4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ASSIGN STATUS, THEN SAY WHETHER YOU PROCEED TODAY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practice cases</a:t>
            </a:r>
          </a:p>
        </p:txBody>
      </p:sp>
      <p:sp>
        <p:nvSpPr>
          <p:cNvPr id="8" name="Rounded Rectangle 7"/>
          <p:cNvSpPr/>
          <p:nvPr/>
        </p:nvSpPr>
        <p:spPr>
          <a:xfrm>
            <a:off x="457200" y="1078992"/>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777240" cy="1188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78992"/>
            <a:ext cx="777240" cy="1188720"/>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417320" y="1188720"/>
            <a:ext cx="9966960" cy="475488"/>
          </a:xfrm>
          <a:prstGeom prst="rect">
            <a:avLst/>
          </a:prstGeom>
          <a:noFill/>
        </p:spPr>
        <p:txBody>
          <a:bodyPr wrap="square" anchor="t"/>
          <a:lstStyle/>
          <a:p>
            <a:pPr algn="l"/>
            <a:r>
              <a:rPr sz="1800" b="0">
                <a:solidFill>
                  <a:srgbClr val="1C1C1C"/>
                </a:solidFill>
                <a:latin typeface="Calibri"/>
              </a:rPr>
              <a:t>Healthy 8-month Labrador. Elective OHE. Normal PE.</a:t>
            </a:r>
          </a:p>
        </p:txBody>
      </p:sp>
      <p:sp>
        <p:nvSpPr>
          <p:cNvPr id="12" name="TextBox 11"/>
          <p:cNvSpPr txBox="1"/>
          <p:nvPr/>
        </p:nvSpPr>
        <p:spPr>
          <a:xfrm>
            <a:off x="1417320" y="1719072"/>
            <a:ext cx="9966960" cy="411480"/>
          </a:xfrm>
          <a:prstGeom prst="rect">
            <a:avLst/>
          </a:prstGeom>
          <a:noFill/>
        </p:spPr>
        <p:txBody>
          <a:bodyPr wrap="square" anchor="t"/>
          <a:lstStyle/>
          <a:p>
            <a:pPr algn="l"/>
            <a:r>
              <a:rPr sz="1800" b="1">
                <a:solidFill>
                  <a:srgbClr val="2E6B4F"/>
                </a:solidFill>
                <a:latin typeface="Calibri"/>
              </a:rPr>
              <a:t>ASA Status 1  ·  proceed</a:t>
            </a:r>
          </a:p>
        </p:txBody>
      </p:sp>
      <p:sp>
        <p:nvSpPr>
          <p:cNvPr id="13" name="Rounded Rectangle 12"/>
          <p:cNvSpPr/>
          <p:nvPr/>
        </p:nvSpPr>
        <p:spPr>
          <a:xfrm>
            <a:off x="457200" y="237744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77440"/>
            <a:ext cx="777240" cy="1188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77440"/>
            <a:ext cx="777240" cy="1188720"/>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417320" y="2487168"/>
            <a:ext cx="9966960" cy="475488"/>
          </a:xfrm>
          <a:prstGeom prst="rect">
            <a:avLst/>
          </a:prstGeom>
          <a:noFill/>
        </p:spPr>
        <p:txBody>
          <a:bodyPr wrap="square" anchor="t"/>
          <a:lstStyle/>
          <a:p>
            <a:pPr algn="l"/>
            <a:r>
              <a:rPr sz="1800" b="0">
                <a:solidFill>
                  <a:srgbClr val="1C1C1C"/>
                </a:solidFill>
                <a:latin typeface="Calibri"/>
              </a:rPr>
              <a:t>10-year Beagle, BCS 8/9, grade 2/6 murmur, no CHF. Dental.</a:t>
            </a:r>
          </a:p>
        </p:txBody>
      </p:sp>
      <p:sp>
        <p:nvSpPr>
          <p:cNvPr id="17" name="TextBox 16"/>
          <p:cNvSpPr txBox="1"/>
          <p:nvPr/>
        </p:nvSpPr>
        <p:spPr>
          <a:xfrm>
            <a:off x="1417320" y="3017520"/>
            <a:ext cx="9966960" cy="411480"/>
          </a:xfrm>
          <a:prstGeom prst="rect">
            <a:avLst/>
          </a:prstGeom>
          <a:noFill/>
        </p:spPr>
        <p:txBody>
          <a:bodyPr wrap="square" anchor="t"/>
          <a:lstStyle/>
          <a:p>
            <a:pPr algn="l"/>
            <a:r>
              <a:rPr sz="1800" b="1">
                <a:solidFill>
                  <a:srgbClr val="1B6B7A"/>
                </a:solidFill>
                <a:latin typeface="Calibri"/>
              </a:rPr>
              <a:t>ASA Status 2  ·  proceed with a monitoring plan</a:t>
            </a:r>
          </a:p>
        </p:txBody>
      </p:sp>
      <p:sp>
        <p:nvSpPr>
          <p:cNvPr id="18" name="Rounded Rectangle 17"/>
          <p:cNvSpPr/>
          <p:nvPr/>
        </p:nvSpPr>
        <p:spPr>
          <a:xfrm>
            <a:off x="457200" y="367588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75888"/>
            <a:ext cx="777240" cy="1188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75888"/>
            <a:ext cx="777240" cy="1188720"/>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417320" y="3785616"/>
            <a:ext cx="9966960" cy="475488"/>
          </a:xfrm>
          <a:prstGeom prst="rect">
            <a:avLst/>
          </a:prstGeom>
          <a:noFill/>
        </p:spPr>
        <p:txBody>
          <a:bodyPr wrap="square" anchor="t"/>
          <a:lstStyle/>
          <a:p>
            <a:pPr algn="l"/>
            <a:r>
              <a:rPr sz="1800" b="0">
                <a:solidFill>
                  <a:srgbClr val="1C1C1C"/>
                </a:solidFill>
                <a:latin typeface="Calibri"/>
              </a:rPr>
              <a:t>Cavalier, acute ataxia, AS otitis, murmur. CV stable.</a:t>
            </a:r>
          </a:p>
        </p:txBody>
      </p:sp>
      <p:sp>
        <p:nvSpPr>
          <p:cNvPr id="22" name="TextBox 21"/>
          <p:cNvSpPr txBox="1"/>
          <p:nvPr/>
        </p:nvSpPr>
        <p:spPr>
          <a:xfrm>
            <a:off x="1417320" y="4315968"/>
            <a:ext cx="9966960" cy="411480"/>
          </a:xfrm>
          <a:prstGeom prst="rect">
            <a:avLst/>
          </a:prstGeom>
          <a:noFill/>
        </p:spPr>
        <p:txBody>
          <a:bodyPr wrap="square" anchor="t"/>
          <a:lstStyle/>
          <a:p>
            <a:pPr algn="l"/>
            <a:r>
              <a:rPr sz="1800" b="1">
                <a:solidFill>
                  <a:srgbClr val="C5A35A"/>
                </a:solidFill>
                <a:latin typeface="Calibri"/>
              </a:rPr>
              <a:t>ASA Status 3-E. Compensated emergency. Sedation plan.</a:t>
            </a:r>
          </a:p>
        </p:txBody>
      </p:sp>
      <p:sp>
        <p:nvSpPr>
          <p:cNvPr id="23" name="Rounded Rectangle 22"/>
          <p:cNvSpPr/>
          <p:nvPr/>
        </p:nvSpPr>
        <p:spPr>
          <a:xfrm>
            <a:off x="457200" y="497433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74336"/>
            <a:ext cx="777240" cy="11887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74336"/>
            <a:ext cx="777240" cy="1188720"/>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417320" y="5084064"/>
            <a:ext cx="9966960" cy="475488"/>
          </a:xfrm>
          <a:prstGeom prst="rect">
            <a:avLst/>
          </a:prstGeom>
          <a:noFill/>
        </p:spPr>
        <p:txBody>
          <a:bodyPr wrap="square" anchor="t"/>
          <a:lstStyle/>
          <a:p>
            <a:pPr algn="l"/>
            <a:r>
              <a:rPr sz="1800" b="0">
                <a:solidFill>
                  <a:srgbClr val="1C1C1C"/>
                </a:solidFill>
                <a:latin typeface="Calibri"/>
              </a:rPr>
              <a:t>Vomiting cat. Looks like FB. T 98.0 °F, HR 200, tacky mm.</a:t>
            </a:r>
          </a:p>
        </p:txBody>
      </p:sp>
      <p:sp>
        <p:nvSpPr>
          <p:cNvPr id="27" name="TextBox 26"/>
          <p:cNvSpPr txBox="1"/>
          <p:nvPr/>
        </p:nvSpPr>
        <p:spPr>
          <a:xfrm>
            <a:off x="1417320" y="5614416"/>
            <a:ext cx="9966960" cy="411480"/>
          </a:xfrm>
          <a:prstGeom prst="rect">
            <a:avLst/>
          </a:prstGeom>
          <a:noFill/>
        </p:spPr>
        <p:txBody>
          <a:bodyPr wrap="square" anchor="t"/>
          <a:lstStyle/>
          <a:p>
            <a:pPr algn="l"/>
            <a:r>
              <a:rPr sz="1800" b="1">
                <a:solidFill>
                  <a:srgbClr val="8B2E2E"/>
                </a:solidFill>
                <a:latin typeface="Calibri"/>
              </a:rPr>
              <a:t>ASA Status 4-E. Uncompensated emergency. Image and labs first. Do not cut today.</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EXAMPLE FOR TONIGHT’S EAR CLEAN AND FOR A LATER TECA-LBO. DEXSP: SKIP NSAID.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ASA Status 3-E</a:t>
            </a:r>
          </a:p>
        </p:txBody>
      </p:sp>
      <p:sp>
        <p:nvSpPr>
          <p:cNvPr id="8" name="Rounded Rectangle 7"/>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ataxia ~1 hour. Fell off the couch twice. Cytopoint for allergies. Vitals: T 100.8 °F, HR 132, RR 52, mm pink, CRT 2 s, quiet/dull. ASA Status 3-E: moderate systemic disease that is still compensated (acute vestibular disease plus AS otitis plus murmur). Pink, walking, kidneys normal.</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3" name="TextBox 12"/>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7" name="TextBox 16"/>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Circling left. Horizontal nystagmus, fast left, slow right. Right knuckling. Treat as central vestibular disease until MRI.</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Skip acepromazine and dexmedetomidine. Alfaxalone IV to effect. Plot BP; treat SAP &lt;80–90 or MAP &lt;60–70 (Grubb 2020).</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1500" b="0">
                <a:solidFill>
                  <a:srgbClr val="1C1C1C"/>
                </a:solidFill>
                <a:latin typeface="Calibri"/>
              </a:rPr>
              <a:t>Tonight: CBC WNL. DexSP already given: skip NSAID (AAHA/AAFP 2015: concurrent steroid + NSAID is a leading GI-perforation risk; washout if NSAID later is undefined, ~7 d for a short-acting steroid). Ear clean, cytology/culture, 3-view films. Do not invent DexSP milligrams. Later TECA-LBO: new ASA that morning.</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YO SF DSH, 4.25 KG, BCS 5/9. THIS IS HER, BEFORE THE EXPLORATORY WAS CANCELLED.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ASA Status 4-E</a:t>
            </a:r>
          </a:p>
        </p:txBody>
      </p:sp>
      <p:pic>
        <p:nvPicPr>
          <p:cNvPr id="8" name="Picture 7" descr="momo.jpg"/>
          <p:cNvPicPr>
            <a:picLocks noChangeAspect="1"/>
          </p:cNvPicPr>
          <p:nvPr/>
        </p:nvPicPr>
        <p:blipFill>
          <a:blip r:embed="rId2"/>
          <a:stretch>
            <a:fillRect/>
          </a:stretch>
        </p:blipFill>
        <p:spPr>
          <a:xfrm>
            <a:off x="365760" y="1024128"/>
            <a:ext cx="4041648" cy="5394960"/>
          </a:xfrm>
          <a:prstGeom prst="rect">
            <a:avLst/>
          </a:prstGeom>
        </p:spPr>
      </p:pic>
      <p:sp>
        <p:nvSpPr>
          <p:cNvPr id="9" name="Rounded Rectangle 8"/>
          <p:cNvSpPr/>
          <p:nvPr/>
        </p:nvSpPr>
        <p:spPr>
          <a:xfrm>
            <a:off x="4553712" y="1024128"/>
            <a:ext cx="7178040" cy="1170432"/>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Acute vomiting and lethargy. Two vomits. Household construction. Possible FB. T 98.0 °F, HR 200, RR 30, mm pink tacky, CRT &lt;2 s, QAR. ASA Status 4-E: uncompensated disease that is a constant threat to life.</a:t>
            </a:r>
          </a:p>
        </p:txBody>
      </p:sp>
      <p:sp>
        <p:nvSpPr>
          <p:cNvPr id="11" name="Rounded Rectangle 10"/>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4" name="TextBox 13"/>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5" name="Rounded Rectangle 14"/>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What the PE showed</a:t>
            </a:r>
          </a:p>
        </p:txBody>
      </p:sp>
      <p:sp>
        <p:nvSpPr>
          <p:cNvPr id="18" name="TextBox 17"/>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Heart/lungs normal. Ambulatory ×4. Dehydrated. Quiet and recumbent in this photograph. The PE did not prove a foreign body.</a:t>
            </a:r>
          </a:p>
        </p:txBody>
      </p:sp>
      <p:sp>
        <p:nvSpPr>
          <p:cNvPr id="19" name="Rounded Rectangle 18"/>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Image, labs, then stop</a:t>
            </a:r>
          </a:p>
        </p:txBody>
      </p:sp>
      <p:sp>
        <p:nvSpPr>
          <p:cNvPr id="22" name="TextBox 21"/>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Right kidney fluid-filled and non-functional on AUS. Creatinine 3.0 → 4.71 on fluids. This record does not assign post-renal versus intrinsic versus hypovolemia. Do not open the abdomen for a suspected FB until that is sorted. Owner elected euthanasia. Record the decision.</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PAGE 1: TODAY’S PE, THEN PCV, TP, BUN. INTERPRET. THEN CIRCLE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8" name="Rounded Rectangle 7"/>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snap the capillary tube → refractometer TP.  BUN: chemistry or Azo stick.  Request, record, interpret. Then ASA. Then premed IM/SQ. Not before the exam.</a:t>
            </a:r>
          </a:p>
        </p:txBody>
      </p:sp>
      <p:pic>
        <p:nvPicPr>
          <p:cNvPr id="10" name="Picture 9"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TEACHING BANDS, NOT AN ASA TABLE. GRUBB ET AL. 2020: TODAY’S PE WRITES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8" name="Rectangle 7"/>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10" name="TextBox 9"/>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1" name="TextBox 10"/>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2" name="Rounded Rectangle 11"/>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4" name="TextBox 13"/>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5" name="TextBox 14"/>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Anemia: use severity and chronicity (Grubb 2020)</a:t>
            </a:r>
          </a:p>
        </p:txBody>
      </p:sp>
      <p:sp>
        <p:nvSpPr>
          <p:cNvPr id="16" name="Rounded Rectangle 15"/>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8" name="TextBox 17"/>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9" name="TextBox 18"/>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20" name="Rounded Rectangle 19"/>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2" name="TextBox 21"/>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3" name="TextBox 22"/>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4" name="Rounded Rectangle 23"/>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6" name="TextBox 25"/>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7" name="TextBox 26"/>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8" name="Rounded Rectangle 27"/>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30" name="TextBox 29"/>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1" name="TextBox 30"/>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2" name="TextBox 31"/>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A normal CBC does not assign Status 1. Azotemia can cancel the cut. Low albumin is a deficit, not an ASA number.</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HEALTHY SEQUENCE, THEN ONE WORKED EXAMPLE. WRITE DRUG, CONCENTRATION, DOSE, VOLUME, ROUTE.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8" name="Rounded Rectangle 7"/>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1" name="TextBox 10"/>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Healthy: DKT or BAA. The table below is not the default.</a:t>
            </a:r>
          </a:p>
        </p:txBody>
      </p:sp>
      <p:sp>
        <p:nvSpPr>
          <p:cNvPr id="12" name="Rounded Rectangle 11"/>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5" name="TextBox 14"/>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propofol, or ketamine + benzo. Then intubate.</a:t>
            </a:r>
          </a:p>
        </p:txBody>
      </p:sp>
      <p:sp>
        <p:nvSpPr>
          <p:cNvPr id="16" name="Rounded Rectangle 15"/>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9" name="TextBox 18"/>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lowers MAC. Circle the inhalant you used.</a:t>
            </a:r>
          </a:p>
        </p:txBody>
      </p:sp>
      <p:pic>
        <p:nvPicPr>
          <p:cNvPr id="20" name="Picture 19"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1" name="Rectangle 2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3" name="TextBox 2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STABILIZE FIRST. PARDO ET AL. 2024: ALBUMIN &lt;2.0 G/DL.</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1" name="TextBox 10"/>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5" name="TextBox 14"/>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9" name="TextBox 18"/>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Rising creatinine that threatens life: cancel the elective or exploratory cut.</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2020 AAHA ANESTHESIA AND MONITORING GUIDELINES; THEN THE RISK TALK</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same fasting as the adult or neonate row. Pre-oxygenate 3 min with 100% O2 (Grubb 2020). Extubate when they can protect the airway, not at the first swallow.</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ASA, ETT SIZE, BAG, CIRCUIT, IV FLUID NAME/RATE, FRESH-GAS FLOW.</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8" name="Rounded Rectangle 7"/>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1" name="TextBox 10"/>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2" name="TextBox 11"/>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3" name="Rounded Rectangle 12"/>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6" name="TextBox 15"/>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7" name="TextBox 16"/>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8" name="Rounded Rectangle 17"/>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1" name="TextBox 20"/>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2" name="TextBox 21"/>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Willie: 13.7 × 5 = 69 mL/hr.</a:t>
            </a:r>
          </a:p>
        </p:txBody>
      </p:sp>
      <p:pic>
        <p:nvPicPr>
          <p:cNvPr id="23" name="Picture 22"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PAGE 1 OF THE TEACHING RECORD: PE, PCV/TP/BUN, ASA. COMPLETE BEFORE THE FIRST DRUG.</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Willie’s perioperative record</a:t>
            </a:r>
          </a:p>
        </p:txBody>
      </p:sp>
      <p:pic>
        <p:nvPicPr>
          <p:cNvPr id="8" name="Picture 7" descr="anesthesia_record_willie.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EXPLORATORY CANCELLED. RECORD THE DECISION.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8" name="Picture 7"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CLEAN, CLEAN-CONTAMINATED, CONTAMINATED, DIRTY. THEN DECIDE ANTIBIOTICS. FOSSUM 2018; FREY ET AL. 2022.</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8" name="Rounded Rectangle 7"/>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1" name="TextBox 10"/>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2" name="Rounded Rectangle 11"/>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5" name="TextBox 14"/>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6" name="Rounded Rectangle 15"/>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9" name="TextBox 18"/>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20" name="Rounded Rectangle 19"/>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3" name="TextBox 22"/>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Willie’s ear. Pyometra with pus.
This is treatment, not prophylaxis.</a:t>
            </a:r>
          </a:p>
        </p:txBody>
      </p:sp>
      <p:sp>
        <p:nvSpPr>
          <p:cNvPr id="24" name="Rounded Rectangle 23"/>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before you draw cefazolin. Clean elective: skip. When prophylaxis is indicated: cefazolin 22 mg/kg IV 30–60 min before incision (Gonzalez 2017; Frey 2022). Second dose if surgery lasts &gt;90 min (Whittem 1999). Stop at closure unless you are treating infection.</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HAIR, SKIN, POSITION, DRAPE. THEN ANNOUNCE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Sequence of patient preparation</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0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800" b="0">
                <a:solidFill>
                  <a:srgbClr val="1C1C1C"/>
                </a:solidFill>
                <a:latin typeface="Calibri"/>
              </a:rPr>
              <a:t>Ready for prep: ETT in, cuff to 20 cm H2O, bag on, IV running, surgical plane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0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8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0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8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0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8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0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800" b="0">
                <a:solidFill>
                  <a:srgbClr val="1C1C1C"/>
                </a:solidFill>
                <a:latin typeface="Calibri"/>
              </a:rPr>
              <a:t>Sterile prep. Clock minimum contact time. Skin: 7.5% ~5 min, then 5% paint. Eye: 2 min + 2 min</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0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8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0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800" b="0">
                <a:solidFill>
                  <a:srgbClr val="1C1C1C"/>
                </a:solidFill>
                <a:latin typeface="Calibri"/>
              </a:rPr>
              <a:t>Surgeon: cap, mask, gown, closed glove</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0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800" b="0">
                <a:solidFill>
                  <a:srgbClr val="1C1C1C"/>
                </a:solidFill>
                <a:latin typeface="Calibri"/>
              </a:rPr>
              <a:t>Timeout. Announce incision. Clock runs to the last skin suture.</a:t>
            </a:r>
          </a:p>
        </p:txBody>
      </p:sp>
      <p:sp>
        <p:nvSpPr>
          <p:cNvPr id="40" name="Rectangle 3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2" name="TextBox 4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#40 CLIPPER AFTER INDUCTION. CLIP TO ANATOMIC LANDMARKS, NOT A FIXED 20 CM.</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10" name="Picture 9" descr="clip_cat.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3" name="Picture 12"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Celiotomy: ~4 cm cranial to the xiphoid, ~4 cm caudal to the pubis, 3–4 cm past the nipples (Thieman Mankin 2019). A 4 kg cat does not have 20 cm of extra body wall. Wide enough to extend or place a drain. Warm the patient (Grubb: hypothermia &lt;98 °F).
Photos: Uwe Gille, CC0; Liannadavis, CC BY-SA 4.0.</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MINIMUM CONTACT TIME. CLOCK IT. THEN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8" name="Rounded Rectangle 7"/>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Eye: intact cornea only. 10% stock 1:50, or 5% bottle 1:25. Both = 0.2% (Roberts 1986).</a:t>
            </a:r>
          </a:p>
        </p:txBody>
      </p:sp>
      <p:sp>
        <p:nvSpPr>
          <p:cNvPr id="10" name="Rounded Rectangle 9"/>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3" name="TextBox 12"/>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4" name="Rounded Rectangle 13"/>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7" name="TextBox 16"/>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8" name="Rounded Rectangle 17"/>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1" name="TextBox 20"/>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Goal: 0.2% on intact cornea
10% stock → dilute 1:50
5% bottle → dilute 1:25
MIN: 2 min + 2 min
Perforation: saline only</a:t>
            </a:r>
          </a:p>
        </p:txBody>
      </p:sp>
      <p:sp>
        <p:nvSpPr>
          <p:cNvPr id="22" name="Rounded Rectangle 21"/>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studied healthy corneas. 1:50 of 10% = 0.2%. 1:2 caused edema in 1/15 eyes. Deep ulcer, descemetocele, or perforation: do not run this prep; saline and ophthalmology.</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CENTER TO PERIPHERY. DIRTY PREP, THEN STERILE PREP.</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prep, then sterile prep.</a:t>
            </a:r>
          </a:p>
          <a:p>
            <a:pPr algn="l">
              <a:spcAft>
                <a:spcPts val="1000"/>
              </a:spcAft>
            </a:pPr>
            <a:r>
              <a:rPr sz="1600" b="0">
                <a:solidFill>
                  <a:srgbClr val="1C1C1C"/>
                </a:solidFill>
                <a:latin typeface="Calibri"/>
              </a:rPr>
              <a:t>▸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1:50 or 5% 1:25. Intact cornea. Perforation: saline only.</a:t>
            </a:r>
          </a:p>
          <a:p>
            <a:pPr algn="l">
              <a:spcAft>
                <a:spcPts val="1000"/>
              </a:spcAft>
            </a:pPr>
            <a:r>
              <a:rPr sz="1600" b="0">
                <a:solidFill>
                  <a:srgbClr val="1C1C1C"/>
                </a:solidFill>
                <a:latin typeface="Calibri"/>
              </a:rPr>
              <a:t>▸  Ear canal / mucosa: dilute PVP-I, not 7.5% scrub.</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DORSAL RECUMBENCY, AIRWAY, IV CATHETER, MONITORING, V-TROUGH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8" name="Picture 7" descr="dog_or.jpg"/>
          <p:cNvPicPr>
            <a:picLocks noChangeAspect="1"/>
          </p:cNvPicPr>
          <p:nvPr/>
        </p:nvPicPr>
        <p:blipFill>
          <a:blip r:embed="rId2"/>
          <a:stretch>
            <a:fillRect/>
          </a:stretch>
        </p:blipFill>
        <p:spPr>
          <a:xfrm>
            <a:off x="320040" y="1024128"/>
            <a:ext cx="7635240" cy="5440680"/>
          </a:xfrm>
          <a:prstGeom prst="rect">
            <a:avLst/>
          </a:prstGeom>
        </p:spPr>
      </p:pic>
      <p:sp>
        <p:nvSpPr>
          <p:cNvPr id="9" name="Rounded Rectangle 8"/>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1" name="TextBox 10"/>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FOUR-QUADRANT TOWELS, THEN THE LARGE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10" name="Picture 9"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3" name="Picture 12"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Re-clip until the window is hair-free.
Photos: Cpl. Samuel A. Nasso, USMC, public domain; MSgt Carlotta Holley, USAF, public domain.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TECHNIQUE DIAGRAM AND OPERATING-ROOM PHOTOGRAPH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Closed gloving and the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hektor_or.jp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cap, mask, ECG, SpO2, ETCO2, circle system, IV fluids, airway. Name every monitor on the workstation before the first incision.
Photo: MSgt Carlotta Holley, U.S. Air Force, public domain.</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SAY IT. CORRECT IT. AFTER THE INCISION, EVERY BREAK MUST BE FULLY CORRECTED.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8" name="Rounded Rectangle 7"/>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10" name="TextBox 9"/>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Do not continue with a contaminated field.
After the incision: notice, announce, and fully correct. Sleeve in the abdomen, instrument off the table, hole in a glove: stop and fix it.</a:t>
            </a:r>
          </a:p>
        </p:txBody>
      </p:sp>
      <p:sp>
        <p:nvSpPr>
          <p:cNvPr id="11" name="Rounded Rectangle 10"/>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3" name="TextBox 12"/>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4" name="Rounded Rectangle 13"/>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Surgical competence includes the first 24 hours of physiologic monitoring and complication management (CPE MOA 2026 Surgery). A weak ligature or a weak linea is a technical failure you must recognize. That is not infinite legal liability for every recovery-ward or owner event.</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DO YOU DO NEXT?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8" name="Rounded Rectangle 7"/>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1" name="TextBox 10"/>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2" name="TextBox 11"/>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tube in, IV running, surgical plane. Then sterile prep and drape.</a:t>
            </a:r>
          </a:p>
        </p:txBody>
      </p:sp>
      <p:sp>
        <p:nvSpPr>
          <p:cNvPr id="13" name="Rounded Rectangle 12"/>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6" name="TextBox 15"/>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7" name="TextBox 16"/>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Intact cornea: 10% stock 1:50, 2 min + 2 min. 5% bottle: 1:25. Perforation: saline only.</a:t>
            </a:r>
          </a:p>
        </p:txBody>
      </p:sp>
      <p:sp>
        <p:nvSpPr>
          <p:cNvPr id="18" name="Rounded Rectangle 17"/>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1" name="TextBox 20"/>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2" name="TextBox 21"/>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3" name="Rounded Rectangle 22"/>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6" name="TextBox 25"/>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13.7 kg dog. Tube, bag, and IV fluid rate if you intubate?</a:t>
            </a:r>
          </a:p>
        </p:txBody>
      </p:sp>
      <p:sp>
        <p:nvSpPr>
          <p:cNvPr id="27" name="TextBox 26"/>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7.0 mm, 1 L circle, LRS 69 mL/hr (5 mL/kg/hr). Murmur: opioid + alfaxalone.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REMAIN WITH THE PATIENT UNTIL AIRWAY AND CIRCULATION ARE STABLE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8" name="Picture 7"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1" name="TextBox 10"/>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Do not stack with a steroid.</a:t>
            </a:r>
          </a:p>
          <a:p>
            <a:pPr algn="l">
              <a:spcAft>
                <a:spcPts val="1000"/>
              </a:spcAft>
            </a:pPr>
            <a:r>
              <a:rPr sz="1600" b="0">
                <a:solidFill>
                  <a:srgbClr val="1C1C1C"/>
                </a:solidFill>
                <a:latin typeface="Calibri"/>
              </a:rPr>
              <a:t>▸  E-collar on before they can lick.</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OPERATING RANGE IS UNDER ANESTHESIA, NOT THE AWAKE EXAM. TIME CELLS STAY EMPTY UNTIL A REAL PATIENT.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and end of case</a:t>
            </a:r>
          </a:p>
        </p:txBody>
      </p:sp>
      <p:pic>
        <p:nvPicPr>
          <p:cNvPr id="8" name="Picture 7"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ON-LABEL NSAIDS. DOG: CARPROFEN. CAT: ONSIOR. THEN TEACH THE E-COLLAR.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Dogs only. Give ~2 hours before incision so levels are on board (pre-emptive; Rimadyl label).</a:t>
            </a:r>
          </a:p>
          <a:p>
            <a:pPr algn="l">
              <a:spcAft>
                <a:spcPts val="600"/>
              </a:spcAft>
            </a:pPr>
            <a:r>
              <a:rPr sz="1600" b="0">
                <a:solidFill>
                  <a:srgbClr val="1C1C1C"/>
                </a:solidFill>
                <a:latin typeface="Calibri"/>
              </a:rPr>
              <a:t>▸  Cat: Onsior (robenacoxib) 2 mg/kg SQ. Cats only. First dose ~30 min before incision so levels are on board. OHE, castration, orthopedic. Up to 3 days.</a:t>
            </a:r>
          </a:p>
          <a:p>
            <a:pPr algn="l">
              <a:spcAft>
                <a:spcPts val="600"/>
              </a:spcAft>
            </a:pPr>
            <a:r>
              <a:rPr sz="1600" b="0">
                <a:solidFill>
                  <a:srgbClr val="1C1C1C"/>
                </a:solidFill>
                <a:latin typeface="Calibri"/>
              </a:rPr>
              <a:t>▸  Dog: carprofen. Cat: Onsior. Do not swap species in this course.</a:t>
            </a:r>
          </a:p>
          <a:p>
            <a:pPr algn="l">
              <a:spcAft>
                <a:spcPts val="600"/>
              </a:spcAft>
            </a:pPr>
            <a:r>
              <a:rPr sz="1600" b="0">
                <a:solidFill>
                  <a:srgbClr val="1C1C1C"/>
                </a:solidFill>
                <a:latin typeface="Calibri"/>
              </a:rPr>
              <a:t>▸  Do not stack an NSAID with a steroid. Skip NSAID if the patient is azotemic.</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MONITOR AND MANAGE. HEMORRHAGE, HERNIA, AND DEHISCENCE ARE TECHNICAL FAILURES YOU MUST RECOGNIZE.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THE OVERNIGHT CLINICIAN AND THE OWNER BOTH NEED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 CLIENT MUST BE ABLE TO REPEAT THESE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EXAMPLE: EAR DISEASE + DEXSP. RE-ASSIGN ASA ON THE DAY OF ANY LATER TECA-LBO.</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complete perioperative plan</a:t>
            </a:r>
          </a:p>
        </p:txBody>
      </p:sp>
      <p:sp>
        <p:nvSpPr>
          <p:cNvPr id="8" name="Rounded Rectangle 7"/>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ASA Status 3-E  ·  vestibular + AS otitis  ·  skip NSAID</a:t>
            </a:r>
          </a:p>
        </p:txBody>
      </p:sp>
      <p:sp>
        <p:nvSpPr>
          <p:cNvPr id="10" name="Rounded Rectangle 9"/>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Pre-op</a:t>
            </a:r>
          </a:p>
        </p:txBody>
      </p:sp>
      <p:sp>
        <p:nvSpPr>
          <p:cNvPr id="13" name="TextBox 12"/>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Neuro exam. ASA 3-E. Exam before any drug. Skip NSAID after DexSP. Premed path: opioid + alfaxalone.</a:t>
            </a:r>
          </a:p>
        </p:txBody>
      </p:sp>
      <p:sp>
        <p:nvSpPr>
          <p:cNvPr id="14" name="Rounded Rectangle 13"/>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Sedation</a:t>
            </a:r>
          </a:p>
        </p:txBody>
      </p:sp>
      <p:sp>
        <p:nvSpPr>
          <p:cNvPr id="17" name="TextBox 16"/>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Alfaxalone for an ear clean. Tube, bag, and 69 mL/hr only if you intubate a 13.7 kg dog. Canal: dilute PVP-I, not 7.5% scrub.</a:t>
            </a:r>
          </a:p>
        </p:txBody>
      </p:sp>
      <p:sp>
        <p:nvSpPr>
          <p:cNvPr id="18" name="Rounded Rectangle 17"/>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Intra</a:t>
            </a:r>
          </a:p>
        </p:txBody>
      </p:sp>
      <p:sp>
        <p:nvSpPr>
          <p:cNvPr id="21" name="TextBox 20"/>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Timeout. Deep clean + cytology. If you contaminate, say it and re-glove.</a:t>
            </a:r>
          </a:p>
        </p:txBody>
      </p:sp>
      <p:sp>
        <p:nvSpPr>
          <p:cNvPr id="22" name="Rounded Rectangle 21"/>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Post</a:t>
            </a:r>
          </a:p>
        </p:txBody>
      </p:sp>
      <p:sp>
        <p:nvSpPr>
          <p:cNvPr id="25" name="TextBox 24"/>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No stairs. Watch neuro signs. MRI if signs persist. If TECA-LBO later: new ASA that morning.</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EXAMPLES. BOTH RECEIVED A PREOPERATIVE EVALUATION. ONLY WILLIE WAS SEDATED.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and MoMo</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ASA Status 3-E</a:t>
            </a:r>
          </a:p>
        </p:txBody>
      </p:sp>
      <p:sp>
        <p:nvSpPr>
          <p:cNvPr id="11" name="TextBox 10"/>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Proceed with sedation. Cavalier, 13.7 kg. Acute vestibular + AS otitis + murmur. Compensated. Fill the anesthesia record. Alfaxalone, ear clean, skip NSAID after DexSP. If TECA-LBO is needed later, assign a new ASA that morning.</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ASA Status 4-E</a:t>
            </a:r>
          </a:p>
        </p:txBody>
      </p:sp>
      <p:sp>
        <p:nvSpPr>
          <p:cNvPr id="15" name="TextBox 14"/>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Do not cut today. DSH, 4.25 kg. Vomiting that looked like FB. Right kidney fluid-filled and non-functional on AUS. Creatinine 3.0 → 4.71 on fluids; mechanism not assigned from this record. NSAIDs contraindicated. Record the decision. Offer supportive care, referral, or euthanasia.</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AND SURGERY COMPETENCIES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8" name="Rounded Rectangle 7"/>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1" name="TextBox 10"/>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Pre-anesthetic assessment: TPR, mm/CRT, then PCV, TP, BUN. Interpret. Circle ASA. Then IM or SQ premed.</a:t>
            </a:r>
          </a:p>
        </p:txBody>
      </p:sp>
      <p:sp>
        <p:nvSpPr>
          <p:cNvPr id="12" name="Rounded Rectangle 11"/>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5" name="TextBox 14"/>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Write drug, concentration, dose, volume, and route. Then IV fluid name and rate, ETT size, circuit, and fresh-gas flow.</a:t>
            </a:r>
          </a:p>
        </p:txBody>
      </p:sp>
      <p:sp>
        <p:nvSpPr>
          <p:cNvPr id="16" name="Rounded Rectangle 15"/>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9" name="TextBox 18"/>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Ready for surgical prep: airway secured, machine on, patent IV running, surgical plane, monitoring started.</a:t>
            </a:r>
          </a:p>
        </p:txBody>
      </p:sp>
      <p:sp>
        <p:nvSpPr>
          <p:cNvPr id="20" name="Rounded Rectangle 19"/>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3" name="TextBox 22"/>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Patient: hair, skin, position, drape. Surgeon: attire, gown, closed glove. Announce incision.</a:t>
            </a:r>
          </a:p>
        </p:txBody>
      </p:sp>
      <p:sp>
        <p:nvSpPr>
          <p:cNvPr id="24" name="Rounded Rectangle 23"/>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7" name="TextBox 26"/>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Fill the chart: HR, RR, BP, inhalant, O2, ETCO2, SpO2, temp, fluids. Then complications, recovery analgesics, and sign.</a:t>
            </a:r>
          </a:p>
        </p:txBody>
      </p:sp>
      <p:sp>
        <p:nvSpPr>
          <p:cNvPr id="28" name="Rounded Rectangle 27"/>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1" name="TextBox 30"/>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First 24 hours: monitor and manage complications. A weak ligature or a weak linea is still your technical problem.</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When is the patient ready for clippers?
What do you write before the first IM or SQ premed?</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 Intact cornea.
14. Epstein ME, et al. 2015 AAHA/AAFP Pain. JAAHA 2015;51:67–84.</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10. BETADINE Solution Veterinary. 5% povidone-iodine (not 10%). DailyMed NDC 67618-155.
11. Nolvasan Surgical Scrub. 2% chlorhexidine acetate. DailyMed NDC 54771-8701.
12. ECFVG. CPE Manual of Administration. 2026 ed. Anesthesia; Surgery.
13. Pardo et al. 2024 AAHA Fluid Therapy. JAAHA. 2024;60:131–163.
15. Thieman Mankin K. Exploratory celiotomy. Clinician’s Brief. 2019. Clip to landmarks, not 20 cm.</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