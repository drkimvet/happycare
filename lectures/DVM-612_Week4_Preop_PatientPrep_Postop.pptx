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chlorhexidine, povidone-iodine, and alcohol. Do not say C-H-G or P-V-P-I on this slide. Chlorhexidine: Nolvasan 2 percent, 2 to 4 minutes, intact skin, not eyes or mucosa. Povidone-iodine: 7.5 percent scrub about 5 minutes on intact skin, then 5 percent veterinary paint. Eye is 0.2 percent on a healthy cornea, 2 plus 2 minutes, Roberts 1986. Do not put 7.5 percent detergent scrub on the cornea or in the ear. Alcohol: rinse on intact skin after the detergent scrub and let it dry. Not on cornea, mucosa, or an open wound. Alcohol does not replace the timed chlorhexidine or povidone-iodine contact.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one continuous spiral out from the incision, not a stack of closed circles.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large figure is looking straight down on a dog in dorsal recumbency. The window is the incision. Hair stays under the drape. The small photograph is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photograph of two people in gowns putting on sterile gloves. Not a drawing. Call out the door: shoe covers, cap, mask. Gown after the hand scrub, not in the hallway. Closed glove for this course: hands stay in the cuffs.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658368"/>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60704"/>
            <a:ext cx="11173968" cy="585216"/>
          </a:xfrm>
          <a:prstGeom prst="rect">
            <a:avLst/>
          </a:prstGeom>
          <a:noFill/>
        </p:spPr>
        <p:txBody>
          <a:bodyPr wrap="square" anchor="ctr"/>
          <a:lstStyle/>
          <a:p>
            <a:pPr algn="ctr"/>
            <a:r>
              <a:rPr sz="1600" b="1">
                <a:solidFill>
                  <a:srgbClr val="0B2C4A"/>
                </a:solidFill>
                <a:latin typeface="Calibri"/>
              </a:rPr>
              <a:t>Three scrubs: contact time and which tissue. Veterinary paint is 5% povidone-iodine, not 10%.</a:t>
            </a:r>
          </a:p>
        </p:txBody>
      </p:sp>
      <p:sp>
        <p:nvSpPr>
          <p:cNvPr id="9" name="Rounded Rectangle 8"/>
          <p:cNvSpPr/>
          <p:nvPr/>
        </p:nvSpPr>
        <p:spPr>
          <a:xfrm>
            <a:off x="365760" y="1828800"/>
            <a:ext cx="3749039" cy="2944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828800"/>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828800"/>
            <a:ext cx="3749039" cy="438912"/>
          </a:xfrm>
          <a:prstGeom prst="rect">
            <a:avLst/>
          </a:prstGeom>
          <a:noFill/>
        </p:spPr>
        <p:txBody>
          <a:bodyPr wrap="square" anchor="ctr"/>
          <a:lstStyle/>
          <a:p>
            <a:pPr algn="ctr"/>
            <a:r>
              <a:rPr sz="1800" b="1">
                <a:solidFill>
                  <a:srgbClr val="FFFFFF"/>
                </a:solidFill>
                <a:latin typeface="Calibri"/>
              </a:rPr>
              <a:t>Chlorhexidine</a:t>
            </a:r>
          </a:p>
        </p:txBody>
      </p:sp>
      <p:sp>
        <p:nvSpPr>
          <p:cNvPr id="12" name="TextBox 11"/>
          <p:cNvSpPr txBox="1"/>
          <p:nvPr/>
        </p:nvSpPr>
        <p:spPr>
          <a:xfrm>
            <a:off x="502920" y="2340864"/>
            <a:ext cx="3474720" cy="2322576"/>
          </a:xfrm>
          <a:prstGeom prst="rect">
            <a:avLst/>
          </a:prstGeom>
          <a:noFill/>
        </p:spPr>
        <p:txBody>
          <a:bodyPr wrap="square" anchor="t"/>
          <a:lstStyle/>
          <a:p>
            <a:pPr algn="l"/>
            <a:r>
              <a:rPr sz="1600" b="0">
                <a:solidFill>
                  <a:srgbClr val="1C1C1C"/>
                </a:solidFill>
                <a:latin typeface="Calibri"/>
              </a:rPr>
              <a:t>Scrub: 2% chlorhexidine acetate
(Nolvasan Surgical Scrub)
Contact: 2 to 4 min
Use on: intact skin (trunk)
Do not: eyes, mucous membranes</a:t>
            </a:r>
          </a:p>
        </p:txBody>
      </p:sp>
      <p:sp>
        <p:nvSpPr>
          <p:cNvPr id="13" name="Rounded Rectangle 12"/>
          <p:cNvSpPr/>
          <p:nvPr/>
        </p:nvSpPr>
        <p:spPr>
          <a:xfrm>
            <a:off x="4224528" y="1828800"/>
            <a:ext cx="3749039" cy="2944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1828800"/>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1828800"/>
            <a:ext cx="3749039" cy="438912"/>
          </a:xfrm>
          <a:prstGeom prst="rect">
            <a:avLst/>
          </a:prstGeom>
          <a:noFill/>
        </p:spPr>
        <p:txBody>
          <a:bodyPr wrap="square" anchor="ctr"/>
          <a:lstStyle/>
          <a:p>
            <a:pPr algn="ctr"/>
            <a:r>
              <a:rPr sz="1800" b="1">
                <a:solidFill>
                  <a:srgbClr val="0B2C4A"/>
                </a:solidFill>
                <a:latin typeface="Calibri"/>
              </a:rPr>
              <a:t>Povidone-iodine</a:t>
            </a:r>
          </a:p>
        </p:txBody>
      </p:sp>
      <p:sp>
        <p:nvSpPr>
          <p:cNvPr id="16" name="TextBox 15"/>
          <p:cNvSpPr txBox="1"/>
          <p:nvPr/>
        </p:nvSpPr>
        <p:spPr>
          <a:xfrm>
            <a:off x="4361688" y="2340864"/>
            <a:ext cx="3474720" cy="2322576"/>
          </a:xfrm>
          <a:prstGeom prst="rect">
            <a:avLst/>
          </a:prstGeom>
          <a:noFill/>
        </p:spPr>
        <p:txBody>
          <a:bodyPr wrap="square" anchor="t"/>
          <a:lstStyle/>
          <a:p>
            <a:pPr algn="l"/>
            <a:r>
              <a:rPr sz="1600" b="0">
                <a:solidFill>
                  <a:srgbClr val="1C1C1C"/>
                </a:solidFill>
                <a:latin typeface="Calibri"/>
              </a:rPr>
              <a:t>Scrub: 7.5%, about 5 min, rinse
Paint: 5% veterinary, then dry
Use on: intact skin
Eye: 0.2% on healthy cornea,
2 min + 2 min (Roberts 1986)
Do not: 7.5% scrub on cornea or in the ear; undiluted 10% or 5% on the cornea</a:t>
            </a:r>
          </a:p>
        </p:txBody>
      </p:sp>
      <p:sp>
        <p:nvSpPr>
          <p:cNvPr id="17" name="Rounded Rectangle 16"/>
          <p:cNvSpPr/>
          <p:nvPr/>
        </p:nvSpPr>
        <p:spPr>
          <a:xfrm>
            <a:off x="8083296" y="1828800"/>
            <a:ext cx="3730752" cy="2944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1828800"/>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1828800"/>
            <a:ext cx="3730752" cy="438912"/>
          </a:xfrm>
          <a:prstGeom prst="rect">
            <a:avLst/>
          </a:prstGeom>
          <a:noFill/>
        </p:spPr>
        <p:txBody>
          <a:bodyPr wrap="square" anchor="ctr"/>
          <a:lstStyle/>
          <a:p>
            <a:pPr algn="ctr"/>
            <a:r>
              <a:rPr sz="1800" b="1">
                <a:solidFill>
                  <a:srgbClr val="C5A35A"/>
                </a:solidFill>
                <a:latin typeface="Calibri"/>
              </a:rPr>
              <a:t>Alcohol</a:t>
            </a:r>
          </a:p>
        </p:txBody>
      </p:sp>
      <p:sp>
        <p:nvSpPr>
          <p:cNvPr id="20" name="TextBox 19"/>
          <p:cNvSpPr txBox="1"/>
          <p:nvPr/>
        </p:nvSpPr>
        <p:spPr>
          <a:xfrm>
            <a:off x="8220456" y="2340864"/>
            <a:ext cx="3456432" cy="2322576"/>
          </a:xfrm>
          <a:prstGeom prst="rect">
            <a:avLst/>
          </a:prstGeom>
          <a:noFill/>
        </p:spPr>
        <p:txBody>
          <a:bodyPr wrap="square" anchor="t"/>
          <a:lstStyle/>
          <a:p>
            <a:pPr algn="l"/>
            <a:r>
              <a:rPr sz="1600" b="0">
                <a:solidFill>
                  <a:srgbClr val="1C1C1C"/>
                </a:solidFill>
                <a:latin typeface="Calibri"/>
              </a:rPr>
              <a:t>Scrub/rinse: after the detergent
scrub on intact skin, then dry
Contact: until dry. Do not pool.
Use on: intact skin only
Do not: cornea, mucosa,
open wounds</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300" b="0">
                <a:solidFill>
                  <a:srgbClr val="3D4A57"/>
                </a:solidFill>
                <a:latin typeface="Calibri"/>
              </a:rPr>
              <a:t>Nolvasan Surgical Scrub: 2% chlorhexidine acetate, DailyMed NDC 54771-8701, wash 2 to 4 min, keep out of eyes and mucous membranes.
BETADINE Surgical Scrub Veterinary NDC 67618-154 (7.5% povidone-iodine, lather about 5 min). BETADINE Solution Veterinary NDC 67618-155 (5% povidone-iodine paint, not 10%).
Eye: Roberts 1986, healthy cornea. 1:50 of 10% = 0.2% povidone-iodine, 2-min scrub + 2-min soak. Perforation: saline only.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One continuous spiral out. Never back toward the cut.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povidone-iodine ~5 min, then 5% paint.</a:t>
            </a:r>
          </a:p>
          <a:p>
            <a:pPr algn="l">
              <a:spcAft>
                <a:spcPts val="1000"/>
              </a:spcAft>
            </a:pPr>
            <a:r>
              <a:rPr sz="1600" b="0">
                <a:solidFill>
                  <a:srgbClr val="1C1C1C"/>
                </a:solidFill>
                <a:latin typeface="Calibri"/>
              </a:rPr>
              <a:t>▸  Eye: 0.2% povidone-iodine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pic>
        <p:nvPicPr>
          <p:cNvPr id="7" name="Picture 6" descr="drape_overhead_window.png"/>
          <p:cNvPicPr>
            <a:picLocks noChangeAspect="1"/>
          </p:cNvPicPr>
          <p:nvPr/>
        </p:nvPicPr>
        <p:blipFill>
          <a:blip r:embed="rId2"/>
          <a:stretch>
            <a:fillRect/>
          </a:stretch>
        </p:blipFill>
        <p:spPr>
          <a:xfrm>
            <a:off x="292608" y="987552"/>
            <a:ext cx="7818120" cy="5440680"/>
          </a:xfrm>
          <a:prstGeom prst="rect">
            <a:avLst/>
          </a:prstGeom>
        </p:spPr>
      </p:pic>
      <p:sp>
        <p:nvSpPr>
          <p:cNvPr id="8" name="Rounded Rectangle 7"/>
          <p:cNvSpPr/>
          <p:nvPr/>
        </p:nvSpPr>
        <p:spPr>
          <a:xfrm>
            <a:off x="8247888" y="987552"/>
            <a:ext cx="36118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47888" y="987552"/>
            <a:ext cx="3611880" cy="347472"/>
          </a:xfrm>
          <a:prstGeom prst="rect">
            <a:avLst/>
          </a:prstGeom>
          <a:noFill/>
        </p:spPr>
        <p:txBody>
          <a:bodyPr wrap="square" anchor="ctr"/>
          <a:lstStyle/>
          <a:p>
            <a:pPr algn="ctr"/>
            <a:r>
              <a:rPr sz="1600" b="1">
                <a:solidFill>
                  <a:srgbClr val="FFFFFF"/>
                </a:solidFill>
                <a:latin typeface="Calibri"/>
              </a:rPr>
              <a:t>Hair at the drape edge</a:t>
            </a:r>
          </a:p>
        </p:txBody>
      </p:sp>
      <p:pic>
        <p:nvPicPr>
          <p:cNvPr id="10" name="Picture 9" descr="cherry_point_spay.jpg"/>
          <p:cNvPicPr>
            <a:picLocks noChangeAspect="1"/>
          </p:cNvPicPr>
          <p:nvPr/>
        </p:nvPicPr>
        <p:blipFill>
          <a:blip r:embed="rId3"/>
          <a:stretch>
            <a:fillRect/>
          </a:stretch>
        </p:blipFill>
        <p:spPr>
          <a:xfrm>
            <a:off x="8247888" y="1371600"/>
            <a:ext cx="3611880" cy="2331720"/>
          </a:xfrm>
          <a:prstGeom prst="rect">
            <a:avLst/>
          </a:prstGeom>
        </p:spPr>
      </p:pic>
      <p:sp>
        <p:nvSpPr>
          <p:cNvPr id="11" name="Rounded Rectangle 10"/>
          <p:cNvSpPr/>
          <p:nvPr/>
        </p:nvSpPr>
        <p:spPr>
          <a:xfrm>
            <a:off x="8247888" y="3822191"/>
            <a:ext cx="361188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75904" y="3931920"/>
            <a:ext cx="3355848" cy="2359152"/>
          </a:xfrm>
          <a:prstGeom prst="rect">
            <a:avLst/>
          </a:prstGeom>
          <a:noFill/>
        </p:spPr>
        <p:txBody>
          <a:bodyPr wrap="square" anchor="t"/>
          <a:lstStyle/>
          <a:p>
            <a:pPr algn="l"/>
            <a:r>
              <a:rPr sz="1600" b="0">
                <a:solidFill>
                  <a:srgbClr val="1C1C1C"/>
                </a:solidFill>
                <a:latin typeface="Calibri"/>
              </a:rPr>
              <a:t>Left is the view from above the table: the hole is the incision. Only clipped, painted skin. Hair is under the drape.
Right: hair at the margin. Re-clip or re-drape. Four towels, then the large drape. Timeout. Then cut.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closed_gloving_real.jpg"/>
          <p:cNvPicPr>
            <a:picLocks noChangeAspect="1"/>
          </p:cNvPicPr>
          <p:nvPr/>
        </p:nvPicPr>
        <p:blipFill>
          <a:blip r:embed="rId2"/>
          <a:stretch>
            <a:fillRect/>
          </a:stretch>
        </p:blipFill>
        <p:spPr>
          <a:xfrm>
            <a:off x="320040" y="1024128"/>
            <a:ext cx="6537960" cy="3794760"/>
          </a:xfrm>
          <a:prstGeom prst="rect">
            <a:avLst/>
          </a:prstGeom>
        </p:spPr>
      </p:pic>
      <p:sp>
        <p:nvSpPr>
          <p:cNvPr id="8" name="Rounded Rectangle 7"/>
          <p:cNvSpPr/>
          <p:nvPr/>
        </p:nvSpPr>
        <p:spPr>
          <a:xfrm>
            <a:off x="6995160" y="1024128"/>
            <a:ext cx="484632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78040" y="1133856"/>
            <a:ext cx="452628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7132320" y="1554480"/>
            <a:ext cx="457200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Photograph: real people, real gown sleeves, sterile gloves going on. U.S. Navy photo, public domain (USNS Mercy, 2020). In this course: closed glove, hands stay inside the gown cuffs. Then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povidone-iodine?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