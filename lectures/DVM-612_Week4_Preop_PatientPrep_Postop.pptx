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hour is preoperative evaluation, patient and surgeon preparation, and postoperative care. The competency list is the 2026 CPE Manual of Administration, Anesthesia and Surgery chapters, taught as DVM 612, not as an exam-prep course. Two hospital patients are only ASA examples: Willie, compensated, Status 3-E, sedated for an ear clean; MoMo, uncompensated, Status 4-E, exploratory cancelled. Owner identifiers stay off these slides. Thirty-eight slides. If discussion runs, protect antiseptics, ready-for-prep, and recovery.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five objectives aloud. Timer: protect antiseptics, draping, and recovery. The two hospital patients are ASA practice, not the point of the hour.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closure that hemorrhages in recovery is a failed surgery. The first 24 hours are part of the operation.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then move. Every Halsted principle has a preop or postop action, not just an intraoperative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teach this as a CPE station. Teach the clocks. Anesthesia owns exam through a patient who is ready for clippers: tube in, cuff up, machine on, IV running, surgical plane. Surgery owns clip through the last skin suture, then both own the first 24 hours. Cite ECFVG CPE Manual of Administration 2026, Anesthesia and Surgery sections.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preoperative exam the record actually holds. CPE MOA 2026 Appendix 3: heart rate, respiratory rate, mucous membranes and CRT, temperature, then PCV, TP, and BUN. Request those three. Interpret them. Then write ASA. Then premed IM or SQ. Do not premedicate before the examination. Add other labs if the PE says so. A normal CBC does not make a vestibular dog Status 1. Azotemia can cancel the cut.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2020 AAHA table with MOA Appendix 2: Status 1 healthy, Status 2 mild and compensated, Status 3 moderate and compensated, Status 4 a constant threat to life, Status 5 moribund. E means emergency. Then use the two hospital patients only as practice: compensated vestibular crisis is 3-E; uncompensated azotemia that threatens life is 4-E.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Cold-call four students. C is a compensated emergency (sedation). D is uncompensated; labs cancelled the exploratory. The names on later slides are only these examples.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Willie is an ASA example, not the thesis of the hour. Tonight is a sedated ear clean. The same findings, DexSP, and murmur are what you re-score if TECA-LBO is planned later. Record the murmur. Right-sided knuckling with left circling: treat as central vestibular plus otitis. Skip NSAID after DexSP.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an ASA example, not the point of the hour. Pause on the photograph. Be respectful; this cat died. Cold-call: who would have clipped her on history alone? The photograph is a quiet, recumbent cat. It does not prove a foreign body. Status 3 would be compensated kidney disease. Rising creatinine, hypothermia, and a non-functional kidney made this Status 4-E.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Appendix 3 page 1 of the CPE MOA 2026 anesthesia record, taught as a table, not as the copyrighted form. The blanks are weight, HR, RR, mucous membranes and CRT, temperature, other PE findings, PCV, TP, BUN, other labs, then ASA 1 through 5. Perform and record the preoperative examination. Request, record, and interpret the minimum labs. Assign ASA. PCV and TP method: EDTA, spin, read PCV, snap the capillary tube, refractometer TP. Do not invent percentages. A normal CBC does not write Status 1. Azotemia can cancel the cut. High PCV plus high TP is dehydration. Low PCV plus low TP is blood loss. High BUN: skip NSAIDs.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call these ASA cutoffs. The anesthesia record’s minimum labs are PCV, TP, and BUN. AAHA 2020 lists K greater than 6.0 as a condition to correct before anesthesia. Pardo 2024: albumin less than 2.0 grams per deciliter is a negative prognostic indicator. Do not invent PCV cutoffs as ASA numbers.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Appendix 3 pages 2 and 3, taught as an original record, not the copyrighted form. The three steps at the top are the general sequence. The filled table is one worked example: ear disease, DexSP already given, murmur. Healthy default is not that table. Students write drug, concentration, dose, volume, and route. Then IV fluid name and rate. Then why. Do not invent milligrams.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Grubb 2020 list: correct potassium greater than 6, pH less than 7.2, glucose less than 60, hypothermia, dehydration, before you induce. Then albumin: Pardo 2024 AAHA fluids, less than 2.0 grams per deciliter is edema and poor healing. Delay elective. Treat the cause. Plasma is a poor albumin replacement, 20 to 25 milliliters per kilogram for half a gram. Do not crystalloid-flood a low-oncotic patient. Emergency: resuscitate and operate. A cancelled cut after you find uncompensated azotemia is a successful preoperative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Cite Grubb et al., 2020 AAHA Anesthesia and Monitoring Guidelines: healthy adults, food 4 to 6 hours, water until premedication. Neonates and patients under 2 kg: food fast no longer than 1 to 2 hours. Pre-oxygenation: 3 minutes of 100 percent oxygen gives almost 6 minutes of saturation. Brachycephalics: delay extubation until they can protect the airway. Mention DNR.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Board three formulas, then fill the table the way CPE MOA 2026 Appendix 3 is filled: circle ASA, write ETT size, bag, rebreathing versus non-rebreathing, IV fluid name and rate, fresh-gas flow. Do not project the copyrighted form. Dog tube: kilograms divided by 4, plus 3.5. A 13.7 kg dog: start 7.0 millimeter, 6.5 and 7.5 in the hand. Bag: kilograms times 60, round up. 822 milliliters is a 1 liter bag, circle. Fluids: Pardo 2024, dog 5 milliliters per kilogram per hour; write 69 milliliters per hour. Circle FGF: 2 to 3 liters per minute at induction, then 20 to 40 milliliters per kilogram per minute, minimum 500 milliliters per minute (Grubb 2020). NRC 200 to 400 milliliters per kilogram per minute. After the tube is in: inhalant to effect. Premed already lowered MAC. Then clip, sterile prep, and drape. Do not teach tube math as if a sedated ear-clean patient was intubated.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large boxes: ASA Status 3-E before alfaxalone. PCV, TP, BUN WNL. Skip NSAID after DexSP. Recovery is on the same page. Drug protocol is slide 13. The intra-op chart is slide 30. Tube and bag numbers are only if you intubate.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 is not only for patients who get clipped. Preop boxes and SURGERY CANCELLED are the document. Say it once, respectfully, then continue.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Board the four National Research Council wound classes that were on the original lecture: clean, clean-contaminated, contaminated, dirty. Elective OHE is clean: skip prophylaxis, Frey 2022. Clean-contaminated: controlled entry into gut, airway, or bladder. Contaminated: fresh trauma or major spillage. Dirty: pus. Willie’s ear is dirty: treatment, not clean prophylaxis. Then say 22 milligrams per kilogram IV. Do not attribute that dose to AAHA 2022.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clip until the patient is ready for prep: tube in, cuff holds to 20 centimeters of water, correct bag, IV running, surgical plane. CPE MOA 2026 Surgery scores hair, skin, position, and drape, then wants you to announce the incision. Veterinary Betadine labels: 7.5% scrub about 5 minutes, rinse, paint 5% Solution Veterinary, dry. Eye: Roberts 1986, 1:50 of 10% stock, 2 plus 2 minutes.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photo is still too narrow. Right is a real 24-hour OHE. Do not teach a TECA clip on a patient whose procedure that day was an ear clean.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the bottle math on the board. Veterinary Betadine Solution is 5 percent, not 10 percent. Roberts 1986: 1 to 50 of 10 percent stock, 2-minute scrub plus 2-minute soak. One case of corneal edema at 1 to 2. Nolvasan: 2 percent CHG acetate, wash 2 to 4 minutes, keep out of eyes. Willie: swollen tympanum. Canal and periocular mucosa: detergent-free dilute PVP-I, not 7.5 percent scrub.</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Mime the spiral. Clock about 5 minutes for veterinary Betadine scrub on intact skin. Recite Roberts 1 to 50 of 10 percent stock for the eye: 2 minutes plus 2 minutes. If the bottle is 5 percent veterinary solution, 1 to 25 matches 0.2 percent.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bag size and the tube size on this photograph. Confirm placement with ETCO2. Keep hips in a neutral spread.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is a real spay with hair at the window. Re-clip or re-drape. Four-quadrant towels, then the large drape. Then timeout before you cut.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out closed gloving. Students name SpO2, ETCO2, ECG, temp, and fluids off the workstation photo. Do not mix MAC and case names onto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Praise the person who says I just contaminated my sleeve. Then re-glove. Teach the clinical rule, not exam scoring. The 24-hour window is why recovery is in this lecture.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C is albumin: delay elective, treat the cause. D is board math for a 13.7 kg dog if you intubate: 7.0 millimeter, 1 liter circle, 69 milliliters per hour, alfaxalone if there is a murmur. B is Roberts 1986. A is airway before clippers, then sterile prep and drape.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recovery: e-collar, IV, clipped abdomen. Pale OHE: stay at the cage, return to OR if unstable.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Appendix 3 pages 4 and 5, taught as an original chart, not the copyrighted grid. The filled column is the acceptable anesthesia band: Grubb 2020 for monitors, Pardo 2024 for fluids. Heart rate: stay below 150 to 190 in the dog by size, below 180 in the cat. Blood pressure: SAP at least 90, MAP at least 70, DAP at least 40. ETCO2 40 to 50, start PPV if over 60. SpO2 at least 95 percent. Temperature at least 98 Fahrenheit. Circle oxygen 2 to 3 liters then 20 to 40 milliliters per kilogram per minute, minimum 500. Fluids: dog 5 milliliters per kilogram per hour, cat 3 to 5. Inhalant to effect; do not invent a MAC number. Time cells stay empty until you plot a real patient. End of case: complications or none, fluid type rate and total, recovery analgesics, signature. Do not put a hospital case into this chart.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course uses on-label NSAIDs as pre-emptive analgesia: give before incision so levels are on board. Dog: carprofen 4.4 milligrams per kilogram SQ, about 2 hours before incision. Do not use carprofen in cats. Cat: Onsior 2 milligrams per kilogram SQ, about 30 minutes before incision. Do not teach Onsior in the dog. Do not combine NSAID with DexSP. A postop antibiotic shot is not automatic. Clean spay: skip. Infected ear: treat.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Hemorrhage versus seroma. Skin versus fascial dehiscence. Evisceration protocol in one breath.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2 a.m. someone opens this record because the abdomen is swelling. They need ligatures, sponge count, linea suture, and whether the client was called.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Pale gums + distended abdomen after OHE: come now. Return to OR.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as an ASA example, not as the lecture thesis. One sentence on the other example: the same preoperative evaluation cancelled an exploratory when the disease was uncompensated.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content slide if time is gone. These two patients are ASA examples only. Healthy Lab OHE is the ASA Status 1 contrast.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lines are the Appendix 3 record and the Surgery competencies: assessment and ASA, drug protocol and equipment, ready for prep, hair-skin-position-drape, the chart and signature, then the first 24 hours. Do not recap the hospital patients here.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questions. If none: ready for clippers means airway secured, machine on, patent IV running, surgical plane, monitoring started. Before the first premed: today’s PE, PCV, TP, BUN, and ASA. Dismiss on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68680"/>
            <a:ext cx="10972800" cy="365760"/>
          </a:xfrm>
          <a:prstGeom prst="rect">
            <a:avLst/>
          </a:prstGeom>
          <a:noFill/>
        </p:spPr>
        <p:txBody>
          <a:bodyPr wrap="square" anchor="t"/>
          <a:lstStyle/>
          <a:p>
            <a:pPr algn="l"/>
            <a:r>
              <a:rPr sz="1600" b="1">
                <a:solidFill>
                  <a:srgbClr val="C5A35A"/>
                </a:solidFill>
                <a:latin typeface="Calibri"/>
              </a:rPr>
              <a:t>LONG ISLAND UNIVERSITY  ·  LEWYT COLLEGE OF VETERINARY MEDICINE</a:t>
            </a:r>
          </a:p>
        </p:txBody>
      </p:sp>
      <p:sp>
        <p:nvSpPr>
          <p:cNvPr id="6" name="TextBox 5"/>
          <p:cNvSpPr txBox="1"/>
          <p:nvPr/>
        </p:nvSpPr>
        <p:spPr>
          <a:xfrm>
            <a:off x="685800" y="1325880"/>
            <a:ext cx="10972800" cy="365760"/>
          </a:xfrm>
          <a:prstGeom prst="rect">
            <a:avLst/>
          </a:prstGeom>
          <a:noFill/>
        </p:spPr>
        <p:txBody>
          <a:bodyPr wrap="square" anchor="t"/>
          <a:lstStyle/>
          <a:p>
            <a:pPr algn="l"/>
            <a:r>
              <a:rPr sz="2000" b="1">
                <a:solidFill>
                  <a:srgbClr val="F4EBD3"/>
                </a:solidFill>
                <a:latin typeface="Calibri"/>
              </a:rPr>
              <a:t>DVM 612  ·  PRINCIPLES OF SURGERY</a:t>
            </a:r>
          </a:p>
        </p:txBody>
      </p:sp>
      <p:sp>
        <p:nvSpPr>
          <p:cNvPr id="7" name="TextBox 6"/>
          <p:cNvSpPr txBox="1"/>
          <p:nvPr/>
        </p:nvSpPr>
        <p:spPr>
          <a:xfrm>
            <a:off x="685800" y="1783080"/>
            <a:ext cx="10972800" cy="1828800"/>
          </a:xfrm>
          <a:prstGeom prst="rect">
            <a:avLst/>
          </a:prstGeom>
          <a:noFill/>
        </p:spPr>
        <p:txBody>
          <a:bodyPr wrap="square" anchor="t"/>
          <a:lstStyle/>
          <a:p>
            <a:pPr algn="l"/>
            <a:r>
              <a:rPr sz="3600" b="1">
                <a:solidFill>
                  <a:srgbClr val="FFFFFF"/>
                </a:solidFill>
                <a:latin typeface="Calibri"/>
              </a:rPr>
              <a:t>Preoperative Evaluation,
Patient Preparation &amp;
Postoperative Care</a:t>
            </a:r>
          </a:p>
        </p:txBody>
      </p:sp>
      <p:sp>
        <p:nvSpPr>
          <p:cNvPr id="8" name="TextBox 7"/>
          <p:cNvSpPr txBox="1"/>
          <p:nvPr/>
        </p:nvSpPr>
        <p:spPr>
          <a:xfrm>
            <a:off x="685800" y="3794760"/>
            <a:ext cx="10972800" cy="457200"/>
          </a:xfrm>
          <a:prstGeom prst="rect">
            <a:avLst/>
          </a:prstGeom>
          <a:noFill/>
        </p:spPr>
        <p:txBody>
          <a:bodyPr wrap="square" anchor="t"/>
          <a:lstStyle/>
          <a:p>
            <a:pPr algn="l"/>
            <a:r>
              <a:rPr sz="2400" b="1">
                <a:solidFill>
                  <a:srgbClr val="C5A35A"/>
                </a:solidFill>
                <a:latin typeface="Calibri"/>
              </a:rPr>
              <a:t>Dr. Yujin Kim, D.V.M., Ph.D., FFCP</a:t>
            </a:r>
          </a:p>
        </p:txBody>
      </p:sp>
      <p:sp>
        <p:nvSpPr>
          <p:cNvPr id="9" name="TextBox 8"/>
          <p:cNvSpPr txBox="1"/>
          <p:nvPr/>
        </p:nvSpPr>
        <p:spPr>
          <a:xfrm>
            <a:off x="685800" y="4297680"/>
            <a:ext cx="10972800" cy="365760"/>
          </a:xfrm>
          <a:prstGeom prst="rect">
            <a:avLst/>
          </a:prstGeom>
          <a:noFill/>
        </p:spPr>
        <p:txBody>
          <a:bodyPr wrap="square" anchor="t"/>
          <a:lstStyle/>
          <a:p>
            <a:pPr algn="l"/>
            <a:r>
              <a:rPr sz="1800" b="0">
                <a:solidFill>
                  <a:srgbClr val="F4EBD3"/>
                </a:solidFill>
                <a:latin typeface="Calibri"/>
              </a:rPr>
              <a:t>Lecture  |  38 slides  |  60 minutes</a:t>
            </a:r>
          </a:p>
        </p:txBody>
      </p:sp>
      <p:sp>
        <p:nvSpPr>
          <p:cNvPr id="10" name="TextBox 9"/>
          <p:cNvSpPr txBox="1"/>
          <p:nvPr/>
        </p:nvSpPr>
        <p:spPr>
          <a:xfrm>
            <a:off x="685800" y="4754880"/>
            <a:ext cx="10972800" cy="822960"/>
          </a:xfrm>
          <a:prstGeom prst="rect">
            <a:avLst/>
          </a:prstGeom>
          <a:noFill/>
        </p:spPr>
        <p:txBody>
          <a:bodyPr wrap="square" anchor="t"/>
          <a:lstStyle/>
          <a:p>
            <a:pPr algn="l"/>
            <a:r>
              <a:rPr sz="2000" b="0">
                <a:solidFill>
                  <a:srgbClr val="FFFFFF"/>
                </a:solidFill>
                <a:latin typeface="Calibri"/>
              </a:rPr>
              <a:t>Exam, labs, ASA, then prep. Own the first 24 hours.
Two hospital cases are ASA examples only.</a:t>
            </a:r>
          </a:p>
        </p:txBody>
      </p:sp>
      <p:sp>
        <p:nvSpPr>
          <p:cNvPr id="11" name="TextBox 10"/>
          <p:cNvSpPr txBox="1"/>
          <p:nvPr/>
        </p:nvSpPr>
        <p:spPr>
          <a:xfrm>
            <a:off x="685800" y="5669280"/>
            <a:ext cx="10972800" cy="640080"/>
          </a:xfrm>
          <a:prstGeom prst="rect">
            <a:avLst/>
          </a:prstGeom>
          <a:noFill/>
        </p:spPr>
        <p:txBody>
          <a:bodyPr wrap="square" anchor="t"/>
          <a:lstStyle/>
          <a:p>
            <a:pPr algn="l"/>
            <a:r>
              <a:rPr sz="1600" b="0">
                <a:solidFill>
                  <a:srgbClr val="C5A35A"/>
                </a:solidFill>
                <a:latin typeface="Calibri"/>
              </a:rPr>
              <a:t>Required: Fossum 2018; Hendrickson &amp; Baird 2013.
Also used: ECFVG CPE Manual of Administration 2026, Anesthesia and Surgery.</a:t>
            </a:r>
          </a:p>
        </p:txBody>
      </p:sp>
      <p:sp>
        <p:nvSpPr>
          <p:cNvPr id="12" name="TextBox 11"/>
          <p:cNvSpPr txBox="1"/>
          <p:nvPr/>
        </p:nvSpPr>
        <p:spPr>
          <a:xfrm>
            <a:off x="10241280" y="6565392"/>
            <a:ext cx="1554480" cy="292608"/>
          </a:xfrm>
          <a:prstGeom prst="rect">
            <a:avLst/>
          </a:prstGeom>
          <a:noFill/>
        </p:spPr>
        <p:txBody>
          <a:bodyPr wrap="square" anchor="ctr"/>
          <a:lstStyle/>
          <a:p>
            <a:pPr algn="r"/>
            <a:r>
              <a:rPr sz="1200" b="0">
                <a:solidFill>
                  <a:srgbClr val="C5A35A"/>
                </a:solidFill>
                <a:latin typeface="Calibri"/>
              </a:rPr>
              <a:t>1  /  38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DVM 612 WEEK 4  ·  38 SLIDES</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Learning objectives</a:t>
            </a:r>
          </a:p>
        </p:txBody>
      </p:sp>
      <p:sp>
        <p:nvSpPr>
          <p:cNvPr id="8" name="TextBox 7"/>
          <p:cNvSpPr txBox="1"/>
          <p:nvPr/>
        </p:nvSpPr>
        <p:spPr>
          <a:xfrm>
            <a:off x="502920" y="1097280"/>
            <a:ext cx="11155680" cy="3566160"/>
          </a:xfrm>
          <a:prstGeom prst="rect">
            <a:avLst/>
          </a:prstGeom>
          <a:noFill/>
        </p:spPr>
        <p:txBody>
          <a:bodyPr wrap="square">
            <a:spAutoFit/>
          </a:bodyPr>
          <a:lstStyle/>
          <a:p>
            <a:pPr algn="l">
              <a:spcAft>
                <a:spcPts val="1200"/>
              </a:spcAft>
            </a:pPr>
            <a:r>
              <a:rPr sz="2000" b="0">
                <a:solidFill>
                  <a:srgbClr val="1C1C1C"/>
                </a:solidFill>
                <a:latin typeface="Calibri"/>
              </a:rPr>
              <a:t>▸  Assign ASA after today’s PE and labs. Correct deficits. Write premed, induction, MAC, tube, bag, and fluid rate.</a:t>
            </a:r>
          </a:p>
          <a:p>
            <a:pPr algn="l">
              <a:spcAft>
                <a:spcPts val="1200"/>
              </a:spcAft>
            </a:pPr>
            <a:r>
              <a:rPr sz="2000" b="0">
                <a:solidFill>
                  <a:srgbClr val="1C1C1C"/>
                </a:solidFill>
                <a:latin typeface="Calibri"/>
              </a:rPr>
              <a:t>▸  If albumin is low: find the cause, delay elective if you can, and do not flood with crystalloid.</a:t>
            </a:r>
          </a:p>
          <a:p>
            <a:pPr algn="l">
              <a:spcAft>
                <a:spcPts val="1200"/>
              </a:spcAft>
            </a:pPr>
            <a:r>
              <a:rPr sz="2000" b="0">
                <a:solidFill>
                  <a:srgbClr val="1C1C1C"/>
                </a:solidFill>
                <a:latin typeface="Calibri"/>
              </a:rPr>
              <a:t>▸  Prep for aseptic surgery: clip, labeled antiseptics, minimum contact time, four-quadrant drape, closed glove.</a:t>
            </a:r>
          </a:p>
          <a:p>
            <a:pPr algn="l">
              <a:spcAft>
                <a:spcPts val="1200"/>
              </a:spcAft>
            </a:pPr>
            <a:r>
              <a:rPr sz="2000" b="0">
                <a:solidFill>
                  <a:srgbClr val="1C1C1C"/>
                </a:solidFill>
                <a:latin typeface="Calibri"/>
              </a:rPr>
              <a:t>▸  Name a break in asepsis and correct it, before or after the incision. Classify the wound: clean, clean-contaminated, contaminated, or dirty.</a:t>
            </a:r>
          </a:p>
          <a:p>
            <a:pPr algn="l">
              <a:spcAft>
                <a:spcPts val="1200"/>
              </a:spcAft>
            </a:pPr>
            <a:r>
              <a:rPr sz="2000" b="0">
                <a:solidFill>
                  <a:srgbClr val="1C1C1C"/>
                </a:solidFill>
                <a:latin typeface="Calibri"/>
              </a:rPr>
              <a:t>▸  Write the postop plan, the surgical report, and 24-hour emergency criteria.</a:t>
            </a:r>
          </a:p>
        </p:txBody>
      </p:sp>
      <p:sp>
        <p:nvSpPr>
          <p:cNvPr id="9" name="Rounded Rectangle 8"/>
          <p:cNvSpPr/>
          <p:nvPr/>
        </p:nvSpPr>
        <p:spPr>
          <a:xfrm>
            <a:off x="457200" y="4892040"/>
            <a:ext cx="11247120" cy="777240"/>
          </a:xfrm>
          <a:prstGeom prst="roundRect">
            <a:avLst>
              <a:gd name="adj" fmla="val 8000"/>
            </a:avLst>
          </a:prstGeom>
          <a:solidFill>
            <a:srgbClr val="F4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983480"/>
            <a:ext cx="10881360" cy="594360"/>
          </a:xfrm>
          <a:prstGeom prst="rect">
            <a:avLst/>
          </a:prstGeom>
          <a:noFill/>
        </p:spPr>
        <p:txBody>
          <a:bodyPr wrap="square" anchor="ctr"/>
          <a:lstStyle/>
          <a:p>
            <a:pPr algn="l"/>
            <a:r>
              <a:rPr sz="1600" b="0">
                <a:solidFill>
                  <a:srgbClr val="0B2C4A"/>
                </a:solidFill>
                <a:latin typeface="Calibri"/>
              </a:rPr>
              <a:t>Exam → labs → ASA → correct deficits → premed → induce → ready for prep → clip, prep, drape → first 24 hours.</a:t>
            </a:r>
          </a:p>
        </p:txBody>
      </p:sp>
      <p:sp>
        <p:nvSpPr>
          <p:cNvPr id="11" name="Rectangle 10"/>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3" name="TextBox 12"/>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  /  38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THEN OWN THE FIRST 24 HOURS. CPE MOA 2026 SURGERY COMPETENCIES.</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Prepare the patient and yourself</a:t>
            </a:r>
          </a:p>
        </p:txBody>
      </p:sp>
      <p:sp>
        <p:nvSpPr>
          <p:cNvPr id="8" name="Rounded Rectangle 7"/>
          <p:cNvSpPr/>
          <p:nvPr/>
        </p:nvSpPr>
        <p:spPr>
          <a:xfrm>
            <a:off x="457200" y="1097280"/>
            <a:ext cx="365760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91440" cy="2148840"/>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207008"/>
            <a:ext cx="3291840" cy="329184"/>
          </a:xfrm>
          <a:prstGeom prst="rect">
            <a:avLst/>
          </a:prstGeom>
          <a:noFill/>
        </p:spPr>
        <p:txBody>
          <a:bodyPr wrap="square" anchor="t"/>
          <a:lstStyle/>
          <a:p>
            <a:pPr algn="l"/>
            <a:r>
              <a:rPr sz="1800" b="1">
                <a:solidFill>
                  <a:srgbClr val="0B2C4A"/>
                </a:solidFill>
                <a:latin typeface="Calibri"/>
              </a:rPr>
              <a:t>Causes of SSI</a:t>
            </a:r>
          </a:p>
        </p:txBody>
      </p:sp>
      <p:sp>
        <p:nvSpPr>
          <p:cNvPr id="11" name="TextBox 10"/>
          <p:cNvSpPr txBox="1"/>
          <p:nvPr/>
        </p:nvSpPr>
        <p:spPr>
          <a:xfrm>
            <a:off x="713232" y="1554480"/>
            <a:ext cx="3291840" cy="1581912"/>
          </a:xfrm>
          <a:prstGeom prst="rect">
            <a:avLst/>
          </a:prstGeom>
          <a:noFill/>
        </p:spPr>
        <p:txBody>
          <a:bodyPr wrap="square" anchor="t"/>
          <a:lstStyle/>
          <a:p>
            <a:pPr algn="l"/>
            <a:r>
              <a:rPr sz="1600" b="0">
                <a:solidFill>
                  <a:srgbClr val="3D4A57"/>
                </a:solidFill>
                <a:latin typeface="Calibri"/>
              </a:rPr>
              <a:t>Hair, skin flora, hypothermia, poor hemostasis, dead space, and breaks in asepsis.</a:t>
            </a:r>
          </a:p>
        </p:txBody>
      </p:sp>
      <p:sp>
        <p:nvSpPr>
          <p:cNvPr id="12" name="Rounded Rectangle 11"/>
          <p:cNvSpPr/>
          <p:nvPr/>
        </p:nvSpPr>
        <p:spPr>
          <a:xfrm>
            <a:off x="4297680" y="1097280"/>
            <a:ext cx="365760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097280"/>
            <a:ext cx="91440" cy="21488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207008"/>
            <a:ext cx="3291840" cy="329184"/>
          </a:xfrm>
          <a:prstGeom prst="rect">
            <a:avLst/>
          </a:prstGeom>
          <a:noFill/>
        </p:spPr>
        <p:txBody>
          <a:bodyPr wrap="square" anchor="t"/>
          <a:lstStyle/>
          <a:p>
            <a:pPr algn="l"/>
            <a:r>
              <a:rPr sz="1800" b="1">
                <a:solidFill>
                  <a:srgbClr val="0B2C4A"/>
                </a:solidFill>
                <a:latin typeface="Calibri"/>
              </a:rPr>
              <a:t>Client-owned patients</a:t>
            </a:r>
          </a:p>
        </p:txBody>
      </p:sp>
      <p:sp>
        <p:nvSpPr>
          <p:cNvPr id="15" name="TextBox 14"/>
          <p:cNvSpPr txBox="1"/>
          <p:nvPr/>
        </p:nvSpPr>
        <p:spPr>
          <a:xfrm>
            <a:off x="4553712" y="1554480"/>
            <a:ext cx="3291840" cy="1581912"/>
          </a:xfrm>
          <a:prstGeom prst="rect">
            <a:avLst/>
          </a:prstGeom>
          <a:noFill/>
        </p:spPr>
        <p:txBody>
          <a:bodyPr wrap="square" anchor="t"/>
          <a:lstStyle/>
          <a:p>
            <a:pPr algn="l"/>
            <a:r>
              <a:rPr sz="1600" b="0">
                <a:solidFill>
                  <a:srgbClr val="3D4A57"/>
                </a:solidFill>
                <a:latin typeface="Calibri"/>
              </a:rPr>
              <a:t>Elective OHE patients go home to the owner after recovery. Documentation and the discharge conversation are part of the operation.</a:t>
            </a:r>
          </a:p>
        </p:txBody>
      </p:sp>
      <p:sp>
        <p:nvSpPr>
          <p:cNvPr id="16" name="Rounded Rectangle 15"/>
          <p:cNvSpPr/>
          <p:nvPr/>
        </p:nvSpPr>
        <p:spPr>
          <a:xfrm>
            <a:off x="8138160" y="1097280"/>
            <a:ext cx="356616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1097280"/>
            <a:ext cx="91440" cy="2148840"/>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94192" y="1207008"/>
            <a:ext cx="3200400" cy="329184"/>
          </a:xfrm>
          <a:prstGeom prst="rect">
            <a:avLst/>
          </a:prstGeom>
          <a:noFill/>
        </p:spPr>
        <p:txBody>
          <a:bodyPr wrap="square" anchor="t"/>
          <a:lstStyle/>
          <a:p>
            <a:pPr algn="l"/>
            <a:r>
              <a:rPr sz="1800" b="1">
                <a:solidFill>
                  <a:srgbClr val="0B2C4A"/>
                </a:solidFill>
                <a:latin typeface="Calibri"/>
              </a:rPr>
              <a:t>Set before you cut</a:t>
            </a:r>
          </a:p>
        </p:txBody>
      </p:sp>
      <p:sp>
        <p:nvSpPr>
          <p:cNvPr id="19" name="TextBox 18"/>
          <p:cNvSpPr txBox="1"/>
          <p:nvPr/>
        </p:nvSpPr>
        <p:spPr>
          <a:xfrm>
            <a:off x="8394192" y="1554480"/>
            <a:ext cx="3200400" cy="1581912"/>
          </a:xfrm>
          <a:prstGeom prst="rect">
            <a:avLst/>
          </a:prstGeom>
          <a:noFill/>
        </p:spPr>
        <p:txBody>
          <a:bodyPr wrap="square" anchor="t"/>
          <a:lstStyle/>
          <a:p>
            <a:pPr algn="l"/>
            <a:r>
              <a:rPr sz="1600" b="0">
                <a:solidFill>
                  <a:srgbClr val="3D4A57"/>
                </a:solidFill>
                <a:latin typeface="Calibri"/>
              </a:rPr>
              <a:t>Analgesia, antibiotics, temperature management, and client expectations are set in the preoperative period.</a:t>
            </a:r>
          </a:p>
        </p:txBody>
      </p:sp>
      <p:sp>
        <p:nvSpPr>
          <p:cNvPr id="20" name="Rounded Rectangle 19"/>
          <p:cNvSpPr/>
          <p:nvPr/>
        </p:nvSpPr>
        <p:spPr>
          <a:xfrm>
            <a:off x="457200" y="3429000"/>
            <a:ext cx="11247120" cy="29260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566160"/>
            <a:ext cx="10789920" cy="365760"/>
          </a:xfrm>
          <a:prstGeom prst="rect">
            <a:avLst/>
          </a:prstGeom>
          <a:noFill/>
        </p:spPr>
        <p:txBody>
          <a:bodyPr wrap="square" anchor="t"/>
          <a:lstStyle/>
          <a:p>
            <a:pPr algn="l"/>
            <a:r>
              <a:rPr sz="1800" b="1">
                <a:solidFill>
                  <a:srgbClr val="0B2C4A"/>
                </a:solidFill>
                <a:latin typeface="Calibri"/>
              </a:rPr>
              <a:t>Surgeon responsibilities</a:t>
            </a:r>
          </a:p>
        </p:txBody>
      </p:sp>
      <p:sp>
        <p:nvSpPr>
          <p:cNvPr id="22" name="TextBox 21"/>
          <p:cNvSpPr txBox="1"/>
          <p:nvPr/>
        </p:nvSpPr>
        <p:spPr>
          <a:xfrm>
            <a:off x="685800" y="4023360"/>
            <a:ext cx="10789920" cy="2103120"/>
          </a:xfrm>
          <a:prstGeom prst="rect">
            <a:avLst/>
          </a:prstGeom>
          <a:noFill/>
        </p:spPr>
        <p:txBody>
          <a:bodyPr wrap="square">
            <a:spAutoFit/>
          </a:bodyPr>
          <a:lstStyle/>
          <a:p>
            <a:pPr algn="l">
              <a:spcAft>
                <a:spcPts val="800"/>
              </a:spcAft>
            </a:pPr>
            <a:r>
              <a:rPr sz="1800" b="0">
                <a:solidFill>
                  <a:srgbClr val="1C1C1C"/>
                </a:solidFill>
                <a:latin typeface="Calibri"/>
              </a:rPr>
              <a:t>▸  Prepare the patient for a surgical procedure.</a:t>
            </a:r>
          </a:p>
          <a:p>
            <a:pPr algn="l">
              <a:spcAft>
                <a:spcPts val="800"/>
              </a:spcAft>
            </a:pPr>
            <a:r>
              <a:rPr sz="1800" b="0">
                <a:solidFill>
                  <a:srgbClr val="1C1C1C"/>
                </a:solidFill>
                <a:latin typeface="Calibri"/>
              </a:rPr>
              <a:t>▸  Prepare yourself for a surgical procedure.</a:t>
            </a:r>
          </a:p>
          <a:p>
            <a:pPr algn="l">
              <a:spcAft>
                <a:spcPts val="800"/>
              </a:spcAft>
            </a:pPr>
            <a:r>
              <a:rPr sz="1800" b="0">
                <a:solidFill>
                  <a:srgbClr val="1C1C1C"/>
                </a:solidFill>
                <a:latin typeface="Calibri"/>
              </a:rPr>
              <a:t>▸  Perform the procedure. Then own the first 24 hours: hemorrhage from a weak ligature, or herniation from a weak linea, is still the operation (CPE MOA 2026 Surgery).</a:t>
            </a:r>
          </a:p>
        </p:txBody>
      </p:sp>
      <p:sp>
        <p:nvSpPr>
          <p:cNvPr id="23" name="Rectangle 22"/>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5" name="TextBox 24"/>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  /  38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EACH PRINCIPLE HAS A PREOPERATIVE OR POSTOPERATIVE ACTION</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Halsted’s principles</a:t>
            </a:r>
          </a:p>
        </p:txBody>
      </p:sp>
      <p:sp>
        <p:nvSpPr>
          <p:cNvPr id="8" name="Rounded Rectangle 7"/>
          <p:cNvSpPr/>
          <p:nvPr/>
        </p:nvSpPr>
        <p:spPr>
          <a:xfrm>
            <a:off x="457200" y="1078992"/>
            <a:ext cx="566928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78992"/>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170432"/>
            <a:ext cx="5303520" cy="384048"/>
          </a:xfrm>
          <a:prstGeom prst="rect">
            <a:avLst/>
          </a:prstGeom>
          <a:noFill/>
        </p:spPr>
        <p:txBody>
          <a:bodyPr wrap="square" anchor="t"/>
          <a:lstStyle/>
          <a:p>
            <a:pPr algn="l"/>
            <a:r>
              <a:rPr sz="1800" b="1">
                <a:solidFill>
                  <a:srgbClr val="0B2C4A"/>
                </a:solidFill>
                <a:latin typeface="Calibri"/>
              </a:rPr>
              <a:t>1.  Gentle tissue handling</a:t>
            </a:r>
          </a:p>
        </p:txBody>
      </p:sp>
      <p:sp>
        <p:nvSpPr>
          <p:cNvPr id="11" name="TextBox 10"/>
          <p:cNvSpPr txBox="1"/>
          <p:nvPr/>
        </p:nvSpPr>
        <p:spPr>
          <a:xfrm>
            <a:off x="713232" y="1572768"/>
            <a:ext cx="5303520" cy="621792"/>
          </a:xfrm>
          <a:prstGeom prst="rect">
            <a:avLst/>
          </a:prstGeom>
          <a:noFill/>
        </p:spPr>
        <p:txBody>
          <a:bodyPr wrap="square" anchor="t"/>
          <a:lstStyle/>
          <a:p>
            <a:pPr algn="l"/>
            <a:r>
              <a:rPr sz="1600" b="0">
                <a:solidFill>
                  <a:srgbClr val="3D4A57"/>
                </a:solidFill>
                <a:latin typeface="Calibri"/>
              </a:rPr>
              <a:t>Prep trauma, clipper burn, and crushing towel clamps are tissue handling.</a:t>
            </a:r>
          </a:p>
        </p:txBody>
      </p:sp>
      <p:sp>
        <p:nvSpPr>
          <p:cNvPr id="12" name="Rounded Rectangle 11"/>
          <p:cNvSpPr/>
          <p:nvPr/>
        </p:nvSpPr>
        <p:spPr>
          <a:xfrm>
            <a:off x="6309360" y="1078992"/>
            <a:ext cx="566928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078992"/>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1170432"/>
            <a:ext cx="5303520" cy="384048"/>
          </a:xfrm>
          <a:prstGeom prst="rect">
            <a:avLst/>
          </a:prstGeom>
          <a:noFill/>
        </p:spPr>
        <p:txBody>
          <a:bodyPr wrap="square" anchor="t"/>
          <a:lstStyle/>
          <a:p>
            <a:pPr algn="l"/>
            <a:r>
              <a:rPr sz="1800" b="1">
                <a:solidFill>
                  <a:srgbClr val="0B2C4A"/>
                </a:solidFill>
                <a:latin typeface="Calibri"/>
              </a:rPr>
              <a:t>2.  Meticulous hemostasis</a:t>
            </a:r>
          </a:p>
        </p:txBody>
      </p:sp>
      <p:sp>
        <p:nvSpPr>
          <p:cNvPr id="15" name="TextBox 14"/>
          <p:cNvSpPr txBox="1"/>
          <p:nvPr/>
        </p:nvSpPr>
        <p:spPr>
          <a:xfrm>
            <a:off x="6565392" y="1572768"/>
            <a:ext cx="5303520" cy="621792"/>
          </a:xfrm>
          <a:prstGeom prst="rect">
            <a:avLst/>
          </a:prstGeom>
          <a:noFill/>
        </p:spPr>
        <p:txBody>
          <a:bodyPr wrap="square" anchor="t"/>
          <a:lstStyle/>
          <a:p>
            <a:pPr algn="l"/>
            <a:r>
              <a:rPr sz="1600" b="0">
                <a:solidFill>
                  <a:srgbClr val="3D4A57"/>
                </a:solidFill>
                <a:latin typeface="Calibri"/>
              </a:rPr>
              <a:t>Preop coagulopathy; postop hemorrhage is a 24-hour emergency.</a:t>
            </a:r>
          </a:p>
        </p:txBody>
      </p:sp>
      <p:sp>
        <p:nvSpPr>
          <p:cNvPr id="16" name="Rounded Rectangle 15"/>
          <p:cNvSpPr/>
          <p:nvPr/>
        </p:nvSpPr>
        <p:spPr>
          <a:xfrm>
            <a:off x="457200" y="2377440"/>
            <a:ext cx="566928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377440"/>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468880"/>
            <a:ext cx="5303520" cy="384048"/>
          </a:xfrm>
          <a:prstGeom prst="rect">
            <a:avLst/>
          </a:prstGeom>
          <a:noFill/>
        </p:spPr>
        <p:txBody>
          <a:bodyPr wrap="square" anchor="t"/>
          <a:lstStyle/>
          <a:p>
            <a:pPr algn="l"/>
            <a:r>
              <a:rPr sz="1800" b="1">
                <a:solidFill>
                  <a:srgbClr val="0B2C4A"/>
                </a:solidFill>
                <a:latin typeface="Calibri"/>
              </a:rPr>
              <a:t>3.  Preserve blood supply</a:t>
            </a:r>
          </a:p>
        </p:txBody>
      </p:sp>
      <p:sp>
        <p:nvSpPr>
          <p:cNvPr id="19" name="TextBox 18"/>
          <p:cNvSpPr txBox="1"/>
          <p:nvPr/>
        </p:nvSpPr>
        <p:spPr>
          <a:xfrm>
            <a:off x="713232" y="2871216"/>
            <a:ext cx="5303520" cy="621792"/>
          </a:xfrm>
          <a:prstGeom prst="rect">
            <a:avLst/>
          </a:prstGeom>
          <a:noFill/>
        </p:spPr>
        <p:txBody>
          <a:bodyPr wrap="square" anchor="t"/>
          <a:lstStyle/>
          <a:p>
            <a:pPr algn="l"/>
            <a:r>
              <a:rPr sz="1600" b="0">
                <a:solidFill>
                  <a:srgbClr val="3D4A57"/>
                </a:solidFill>
                <a:latin typeface="Calibri"/>
              </a:rPr>
              <a:t>Place clamps and bandages so skin perfusion is preserved.</a:t>
            </a:r>
          </a:p>
        </p:txBody>
      </p:sp>
      <p:sp>
        <p:nvSpPr>
          <p:cNvPr id="20" name="Rounded Rectangle 19"/>
          <p:cNvSpPr/>
          <p:nvPr/>
        </p:nvSpPr>
        <p:spPr>
          <a:xfrm>
            <a:off x="6309360" y="2377440"/>
            <a:ext cx="566928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2377440"/>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468880"/>
            <a:ext cx="5303520" cy="384048"/>
          </a:xfrm>
          <a:prstGeom prst="rect">
            <a:avLst/>
          </a:prstGeom>
          <a:noFill/>
        </p:spPr>
        <p:txBody>
          <a:bodyPr wrap="square" anchor="t"/>
          <a:lstStyle/>
          <a:p>
            <a:pPr algn="l"/>
            <a:r>
              <a:rPr sz="1800" b="1">
                <a:solidFill>
                  <a:srgbClr val="0B2C4A"/>
                </a:solidFill>
                <a:latin typeface="Calibri"/>
              </a:rPr>
              <a:t>4.  Strict asepsis</a:t>
            </a:r>
          </a:p>
        </p:txBody>
      </p:sp>
      <p:sp>
        <p:nvSpPr>
          <p:cNvPr id="23" name="TextBox 22"/>
          <p:cNvSpPr txBox="1"/>
          <p:nvPr/>
        </p:nvSpPr>
        <p:spPr>
          <a:xfrm>
            <a:off x="6565392" y="2871216"/>
            <a:ext cx="5303520" cy="621792"/>
          </a:xfrm>
          <a:prstGeom prst="rect">
            <a:avLst/>
          </a:prstGeom>
          <a:noFill/>
        </p:spPr>
        <p:txBody>
          <a:bodyPr wrap="square" anchor="t"/>
          <a:lstStyle/>
          <a:p>
            <a:pPr algn="l"/>
            <a:r>
              <a:rPr sz="1600" b="0">
                <a:solidFill>
                  <a:srgbClr val="3D4A57"/>
                </a:solidFill>
                <a:latin typeface="Calibri"/>
              </a:rPr>
              <a:t>Patient preparation, surgeon preparation, and draping.</a:t>
            </a:r>
          </a:p>
        </p:txBody>
      </p:sp>
      <p:sp>
        <p:nvSpPr>
          <p:cNvPr id="24" name="Rounded Rectangle 23"/>
          <p:cNvSpPr/>
          <p:nvPr/>
        </p:nvSpPr>
        <p:spPr>
          <a:xfrm>
            <a:off x="457200" y="3675888"/>
            <a:ext cx="566928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675888"/>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3767328"/>
            <a:ext cx="5303520" cy="384048"/>
          </a:xfrm>
          <a:prstGeom prst="rect">
            <a:avLst/>
          </a:prstGeom>
          <a:noFill/>
        </p:spPr>
        <p:txBody>
          <a:bodyPr wrap="square" anchor="t"/>
          <a:lstStyle/>
          <a:p>
            <a:pPr algn="l"/>
            <a:r>
              <a:rPr sz="1800" b="1">
                <a:solidFill>
                  <a:srgbClr val="0B2C4A"/>
                </a:solidFill>
                <a:latin typeface="Calibri"/>
              </a:rPr>
              <a:t>5.  No tension</a:t>
            </a:r>
          </a:p>
        </p:txBody>
      </p:sp>
      <p:sp>
        <p:nvSpPr>
          <p:cNvPr id="27" name="TextBox 26"/>
          <p:cNvSpPr txBox="1"/>
          <p:nvPr/>
        </p:nvSpPr>
        <p:spPr>
          <a:xfrm>
            <a:off x="713232" y="4169664"/>
            <a:ext cx="5303520" cy="621792"/>
          </a:xfrm>
          <a:prstGeom prst="rect">
            <a:avLst/>
          </a:prstGeom>
          <a:noFill/>
        </p:spPr>
        <p:txBody>
          <a:bodyPr wrap="square" anchor="t"/>
          <a:lstStyle/>
          <a:p>
            <a:pPr algn="l"/>
            <a:r>
              <a:rPr sz="1600" b="0">
                <a:solidFill>
                  <a:srgbClr val="3D4A57"/>
                </a:solidFill>
                <a:latin typeface="Calibri"/>
              </a:rPr>
              <a:t>Plan incision location and closure now, not after the fascia splits.</a:t>
            </a:r>
          </a:p>
        </p:txBody>
      </p:sp>
      <p:sp>
        <p:nvSpPr>
          <p:cNvPr id="28" name="Rounded Rectangle 27"/>
          <p:cNvSpPr/>
          <p:nvPr/>
        </p:nvSpPr>
        <p:spPr>
          <a:xfrm>
            <a:off x="6309360" y="3675888"/>
            <a:ext cx="566928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3675888"/>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3767328"/>
            <a:ext cx="5303520" cy="384048"/>
          </a:xfrm>
          <a:prstGeom prst="rect">
            <a:avLst/>
          </a:prstGeom>
          <a:noFill/>
        </p:spPr>
        <p:txBody>
          <a:bodyPr wrap="square" anchor="t"/>
          <a:lstStyle/>
          <a:p>
            <a:pPr algn="l"/>
            <a:r>
              <a:rPr sz="1800" b="1">
                <a:solidFill>
                  <a:srgbClr val="0B2C4A"/>
                </a:solidFill>
                <a:latin typeface="Calibri"/>
              </a:rPr>
              <a:t>6.  Accurate apposition</a:t>
            </a:r>
          </a:p>
        </p:txBody>
      </p:sp>
      <p:sp>
        <p:nvSpPr>
          <p:cNvPr id="31" name="TextBox 30"/>
          <p:cNvSpPr txBox="1"/>
          <p:nvPr/>
        </p:nvSpPr>
        <p:spPr>
          <a:xfrm>
            <a:off x="6565392" y="4169664"/>
            <a:ext cx="5303520" cy="621792"/>
          </a:xfrm>
          <a:prstGeom prst="rect">
            <a:avLst/>
          </a:prstGeom>
          <a:noFill/>
        </p:spPr>
        <p:txBody>
          <a:bodyPr wrap="square" anchor="t"/>
          <a:lstStyle/>
          <a:p>
            <a:pPr algn="l"/>
            <a:r>
              <a:rPr sz="1600" b="0">
                <a:solidFill>
                  <a:srgbClr val="3D4A57"/>
                </a:solidFill>
                <a:latin typeface="Calibri"/>
              </a:rPr>
              <a:t>Postop incision care protects the apposition you create.</a:t>
            </a:r>
          </a:p>
        </p:txBody>
      </p:sp>
      <p:sp>
        <p:nvSpPr>
          <p:cNvPr id="32" name="Rounded Rectangle 31"/>
          <p:cNvSpPr/>
          <p:nvPr/>
        </p:nvSpPr>
        <p:spPr>
          <a:xfrm>
            <a:off x="457200" y="4974336"/>
            <a:ext cx="1124712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974336"/>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5065776"/>
            <a:ext cx="10881360" cy="384048"/>
          </a:xfrm>
          <a:prstGeom prst="rect">
            <a:avLst/>
          </a:prstGeom>
          <a:noFill/>
        </p:spPr>
        <p:txBody>
          <a:bodyPr wrap="square" anchor="t"/>
          <a:lstStyle/>
          <a:p>
            <a:pPr algn="l"/>
            <a:r>
              <a:rPr sz="1800" b="1">
                <a:solidFill>
                  <a:srgbClr val="0B2C4A"/>
                </a:solidFill>
                <a:latin typeface="Calibri"/>
              </a:rPr>
              <a:t>7.  Obliterate dead space</a:t>
            </a:r>
          </a:p>
        </p:txBody>
      </p:sp>
      <p:sp>
        <p:nvSpPr>
          <p:cNvPr id="35" name="TextBox 34"/>
          <p:cNvSpPr txBox="1"/>
          <p:nvPr/>
        </p:nvSpPr>
        <p:spPr>
          <a:xfrm>
            <a:off x="713232" y="5468112"/>
            <a:ext cx="10881360" cy="621792"/>
          </a:xfrm>
          <a:prstGeom prst="rect">
            <a:avLst/>
          </a:prstGeom>
          <a:noFill/>
        </p:spPr>
        <p:txBody>
          <a:bodyPr wrap="square" anchor="t"/>
          <a:lstStyle/>
          <a:p>
            <a:pPr algn="l"/>
            <a:r>
              <a:rPr sz="1600" b="0">
                <a:solidFill>
                  <a:srgbClr val="3D4A57"/>
                </a:solidFill>
                <a:latin typeface="Calibri"/>
              </a:rPr>
              <a:t>Plan dead space now: sutures, bandage, or a drain with a written pull plan.</a:t>
            </a:r>
          </a:p>
        </p:txBody>
      </p:sp>
      <p:sp>
        <p:nvSpPr>
          <p:cNvPr id="36" name="Rectangle 35"/>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38" name="TextBox 37"/>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4  /  38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TWO TEAM CLOCKS. CPE MOA 2026 ANESTHESIA AND SURGERY.</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The perioperative continuum</a:t>
            </a:r>
          </a:p>
        </p:txBody>
      </p:sp>
      <p:sp>
        <p:nvSpPr>
          <p:cNvPr id="8" name="Rounded Rectangle 7"/>
          <p:cNvSpPr/>
          <p:nvPr/>
        </p:nvSpPr>
        <p:spPr>
          <a:xfrm>
            <a:off x="411480" y="1078992"/>
            <a:ext cx="2743200" cy="3611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078992"/>
            <a:ext cx="2743200" cy="566928"/>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078992"/>
            <a:ext cx="2743200" cy="566928"/>
          </a:xfrm>
          <a:prstGeom prst="rect">
            <a:avLst/>
          </a:prstGeom>
          <a:noFill/>
        </p:spPr>
        <p:txBody>
          <a:bodyPr wrap="square" anchor="ctr"/>
          <a:lstStyle/>
          <a:p>
            <a:pPr algn="ctr"/>
            <a:r>
              <a:rPr sz="1800" b="1">
                <a:solidFill>
                  <a:srgbClr val="FFFFFF"/>
                </a:solidFill>
                <a:latin typeface="Calibri"/>
              </a:rPr>
              <a:t>PRE-OP</a:t>
            </a:r>
          </a:p>
        </p:txBody>
      </p:sp>
      <p:sp>
        <p:nvSpPr>
          <p:cNvPr id="11" name="TextBox 10"/>
          <p:cNvSpPr txBox="1"/>
          <p:nvPr/>
        </p:nvSpPr>
        <p:spPr>
          <a:xfrm>
            <a:off x="557784" y="1755648"/>
            <a:ext cx="2450592" cy="2788920"/>
          </a:xfrm>
          <a:prstGeom prst="rect">
            <a:avLst/>
          </a:prstGeom>
          <a:noFill/>
        </p:spPr>
        <p:txBody>
          <a:bodyPr wrap="square" anchor="t"/>
          <a:lstStyle/>
          <a:p>
            <a:pPr algn="ctr"/>
            <a:r>
              <a:rPr sz="1600" b="0">
                <a:solidFill>
                  <a:srgbClr val="1C1C1C"/>
                </a:solidFill>
                <a:latin typeface="Calibri"/>
              </a:rPr>
              <a:t>PE, labs, ASA
Correct deficits
Premed, induce, MAC
ETT, bag, fluids</a:t>
            </a:r>
          </a:p>
        </p:txBody>
      </p:sp>
      <p:sp>
        <p:nvSpPr>
          <p:cNvPr id="12" name="TextBox 11"/>
          <p:cNvSpPr txBox="1"/>
          <p:nvPr/>
        </p:nvSpPr>
        <p:spPr>
          <a:xfrm>
            <a:off x="2880360" y="2606040"/>
            <a:ext cx="502920" cy="365760"/>
          </a:xfrm>
          <a:prstGeom prst="rect">
            <a:avLst/>
          </a:prstGeom>
          <a:noFill/>
        </p:spPr>
        <p:txBody>
          <a:bodyPr wrap="square" anchor="t"/>
          <a:lstStyle/>
          <a:p>
            <a:pPr algn="ctr"/>
            <a:r>
              <a:rPr sz="2000" b="1">
                <a:solidFill>
                  <a:srgbClr val="C5A35A"/>
                </a:solidFill>
                <a:latin typeface="Calibri"/>
              </a:rPr>
              <a:t>→</a:t>
            </a:r>
          </a:p>
        </p:txBody>
      </p:sp>
      <p:sp>
        <p:nvSpPr>
          <p:cNvPr id="13" name="Rounded Rectangle 12"/>
          <p:cNvSpPr/>
          <p:nvPr/>
        </p:nvSpPr>
        <p:spPr>
          <a:xfrm>
            <a:off x="3337560" y="1078992"/>
            <a:ext cx="2743200" cy="3611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078992"/>
            <a:ext cx="2743200" cy="5669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1078992"/>
            <a:ext cx="2743200" cy="566928"/>
          </a:xfrm>
          <a:prstGeom prst="rect">
            <a:avLst/>
          </a:prstGeom>
          <a:noFill/>
        </p:spPr>
        <p:txBody>
          <a:bodyPr wrap="square" anchor="ctr"/>
          <a:lstStyle/>
          <a:p>
            <a:pPr algn="ctr"/>
            <a:r>
              <a:rPr sz="1800" b="1">
                <a:solidFill>
                  <a:srgbClr val="FFFFFF"/>
                </a:solidFill>
                <a:latin typeface="Calibri"/>
              </a:rPr>
              <a:t>PREP</a:t>
            </a:r>
          </a:p>
        </p:txBody>
      </p:sp>
      <p:sp>
        <p:nvSpPr>
          <p:cNvPr id="16" name="TextBox 15"/>
          <p:cNvSpPr txBox="1"/>
          <p:nvPr/>
        </p:nvSpPr>
        <p:spPr>
          <a:xfrm>
            <a:off x="3483864" y="1755648"/>
            <a:ext cx="2450592" cy="2788920"/>
          </a:xfrm>
          <a:prstGeom prst="rect">
            <a:avLst/>
          </a:prstGeom>
          <a:noFill/>
        </p:spPr>
        <p:txBody>
          <a:bodyPr wrap="square" anchor="t"/>
          <a:lstStyle/>
          <a:p>
            <a:pPr algn="ctr"/>
            <a:r>
              <a:rPr sz="1600" b="0">
                <a:solidFill>
                  <a:srgbClr val="1C1C1C"/>
                </a:solidFill>
                <a:latin typeface="Calibri"/>
              </a:rPr>
              <a:t>Ready for clip:
airway, IV, plane
Hair, skin, position
Drape, gown, glove</a:t>
            </a:r>
          </a:p>
        </p:txBody>
      </p:sp>
      <p:sp>
        <p:nvSpPr>
          <p:cNvPr id="17" name="TextBox 16"/>
          <p:cNvSpPr txBox="1"/>
          <p:nvPr/>
        </p:nvSpPr>
        <p:spPr>
          <a:xfrm>
            <a:off x="5806440" y="2606040"/>
            <a:ext cx="502920" cy="365760"/>
          </a:xfrm>
          <a:prstGeom prst="rect">
            <a:avLst/>
          </a:prstGeom>
          <a:noFill/>
        </p:spPr>
        <p:txBody>
          <a:bodyPr wrap="square" anchor="t"/>
          <a:lstStyle/>
          <a:p>
            <a:pPr algn="ctr"/>
            <a:r>
              <a:rPr sz="2000" b="1">
                <a:solidFill>
                  <a:srgbClr val="C5A35A"/>
                </a:solidFill>
                <a:latin typeface="Calibri"/>
              </a:rPr>
              <a:t>→</a:t>
            </a:r>
          </a:p>
        </p:txBody>
      </p:sp>
      <p:sp>
        <p:nvSpPr>
          <p:cNvPr id="18" name="Rounded Rectangle 17"/>
          <p:cNvSpPr/>
          <p:nvPr/>
        </p:nvSpPr>
        <p:spPr>
          <a:xfrm>
            <a:off x="6263640" y="1078992"/>
            <a:ext cx="2743200" cy="3611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1078992"/>
            <a:ext cx="2743200" cy="56692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078992"/>
            <a:ext cx="2743200" cy="566928"/>
          </a:xfrm>
          <a:prstGeom prst="rect">
            <a:avLst/>
          </a:prstGeom>
          <a:noFill/>
        </p:spPr>
        <p:txBody>
          <a:bodyPr wrap="square" anchor="ctr"/>
          <a:lstStyle/>
          <a:p>
            <a:pPr algn="ctr"/>
            <a:r>
              <a:rPr sz="1800" b="1">
                <a:solidFill>
                  <a:srgbClr val="FFFFFF"/>
                </a:solidFill>
                <a:latin typeface="Calibri"/>
              </a:rPr>
              <a:t>INTRA-OP</a:t>
            </a:r>
          </a:p>
        </p:txBody>
      </p:sp>
      <p:sp>
        <p:nvSpPr>
          <p:cNvPr id="21" name="TextBox 20"/>
          <p:cNvSpPr txBox="1"/>
          <p:nvPr/>
        </p:nvSpPr>
        <p:spPr>
          <a:xfrm>
            <a:off x="6409944" y="1755648"/>
            <a:ext cx="2450592" cy="2788920"/>
          </a:xfrm>
          <a:prstGeom prst="rect">
            <a:avLst/>
          </a:prstGeom>
          <a:noFill/>
        </p:spPr>
        <p:txBody>
          <a:bodyPr wrap="square" anchor="t"/>
          <a:lstStyle/>
          <a:p>
            <a:pPr algn="ctr"/>
            <a:r>
              <a:rPr sz="1600" b="0">
                <a:solidFill>
                  <a:srgbClr val="1C1C1C"/>
                </a:solidFill>
                <a:latin typeface="Calibri"/>
              </a:rPr>
              <a:t>Announce incision
Hold asepsis
Halsted, temp, pain
Record every 5–10 min</a:t>
            </a:r>
          </a:p>
        </p:txBody>
      </p:sp>
      <p:sp>
        <p:nvSpPr>
          <p:cNvPr id="22" name="TextBox 21"/>
          <p:cNvSpPr txBox="1"/>
          <p:nvPr/>
        </p:nvSpPr>
        <p:spPr>
          <a:xfrm>
            <a:off x="8732520" y="2606040"/>
            <a:ext cx="502920" cy="365760"/>
          </a:xfrm>
          <a:prstGeom prst="rect">
            <a:avLst/>
          </a:prstGeom>
          <a:noFill/>
        </p:spPr>
        <p:txBody>
          <a:bodyPr wrap="square" anchor="t"/>
          <a:lstStyle/>
          <a:p>
            <a:pPr algn="ctr"/>
            <a:r>
              <a:rPr sz="2000" b="1">
                <a:solidFill>
                  <a:srgbClr val="C5A35A"/>
                </a:solidFill>
                <a:latin typeface="Calibri"/>
              </a:rPr>
              <a:t>→</a:t>
            </a:r>
          </a:p>
        </p:txBody>
      </p:sp>
      <p:sp>
        <p:nvSpPr>
          <p:cNvPr id="23" name="Rounded Rectangle 22"/>
          <p:cNvSpPr/>
          <p:nvPr/>
        </p:nvSpPr>
        <p:spPr>
          <a:xfrm>
            <a:off x="9189720" y="1078992"/>
            <a:ext cx="2743200" cy="3611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89720" y="1078992"/>
            <a:ext cx="2743200" cy="566928"/>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9720" y="1078992"/>
            <a:ext cx="2743200" cy="566928"/>
          </a:xfrm>
          <a:prstGeom prst="rect">
            <a:avLst/>
          </a:prstGeom>
          <a:noFill/>
        </p:spPr>
        <p:txBody>
          <a:bodyPr wrap="square" anchor="ctr"/>
          <a:lstStyle/>
          <a:p>
            <a:pPr algn="ctr"/>
            <a:r>
              <a:rPr sz="1800" b="1">
                <a:solidFill>
                  <a:srgbClr val="FFFFFF"/>
                </a:solidFill>
                <a:latin typeface="Calibri"/>
              </a:rPr>
              <a:t>POST-OP</a:t>
            </a:r>
          </a:p>
        </p:txBody>
      </p:sp>
      <p:sp>
        <p:nvSpPr>
          <p:cNvPr id="26" name="TextBox 25"/>
          <p:cNvSpPr txBox="1"/>
          <p:nvPr/>
        </p:nvSpPr>
        <p:spPr>
          <a:xfrm>
            <a:off x="9336024" y="1755648"/>
            <a:ext cx="2450592" cy="2788920"/>
          </a:xfrm>
          <a:prstGeom prst="rect">
            <a:avLst/>
          </a:prstGeom>
          <a:noFill/>
        </p:spPr>
        <p:txBody>
          <a:bodyPr wrap="square" anchor="t"/>
          <a:lstStyle/>
          <a:p>
            <a:pPr algn="ctr"/>
            <a:r>
              <a:rPr sz="1600" b="0">
                <a:solidFill>
                  <a:srgbClr val="1C1C1C"/>
                </a:solidFill>
                <a:latin typeface="Calibri"/>
              </a:rPr>
              <a:t>Airway, pain, heat
Watch 24 hours
Report + discharge
Recheck plan</a:t>
            </a:r>
          </a:p>
        </p:txBody>
      </p:sp>
      <p:sp>
        <p:nvSpPr>
          <p:cNvPr id="27" name="Rounded Rectangle 26"/>
          <p:cNvSpPr/>
          <p:nvPr/>
        </p:nvSpPr>
        <p:spPr>
          <a:xfrm>
            <a:off x="411480" y="4828032"/>
            <a:ext cx="5623560" cy="1554480"/>
          </a:xfrm>
          <a:prstGeom prst="roundRect">
            <a:avLst>
              <a:gd name="adj" fmla="val 8000"/>
            </a:avLst>
          </a:prstGeom>
          <a:solidFill>
            <a:srgbClr val="E4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4937760"/>
            <a:ext cx="5303520" cy="365760"/>
          </a:xfrm>
          <a:prstGeom prst="rect">
            <a:avLst/>
          </a:prstGeom>
          <a:noFill/>
        </p:spPr>
        <p:txBody>
          <a:bodyPr wrap="square" anchor="t"/>
          <a:lstStyle/>
          <a:p>
            <a:pPr algn="l"/>
            <a:r>
              <a:rPr sz="1600" b="1">
                <a:solidFill>
                  <a:srgbClr val="1B6B7A"/>
                </a:solidFill>
                <a:latin typeface="Calibri"/>
              </a:rPr>
              <a:t>Anesthesia clock  ·  ready for surgical prep</a:t>
            </a:r>
          </a:p>
        </p:txBody>
      </p:sp>
      <p:sp>
        <p:nvSpPr>
          <p:cNvPr id="29" name="TextBox 28"/>
          <p:cNvSpPr txBox="1"/>
          <p:nvPr/>
        </p:nvSpPr>
        <p:spPr>
          <a:xfrm>
            <a:off x="594360" y="5321808"/>
            <a:ext cx="5303520" cy="914400"/>
          </a:xfrm>
          <a:prstGeom prst="rect">
            <a:avLst/>
          </a:prstGeom>
          <a:noFill/>
        </p:spPr>
        <p:txBody>
          <a:bodyPr wrap="square" anchor="t"/>
          <a:lstStyle/>
          <a:p>
            <a:pPr algn="l"/>
            <a:r>
              <a:rPr sz="1500" b="0">
                <a:solidFill>
                  <a:srgbClr val="1C1C1C"/>
                </a:solidFill>
                <a:latin typeface="Calibri"/>
              </a:rPr>
              <a:t>From the preoperative exam: airway in and secured, machine on, patent IV running, surgical plane, monitoring started. Then call for prep (CPE MOA 2026 Anesthesia).</a:t>
            </a:r>
          </a:p>
        </p:txBody>
      </p:sp>
      <p:sp>
        <p:nvSpPr>
          <p:cNvPr id="30" name="Rounded Rectangle 29"/>
          <p:cNvSpPr/>
          <p:nvPr/>
        </p:nvSpPr>
        <p:spPr>
          <a:xfrm>
            <a:off x="6217920" y="4828032"/>
            <a:ext cx="5532120" cy="1554480"/>
          </a:xfrm>
          <a:prstGeom prst="roundRect">
            <a:avLst>
              <a:gd name="adj" fmla="val 8000"/>
            </a:avLst>
          </a:prstGeom>
          <a:solidFill>
            <a:srgbClr val="F4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4937760"/>
            <a:ext cx="5212080" cy="365760"/>
          </a:xfrm>
          <a:prstGeom prst="rect">
            <a:avLst/>
          </a:prstGeom>
          <a:noFill/>
        </p:spPr>
        <p:txBody>
          <a:bodyPr wrap="square" anchor="t"/>
          <a:lstStyle/>
          <a:p>
            <a:pPr algn="l"/>
            <a:r>
              <a:rPr sz="1600" b="1">
                <a:solidFill>
                  <a:srgbClr val="0B2C4A"/>
                </a:solidFill>
                <a:latin typeface="Calibri"/>
              </a:rPr>
              <a:t>Surgery clock  ·  last skin suture</a:t>
            </a:r>
          </a:p>
        </p:txBody>
      </p:sp>
      <p:sp>
        <p:nvSpPr>
          <p:cNvPr id="32" name="TextBox 31"/>
          <p:cNvSpPr txBox="1"/>
          <p:nvPr/>
        </p:nvSpPr>
        <p:spPr>
          <a:xfrm>
            <a:off x="6400800" y="5321808"/>
            <a:ext cx="5212080" cy="914400"/>
          </a:xfrm>
          <a:prstGeom prst="rect">
            <a:avLst/>
          </a:prstGeom>
          <a:noFill/>
        </p:spPr>
        <p:txBody>
          <a:bodyPr wrap="square" anchor="t"/>
          <a:lstStyle/>
          <a:p>
            <a:pPr algn="l"/>
            <a:r>
              <a:rPr sz="1500" b="0">
                <a:solidFill>
                  <a:srgbClr val="1C1C1C"/>
                </a:solidFill>
                <a:latin typeface="Calibri"/>
              </a:rPr>
              <a:t>From the start of patient preparation to the last skin suture, including re-gowning. Then own the first 24 hours (CPE MOA 2026 Surgery).</a:t>
            </a:r>
          </a:p>
        </p:txBody>
      </p:sp>
      <p:sp>
        <p:nvSpPr>
          <p:cNvPr id="33" name="Rectangle 32"/>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35" name="TextBox 34"/>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5  /  38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CPE MOA 2026 APPENDIX 3: TPR, MM/CRT, THEN PCV, TP, BUN. THEN ASA. THEN PREMED.</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Preoperative physical examination</a:t>
            </a:r>
          </a:p>
        </p:txBody>
      </p:sp>
      <p:sp>
        <p:nvSpPr>
          <p:cNvPr id="8" name="Rounded Rectangle 7"/>
          <p:cNvSpPr/>
          <p:nvPr/>
        </p:nvSpPr>
        <p:spPr>
          <a:xfrm>
            <a:off x="411480" y="1005840"/>
            <a:ext cx="571500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005840"/>
            <a:ext cx="91440" cy="1207008"/>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097280"/>
            <a:ext cx="5303520" cy="329184"/>
          </a:xfrm>
          <a:prstGeom prst="rect">
            <a:avLst/>
          </a:prstGeom>
          <a:noFill/>
        </p:spPr>
        <p:txBody>
          <a:bodyPr wrap="square" anchor="t"/>
          <a:lstStyle/>
          <a:p>
            <a:pPr algn="l"/>
            <a:r>
              <a:rPr sz="1800" b="1">
                <a:solidFill>
                  <a:srgbClr val="0B2C4A"/>
                </a:solidFill>
                <a:latin typeface="Calibri"/>
              </a:rPr>
              <a:t>T  ·  HR  ·  RR</a:t>
            </a:r>
          </a:p>
        </p:txBody>
      </p:sp>
      <p:sp>
        <p:nvSpPr>
          <p:cNvPr id="11" name="TextBox 10"/>
          <p:cNvSpPr txBox="1"/>
          <p:nvPr/>
        </p:nvSpPr>
        <p:spPr>
          <a:xfrm>
            <a:off x="667512" y="1463040"/>
            <a:ext cx="5303520" cy="658368"/>
          </a:xfrm>
          <a:prstGeom prst="rect">
            <a:avLst/>
          </a:prstGeom>
          <a:noFill/>
        </p:spPr>
        <p:txBody>
          <a:bodyPr wrap="square" anchor="t"/>
          <a:lstStyle/>
          <a:p>
            <a:pPr algn="l"/>
            <a:r>
              <a:rPr sz="1600" b="0">
                <a:solidFill>
                  <a:srgbClr val="3D4A57"/>
                </a:solidFill>
                <a:latin typeface="Calibri"/>
              </a:rPr>
              <a:t>Temperature, heart rate, respiratory rate. Write the numbers. Do not copy yesterday’s chart.</a:t>
            </a:r>
          </a:p>
        </p:txBody>
      </p:sp>
      <p:sp>
        <p:nvSpPr>
          <p:cNvPr id="12" name="Rounded Rectangle 11"/>
          <p:cNvSpPr/>
          <p:nvPr/>
        </p:nvSpPr>
        <p:spPr>
          <a:xfrm>
            <a:off x="6309360" y="1005840"/>
            <a:ext cx="571500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005840"/>
            <a:ext cx="91440" cy="1207008"/>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1097280"/>
            <a:ext cx="5303520" cy="329184"/>
          </a:xfrm>
          <a:prstGeom prst="rect">
            <a:avLst/>
          </a:prstGeom>
          <a:noFill/>
        </p:spPr>
        <p:txBody>
          <a:bodyPr wrap="square" anchor="t"/>
          <a:lstStyle/>
          <a:p>
            <a:pPr algn="l"/>
            <a:r>
              <a:rPr sz="1800" b="1">
                <a:solidFill>
                  <a:srgbClr val="0B2C4A"/>
                </a:solidFill>
                <a:latin typeface="Calibri"/>
              </a:rPr>
              <a:t>mm / CRT</a:t>
            </a:r>
          </a:p>
        </p:txBody>
      </p:sp>
      <p:sp>
        <p:nvSpPr>
          <p:cNvPr id="15" name="TextBox 14"/>
          <p:cNvSpPr txBox="1"/>
          <p:nvPr/>
        </p:nvSpPr>
        <p:spPr>
          <a:xfrm>
            <a:off x="6565392" y="1463040"/>
            <a:ext cx="5303520" cy="658368"/>
          </a:xfrm>
          <a:prstGeom prst="rect">
            <a:avLst/>
          </a:prstGeom>
          <a:noFill/>
        </p:spPr>
        <p:txBody>
          <a:bodyPr wrap="square" anchor="t"/>
          <a:lstStyle/>
          <a:p>
            <a:pPr algn="l"/>
            <a:r>
              <a:rPr sz="1600" b="0">
                <a:solidFill>
                  <a:srgbClr val="3D4A57"/>
                </a:solidFill>
                <a:latin typeface="Calibri"/>
              </a:rPr>
              <a:t>Mucous membrane color and capillary refill. Pink vs pale vs injected. CRT in seconds.</a:t>
            </a:r>
          </a:p>
        </p:txBody>
      </p:sp>
      <p:sp>
        <p:nvSpPr>
          <p:cNvPr id="16" name="Rounded Rectangle 15"/>
          <p:cNvSpPr/>
          <p:nvPr/>
        </p:nvSpPr>
        <p:spPr>
          <a:xfrm>
            <a:off x="411480" y="2304288"/>
            <a:ext cx="571500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304288"/>
            <a:ext cx="91440" cy="1207008"/>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395728"/>
            <a:ext cx="5303520" cy="329184"/>
          </a:xfrm>
          <a:prstGeom prst="rect">
            <a:avLst/>
          </a:prstGeom>
          <a:noFill/>
        </p:spPr>
        <p:txBody>
          <a:bodyPr wrap="square" anchor="t"/>
          <a:lstStyle/>
          <a:p>
            <a:pPr algn="l"/>
            <a:r>
              <a:rPr sz="1800" b="1">
                <a:solidFill>
                  <a:srgbClr val="0B2C4A"/>
                </a:solidFill>
                <a:latin typeface="Calibri"/>
              </a:rPr>
              <a:t>Heart and lungs</a:t>
            </a:r>
          </a:p>
        </p:txBody>
      </p:sp>
      <p:sp>
        <p:nvSpPr>
          <p:cNvPr id="19" name="TextBox 18"/>
          <p:cNvSpPr txBox="1"/>
          <p:nvPr/>
        </p:nvSpPr>
        <p:spPr>
          <a:xfrm>
            <a:off x="667512" y="2761488"/>
            <a:ext cx="5303520" cy="658368"/>
          </a:xfrm>
          <a:prstGeom prst="rect">
            <a:avLst/>
          </a:prstGeom>
          <a:noFill/>
        </p:spPr>
        <p:txBody>
          <a:bodyPr wrap="square" anchor="t"/>
          <a:lstStyle/>
          <a:p>
            <a:pPr algn="l"/>
            <a:r>
              <a:rPr sz="1600" b="0">
                <a:solidFill>
                  <a:srgbClr val="3D4A57"/>
                </a:solidFill>
                <a:latin typeface="Calibri"/>
              </a:rPr>
              <a:t>Auscultate both sides. Record any murmur, arrhythmia, or crackles before you choose drugs.</a:t>
            </a:r>
          </a:p>
        </p:txBody>
      </p:sp>
      <p:sp>
        <p:nvSpPr>
          <p:cNvPr id="20" name="Rounded Rectangle 19"/>
          <p:cNvSpPr/>
          <p:nvPr/>
        </p:nvSpPr>
        <p:spPr>
          <a:xfrm>
            <a:off x="6309360" y="2304288"/>
            <a:ext cx="571500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2304288"/>
            <a:ext cx="91440" cy="1207008"/>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395728"/>
            <a:ext cx="5303520" cy="329184"/>
          </a:xfrm>
          <a:prstGeom prst="rect">
            <a:avLst/>
          </a:prstGeom>
          <a:noFill/>
        </p:spPr>
        <p:txBody>
          <a:bodyPr wrap="square" anchor="t"/>
          <a:lstStyle/>
          <a:p>
            <a:pPr algn="l"/>
            <a:r>
              <a:rPr sz="1800" b="1">
                <a:solidFill>
                  <a:srgbClr val="0B2C4A"/>
                </a:solidFill>
                <a:latin typeface="Calibri"/>
              </a:rPr>
              <a:t>Hydration + site</a:t>
            </a:r>
          </a:p>
        </p:txBody>
      </p:sp>
      <p:sp>
        <p:nvSpPr>
          <p:cNvPr id="23" name="TextBox 22"/>
          <p:cNvSpPr txBox="1"/>
          <p:nvPr/>
        </p:nvSpPr>
        <p:spPr>
          <a:xfrm>
            <a:off x="6565392" y="2761488"/>
            <a:ext cx="5303520" cy="658368"/>
          </a:xfrm>
          <a:prstGeom prst="rect">
            <a:avLst/>
          </a:prstGeom>
          <a:noFill/>
        </p:spPr>
        <p:txBody>
          <a:bodyPr wrap="square" anchor="t"/>
          <a:lstStyle/>
          <a:p>
            <a:pPr algn="l"/>
            <a:r>
              <a:rPr sz="1600" b="0">
                <a:solidFill>
                  <a:srgbClr val="3D4A57"/>
                </a:solidFill>
                <a:latin typeface="Calibri"/>
              </a:rPr>
              <a:t>Skin tent, tacky mm. Look at the surgical site: pyoderma, heat, pain. Abdomen if you might open it.</a:t>
            </a:r>
          </a:p>
        </p:txBody>
      </p:sp>
      <p:sp>
        <p:nvSpPr>
          <p:cNvPr id="24" name="Rectangle 23"/>
          <p:cNvSpPr/>
          <p:nvPr/>
        </p:nvSpPr>
        <p:spPr>
          <a:xfrm>
            <a:off x="411480" y="3675887"/>
            <a:ext cx="11338560" cy="38404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3675887"/>
            <a:ext cx="11155680" cy="384048"/>
          </a:xfrm>
          <a:prstGeom prst="rect">
            <a:avLst/>
          </a:prstGeom>
          <a:noFill/>
        </p:spPr>
        <p:txBody>
          <a:bodyPr wrap="square" anchor="ctr"/>
          <a:lstStyle/>
          <a:p>
            <a:pPr algn="ctr"/>
            <a:r>
              <a:rPr sz="1600" b="1">
                <a:solidFill>
                  <a:srgbClr val="C5A35A"/>
                </a:solidFill>
                <a:latin typeface="Calibri"/>
              </a:rPr>
              <a:t>Minimum labs on the anesthesia record  ·  PCV, TP, BUN  (CPE MOA 2026 Appendix 3)</a:t>
            </a:r>
          </a:p>
        </p:txBody>
      </p:sp>
      <p:sp>
        <p:nvSpPr>
          <p:cNvPr id="26" name="Rounded Rectangle 25"/>
          <p:cNvSpPr/>
          <p:nvPr/>
        </p:nvSpPr>
        <p:spPr>
          <a:xfrm>
            <a:off x="411480" y="4133087"/>
            <a:ext cx="3657600" cy="2331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133087"/>
            <a:ext cx="3657600" cy="438912"/>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4133087"/>
            <a:ext cx="3657600" cy="438912"/>
          </a:xfrm>
          <a:prstGeom prst="rect">
            <a:avLst/>
          </a:prstGeom>
          <a:noFill/>
        </p:spPr>
        <p:txBody>
          <a:bodyPr wrap="square" anchor="ctr"/>
          <a:lstStyle/>
          <a:p>
            <a:pPr algn="ctr"/>
            <a:r>
              <a:rPr sz="2000" b="1">
                <a:solidFill>
                  <a:srgbClr val="0B2C4A"/>
                </a:solidFill>
                <a:latin typeface="Calibri"/>
              </a:rPr>
              <a:t>PCV</a:t>
            </a:r>
          </a:p>
        </p:txBody>
      </p:sp>
      <p:sp>
        <p:nvSpPr>
          <p:cNvPr id="29" name="TextBox 28"/>
          <p:cNvSpPr txBox="1"/>
          <p:nvPr/>
        </p:nvSpPr>
        <p:spPr>
          <a:xfrm>
            <a:off x="548640" y="4663440"/>
            <a:ext cx="3383280" cy="1664208"/>
          </a:xfrm>
          <a:prstGeom prst="rect">
            <a:avLst/>
          </a:prstGeom>
          <a:noFill/>
        </p:spPr>
        <p:txBody>
          <a:bodyPr wrap="square" anchor="t"/>
          <a:lstStyle/>
          <a:p>
            <a:pPr algn="l"/>
            <a:r>
              <a:rPr sz="1600" b="0">
                <a:solidFill>
                  <a:srgbClr val="1C1C1C"/>
                </a:solidFill>
                <a:latin typeface="Calibri"/>
              </a:rPr>
              <a:t>Oxygen-carrying capacity. Anemia vs hemoconcentration. With TP: dehydration vs blood loss.</a:t>
            </a:r>
          </a:p>
        </p:txBody>
      </p:sp>
      <p:sp>
        <p:nvSpPr>
          <p:cNvPr id="30" name="Rounded Rectangle 29"/>
          <p:cNvSpPr/>
          <p:nvPr/>
        </p:nvSpPr>
        <p:spPr>
          <a:xfrm>
            <a:off x="4206240" y="4133087"/>
            <a:ext cx="3657600" cy="2331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06240" y="4133087"/>
            <a:ext cx="3657600" cy="438912"/>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06240" y="4133087"/>
            <a:ext cx="3657600" cy="438912"/>
          </a:xfrm>
          <a:prstGeom prst="rect">
            <a:avLst/>
          </a:prstGeom>
          <a:noFill/>
        </p:spPr>
        <p:txBody>
          <a:bodyPr wrap="square" anchor="ctr"/>
          <a:lstStyle/>
          <a:p>
            <a:pPr algn="ctr"/>
            <a:r>
              <a:rPr sz="2000" b="1">
                <a:solidFill>
                  <a:srgbClr val="0B2C4A"/>
                </a:solidFill>
                <a:latin typeface="Calibri"/>
              </a:rPr>
              <a:t>TP</a:t>
            </a:r>
          </a:p>
        </p:txBody>
      </p:sp>
      <p:sp>
        <p:nvSpPr>
          <p:cNvPr id="33" name="TextBox 32"/>
          <p:cNvSpPr txBox="1"/>
          <p:nvPr/>
        </p:nvSpPr>
        <p:spPr>
          <a:xfrm>
            <a:off x="4343400" y="4663440"/>
            <a:ext cx="3383280" cy="1664208"/>
          </a:xfrm>
          <a:prstGeom prst="rect">
            <a:avLst/>
          </a:prstGeom>
          <a:noFill/>
        </p:spPr>
        <p:txBody>
          <a:bodyPr wrap="square" anchor="t"/>
          <a:lstStyle/>
          <a:p>
            <a:pPr algn="l"/>
            <a:r>
              <a:rPr sz="1600" b="0">
                <a:solidFill>
                  <a:srgbClr val="1C1C1C"/>
                </a:solidFill>
                <a:latin typeface="Calibri"/>
              </a:rPr>
              <a:t>Protein / oncotic pressure. High with PCV: dehydration. Low: loss, liver, or dilution. Changes fluids and healing.</a:t>
            </a:r>
          </a:p>
        </p:txBody>
      </p:sp>
      <p:sp>
        <p:nvSpPr>
          <p:cNvPr id="34" name="Rounded Rectangle 33"/>
          <p:cNvSpPr/>
          <p:nvPr/>
        </p:nvSpPr>
        <p:spPr>
          <a:xfrm>
            <a:off x="8001000" y="4133087"/>
            <a:ext cx="3657600" cy="2331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01000" y="4133087"/>
            <a:ext cx="3657600" cy="438912"/>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01000" y="4133087"/>
            <a:ext cx="3657600" cy="438912"/>
          </a:xfrm>
          <a:prstGeom prst="rect">
            <a:avLst/>
          </a:prstGeom>
          <a:noFill/>
        </p:spPr>
        <p:txBody>
          <a:bodyPr wrap="square" anchor="ctr"/>
          <a:lstStyle/>
          <a:p>
            <a:pPr algn="ctr"/>
            <a:r>
              <a:rPr sz="2000" b="1">
                <a:solidFill>
                  <a:srgbClr val="0B2C4A"/>
                </a:solidFill>
                <a:latin typeface="Calibri"/>
              </a:rPr>
              <a:t>BUN</a:t>
            </a:r>
          </a:p>
        </p:txBody>
      </p:sp>
      <p:sp>
        <p:nvSpPr>
          <p:cNvPr id="37" name="TextBox 36"/>
          <p:cNvSpPr txBox="1"/>
          <p:nvPr/>
        </p:nvSpPr>
        <p:spPr>
          <a:xfrm>
            <a:off x="8138160" y="4663440"/>
            <a:ext cx="3383280" cy="1664208"/>
          </a:xfrm>
          <a:prstGeom prst="rect">
            <a:avLst/>
          </a:prstGeom>
          <a:noFill/>
        </p:spPr>
        <p:txBody>
          <a:bodyPr wrap="square" anchor="t"/>
          <a:lstStyle/>
          <a:p>
            <a:pPr algn="l"/>
            <a:r>
              <a:rPr sz="1600" b="0">
                <a:solidFill>
                  <a:srgbClr val="1C1C1C"/>
                </a:solidFill>
                <a:latin typeface="Calibri"/>
              </a:rPr>
              <a:t>Kidney, hydration, GI bleed. Azotemia: skip NSAIDs, rethink fluids, maybe do not cut today.</a:t>
            </a:r>
          </a:p>
        </p:txBody>
      </p:sp>
      <p:sp>
        <p:nvSpPr>
          <p:cNvPr id="38" name="Rectangle 37"/>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40" name="TextBox 39"/>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6  /  38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GRUBB ET AL. 2020 AAHA TABLE. CPE MOA 2026 ANESTHESIA APPENDIX 2 USES THE SAME 1–5 SCALE.</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ASA physical status</a:t>
            </a:r>
          </a:p>
        </p:txBody>
      </p:sp>
      <p:sp>
        <p:nvSpPr>
          <p:cNvPr id="8" name="Rectangle 7"/>
          <p:cNvSpPr/>
          <p:nvPr/>
        </p:nvSpPr>
        <p:spPr>
          <a:xfrm>
            <a:off x="411480" y="1051560"/>
            <a:ext cx="11338560" cy="43891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051560"/>
            <a:ext cx="2194560" cy="438912"/>
          </a:xfrm>
          <a:prstGeom prst="rect">
            <a:avLst/>
          </a:prstGeom>
          <a:noFill/>
        </p:spPr>
        <p:txBody>
          <a:bodyPr wrap="square" anchor="ctr"/>
          <a:lstStyle/>
          <a:p>
            <a:pPr algn="l"/>
            <a:r>
              <a:rPr sz="1600" b="1">
                <a:solidFill>
                  <a:srgbClr val="C5A35A"/>
                </a:solidFill>
                <a:latin typeface="Calibri"/>
              </a:rPr>
              <a:t>ASA status</a:t>
            </a:r>
          </a:p>
        </p:txBody>
      </p:sp>
      <p:sp>
        <p:nvSpPr>
          <p:cNvPr id="10" name="TextBox 9"/>
          <p:cNvSpPr txBox="1"/>
          <p:nvPr/>
        </p:nvSpPr>
        <p:spPr>
          <a:xfrm>
            <a:off x="2743200" y="1051560"/>
            <a:ext cx="5303520" cy="438912"/>
          </a:xfrm>
          <a:prstGeom prst="rect">
            <a:avLst/>
          </a:prstGeom>
          <a:noFill/>
        </p:spPr>
        <p:txBody>
          <a:bodyPr wrap="square" anchor="ctr"/>
          <a:lstStyle/>
          <a:p>
            <a:pPr algn="l"/>
            <a:r>
              <a:rPr sz="1600" b="1">
                <a:solidFill>
                  <a:srgbClr val="FFFFFF"/>
                </a:solidFill>
                <a:latin typeface="Calibri"/>
              </a:rPr>
              <a:t>Definition</a:t>
            </a:r>
          </a:p>
        </p:txBody>
      </p:sp>
      <p:sp>
        <p:nvSpPr>
          <p:cNvPr id="11" name="TextBox 10"/>
          <p:cNvSpPr txBox="1"/>
          <p:nvPr/>
        </p:nvSpPr>
        <p:spPr>
          <a:xfrm>
            <a:off x="8138160" y="1051560"/>
            <a:ext cx="3474720" cy="438912"/>
          </a:xfrm>
          <a:prstGeom prst="rect">
            <a:avLst/>
          </a:prstGeom>
          <a:noFill/>
        </p:spPr>
        <p:txBody>
          <a:bodyPr wrap="square" anchor="ctr"/>
          <a:lstStyle/>
          <a:p>
            <a:pPr algn="l"/>
            <a:r>
              <a:rPr sz="1600" b="1">
                <a:solidFill>
                  <a:srgbClr val="FFFFFF"/>
                </a:solidFill>
                <a:latin typeface="Calibri"/>
              </a:rPr>
              <a:t>Example</a:t>
            </a:r>
          </a:p>
        </p:txBody>
      </p:sp>
      <p:sp>
        <p:nvSpPr>
          <p:cNvPr id="12" name="Rounded Rectangle 11"/>
          <p:cNvSpPr/>
          <p:nvPr/>
        </p:nvSpPr>
        <p:spPr>
          <a:xfrm>
            <a:off x="411480" y="1536192"/>
            <a:ext cx="11338560"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1536192"/>
            <a:ext cx="2148840" cy="804672"/>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1536192"/>
            <a:ext cx="2148840" cy="804672"/>
          </a:xfrm>
          <a:prstGeom prst="rect">
            <a:avLst/>
          </a:prstGeom>
          <a:noFill/>
        </p:spPr>
        <p:txBody>
          <a:bodyPr wrap="square" anchor="ctr"/>
          <a:lstStyle/>
          <a:p>
            <a:pPr algn="ctr"/>
            <a:r>
              <a:rPr sz="2000" b="1">
                <a:solidFill>
                  <a:srgbClr val="FFFFFF"/>
                </a:solidFill>
                <a:latin typeface="Calibri"/>
              </a:rPr>
              <a:t>Status 1</a:t>
            </a:r>
          </a:p>
        </p:txBody>
      </p:sp>
      <p:sp>
        <p:nvSpPr>
          <p:cNvPr id="15" name="TextBox 14"/>
          <p:cNvSpPr txBox="1"/>
          <p:nvPr/>
        </p:nvSpPr>
        <p:spPr>
          <a:xfrm>
            <a:off x="2697480" y="1609344"/>
            <a:ext cx="5257800" cy="658368"/>
          </a:xfrm>
          <a:prstGeom prst="rect">
            <a:avLst/>
          </a:prstGeom>
          <a:noFill/>
        </p:spPr>
        <p:txBody>
          <a:bodyPr wrap="square" anchor="ctr"/>
          <a:lstStyle/>
          <a:p>
            <a:pPr algn="l"/>
            <a:r>
              <a:rPr sz="1600" b="0">
                <a:solidFill>
                  <a:srgbClr val="1C1C1C"/>
                </a:solidFill>
                <a:latin typeface="Calibri"/>
              </a:rPr>
              <a:t>Normal healthy patient</a:t>
            </a:r>
          </a:p>
        </p:txBody>
      </p:sp>
      <p:sp>
        <p:nvSpPr>
          <p:cNvPr id="16" name="TextBox 15"/>
          <p:cNvSpPr txBox="1"/>
          <p:nvPr/>
        </p:nvSpPr>
        <p:spPr>
          <a:xfrm>
            <a:off x="8092440" y="1609344"/>
            <a:ext cx="3474720" cy="658368"/>
          </a:xfrm>
          <a:prstGeom prst="rect">
            <a:avLst/>
          </a:prstGeom>
          <a:noFill/>
        </p:spPr>
        <p:txBody>
          <a:bodyPr wrap="square" anchor="ctr"/>
          <a:lstStyle/>
          <a:p>
            <a:pPr algn="l"/>
            <a:r>
              <a:rPr sz="1600" b="0">
                <a:solidFill>
                  <a:srgbClr val="3D4A57"/>
                </a:solidFill>
                <a:latin typeface="Calibri"/>
              </a:rPr>
              <a:t>Healthy patient for neutering</a:t>
            </a:r>
          </a:p>
        </p:txBody>
      </p:sp>
      <p:sp>
        <p:nvSpPr>
          <p:cNvPr id="17" name="Rounded Rectangle 16"/>
          <p:cNvSpPr/>
          <p:nvPr/>
        </p:nvSpPr>
        <p:spPr>
          <a:xfrm>
            <a:off x="411480" y="2404872"/>
            <a:ext cx="11338560"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2404872"/>
            <a:ext cx="2148840" cy="804672"/>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404872"/>
            <a:ext cx="2148840" cy="804672"/>
          </a:xfrm>
          <a:prstGeom prst="rect">
            <a:avLst/>
          </a:prstGeom>
          <a:noFill/>
        </p:spPr>
        <p:txBody>
          <a:bodyPr wrap="square" anchor="ctr"/>
          <a:lstStyle/>
          <a:p>
            <a:pPr algn="ctr"/>
            <a:r>
              <a:rPr sz="2000" b="1">
                <a:solidFill>
                  <a:srgbClr val="FFFFFF"/>
                </a:solidFill>
                <a:latin typeface="Calibri"/>
              </a:rPr>
              <a:t>Status 2</a:t>
            </a:r>
          </a:p>
        </p:txBody>
      </p:sp>
      <p:sp>
        <p:nvSpPr>
          <p:cNvPr id="20" name="TextBox 19"/>
          <p:cNvSpPr txBox="1"/>
          <p:nvPr/>
        </p:nvSpPr>
        <p:spPr>
          <a:xfrm>
            <a:off x="2697480" y="2478024"/>
            <a:ext cx="5257800" cy="658368"/>
          </a:xfrm>
          <a:prstGeom prst="rect">
            <a:avLst/>
          </a:prstGeom>
          <a:noFill/>
        </p:spPr>
        <p:txBody>
          <a:bodyPr wrap="square" anchor="ctr"/>
          <a:lstStyle/>
          <a:p>
            <a:pPr algn="l"/>
            <a:r>
              <a:rPr sz="1600" b="0">
                <a:solidFill>
                  <a:srgbClr val="1C1C1C"/>
                </a:solidFill>
                <a:latin typeface="Calibri"/>
              </a:rPr>
              <a:t>Patient with mild systemic disease</a:t>
            </a:r>
          </a:p>
        </p:txBody>
      </p:sp>
      <p:sp>
        <p:nvSpPr>
          <p:cNvPr id="21" name="TextBox 20"/>
          <p:cNvSpPr txBox="1"/>
          <p:nvPr/>
        </p:nvSpPr>
        <p:spPr>
          <a:xfrm>
            <a:off x="8092440" y="2478024"/>
            <a:ext cx="3474720" cy="658368"/>
          </a:xfrm>
          <a:prstGeom prst="rect">
            <a:avLst/>
          </a:prstGeom>
          <a:noFill/>
        </p:spPr>
        <p:txBody>
          <a:bodyPr wrap="square" anchor="ctr"/>
          <a:lstStyle/>
          <a:p>
            <a:pPr algn="l"/>
            <a:r>
              <a:rPr sz="1600" b="0">
                <a:solidFill>
                  <a:srgbClr val="3D4A57"/>
                </a:solidFill>
                <a:latin typeface="Calibri"/>
              </a:rPr>
              <a:t>Well compensated mild mitral degeneration</a:t>
            </a:r>
          </a:p>
        </p:txBody>
      </p:sp>
      <p:sp>
        <p:nvSpPr>
          <p:cNvPr id="22" name="Rounded Rectangle 21"/>
          <p:cNvSpPr/>
          <p:nvPr/>
        </p:nvSpPr>
        <p:spPr>
          <a:xfrm>
            <a:off x="411480" y="3273552"/>
            <a:ext cx="11338560"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3273552"/>
            <a:ext cx="2148840" cy="804672"/>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3273552"/>
            <a:ext cx="2148840" cy="804672"/>
          </a:xfrm>
          <a:prstGeom prst="rect">
            <a:avLst/>
          </a:prstGeom>
          <a:noFill/>
        </p:spPr>
        <p:txBody>
          <a:bodyPr wrap="square" anchor="ctr"/>
          <a:lstStyle/>
          <a:p>
            <a:pPr algn="ctr"/>
            <a:r>
              <a:rPr sz="2000" b="1">
                <a:solidFill>
                  <a:srgbClr val="FFFFFF"/>
                </a:solidFill>
                <a:latin typeface="Calibri"/>
              </a:rPr>
              <a:t>Status 3</a:t>
            </a:r>
          </a:p>
        </p:txBody>
      </p:sp>
      <p:sp>
        <p:nvSpPr>
          <p:cNvPr id="25" name="TextBox 24"/>
          <p:cNvSpPr txBox="1"/>
          <p:nvPr/>
        </p:nvSpPr>
        <p:spPr>
          <a:xfrm>
            <a:off x="2697480" y="3346704"/>
            <a:ext cx="5257800" cy="658368"/>
          </a:xfrm>
          <a:prstGeom prst="rect">
            <a:avLst/>
          </a:prstGeom>
          <a:noFill/>
        </p:spPr>
        <p:txBody>
          <a:bodyPr wrap="square" anchor="ctr"/>
          <a:lstStyle/>
          <a:p>
            <a:pPr algn="l"/>
            <a:r>
              <a:rPr sz="1600" b="0">
                <a:solidFill>
                  <a:srgbClr val="1C1C1C"/>
                </a:solidFill>
                <a:latin typeface="Calibri"/>
              </a:rPr>
              <a:t>Patient with moderate systemic disease</a:t>
            </a:r>
          </a:p>
        </p:txBody>
      </p:sp>
      <p:sp>
        <p:nvSpPr>
          <p:cNvPr id="26" name="TextBox 25"/>
          <p:cNvSpPr txBox="1"/>
          <p:nvPr/>
        </p:nvSpPr>
        <p:spPr>
          <a:xfrm>
            <a:off x="8092440" y="3346704"/>
            <a:ext cx="3474720" cy="658368"/>
          </a:xfrm>
          <a:prstGeom prst="rect">
            <a:avLst/>
          </a:prstGeom>
          <a:noFill/>
        </p:spPr>
        <p:txBody>
          <a:bodyPr wrap="square" anchor="ctr"/>
          <a:lstStyle/>
          <a:p>
            <a:pPr algn="l"/>
            <a:r>
              <a:rPr sz="1600" b="0">
                <a:solidFill>
                  <a:srgbClr val="3D4A57"/>
                </a:solidFill>
                <a:latin typeface="Calibri"/>
              </a:rPr>
              <a:t>Cat with CKD, IRIS stage 3</a:t>
            </a:r>
          </a:p>
        </p:txBody>
      </p:sp>
      <p:sp>
        <p:nvSpPr>
          <p:cNvPr id="27" name="Rounded Rectangle 26"/>
          <p:cNvSpPr/>
          <p:nvPr/>
        </p:nvSpPr>
        <p:spPr>
          <a:xfrm>
            <a:off x="411480" y="4142231"/>
            <a:ext cx="11338560"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4142231"/>
            <a:ext cx="2148840" cy="804672"/>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4142231"/>
            <a:ext cx="2148840" cy="804672"/>
          </a:xfrm>
          <a:prstGeom prst="rect">
            <a:avLst/>
          </a:prstGeom>
          <a:noFill/>
        </p:spPr>
        <p:txBody>
          <a:bodyPr wrap="square" anchor="ctr"/>
          <a:lstStyle/>
          <a:p>
            <a:pPr algn="ctr"/>
            <a:r>
              <a:rPr sz="2000" b="1">
                <a:solidFill>
                  <a:srgbClr val="FFFFFF"/>
                </a:solidFill>
                <a:latin typeface="Calibri"/>
              </a:rPr>
              <a:t>Status 4</a:t>
            </a:r>
          </a:p>
        </p:txBody>
      </p:sp>
      <p:sp>
        <p:nvSpPr>
          <p:cNvPr id="30" name="TextBox 29"/>
          <p:cNvSpPr txBox="1"/>
          <p:nvPr/>
        </p:nvSpPr>
        <p:spPr>
          <a:xfrm>
            <a:off x="2697480" y="4215383"/>
            <a:ext cx="5257800" cy="658368"/>
          </a:xfrm>
          <a:prstGeom prst="rect">
            <a:avLst/>
          </a:prstGeom>
          <a:noFill/>
        </p:spPr>
        <p:txBody>
          <a:bodyPr wrap="square" anchor="ctr"/>
          <a:lstStyle/>
          <a:p>
            <a:pPr algn="l"/>
            <a:r>
              <a:rPr sz="1600" b="0">
                <a:solidFill>
                  <a:srgbClr val="1C1C1C"/>
                </a:solidFill>
                <a:latin typeface="Calibri"/>
              </a:rPr>
              <a:t>Severe systemic disease; constant threat to life</a:t>
            </a:r>
          </a:p>
        </p:txBody>
      </p:sp>
      <p:sp>
        <p:nvSpPr>
          <p:cNvPr id="31" name="TextBox 30"/>
          <p:cNvSpPr txBox="1"/>
          <p:nvPr/>
        </p:nvSpPr>
        <p:spPr>
          <a:xfrm>
            <a:off x="8092440" y="4215383"/>
            <a:ext cx="3474720" cy="658368"/>
          </a:xfrm>
          <a:prstGeom prst="rect">
            <a:avLst/>
          </a:prstGeom>
          <a:noFill/>
        </p:spPr>
        <p:txBody>
          <a:bodyPr wrap="square" anchor="ctr"/>
          <a:lstStyle/>
          <a:p>
            <a:pPr algn="l"/>
            <a:r>
              <a:rPr sz="1600" b="0">
                <a:solidFill>
                  <a:srgbClr val="3D4A57"/>
                </a:solidFill>
                <a:latin typeface="Calibri"/>
              </a:rPr>
              <a:t>Hemoabdomen, bleeding splenic mass</a:t>
            </a:r>
          </a:p>
        </p:txBody>
      </p:sp>
      <p:sp>
        <p:nvSpPr>
          <p:cNvPr id="32" name="Rounded Rectangle 31"/>
          <p:cNvSpPr/>
          <p:nvPr/>
        </p:nvSpPr>
        <p:spPr>
          <a:xfrm>
            <a:off x="411480" y="5010912"/>
            <a:ext cx="11338560"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11480" y="5010912"/>
            <a:ext cx="2148840" cy="80467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5010912"/>
            <a:ext cx="2148840" cy="804672"/>
          </a:xfrm>
          <a:prstGeom prst="rect">
            <a:avLst/>
          </a:prstGeom>
          <a:noFill/>
        </p:spPr>
        <p:txBody>
          <a:bodyPr wrap="square" anchor="ctr"/>
          <a:lstStyle/>
          <a:p>
            <a:pPr algn="ctr"/>
            <a:r>
              <a:rPr sz="2000" b="1">
                <a:solidFill>
                  <a:srgbClr val="FFFFFF"/>
                </a:solidFill>
                <a:latin typeface="Calibri"/>
              </a:rPr>
              <a:t>Status 5</a:t>
            </a:r>
          </a:p>
        </p:txBody>
      </p:sp>
      <p:sp>
        <p:nvSpPr>
          <p:cNvPr id="35" name="TextBox 34"/>
          <p:cNvSpPr txBox="1"/>
          <p:nvPr/>
        </p:nvSpPr>
        <p:spPr>
          <a:xfrm>
            <a:off x="2697480" y="5084064"/>
            <a:ext cx="5257800" cy="658368"/>
          </a:xfrm>
          <a:prstGeom prst="rect">
            <a:avLst/>
          </a:prstGeom>
          <a:noFill/>
        </p:spPr>
        <p:txBody>
          <a:bodyPr wrap="square" anchor="ctr"/>
          <a:lstStyle/>
          <a:p>
            <a:pPr algn="l"/>
            <a:r>
              <a:rPr sz="1600" b="0">
                <a:solidFill>
                  <a:srgbClr val="1C1C1C"/>
                </a:solidFill>
                <a:latin typeface="Calibri"/>
              </a:rPr>
              <a:t>Moribund; not expected to survive without the operation</a:t>
            </a:r>
          </a:p>
        </p:txBody>
      </p:sp>
      <p:sp>
        <p:nvSpPr>
          <p:cNvPr id="36" name="TextBox 35"/>
          <p:cNvSpPr txBox="1"/>
          <p:nvPr/>
        </p:nvSpPr>
        <p:spPr>
          <a:xfrm>
            <a:off x="8092440" y="5084064"/>
            <a:ext cx="3474720" cy="658368"/>
          </a:xfrm>
          <a:prstGeom prst="rect">
            <a:avLst/>
          </a:prstGeom>
          <a:noFill/>
        </p:spPr>
        <p:txBody>
          <a:bodyPr wrap="square" anchor="ctr"/>
          <a:lstStyle/>
          <a:p>
            <a:pPr algn="l"/>
            <a:r>
              <a:rPr sz="1600" b="0">
                <a:solidFill>
                  <a:srgbClr val="3D4A57"/>
                </a:solidFill>
                <a:latin typeface="Calibri"/>
              </a:rPr>
              <a:t>Hypotensive, hypothermic, obtunded septic cat</a:t>
            </a:r>
          </a:p>
        </p:txBody>
      </p:sp>
      <p:sp>
        <p:nvSpPr>
          <p:cNvPr id="37" name="Rounded Rectangle 36"/>
          <p:cNvSpPr/>
          <p:nvPr/>
        </p:nvSpPr>
        <p:spPr>
          <a:xfrm>
            <a:off x="411480" y="5925312"/>
            <a:ext cx="11338560" cy="502920"/>
          </a:xfrm>
          <a:prstGeom prst="roundRect">
            <a:avLst>
              <a:gd name="adj" fmla="val 8000"/>
            </a:avLst>
          </a:prstGeom>
          <a:solidFill>
            <a:srgbClr val="F4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5925312"/>
            <a:ext cx="11018520" cy="502920"/>
          </a:xfrm>
          <a:prstGeom prst="rect">
            <a:avLst/>
          </a:prstGeom>
          <a:noFill/>
        </p:spPr>
        <p:txBody>
          <a:bodyPr wrap="square" anchor="ctr"/>
          <a:lstStyle/>
          <a:p>
            <a:pPr algn="l"/>
            <a:r>
              <a:rPr sz="1600" b="0">
                <a:solidFill>
                  <a:srgbClr val="0B2C4A"/>
                </a:solidFill>
                <a:latin typeface="Calibri"/>
              </a:rPr>
              <a:t>E = emergency. Status 3 is compensated. Status 4 is uncompensated and a threat to life. Today’s PE writes the number.</a:t>
            </a:r>
          </a:p>
        </p:txBody>
      </p:sp>
      <p:sp>
        <p:nvSpPr>
          <p:cNvPr id="39" name="Rectangle 38"/>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41" name="TextBox 40"/>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7  /  38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ASSIGN STATUS, THEN SAY WHETHER YOU PROCEED TODAY</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ASA practice cases</a:t>
            </a:r>
          </a:p>
        </p:txBody>
      </p:sp>
      <p:sp>
        <p:nvSpPr>
          <p:cNvPr id="8" name="Rounded Rectangle 7"/>
          <p:cNvSpPr/>
          <p:nvPr/>
        </p:nvSpPr>
        <p:spPr>
          <a:xfrm>
            <a:off x="457200" y="1078992"/>
            <a:ext cx="11247120" cy="1188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78992"/>
            <a:ext cx="777240" cy="1188720"/>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078992"/>
            <a:ext cx="777240" cy="1188720"/>
          </a:xfrm>
          <a:prstGeom prst="rect">
            <a:avLst/>
          </a:prstGeom>
          <a:noFill/>
        </p:spPr>
        <p:txBody>
          <a:bodyPr wrap="square" anchor="ctr"/>
          <a:lstStyle/>
          <a:p>
            <a:pPr algn="ctr"/>
            <a:r>
              <a:rPr sz="2200" b="1">
                <a:solidFill>
                  <a:srgbClr val="FFFFFF"/>
                </a:solidFill>
                <a:latin typeface="Calibri"/>
              </a:rPr>
              <a:t>A</a:t>
            </a:r>
          </a:p>
        </p:txBody>
      </p:sp>
      <p:sp>
        <p:nvSpPr>
          <p:cNvPr id="11" name="TextBox 10"/>
          <p:cNvSpPr txBox="1"/>
          <p:nvPr/>
        </p:nvSpPr>
        <p:spPr>
          <a:xfrm>
            <a:off x="1417320" y="1188720"/>
            <a:ext cx="9966960" cy="475488"/>
          </a:xfrm>
          <a:prstGeom prst="rect">
            <a:avLst/>
          </a:prstGeom>
          <a:noFill/>
        </p:spPr>
        <p:txBody>
          <a:bodyPr wrap="square" anchor="t"/>
          <a:lstStyle/>
          <a:p>
            <a:pPr algn="l"/>
            <a:r>
              <a:rPr sz="1800" b="0">
                <a:solidFill>
                  <a:srgbClr val="1C1C1C"/>
                </a:solidFill>
                <a:latin typeface="Calibri"/>
              </a:rPr>
              <a:t>Healthy 8-month Labrador. Elective OHE. Normal PE.</a:t>
            </a:r>
          </a:p>
        </p:txBody>
      </p:sp>
      <p:sp>
        <p:nvSpPr>
          <p:cNvPr id="12" name="TextBox 11"/>
          <p:cNvSpPr txBox="1"/>
          <p:nvPr/>
        </p:nvSpPr>
        <p:spPr>
          <a:xfrm>
            <a:off x="1417320" y="1719072"/>
            <a:ext cx="9966960" cy="411480"/>
          </a:xfrm>
          <a:prstGeom prst="rect">
            <a:avLst/>
          </a:prstGeom>
          <a:noFill/>
        </p:spPr>
        <p:txBody>
          <a:bodyPr wrap="square" anchor="t"/>
          <a:lstStyle/>
          <a:p>
            <a:pPr algn="l"/>
            <a:r>
              <a:rPr sz="1800" b="1">
                <a:solidFill>
                  <a:srgbClr val="2E6B4F"/>
                </a:solidFill>
                <a:latin typeface="Calibri"/>
              </a:rPr>
              <a:t>ASA Status 1  ·  proceed</a:t>
            </a:r>
          </a:p>
        </p:txBody>
      </p:sp>
      <p:sp>
        <p:nvSpPr>
          <p:cNvPr id="13" name="Rounded Rectangle 12"/>
          <p:cNvSpPr/>
          <p:nvPr/>
        </p:nvSpPr>
        <p:spPr>
          <a:xfrm>
            <a:off x="457200" y="2377440"/>
            <a:ext cx="11247120" cy="1188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377440"/>
            <a:ext cx="777240" cy="1188720"/>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377440"/>
            <a:ext cx="777240" cy="1188720"/>
          </a:xfrm>
          <a:prstGeom prst="rect">
            <a:avLst/>
          </a:prstGeom>
          <a:noFill/>
        </p:spPr>
        <p:txBody>
          <a:bodyPr wrap="square" anchor="ctr"/>
          <a:lstStyle/>
          <a:p>
            <a:pPr algn="ctr"/>
            <a:r>
              <a:rPr sz="2200" b="1">
                <a:solidFill>
                  <a:srgbClr val="FFFFFF"/>
                </a:solidFill>
                <a:latin typeface="Calibri"/>
              </a:rPr>
              <a:t>B</a:t>
            </a:r>
          </a:p>
        </p:txBody>
      </p:sp>
      <p:sp>
        <p:nvSpPr>
          <p:cNvPr id="16" name="TextBox 15"/>
          <p:cNvSpPr txBox="1"/>
          <p:nvPr/>
        </p:nvSpPr>
        <p:spPr>
          <a:xfrm>
            <a:off x="1417320" y="2487168"/>
            <a:ext cx="9966960" cy="475488"/>
          </a:xfrm>
          <a:prstGeom prst="rect">
            <a:avLst/>
          </a:prstGeom>
          <a:noFill/>
        </p:spPr>
        <p:txBody>
          <a:bodyPr wrap="square" anchor="t"/>
          <a:lstStyle/>
          <a:p>
            <a:pPr algn="l"/>
            <a:r>
              <a:rPr sz="1800" b="0">
                <a:solidFill>
                  <a:srgbClr val="1C1C1C"/>
                </a:solidFill>
                <a:latin typeface="Calibri"/>
              </a:rPr>
              <a:t>10-year Beagle, BCS 8/9, grade 2/6 murmur, no CHF. Dental.</a:t>
            </a:r>
          </a:p>
        </p:txBody>
      </p:sp>
      <p:sp>
        <p:nvSpPr>
          <p:cNvPr id="17" name="TextBox 16"/>
          <p:cNvSpPr txBox="1"/>
          <p:nvPr/>
        </p:nvSpPr>
        <p:spPr>
          <a:xfrm>
            <a:off x="1417320" y="3017520"/>
            <a:ext cx="9966960" cy="411480"/>
          </a:xfrm>
          <a:prstGeom prst="rect">
            <a:avLst/>
          </a:prstGeom>
          <a:noFill/>
        </p:spPr>
        <p:txBody>
          <a:bodyPr wrap="square" anchor="t"/>
          <a:lstStyle/>
          <a:p>
            <a:pPr algn="l"/>
            <a:r>
              <a:rPr sz="1800" b="1">
                <a:solidFill>
                  <a:srgbClr val="1B6B7A"/>
                </a:solidFill>
                <a:latin typeface="Calibri"/>
              </a:rPr>
              <a:t>ASA Status 2  ·  proceed with a monitoring plan</a:t>
            </a:r>
          </a:p>
        </p:txBody>
      </p:sp>
      <p:sp>
        <p:nvSpPr>
          <p:cNvPr id="18" name="Rounded Rectangle 17"/>
          <p:cNvSpPr/>
          <p:nvPr/>
        </p:nvSpPr>
        <p:spPr>
          <a:xfrm>
            <a:off x="457200" y="3675888"/>
            <a:ext cx="11247120" cy="1188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675888"/>
            <a:ext cx="777240" cy="118872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675888"/>
            <a:ext cx="777240" cy="1188720"/>
          </a:xfrm>
          <a:prstGeom prst="rect">
            <a:avLst/>
          </a:prstGeom>
          <a:noFill/>
        </p:spPr>
        <p:txBody>
          <a:bodyPr wrap="square" anchor="ctr"/>
          <a:lstStyle/>
          <a:p>
            <a:pPr algn="ctr"/>
            <a:r>
              <a:rPr sz="2200" b="1">
                <a:solidFill>
                  <a:srgbClr val="FFFFFF"/>
                </a:solidFill>
                <a:latin typeface="Calibri"/>
              </a:rPr>
              <a:t>C</a:t>
            </a:r>
          </a:p>
        </p:txBody>
      </p:sp>
      <p:sp>
        <p:nvSpPr>
          <p:cNvPr id="21" name="TextBox 20"/>
          <p:cNvSpPr txBox="1"/>
          <p:nvPr/>
        </p:nvSpPr>
        <p:spPr>
          <a:xfrm>
            <a:off x="1417320" y="3785616"/>
            <a:ext cx="9966960" cy="475488"/>
          </a:xfrm>
          <a:prstGeom prst="rect">
            <a:avLst/>
          </a:prstGeom>
          <a:noFill/>
        </p:spPr>
        <p:txBody>
          <a:bodyPr wrap="square" anchor="t"/>
          <a:lstStyle/>
          <a:p>
            <a:pPr algn="l"/>
            <a:r>
              <a:rPr sz="1800" b="0">
                <a:solidFill>
                  <a:srgbClr val="1C1C1C"/>
                </a:solidFill>
                <a:latin typeface="Calibri"/>
              </a:rPr>
              <a:t>Cavalier, acute ataxia, AS otitis, murmur. CV stable.</a:t>
            </a:r>
          </a:p>
        </p:txBody>
      </p:sp>
      <p:sp>
        <p:nvSpPr>
          <p:cNvPr id="22" name="TextBox 21"/>
          <p:cNvSpPr txBox="1"/>
          <p:nvPr/>
        </p:nvSpPr>
        <p:spPr>
          <a:xfrm>
            <a:off x="1417320" y="4315968"/>
            <a:ext cx="9966960" cy="411480"/>
          </a:xfrm>
          <a:prstGeom prst="rect">
            <a:avLst/>
          </a:prstGeom>
          <a:noFill/>
        </p:spPr>
        <p:txBody>
          <a:bodyPr wrap="square" anchor="t"/>
          <a:lstStyle/>
          <a:p>
            <a:pPr algn="l"/>
            <a:r>
              <a:rPr sz="1800" b="1">
                <a:solidFill>
                  <a:srgbClr val="C5A35A"/>
                </a:solidFill>
                <a:latin typeface="Calibri"/>
              </a:rPr>
              <a:t>ASA Status 3-E. Compensated emergency. Sedation plan.</a:t>
            </a:r>
          </a:p>
        </p:txBody>
      </p:sp>
      <p:sp>
        <p:nvSpPr>
          <p:cNvPr id="23" name="Rounded Rectangle 22"/>
          <p:cNvSpPr/>
          <p:nvPr/>
        </p:nvSpPr>
        <p:spPr>
          <a:xfrm>
            <a:off x="457200" y="4974336"/>
            <a:ext cx="11247120" cy="1188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974336"/>
            <a:ext cx="777240" cy="118872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974336"/>
            <a:ext cx="777240" cy="1188720"/>
          </a:xfrm>
          <a:prstGeom prst="rect">
            <a:avLst/>
          </a:prstGeom>
          <a:noFill/>
        </p:spPr>
        <p:txBody>
          <a:bodyPr wrap="square" anchor="ctr"/>
          <a:lstStyle/>
          <a:p>
            <a:pPr algn="ctr"/>
            <a:r>
              <a:rPr sz="2200" b="1">
                <a:solidFill>
                  <a:srgbClr val="FFFFFF"/>
                </a:solidFill>
                <a:latin typeface="Calibri"/>
              </a:rPr>
              <a:t>D</a:t>
            </a:r>
          </a:p>
        </p:txBody>
      </p:sp>
      <p:sp>
        <p:nvSpPr>
          <p:cNvPr id="26" name="TextBox 25"/>
          <p:cNvSpPr txBox="1"/>
          <p:nvPr/>
        </p:nvSpPr>
        <p:spPr>
          <a:xfrm>
            <a:off x="1417320" y="5084064"/>
            <a:ext cx="9966960" cy="475488"/>
          </a:xfrm>
          <a:prstGeom prst="rect">
            <a:avLst/>
          </a:prstGeom>
          <a:noFill/>
        </p:spPr>
        <p:txBody>
          <a:bodyPr wrap="square" anchor="t"/>
          <a:lstStyle/>
          <a:p>
            <a:pPr algn="l"/>
            <a:r>
              <a:rPr sz="1800" b="0">
                <a:solidFill>
                  <a:srgbClr val="1C1C1C"/>
                </a:solidFill>
                <a:latin typeface="Calibri"/>
              </a:rPr>
              <a:t>Vomiting cat. Looks like FB. T 98.0 °F, HR 200, tacky mm.</a:t>
            </a:r>
          </a:p>
        </p:txBody>
      </p:sp>
      <p:sp>
        <p:nvSpPr>
          <p:cNvPr id="27" name="TextBox 26"/>
          <p:cNvSpPr txBox="1"/>
          <p:nvPr/>
        </p:nvSpPr>
        <p:spPr>
          <a:xfrm>
            <a:off x="1417320" y="5614416"/>
            <a:ext cx="9966960" cy="411480"/>
          </a:xfrm>
          <a:prstGeom prst="rect">
            <a:avLst/>
          </a:prstGeom>
          <a:noFill/>
        </p:spPr>
        <p:txBody>
          <a:bodyPr wrap="square" anchor="t"/>
          <a:lstStyle/>
          <a:p>
            <a:pPr algn="l"/>
            <a:r>
              <a:rPr sz="1800" b="1">
                <a:solidFill>
                  <a:srgbClr val="8B2E2E"/>
                </a:solidFill>
                <a:latin typeface="Calibri"/>
              </a:rPr>
              <a:t>ASA Status 4-E. Uncompensated emergency. Image and labs first. Do not cut today.</a:t>
            </a:r>
          </a:p>
        </p:txBody>
      </p:sp>
      <p:sp>
        <p:nvSpPr>
          <p:cNvPr id="28" name="Rectangle 27"/>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30" name="TextBox 29"/>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8  /  38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ASA EXAMPLE FOR TONIGHT’S EAR CLEAN AND FOR A LATER TECA-LBO. DEXSP: SKIP NSAID.</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Willie, ASA Status 3-E</a:t>
            </a:r>
          </a:p>
        </p:txBody>
      </p:sp>
      <p:sp>
        <p:nvSpPr>
          <p:cNvPr id="8" name="Rounded Rectangle 7"/>
          <p:cNvSpPr/>
          <p:nvPr/>
        </p:nvSpPr>
        <p:spPr>
          <a:xfrm>
            <a:off x="457200" y="1024128"/>
            <a:ext cx="11247120" cy="1051560"/>
          </a:xfrm>
          <a:prstGeom prst="roundRect">
            <a:avLst>
              <a:gd name="adj" fmla="val 8000"/>
            </a:avLst>
          </a:prstGeom>
          <a:solidFill>
            <a:srgbClr val="F4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10789920" cy="914400"/>
          </a:xfrm>
          <a:prstGeom prst="rect">
            <a:avLst/>
          </a:prstGeom>
          <a:noFill/>
        </p:spPr>
        <p:txBody>
          <a:bodyPr wrap="square" anchor="t"/>
          <a:lstStyle/>
          <a:p>
            <a:pPr algn="l"/>
            <a:r>
              <a:rPr sz="1600" b="0">
                <a:solidFill>
                  <a:srgbClr val="0B2C4A"/>
                </a:solidFill>
                <a:latin typeface="Calibri"/>
              </a:rPr>
              <a:t>Acute ataxia ~1 hour. Fell off the couch twice. Cytopoint for allergies. Vitals: T 100.8 °F, HR 132, RR 52, mm pink, CRT 2 s, quiet/dull. ASA Status 3-E: moderate systemic disease that is still compensated (acute vestibular disease plus AS otitis plus murmur). Pink, walking, kidneys normal.</a:t>
            </a:r>
          </a:p>
        </p:txBody>
      </p:sp>
      <p:sp>
        <p:nvSpPr>
          <p:cNvPr id="10" name="Rounded Rectangle 9"/>
          <p:cNvSpPr/>
          <p:nvPr/>
        </p:nvSpPr>
        <p:spPr>
          <a:xfrm>
            <a:off x="457200" y="2194560"/>
            <a:ext cx="3657600" cy="2606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194560"/>
            <a:ext cx="91440" cy="2606040"/>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304288"/>
            <a:ext cx="3291840" cy="329184"/>
          </a:xfrm>
          <a:prstGeom prst="rect">
            <a:avLst/>
          </a:prstGeom>
          <a:noFill/>
        </p:spPr>
        <p:txBody>
          <a:bodyPr wrap="square" anchor="t"/>
          <a:lstStyle/>
          <a:p>
            <a:pPr algn="l"/>
            <a:r>
              <a:rPr sz="1800" b="1">
                <a:solidFill>
                  <a:srgbClr val="0B2C4A"/>
                </a:solidFill>
                <a:latin typeface="Calibri"/>
              </a:rPr>
              <a:t>Left ear (AS)</a:t>
            </a:r>
          </a:p>
        </p:txBody>
      </p:sp>
      <p:sp>
        <p:nvSpPr>
          <p:cNvPr id="13" name="TextBox 12"/>
          <p:cNvSpPr txBox="1"/>
          <p:nvPr/>
        </p:nvSpPr>
        <p:spPr>
          <a:xfrm>
            <a:off x="713232" y="2651760"/>
            <a:ext cx="3291840" cy="2039112"/>
          </a:xfrm>
          <a:prstGeom prst="rect">
            <a:avLst/>
          </a:prstGeom>
          <a:noFill/>
        </p:spPr>
        <p:txBody>
          <a:bodyPr wrap="square" anchor="t"/>
          <a:lstStyle/>
          <a:p>
            <a:pPr algn="l"/>
            <a:r>
              <a:rPr sz="1600" b="0">
                <a:solidFill>
                  <a:srgbClr val="3D4A57"/>
                </a:solidFill>
                <a:latin typeface="Calibri"/>
              </a:rPr>
              <a:t>Brown and bloody discharge. Pedal reflex at the pinna base. Canal patent. Cartilage hardened. Tympanic membrane visible but swollen.</a:t>
            </a:r>
          </a:p>
        </p:txBody>
      </p:sp>
      <p:sp>
        <p:nvSpPr>
          <p:cNvPr id="14" name="Rounded Rectangle 13"/>
          <p:cNvSpPr/>
          <p:nvPr/>
        </p:nvSpPr>
        <p:spPr>
          <a:xfrm>
            <a:off x="4297680" y="2194560"/>
            <a:ext cx="3657600" cy="2606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194560"/>
            <a:ext cx="91440" cy="26060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2304288"/>
            <a:ext cx="3291840" cy="329184"/>
          </a:xfrm>
          <a:prstGeom prst="rect">
            <a:avLst/>
          </a:prstGeom>
          <a:noFill/>
        </p:spPr>
        <p:txBody>
          <a:bodyPr wrap="square" anchor="t"/>
          <a:lstStyle/>
          <a:p>
            <a:pPr algn="l"/>
            <a:r>
              <a:rPr sz="1800" b="1">
                <a:solidFill>
                  <a:srgbClr val="0B2C4A"/>
                </a:solidFill>
                <a:latin typeface="Calibri"/>
              </a:rPr>
              <a:t>Neuro exam</a:t>
            </a:r>
          </a:p>
        </p:txBody>
      </p:sp>
      <p:sp>
        <p:nvSpPr>
          <p:cNvPr id="17" name="TextBox 16"/>
          <p:cNvSpPr txBox="1"/>
          <p:nvPr/>
        </p:nvSpPr>
        <p:spPr>
          <a:xfrm>
            <a:off x="4553712" y="2651760"/>
            <a:ext cx="3291840" cy="2039112"/>
          </a:xfrm>
          <a:prstGeom prst="rect">
            <a:avLst/>
          </a:prstGeom>
          <a:noFill/>
        </p:spPr>
        <p:txBody>
          <a:bodyPr wrap="square" anchor="t"/>
          <a:lstStyle/>
          <a:p>
            <a:pPr algn="l"/>
            <a:r>
              <a:rPr sz="1600" b="0">
                <a:solidFill>
                  <a:srgbClr val="3D4A57"/>
                </a:solidFill>
                <a:latin typeface="Calibri"/>
              </a:rPr>
              <a:t>Circling left. Horizontal nystagmus, fast left, slow right. Right knuckling. Treat as central vestibular disease until MRI.</a:t>
            </a:r>
          </a:p>
        </p:txBody>
      </p:sp>
      <p:sp>
        <p:nvSpPr>
          <p:cNvPr id="18" name="Rounded Rectangle 17"/>
          <p:cNvSpPr/>
          <p:nvPr/>
        </p:nvSpPr>
        <p:spPr>
          <a:xfrm>
            <a:off x="8138160" y="2194560"/>
            <a:ext cx="3566160" cy="2606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2194560"/>
            <a:ext cx="91440" cy="260604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2304288"/>
            <a:ext cx="3200400" cy="329184"/>
          </a:xfrm>
          <a:prstGeom prst="rect">
            <a:avLst/>
          </a:prstGeom>
          <a:noFill/>
        </p:spPr>
        <p:txBody>
          <a:bodyPr wrap="square" anchor="t"/>
          <a:lstStyle/>
          <a:p>
            <a:pPr algn="l"/>
            <a:r>
              <a:rPr sz="1800" b="1">
                <a:solidFill>
                  <a:srgbClr val="0B2C4A"/>
                </a:solidFill>
                <a:latin typeface="Calibri"/>
              </a:rPr>
              <a:t>Also on PE</a:t>
            </a:r>
          </a:p>
        </p:txBody>
      </p:sp>
      <p:sp>
        <p:nvSpPr>
          <p:cNvPr id="21" name="TextBox 20"/>
          <p:cNvSpPr txBox="1"/>
          <p:nvPr/>
        </p:nvSpPr>
        <p:spPr>
          <a:xfrm>
            <a:off x="8394192" y="2651760"/>
            <a:ext cx="3200400" cy="2039112"/>
          </a:xfrm>
          <a:prstGeom prst="rect">
            <a:avLst/>
          </a:prstGeom>
          <a:noFill/>
        </p:spPr>
        <p:txBody>
          <a:bodyPr wrap="square" anchor="t"/>
          <a:lstStyle/>
          <a:p>
            <a:pPr algn="l"/>
            <a:r>
              <a:rPr sz="1600" b="0">
                <a:solidFill>
                  <a:srgbClr val="3D4A57"/>
                </a:solidFill>
                <a:latin typeface="Calibri"/>
              </a:rPr>
              <a:t>Grade II/VI left systolic murmur. Heavy tartar. Soft non-painful abdomen. Compensated tonight.</a:t>
            </a:r>
          </a:p>
        </p:txBody>
      </p:sp>
      <p:sp>
        <p:nvSpPr>
          <p:cNvPr id="22" name="Rounded Rectangle 21"/>
          <p:cNvSpPr/>
          <p:nvPr/>
        </p:nvSpPr>
        <p:spPr>
          <a:xfrm>
            <a:off x="457200" y="4937760"/>
            <a:ext cx="1124712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029200"/>
            <a:ext cx="10789920" cy="1234440"/>
          </a:xfrm>
          <a:prstGeom prst="rect">
            <a:avLst/>
          </a:prstGeom>
          <a:noFill/>
        </p:spPr>
        <p:txBody>
          <a:bodyPr wrap="square" anchor="t"/>
          <a:lstStyle/>
          <a:p>
            <a:pPr algn="l"/>
            <a:r>
              <a:rPr sz="1600" b="0">
                <a:solidFill>
                  <a:srgbClr val="1C1C1C"/>
                </a:solidFill>
                <a:latin typeface="Calibri"/>
              </a:rPr>
              <a:t>Tonight: CBC WNL. DexSP already given: skip NSAID. Alfaxalone sedation, deep left-ear clean, cytology/culture, 3-view films. Confine. MRI if neurologic signs persist. If TECA-LBO is needed later, assign a new ASA that morning and re-check the murmur, steroid history, and ear class.</a:t>
            </a:r>
          </a:p>
        </p:txBody>
      </p:sp>
      <p:sp>
        <p:nvSpPr>
          <p:cNvPr id="24" name="Rectangle 23"/>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6" name="TextBox 25"/>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9  /  38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6 YO SF DSH, 4.25 KG, BCS 5/9. THIS IS HER, BEFORE THE EXPLORATORY WAS CANCELLED.</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MoMo, ASA Status 4-E</a:t>
            </a:r>
          </a:p>
        </p:txBody>
      </p:sp>
      <p:pic>
        <p:nvPicPr>
          <p:cNvPr id="8" name="Picture 7" descr="momo.jpg"/>
          <p:cNvPicPr>
            <a:picLocks noChangeAspect="1"/>
          </p:cNvPicPr>
          <p:nvPr/>
        </p:nvPicPr>
        <p:blipFill>
          <a:blip r:embed="rId2"/>
          <a:stretch>
            <a:fillRect/>
          </a:stretch>
        </p:blipFill>
        <p:spPr>
          <a:xfrm>
            <a:off x="365760" y="1024128"/>
            <a:ext cx="4041648" cy="5394960"/>
          </a:xfrm>
          <a:prstGeom prst="rect">
            <a:avLst/>
          </a:prstGeom>
        </p:spPr>
      </p:pic>
      <p:sp>
        <p:nvSpPr>
          <p:cNvPr id="9" name="Rounded Rectangle 8"/>
          <p:cNvSpPr/>
          <p:nvPr/>
        </p:nvSpPr>
        <p:spPr>
          <a:xfrm>
            <a:off x="4553712" y="1024128"/>
            <a:ext cx="7178040" cy="1170432"/>
          </a:xfrm>
          <a:prstGeom prst="roundRect">
            <a:avLst>
              <a:gd name="adj" fmla="val 8000"/>
            </a:avLst>
          </a:prstGeom>
          <a:solidFill>
            <a:srgbClr val="F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36592" y="1097280"/>
            <a:ext cx="6858000" cy="1024128"/>
          </a:xfrm>
          <a:prstGeom prst="rect">
            <a:avLst/>
          </a:prstGeom>
          <a:noFill/>
        </p:spPr>
        <p:txBody>
          <a:bodyPr wrap="square" anchor="t"/>
          <a:lstStyle/>
          <a:p>
            <a:pPr algn="l"/>
            <a:r>
              <a:rPr sz="1500" b="0">
                <a:solidFill>
                  <a:srgbClr val="0B2C4A"/>
                </a:solidFill>
                <a:latin typeface="Calibri"/>
              </a:rPr>
              <a:t>Acute vomiting and lethargy. Two vomits. Household construction. Possible FB. T 98.0 °F, HR 200, RR 30, mm pink tacky, CRT &lt;2 s, QAR. ASA Status 4-E: uncompensated disease that is a constant threat to life.</a:t>
            </a:r>
          </a:p>
        </p:txBody>
      </p:sp>
      <p:sp>
        <p:nvSpPr>
          <p:cNvPr id="11" name="Rounded Rectangle 10"/>
          <p:cNvSpPr/>
          <p:nvPr/>
        </p:nvSpPr>
        <p:spPr>
          <a:xfrm>
            <a:off x="4553712" y="2304288"/>
            <a:ext cx="7178040" cy="11704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53712" y="2304288"/>
            <a:ext cx="91440" cy="1170432"/>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2414016"/>
            <a:ext cx="6812280" cy="329184"/>
          </a:xfrm>
          <a:prstGeom prst="rect">
            <a:avLst/>
          </a:prstGeom>
          <a:noFill/>
        </p:spPr>
        <p:txBody>
          <a:bodyPr wrap="square" anchor="t"/>
          <a:lstStyle/>
          <a:p>
            <a:pPr algn="l"/>
            <a:r>
              <a:rPr sz="1800" b="1">
                <a:solidFill>
                  <a:srgbClr val="0B2C4A"/>
                </a:solidFill>
                <a:latin typeface="Calibri"/>
              </a:rPr>
              <a:t>Why this looked surgical</a:t>
            </a:r>
          </a:p>
        </p:txBody>
      </p:sp>
      <p:sp>
        <p:nvSpPr>
          <p:cNvPr id="14" name="TextBox 13"/>
          <p:cNvSpPr txBox="1"/>
          <p:nvPr/>
        </p:nvSpPr>
        <p:spPr>
          <a:xfrm>
            <a:off x="4809744" y="2761488"/>
            <a:ext cx="6812280" cy="603504"/>
          </a:xfrm>
          <a:prstGeom prst="rect">
            <a:avLst/>
          </a:prstGeom>
          <a:noFill/>
        </p:spPr>
        <p:txBody>
          <a:bodyPr wrap="square" anchor="t"/>
          <a:lstStyle/>
          <a:p>
            <a:pPr algn="l"/>
            <a:r>
              <a:rPr sz="1600" b="0">
                <a:solidFill>
                  <a:srgbClr val="3D4A57"/>
                </a:solidFill>
                <a:latin typeface="Calibri"/>
              </a:rPr>
              <a:t>FB obstruction was on the list. Mildly enlarged abdomen. That is how cats get booked for an exploratory.</a:t>
            </a:r>
          </a:p>
        </p:txBody>
      </p:sp>
      <p:sp>
        <p:nvSpPr>
          <p:cNvPr id="15" name="Rounded Rectangle 14"/>
          <p:cNvSpPr/>
          <p:nvPr/>
        </p:nvSpPr>
        <p:spPr>
          <a:xfrm>
            <a:off x="4553712" y="3566160"/>
            <a:ext cx="7178040" cy="11704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53712" y="3566160"/>
            <a:ext cx="91440" cy="1170432"/>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9744" y="3675888"/>
            <a:ext cx="6812280" cy="329184"/>
          </a:xfrm>
          <a:prstGeom prst="rect">
            <a:avLst/>
          </a:prstGeom>
          <a:noFill/>
        </p:spPr>
        <p:txBody>
          <a:bodyPr wrap="square" anchor="t"/>
          <a:lstStyle/>
          <a:p>
            <a:pPr algn="l"/>
            <a:r>
              <a:rPr sz="1800" b="1">
                <a:solidFill>
                  <a:srgbClr val="0B2C4A"/>
                </a:solidFill>
                <a:latin typeface="Calibri"/>
              </a:rPr>
              <a:t>What the PE showed</a:t>
            </a:r>
          </a:p>
        </p:txBody>
      </p:sp>
      <p:sp>
        <p:nvSpPr>
          <p:cNvPr id="18" name="TextBox 17"/>
          <p:cNvSpPr txBox="1"/>
          <p:nvPr/>
        </p:nvSpPr>
        <p:spPr>
          <a:xfrm>
            <a:off x="4809744" y="4023360"/>
            <a:ext cx="6812280" cy="603504"/>
          </a:xfrm>
          <a:prstGeom prst="rect">
            <a:avLst/>
          </a:prstGeom>
          <a:noFill/>
        </p:spPr>
        <p:txBody>
          <a:bodyPr wrap="square" anchor="t"/>
          <a:lstStyle/>
          <a:p>
            <a:pPr algn="l"/>
            <a:r>
              <a:rPr sz="1600" b="0">
                <a:solidFill>
                  <a:srgbClr val="3D4A57"/>
                </a:solidFill>
                <a:latin typeface="Calibri"/>
              </a:rPr>
              <a:t>Heart/lungs normal. Ambulatory ×4. Dehydrated. Quiet and recumbent in this photograph. The PE did not prove a foreign body.</a:t>
            </a:r>
          </a:p>
        </p:txBody>
      </p:sp>
      <p:sp>
        <p:nvSpPr>
          <p:cNvPr id="19" name="Rounded Rectangle 18"/>
          <p:cNvSpPr/>
          <p:nvPr/>
        </p:nvSpPr>
        <p:spPr>
          <a:xfrm>
            <a:off x="4553712" y="4828032"/>
            <a:ext cx="7178040" cy="159105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53712" y="4828032"/>
            <a:ext cx="91440" cy="1591056"/>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9744" y="4937760"/>
            <a:ext cx="6812280" cy="329184"/>
          </a:xfrm>
          <a:prstGeom prst="rect">
            <a:avLst/>
          </a:prstGeom>
          <a:noFill/>
        </p:spPr>
        <p:txBody>
          <a:bodyPr wrap="square" anchor="t"/>
          <a:lstStyle/>
          <a:p>
            <a:pPr algn="l"/>
            <a:r>
              <a:rPr sz="1800" b="1">
                <a:solidFill>
                  <a:srgbClr val="0B2C4A"/>
                </a:solidFill>
                <a:latin typeface="Calibri"/>
              </a:rPr>
              <a:t>Image, labs, then cancel</a:t>
            </a:r>
          </a:p>
        </p:txBody>
      </p:sp>
      <p:sp>
        <p:nvSpPr>
          <p:cNvPr id="22" name="TextBox 21"/>
          <p:cNvSpPr txBox="1"/>
          <p:nvPr/>
        </p:nvSpPr>
        <p:spPr>
          <a:xfrm>
            <a:off x="4809744" y="5285232"/>
            <a:ext cx="6812280" cy="1024128"/>
          </a:xfrm>
          <a:prstGeom prst="rect">
            <a:avLst/>
          </a:prstGeom>
          <a:noFill/>
        </p:spPr>
        <p:txBody>
          <a:bodyPr wrap="square" anchor="t"/>
          <a:lstStyle/>
          <a:p>
            <a:pPr algn="l"/>
            <a:r>
              <a:rPr sz="1600" b="0">
                <a:solidFill>
                  <a:srgbClr val="3D4A57"/>
                </a:solidFill>
                <a:latin typeface="Calibri"/>
              </a:rPr>
              <a:t>Right kidney fluid-filled and non-functional on AUS. Progressive azotemia on fluids (creatinine 3.0 → 4.71). Skip NSAIDs. Cancel the exploratory. Owner elected humane euthanasia. Record the decision.</a:t>
            </a:r>
          </a:p>
        </p:txBody>
      </p:sp>
      <p:sp>
        <p:nvSpPr>
          <p:cNvPr id="23" name="Rectangle 22"/>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5" name="TextBox 24"/>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10  /  38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CPE MOA 2026 APPENDIX 3 PAGE 1: TODAY’S PE, THEN PCV, TP, BUN. INTERPRET. THEN CIRCLE ASA.</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Pre-anesthetic assessment</a:t>
            </a:r>
          </a:p>
        </p:txBody>
      </p:sp>
      <p:sp>
        <p:nvSpPr>
          <p:cNvPr id="8" name="Rounded Rectangle 7"/>
          <p:cNvSpPr/>
          <p:nvPr/>
        </p:nvSpPr>
        <p:spPr>
          <a:xfrm>
            <a:off x="365760" y="987552"/>
            <a:ext cx="11475720" cy="640080"/>
          </a:xfrm>
          <a:prstGeom prst="roundRect">
            <a:avLst>
              <a:gd name="adj" fmla="val 8000"/>
            </a:avLst>
          </a:prstGeom>
          <a:solidFill>
            <a:srgbClr val="F4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024128"/>
            <a:ext cx="11201400" cy="566928"/>
          </a:xfrm>
          <a:prstGeom prst="rect">
            <a:avLst/>
          </a:prstGeom>
          <a:noFill/>
        </p:spPr>
        <p:txBody>
          <a:bodyPr wrap="square" anchor="ctr"/>
          <a:lstStyle/>
          <a:p>
            <a:pPr algn="l"/>
            <a:r>
              <a:rPr sz="1600" b="0">
                <a:solidFill>
                  <a:srgbClr val="0B2C4A"/>
                </a:solidFill>
                <a:latin typeface="Calibri"/>
              </a:rPr>
              <a:t>PCV / TP: EDTA tube → spin hematocrit → read PCV → snap the capillary tube → refractometer TP.  BUN: chemistry or Azo stick.  Request, record, interpret. Then ASA. Then premed IM/SQ. Not before the exam.</a:t>
            </a:r>
          </a:p>
        </p:txBody>
      </p:sp>
      <p:pic>
        <p:nvPicPr>
          <p:cNvPr id="10" name="Picture 9" descr="preanesthetic_assessment_table.png"/>
          <p:cNvPicPr>
            <a:picLocks noChangeAspect="1"/>
          </p:cNvPicPr>
          <p:nvPr/>
        </p:nvPicPr>
        <p:blipFill>
          <a:blip r:embed="rId2"/>
          <a:stretch>
            <a:fillRect/>
          </a:stretch>
        </p:blipFill>
        <p:spPr>
          <a:xfrm>
            <a:off x="256032" y="1700784"/>
            <a:ext cx="11686032" cy="4791456"/>
          </a:xfrm>
          <a:prstGeom prst="rect">
            <a:avLst/>
          </a:prstGeom>
        </p:spPr>
      </p:pic>
      <p:sp>
        <p:nvSpPr>
          <p:cNvPr id="11" name="Rectangle 10"/>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3" name="TextBox 12"/>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11  /  38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TEACHING BANDS, NOT AN ASA TABLE. GRUBB ET AL. 2020: TODAY’S PE WRITES ASA.</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Laboratory values inform risk</a:t>
            </a:r>
          </a:p>
        </p:txBody>
      </p:sp>
      <p:sp>
        <p:nvSpPr>
          <p:cNvPr id="8" name="Rectangle 7"/>
          <p:cNvSpPr/>
          <p:nvPr/>
        </p:nvSpPr>
        <p:spPr>
          <a:xfrm>
            <a:off x="411480" y="1078992"/>
            <a:ext cx="11338560" cy="50292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078992"/>
            <a:ext cx="3200400" cy="502920"/>
          </a:xfrm>
          <a:prstGeom prst="rect">
            <a:avLst/>
          </a:prstGeom>
          <a:noFill/>
        </p:spPr>
        <p:txBody>
          <a:bodyPr wrap="square" anchor="ctr"/>
          <a:lstStyle/>
          <a:p>
            <a:pPr algn="l"/>
            <a:r>
              <a:rPr sz="1600" b="1">
                <a:solidFill>
                  <a:srgbClr val="C5A35A"/>
                </a:solidFill>
                <a:latin typeface="Calibri"/>
              </a:rPr>
              <a:t>Finding</a:t>
            </a:r>
          </a:p>
        </p:txBody>
      </p:sp>
      <p:sp>
        <p:nvSpPr>
          <p:cNvPr id="10" name="TextBox 9"/>
          <p:cNvSpPr txBox="1"/>
          <p:nvPr/>
        </p:nvSpPr>
        <p:spPr>
          <a:xfrm>
            <a:off x="3749039" y="1078992"/>
            <a:ext cx="3657600" cy="502920"/>
          </a:xfrm>
          <a:prstGeom prst="rect">
            <a:avLst/>
          </a:prstGeom>
          <a:noFill/>
        </p:spPr>
        <p:txBody>
          <a:bodyPr wrap="square" anchor="ctr"/>
          <a:lstStyle/>
          <a:p>
            <a:pPr algn="l"/>
            <a:r>
              <a:rPr sz="1600" b="1">
                <a:solidFill>
                  <a:srgbClr val="FFFFFF"/>
                </a:solidFill>
                <a:latin typeface="Calibri"/>
              </a:rPr>
              <a:t>Typical healthy adult</a:t>
            </a:r>
          </a:p>
        </p:txBody>
      </p:sp>
      <p:sp>
        <p:nvSpPr>
          <p:cNvPr id="11" name="TextBox 10"/>
          <p:cNvSpPr txBox="1"/>
          <p:nvPr/>
        </p:nvSpPr>
        <p:spPr>
          <a:xfrm>
            <a:off x="7498079" y="1078992"/>
            <a:ext cx="4023360" cy="502920"/>
          </a:xfrm>
          <a:prstGeom prst="rect">
            <a:avLst/>
          </a:prstGeom>
          <a:noFill/>
        </p:spPr>
        <p:txBody>
          <a:bodyPr wrap="square" anchor="ctr"/>
          <a:lstStyle/>
          <a:p>
            <a:pPr algn="l"/>
            <a:r>
              <a:rPr sz="1600" b="1">
                <a:solidFill>
                  <a:srgbClr val="FFFFFF"/>
                </a:solidFill>
                <a:latin typeface="Calibri"/>
              </a:rPr>
              <a:t>Repeat / stabilize first</a:t>
            </a:r>
          </a:p>
        </p:txBody>
      </p:sp>
      <p:sp>
        <p:nvSpPr>
          <p:cNvPr id="12" name="Rounded Rectangle 11"/>
          <p:cNvSpPr/>
          <p:nvPr/>
        </p:nvSpPr>
        <p:spPr>
          <a:xfrm>
            <a:off x="411480" y="1645920"/>
            <a:ext cx="1133856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45920"/>
            <a:ext cx="3017520" cy="768096"/>
          </a:xfrm>
          <a:prstGeom prst="rect">
            <a:avLst/>
          </a:prstGeom>
          <a:noFill/>
        </p:spPr>
        <p:txBody>
          <a:bodyPr wrap="square" anchor="ctr"/>
          <a:lstStyle/>
          <a:p>
            <a:pPr algn="l"/>
            <a:r>
              <a:rPr sz="1800" b="1">
                <a:solidFill>
                  <a:srgbClr val="0B2C4A"/>
                </a:solidFill>
                <a:latin typeface="Calibri"/>
              </a:rPr>
              <a:t>PCV</a:t>
            </a:r>
          </a:p>
        </p:txBody>
      </p:sp>
      <p:sp>
        <p:nvSpPr>
          <p:cNvPr id="14" name="TextBox 13"/>
          <p:cNvSpPr txBox="1"/>
          <p:nvPr/>
        </p:nvSpPr>
        <p:spPr>
          <a:xfrm>
            <a:off x="3749039" y="1645920"/>
            <a:ext cx="3657600" cy="768096"/>
          </a:xfrm>
          <a:prstGeom prst="rect">
            <a:avLst/>
          </a:prstGeom>
          <a:noFill/>
        </p:spPr>
        <p:txBody>
          <a:bodyPr wrap="square" anchor="ctr"/>
          <a:lstStyle/>
          <a:p>
            <a:pPr algn="l"/>
            <a:r>
              <a:rPr sz="1600" b="0">
                <a:solidFill>
                  <a:srgbClr val="1C1C1C"/>
                </a:solidFill>
                <a:latin typeface="Calibri"/>
              </a:rPr>
              <a:t>Within reference</a:t>
            </a:r>
          </a:p>
        </p:txBody>
      </p:sp>
      <p:sp>
        <p:nvSpPr>
          <p:cNvPr id="15" name="TextBox 14"/>
          <p:cNvSpPr txBox="1"/>
          <p:nvPr/>
        </p:nvSpPr>
        <p:spPr>
          <a:xfrm>
            <a:off x="7498079" y="1645920"/>
            <a:ext cx="4023360" cy="768096"/>
          </a:xfrm>
          <a:prstGeom prst="rect">
            <a:avLst/>
          </a:prstGeom>
          <a:noFill/>
        </p:spPr>
        <p:txBody>
          <a:bodyPr wrap="square" anchor="ctr"/>
          <a:lstStyle/>
          <a:p>
            <a:pPr algn="l"/>
            <a:r>
              <a:rPr sz="1600" b="0">
                <a:solidFill>
                  <a:srgbClr val="8B2E2E"/>
                </a:solidFill>
                <a:latin typeface="Calibri"/>
              </a:rPr>
              <a:t>Anemia: use severity and chronicity (Grubb 2020)</a:t>
            </a:r>
          </a:p>
        </p:txBody>
      </p:sp>
      <p:sp>
        <p:nvSpPr>
          <p:cNvPr id="16" name="Rounded Rectangle 15"/>
          <p:cNvSpPr/>
          <p:nvPr/>
        </p:nvSpPr>
        <p:spPr>
          <a:xfrm>
            <a:off x="411480" y="2487168"/>
            <a:ext cx="1133856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487168"/>
            <a:ext cx="3017520" cy="768096"/>
          </a:xfrm>
          <a:prstGeom prst="rect">
            <a:avLst/>
          </a:prstGeom>
          <a:noFill/>
        </p:spPr>
        <p:txBody>
          <a:bodyPr wrap="square" anchor="ctr"/>
          <a:lstStyle/>
          <a:p>
            <a:pPr algn="l"/>
            <a:r>
              <a:rPr sz="1800" b="1">
                <a:solidFill>
                  <a:srgbClr val="0B2C4A"/>
                </a:solidFill>
                <a:latin typeface="Calibri"/>
              </a:rPr>
              <a:t>TP</a:t>
            </a:r>
          </a:p>
        </p:txBody>
      </p:sp>
      <p:sp>
        <p:nvSpPr>
          <p:cNvPr id="18" name="TextBox 17"/>
          <p:cNvSpPr txBox="1"/>
          <p:nvPr/>
        </p:nvSpPr>
        <p:spPr>
          <a:xfrm>
            <a:off x="3749039" y="2487168"/>
            <a:ext cx="3657600" cy="768096"/>
          </a:xfrm>
          <a:prstGeom prst="rect">
            <a:avLst/>
          </a:prstGeom>
          <a:noFill/>
        </p:spPr>
        <p:txBody>
          <a:bodyPr wrap="square" anchor="ctr"/>
          <a:lstStyle/>
          <a:p>
            <a:pPr algn="l"/>
            <a:r>
              <a:rPr sz="1600" b="0">
                <a:solidFill>
                  <a:srgbClr val="1C1C1C"/>
                </a:solidFill>
                <a:latin typeface="Calibri"/>
              </a:rPr>
              <a:t>Within reference</a:t>
            </a:r>
          </a:p>
        </p:txBody>
      </p:sp>
      <p:sp>
        <p:nvSpPr>
          <p:cNvPr id="19" name="TextBox 18"/>
          <p:cNvSpPr txBox="1"/>
          <p:nvPr/>
        </p:nvSpPr>
        <p:spPr>
          <a:xfrm>
            <a:off x="7498079" y="2487168"/>
            <a:ext cx="4023360" cy="768096"/>
          </a:xfrm>
          <a:prstGeom prst="rect">
            <a:avLst/>
          </a:prstGeom>
          <a:noFill/>
        </p:spPr>
        <p:txBody>
          <a:bodyPr wrap="square" anchor="ctr"/>
          <a:lstStyle/>
          <a:p>
            <a:pPr algn="l"/>
            <a:r>
              <a:rPr sz="1600" b="0">
                <a:solidFill>
                  <a:srgbClr val="8B2E2E"/>
                </a:solidFill>
                <a:latin typeface="Calibri"/>
              </a:rPr>
              <a:t>High with PCV: dehydration. Low: loss / dilution</a:t>
            </a:r>
          </a:p>
        </p:txBody>
      </p:sp>
      <p:sp>
        <p:nvSpPr>
          <p:cNvPr id="20" name="Rounded Rectangle 19"/>
          <p:cNvSpPr/>
          <p:nvPr/>
        </p:nvSpPr>
        <p:spPr>
          <a:xfrm>
            <a:off x="411480" y="3328416"/>
            <a:ext cx="1133856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328416"/>
            <a:ext cx="3017520" cy="768096"/>
          </a:xfrm>
          <a:prstGeom prst="rect">
            <a:avLst/>
          </a:prstGeom>
          <a:noFill/>
        </p:spPr>
        <p:txBody>
          <a:bodyPr wrap="square" anchor="ctr"/>
          <a:lstStyle/>
          <a:p>
            <a:pPr algn="l"/>
            <a:r>
              <a:rPr sz="1800" b="1">
                <a:solidFill>
                  <a:srgbClr val="0B2C4A"/>
                </a:solidFill>
                <a:latin typeface="Calibri"/>
              </a:rPr>
              <a:t>BUN</a:t>
            </a:r>
          </a:p>
        </p:txBody>
      </p:sp>
      <p:sp>
        <p:nvSpPr>
          <p:cNvPr id="22" name="TextBox 21"/>
          <p:cNvSpPr txBox="1"/>
          <p:nvPr/>
        </p:nvSpPr>
        <p:spPr>
          <a:xfrm>
            <a:off x="3749039" y="3328416"/>
            <a:ext cx="3657600" cy="768096"/>
          </a:xfrm>
          <a:prstGeom prst="rect">
            <a:avLst/>
          </a:prstGeom>
          <a:noFill/>
        </p:spPr>
        <p:txBody>
          <a:bodyPr wrap="square" anchor="ctr"/>
          <a:lstStyle/>
          <a:p>
            <a:pPr algn="l"/>
            <a:r>
              <a:rPr sz="1600" b="0">
                <a:solidFill>
                  <a:srgbClr val="1C1C1C"/>
                </a:solidFill>
                <a:latin typeface="Calibri"/>
              </a:rPr>
              <a:t>Within reference</a:t>
            </a:r>
          </a:p>
        </p:txBody>
      </p:sp>
      <p:sp>
        <p:nvSpPr>
          <p:cNvPr id="23" name="TextBox 22"/>
          <p:cNvSpPr txBox="1"/>
          <p:nvPr/>
        </p:nvSpPr>
        <p:spPr>
          <a:xfrm>
            <a:off x="7498079" y="3328416"/>
            <a:ext cx="4023360" cy="768096"/>
          </a:xfrm>
          <a:prstGeom prst="rect">
            <a:avLst/>
          </a:prstGeom>
          <a:noFill/>
        </p:spPr>
        <p:txBody>
          <a:bodyPr wrap="square" anchor="ctr"/>
          <a:lstStyle/>
          <a:p>
            <a:pPr algn="l"/>
            <a:r>
              <a:rPr sz="1600" b="0">
                <a:solidFill>
                  <a:srgbClr val="8B2E2E"/>
                </a:solidFill>
                <a:latin typeface="Calibri"/>
              </a:rPr>
              <a:t>Azotemia: skip NSAID, rethink fluids and the cut</a:t>
            </a:r>
          </a:p>
        </p:txBody>
      </p:sp>
      <p:sp>
        <p:nvSpPr>
          <p:cNvPr id="24" name="Rounded Rectangle 23"/>
          <p:cNvSpPr/>
          <p:nvPr/>
        </p:nvSpPr>
        <p:spPr>
          <a:xfrm>
            <a:off x="411480" y="4169664"/>
            <a:ext cx="1133856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169664"/>
            <a:ext cx="3017520" cy="768096"/>
          </a:xfrm>
          <a:prstGeom prst="rect">
            <a:avLst/>
          </a:prstGeom>
          <a:noFill/>
        </p:spPr>
        <p:txBody>
          <a:bodyPr wrap="square" anchor="ctr"/>
          <a:lstStyle/>
          <a:p>
            <a:pPr algn="l"/>
            <a:r>
              <a:rPr sz="1800" b="1">
                <a:solidFill>
                  <a:srgbClr val="0B2C4A"/>
                </a:solidFill>
                <a:latin typeface="Calibri"/>
              </a:rPr>
              <a:t>Potassium</a:t>
            </a:r>
          </a:p>
        </p:txBody>
      </p:sp>
      <p:sp>
        <p:nvSpPr>
          <p:cNvPr id="26" name="TextBox 25"/>
          <p:cNvSpPr txBox="1"/>
          <p:nvPr/>
        </p:nvSpPr>
        <p:spPr>
          <a:xfrm>
            <a:off x="3749039" y="4169664"/>
            <a:ext cx="3657600" cy="768096"/>
          </a:xfrm>
          <a:prstGeom prst="rect">
            <a:avLst/>
          </a:prstGeom>
          <a:noFill/>
        </p:spPr>
        <p:txBody>
          <a:bodyPr wrap="square" anchor="ctr"/>
          <a:lstStyle/>
          <a:p>
            <a:pPr algn="l"/>
            <a:r>
              <a:rPr sz="1600" b="0">
                <a:solidFill>
                  <a:srgbClr val="1C1C1C"/>
                </a:solidFill>
                <a:latin typeface="Calibri"/>
              </a:rPr>
              <a:t>Within reference</a:t>
            </a:r>
          </a:p>
        </p:txBody>
      </p:sp>
      <p:sp>
        <p:nvSpPr>
          <p:cNvPr id="27" name="TextBox 26"/>
          <p:cNvSpPr txBox="1"/>
          <p:nvPr/>
        </p:nvSpPr>
        <p:spPr>
          <a:xfrm>
            <a:off x="7498079" y="4169664"/>
            <a:ext cx="4023360" cy="768096"/>
          </a:xfrm>
          <a:prstGeom prst="rect">
            <a:avLst/>
          </a:prstGeom>
          <a:noFill/>
        </p:spPr>
        <p:txBody>
          <a:bodyPr wrap="square" anchor="ctr"/>
          <a:lstStyle/>
          <a:p>
            <a:pPr algn="l"/>
            <a:r>
              <a:rPr sz="1600" b="0">
                <a:solidFill>
                  <a:srgbClr val="8B2E2E"/>
                </a:solidFill>
                <a:latin typeface="Calibri"/>
              </a:rPr>
              <a:t>&gt;6.0 mEq/L (Grubb 2020: correct first)</a:t>
            </a:r>
          </a:p>
        </p:txBody>
      </p:sp>
      <p:sp>
        <p:nvSpPr>
          <p:cNvPr id="28" name="Rounded Rectangle 27"/>
          <p:cNvSpPr/>
          <p:nvPr/>
        </p:nvSpPr>
        <p:spPr>
          <a:xfrm>
            <a:off x="411480" y="5010912"/>
            <a:ext cx="1133856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5010912"/>
            <a:ext cx="3017520" cy="768096"/>
          </a:xfrm>
          <a:prstGeom prst="rect">
            <a:avLst/>
          </a:prstGeom>
          <a:noFill/>
        </p:spPr>
        <p:txBody>
          <a:bodyPr wrap="square" anchor="ctr"/>
          <a:lstStyle/>
          <a:p>
            <a:pPr algn="l"/>
            <a:r>
              <a:rPr sz="1800" b="1">
                <a:solidFill>
                  <a:srgbClr val="0B2C4A"/>
                </a:solidFill>
                <a:latin typeface="Calibri"/>
              </a:rPr>
              <a:t>Albumin</a:t>
            </a:r>
          </a:p>
        </p:txBody>
      </p:sp>
      <p:sp>
        <p:nvSpPr>
          <p:cNvPr id="30" name="TextBox 29"/>
          <p:cNvSpPr txBox="1"/>
          <p:nvPr/>
        </p:nvSpPr>
        <p:spPr>
          <a:xfrm>
            <a:off x="3749039" y="5010912"/>
            <a:ext cx="3657600" cy="768096"/>
          </a:xfrm>
          <a:prstGeom prst="rect">
            <a:avLst/>
          </a:prstGeom>
          <a:noFill/>
        </p:spPr>
        <p:txBody>
          <a:bodyPr wrap="square" anchor="ctr"/>
          <a:lstStyle/>
          <a:p>
            <a:pPr algn="l"/>
            <a:r>
              <a:rPr sz="1600" b="0">
                <a:solidFill>
                  <a:srgbClr val="1C1C1C"/>
                </a:solidFill>
                <a:latin typeface="Calibri"/>
              </a:rPr>
              <a:t>Within reference</a:t>
            </a:r>
          </a:p>
        </p:txBody>
      </p:sp>
      <p:sp>
        <p:nvSpPr>
          <p:cNvPr id="31" name="TextBox 30"/>
          <p:cNvSpPr txBox="1"/>
          <p:nvPr/>
        </p:nvSpPr>
        <p:spPr>
          <a:xfrm>
            <a:off x="7498079" y="5010912"/>
            <a:ext cx="4023360" cy="768096"/>
          </a:xfrm>
          <a:prstGeom prst="rect">
            <a:avLst/>
          </a:prstGeom>
          <a:noFill/>
        </p:spPr>
        <p:txBody>
          <a:bodyPr wrap="square" anchor="ctr"/>
          <a:lstStyle/>
          <a:p>
            <a:pPr algn="l"/>
            <a:r>
              <a:rPr sz="1600" b="0">
                <a:solidFill>
                  <a:srgbClr val="8B2E2E"/>
                </a:solidFill>
                <a:latin typeface="Calibri"/>
              </a:rPr>
              <a:t>&lt;2.0 g/dL: edema, poor healing (Pardo 2024)</a:t>
            </a:r>
          </a:p>
        </p:txBody>
      </p:sp>
      <p:sp>
        <p:nvSpPr>
          <p:cNvPr id="32" name="TextBox 31"/>
          <p:cNvSpPr txBox="1"/>
          <p:nvPr/>
        </p:nvSpPr>
        <p:spPr>
          <a:xfrm>
            <a:off x="502920" y="5943600"/>
            <a:ext cx="11155680" cy="457200"/>
          </a:xfrm>
          <a:prstGeom prst="rect">
            <a:avLst/>
          </a:prstGeom>
          <a:noFill/>
        </p:spPr>
        <p:txBody>
          <a:bodyPr wrap="square" anchor="t"/>
          <a:lstStyle/>
          <a:p>
            <a:pPr algn="l"/>
            <a:r>
              <a:rPr sz="1600" b="0">
                <a:solidFill>
                  <a:srgbClr val="0B2C4A"/>
                </a:solidFill>
                <a:latin typeface="Calibri"/>
              </a:rPr>
              <a:t>MOA minimum is PCV, TP, BUN. A normal CBC does not assign Status 1. Azotemia can cancel the cut. Low albumin is a deficit, not an ASA number.</a:t>
            </a:r>
          </a:p>
        </p:txBody>
      </p:sp>
      <p:sp>
        <p:nvSpPr>
          <p:cNvPr id="33" name="Rectangle 32"/>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35" name="TextBox 34"/>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12  /  38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HEALTHY SEQUENCE, THEN ONE WORKED EXAMPLE. WRITE DRUG, CONCENTRATION, DOSE, VOLUME, ROUTE.</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Anesthetic drug protocol</a:t>
            </a:r>
          </a:p>
        </p:txBody>
      </p:sp>
      <p:sp>
        <p:nvSpPr>
          <p:cNvPr id="8" name="Rounded Rectangle 7"/>
          <p:cNvSpPr/>
          <p:nvPr/>
        </p:nvSpPr>
        <p:spPr>
          <a:xfrm>
            <a:off x="365760" y="987552"/>
            <a:ext cx="3767328" cy="10789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987552"/>
            <a:ext cx="3767328" cy="347472"/>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987552"/>
            <a:ext cx="3767328" cy="347472"/>
          </a:xfrm>
          <a:prstGeom prst="rect">
            <a:avLst/>
          </a:prstGeom>
          <a:noFill/>
        </p:spPr>
        <p:txBody>
          <a:bodyPr wrap="square" anchor="ctr"/>
          <a:lstStyle/>
          <a:p>
            <a:pPr algn="ctr"/>
            <a:r>
              <a:rPr sz="1600" b="1">
                <a:solidFill>
                  <a:srgbClr val="FFFFFF"/>
                </a:solidFill>
                <a:latin typeface="Calibri"/>
              </a:rPr>
              <a:t>1. Premed after ASA</a:t>
            </a:r>
          </a:p>
        </p:txBody>
      </p:sp>
      <p:sp>
        <p:nvSpPr>
          <p:cNvPr id="11" name="TextBox 10"/>
          <p:cNvSpPr txBox="1"/>
          <p:nvPr/>
        </p:nvSpPr>
        <p:spPr>
          <a:xfrm>
            <a:off x="475488" y="1371600"/>
            <a:ext cx="3547872" cy="621792"/>
          </a:xfrm>
          <a:prstGeom prst="rect">
            <a:avLst/>
          </a:prstGeom>
          <a:noFill/>
        </p:spPr>
        <p:txBody>
          <a:bodyPr wrap="square" anchor="t"/>
          <a:lstStyle/>
          <a:p>
            <a:pPr algn="l"/>
            <a:r>
              <a:rPr sz="1400" b="0">
                <a:solidFill>
                  <a:srgbClr val="1C1C1C"/>
                </a:solidFill>
                <a:latin typeface="Calibri"/>
              </a:rPr>
              <a:t>IM or SQ. Not before the exam. Healthy: DKT or BAA. The table below is not the default.</a:t>
            </a:r>
          </a:p>
        </p:txBody>
      </p:sp>
      <p:sp>
        <p:nvSpPr>
          <p:cNvPr id="12" name="Rounded Rectangle 11"/>
          <p:cNvSpPr/>
          <p:nvPr/>
        </p:nvSpPr>
        <p:spPr>
          <a:xfrm>
            <a:off x="4279392" y="987552"/>
            <a:ext cx="3767328" cy="10789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9392" y="987552"/>
            <a:ext cx="3767328" cy="347472"/>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79392" y="987552"/>
            <a:ext cx="3767328" cy="347472"/>
          </a:xfrm>
          <a:prstGeom prst="rect">
            <a:avLst/>
          </a:prstGeom>
          <a:noFill/>
        </p:spPr>
        <p:txBody>
          <a:bodyPr wrap="square" anchor="ctr"/>
          <a:lstStyle/>
          <a:p>
            <a:pPr algn="ctr"/>
            <a:r>
              <a:rPr sz="1600" b="1">
                <a:solidFill>
                  <a:srgbClr val="FFFFFF"/>
                </a:solidFill>
                <a:latin typeface="Calibri"/>
              </a:rPr>
              <a:t>2. Induce IV to effect</a:t>
            </a:r>
          </a:p>
        </p:txBody>
      </p:sp>
      <p:sp>
        <p:nvSpPr>
          <p:cNvPr id="15" name="TextBox 14"/>
          <p:cNvSpPr txBox="1"/>
          <p:nvPr/>
        </p:nvSpPr>
        <p:spPr>
          <a:xfrm>
            <a:off x="4389120" y="1371600"/>
            <a:ext cx="3547872" cy="621792"/>
          </a:xfrm>
          <a:prstGeom prst="rect">
            <a:avLst/>
          </a:prstGeom>
          <a:noFill/>
        </p:spPr>
        <p:txBody>
          <a:bodyPr wrap="square" anchor="t"/>
          <a:lstStyle/>
          <a:p>
            <a:pPr algn="l"/>
            <a:r>
              <a:rPr sz="1400" b="0">
                <a:solidFill>
                  <a:srgbClr val="1C1C1C"/>
                </a:solidFill>
                <a:latin typeface="Calibri"/>
              </a:rPr>
              <a:t>Alfaxalone, propofol, or ketamine + benzo. Then intubate.</a:t>
            </a:r>
          </a:p>
        </p:txBody>
      </p:sp>
      <p:sp>
        <p:nvSpPr>
          <p:cNvPr id="16" name="Rounded Rectangle 15"/>
          <p:cNvSpPr/>
          <p:nvPr/>
        </p:nvSpPr>
        <p:spPr>
          <a:xfrm>
            <a:off x="8193024" y="987552"/>
            <a:ext cx="3767328" cy="10789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93024" y="987552"/>
            <a:ext cx="3767328" cy="34747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4" y="987552"/>
            <a:ext cx="3767328" cy="347472"/>
          </a:xfrm>
          <a:prstGeom prst="rect">
            <a:avLst/>
          </a:prstGeom>
          <a:noFill/>
        </p:spPr>
        <p:txBody>
          <a:bodyPr wrap="square" anchor="ctr"/>
          <a:lstStyle/>
          <a:p>
            <a:pPr algn="ctr"/>
            <a:r>
              <a:rPr sz="1600" b="1">
                <a:solidFill>
                  <a:srgbClr val="FFFFFF"/>
                </a:solidFill>
                <a:latin typeface="Calibri"/>
              </a:rPr>
              <a:t>3. Iso or sevo to MAC</a:t>
            </a:r>
          </a:p>
        </p:txBody>
      </p:sp>
      <p:sp>
        <p:nvSpPr>
          <p:cNvPr id="19" name="TextBox 18"/>
          <p:cNvSpPr txBox="1"/>
          <p:nvPr/>
        </p:nvSpPr>
        <p:spPr>
          <a:xfrm>
            <a:off x="8302752" y="1371600"/>
            <a:ext cx="3547872" cy="621792"/>
          </a:xfrm>
          <a:prstGeom prst="rect">
            <a:avLst/>
          </a:prstGeom>
          <a:noFill/>
        </p:spPr>
        <p:txBody>
          <a:bodyPr wrap="square" anchor="t"/>
          <a:lstStyle/>
          <a:p>
            <a:pPr algn="l"/>
            <a:r>
              <a:rPr sz="1400" b="0">
                <a:solidFill>
                  <a:srgbClr val="1C1C1C"/>
                </a:solidFill>
                <a:latin typeface="Calibri"/>
              </a:rPr>
              <a:t>Premed lowers MAC. Circle the inhalant you used.</a:t>
            </a:r>
          </a:p>
        </p:txBody>
      </p:sp>
      <p:pic>
        <p:nvPicPr>
          <p:cNvPr id="20" name="Picture 19" descr="anesthesia_protocol_record.png"/>
          <p:cNvPicPr>
            <a:picLocks noChangeAspect="1"/>
          </p:cNvPicPr>
          <p:nvPr/>
        </p:nvPicPr>
        <p:blipFill>
          <a:blip r:embed="rId2"/>
          <a:stretch>
            <a:fillRect/>
          </a:stretch>
        </p:blipFill>
        <p:spPr>
          <a:xfrm>
            <a:off x="256032" y="2121408"/>
            <a:ext cx="11686032" cy="4389120"/>
          </a:xfrm>
          <a:prstGeom prst="rect">
            <a:avLst/>
          </a:prstGeom>
        </p:spPr>
      </p:pic>
      <p:sp>
        <p:nvSpPr>
          <p:cNvPr id="21" name="Rectangle 20"/>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3" name="TextBox 22"/>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13  /  38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GRUBB ET AL. 2020: STABILIZE FIRST. PARDO ET AL. 2024: ALBUMIN &lt;2.0 G/DL.</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Correct deficits before you cut</a:t>
            </a:r>
          </a:p>
        </p:txBody>
      </p:sp>
      <p:sp>
        <p:nvSpPr>
          <p:cNvPr id="8" name="Rounded Rectangle 7"/>
          <p:cNvSpPr/>
          <p:nvPr/>
        </p:nvSpPr>
        <p:spPr>
          <a:xfrm>
            <a:off x="411480" y="1097280"/>
            <a:ext cx="370332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097280"/>
            <a:ext cx="3703320" cy="548640"/>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097280"/>
            <a:ext cx="3703320" cy="548640"/>
          </a:xfrm>
          <a:prstGeom prst="rect">
            <a:avLst/>
          </a:prstGeom>
          <a:noFill/>
        </p:spPr>
        <p:txBody>
          <a:bodyPr wrap="square" anchor="ctr"/>
          <a:lstStyle/>
          <a:p>
            <a:pPr algn="ctr"/>
            <a:r>
              <a:rPr sz="1800" b="1">
                <a:solidFill>
                  <a:srgbClr val="FFFFFF"/>
                </a:solidFill>
                <a:latin typeface="Calibri"/>
              </a:rPr>
              <a:t>Correct these first</a:t>
            </a:r>
          </a:p>
        </p:txBody>
      </p:sp>
      <p:sp>
        <p:nvSpPr>
          <p:cNvPr id="11" name="TextBox 10"/>
          <p:cNvSpPr txBox="1"/>
          <p:nvPr/>
        </p:nvSpPr>
        <p:spPr>
          <a:xfrm>
            <a:off x="576072" y="1755648"/>
            <a:ext cx="3383280" cy="4160520"/>
          </a:xfrm>
          <a:prstGeom prst="rect">
            <a:avLst/>
          </a:prstGeom>
          <a:noFill/>
        </p:spPr>
        <p:txBody>
          <a:bodyPr wrap="square" anchor="t"/>
          <a:lstStyle/>
          <a:p>
            <a:pPr algn="l"/>
            <a:r>
              <a:rPr sz="1400" b="0">
                <a:solidFill>
                  <a:srgbClr val="1C1C1C"/>
                </a:solidFill>
                <a:latin typeface="Calibri"/>
              </a:rPr>
              <a:t>Grubb et al. 2020, before anesthesia:
Dehydration / hypovolemia
K+ &gt;6.0 mEq/L
pH &lt;7.2
Glucose &lt;60 mg/dL
Hypothermia &lt;99 °F
Anemia (severity, chronicity)
Life-threatening arrhythmia
CHF, cyanosis, pneumothorax
Oliguria / anuria
Uncontrolled pain or anxiety</a:t>
            </a:r>
          </a:p>
        </p:txBody>
      </p:sp>
      <p:sp>
        <p:nvSpPr>
          <p:cNvPr id="12" name="Rounded Rectangle 11"/>
          <p:cNvSpPr/>
          <p:nvPr/>
        </p:nvSpPr>
        <p:spPr>
          <a:xfrm>
            <a:off x="4297680" y="1097280"/>
            <a:ext cx="370332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097280"/>
            <a:ext cx="3703320" cy="5486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1097280"/>
            <a:ext cx="3703320" cy="548640"/>
          </a:xfrm>
          <a:prstGeom prst="rect">
            <a:avLst/>
          </a:prstGeom>
          <a:noFill/>
        </p:spPr>
        <p:txBody>
          <a:bodyPr wrap="square" anchor="ctr"/>
          <a:lstStyle/>
          <a:p>
            <a:pPr algn="ctr"/>
            <a:r>
              <a:rPr sz="1800" b="1">
                <a:solidFill>
                  <a:srgbClr val="FFFFFF"/>
                </a:solidFill>
                <a:latin typeface="Calibri"/>
              </a:rPr>
              <a:t>If albumin is low</a:t>
            </a:r>
          </a:p>
        </p:txBody>
      </p:sp>
      <p:sp>
        <p:nvSpPr>
          <p:cNvPr id="15" name="TextBox 14"/>
          <p:cNvSpPr txBox="1"/>
          <p:nvPr/>
        </p:nvSpPr>
        <p:spPr>
          <a:xfrm>
            <a:off x="4462272" y="1755648"/>
            <a:ext cx="3383280" cy="4160520"/>
          </a:xfrm>
          <a:prstGeom prst="rect">
            <a:avLst/>
          </a:prstGeom>
          <a:noFill/>
        </p:spPr>
        <p:txBody>
          <a:bodyPr wrap="square" anchor="t"/>
          <a:lstStyle/>
          <a:p>
            <a:pPr algn="l"/>
            <a:r>
              <a:rPr sz="1400" b="0">
                <a:solidFill>
                  <a:srgbClr val="1C1C1C"/>
                </a:solidFill>
                <a:latin typeface="Calibri"/>
              </a:rPr>
              <a:t>Find the cause: GI loss, kidney, liver, exudate, starvation.
Delay elective surgery if you can treat and feed.
&lt;2.0 g/dL: edema, poor perfusion, poor wound healing (Pardo 2024).
Plasma: about 20–25 mL/kg to raise albumin 0.5 g/dL. Often impractical.
Species-specific albumin if severe and you must operate. Human albumin can cause anaphylaxis.
Do not flood with crystalloid when the problem is oncotic pressure.</a:t>
            </a:r>
          </a:p>
        </p:txBody>
      </p:sp>
      <p:sp>
        <p:nvSpPr>
          <p:cNvPr id="16" name="Rounded Rectangle 15"/>
          <p:cNvSpPr/>
          <p:nvPr/>
        </p:nvSpPr>
        <p:spPr>
          <a:xfrm>
            <a:off x="8183880" y="1097280"/>
            <a:ext cx="370332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83880" y="1097280"/>
            <a:ext cx="3703320" cy="54864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80" y="1097280"/>
            <a:ext cx="3703320" cy="548640"/>
          </a:xfrm>
          <a:prstGeom prst="rect">
            <a:avLst/>
          </a:prstGeom>
          <a:noFill/>
        </p:spPr>
        <p:txBody>
          <a:bodyPr wrap="square" anchor="ctr"/>
          <a:lstStyle/>
          <a:p>
            <a:pPr algn="ctr"/>
            <a:r>
              <a:rPr sz="1800" b="1">
                <a:solidFill>
                  <a:srgbClr val="FFFFFF"/>
                </a:solidFill>
                <a:latin typeface="Calibri"/>
              </a:rPr>
              <a:t>If you still operate</a:t>
            </a:r>
          </a:p>
        </p:txBody>
      </p:sp>
      <p:sp>
        <p:nvSpPr>
          <p:cNvPr id="19" name="TextBox 18"/>
          <p:cNvSpPr txBox="1"/>
          <p:nvPr/>
        </p:nvSpPr>
        <p:spPr>
          <a:xfrm>
            <a:off x="8348472" y="1755648"/>
            <a:ext cx="3383280" cy="4160520"/>
          </a:xfrm>
          <a:prstGeom prst="rect">
            <a:avLst/>
          </a:prstGeom>
          <a:noFill/>
        </p:spPr>
        <p:txBody>
          <a:bodyPr wrap="square" anchor="t"/>
          <a:lstStyle/>
          <a:p>
            <a:pPr algn="l"/>
            <a:r>
              <a:rPr sz="1400" b="0">
                <a:solidFill>
                  <a:srgbClr val="1C1C1C"/>
                </a:solidFill>
                <a:latin typeface="Calibri"/>
              </a:rPr>
              <a:t>Delay elective for pyoderma over the site.
Emergency: resuscitate volume, then cut. You cannot wait for albumin to normalize in GDV or septic abdomen.
Gentle tissue handling. Obliterate dead space. Warm the patient. Nutrition as soon as the gut allows.
Rising creatinine that threatens life: cancel the elective or exploratory cut.</a:t>
            </a:r>
          </a:p>
        </p:txBody>
      </p:sp>
      <p:sp>
        <p:nvSpPr>
          <p:cNvPr id="20" name="Rectangle 19"/>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2" name="TextBox 21"/>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14  /  38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2020 AAHA ANESTHESIA AND MONITORING GUIDELINES; THEN THE RISK TALK</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Fasting and informed consent</a:t>
            </a:r>
          </a:p>
        </p:txBody>
      </p:sp>
      <p:sp>
        <p:nvSpPr>
          <p:cNvPr id="8" name="Rounded Rectangle 7"/>
          <p:cNvSpPr/>
          <p:nvPr/>
        </p:nvSpPr>
        <p:spPr>
          <a:xfrm>
            <a:off x="411480" y="1051560"/>
            <a:ext cx="5623560" cy="5074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170432"/>
            <a:ext cx="5212080" cy="365760"/>
          </a:xfrm>
          <a:prstGeom prst="rect">
            <a:avLst/>
          </a:prstGeom>
          <a:noFill/>
        </p:spPr>
        <p:txBody>
          <a:bodyPr wrap="square" anchor="t"/>
          <a:lstStyle/>
          <a:p>
            <a:pPr algn="l"/>
            <a:r>
              <a:rPr sz="1800" b="1">
                <a:solidFill>
                  <a:srgbClr val="0B2C4A"/>
                </a:solidFill>
                <a:latin typeface="Calibri"/>
              </a:rPr>
              <a:t>Fasting (Grubb et al. 2020 AAHA)</a:t>
            </a:r>
          </a:p>
        </p:txBody>
      </p:sp>
      <p:sp>
        <p:nvSpPr>
          <p:cNvPr id="10" name="TextBox 9"/>
          <p:cNvSpPr txBox="1"/>
          <p:nvPr/>
        </p:nvSpPr>
        <p:spPr>
          <a:xfrm>
            <a:off x="594360" y="1627632"/>
            <a:ext cx="5257800" cy="4297680"/>
          </a:xfrm>
          <a:prstGeom prst="rect">
            <a:avLst/>
          </a:prstGeom>
          <a:noFill/>
        </p:spPr>
        <p:txBody>
          <a:bodyPr wrap="square">
            <a:spAutoFit/>
          </a:bodyPr>
          <a:lstStyle/>
          <a:p>
            <a:pPr algn="l">
              <a:spcAft>
                <a:spcPts val="600"/>
              </a:spcAft>
            </a:pPr>
            <a:r>
              <a:rPr sz="1600" b="0">
                <a:solidFill>
                  <a:srgbClr val="1C1C1C"/>
                </a:solidFill>
                <a:latin typeface="Calibri"/>
              </a:rPr>
              <a:t>▸  Healthy adult dog/cat: food 4–6 h; water until premedication.</a:t>
            </a:r>
          </a:p>
          <a:p>
            <a:pPr algn="l">
              <a:spcAft>
                <a:spcPts val="600"/>
              </a:spcAft>
            </a:pPr>
            <a:r>
              <a:rPr sz="1600" b="0">
                <a:solidFill>
                  <a:srgbClr val="1C1C1C"/>
                </a:solidFill>
                <a:latin typeface="Calibri"/>
              </a:rPr>
              <a:t>▸  Some hospitals still use 8–12 h NPO. Teach aspiration versus hypoglycemia.</a:t>
            </a:r>
          </a:p>
          <a:p>
            <a:pPr algn="l">
              <a:spcAft>
                <a:spcPts val="600"/>
              </a:spcAft>
            </a:pPr>
            <a:r>
              <a:rPr sz="1600" b="0">
                <a:solidFill>
                  <a:srgbClr val="1C1C1C"/>
                </a:solidFill>
                <a:latin typeface="Calibri"/>
              </a:rPr>
              <a:t>▸  Neonates / &lt;2 kg: food fast no longer than 1–2 h.</a:t>
            </a:r>
          </a:p>
          <a:p>
            <a:pPr algn="l">
              <a:spcAft>
                <a:spcPts val="600"/>
              </a:spcAft>
            </a:pPr>
            <a:r>
              <a:rPr sz="1600" b="0">
                <a:solidFill>
                  <a:srgbClr val="1C1C1C"/>
                </a:solidFill>
                <a:latin typeface="Calibri"/>
              </a:rPr>
              <a:t>▸  Brachycephalics: same fasting as the adult or neonate row. Pre-oxygenate 3 min with 100% O2 (Grubb 2020). Extubate when they can protect the airway, not at the first swallow.</a:t>
            </a:r>
          </a:p>
          <a:p>
            <a:pPr algn="l">
              <a:spcAft>
                <a:spcPts val="600"/>
              </a:spcAft>
            </a:pPr>
            <a:r>
              <a:rPr sz="1600" b="0">
                <a:solidFill>
                  <a:srgbClr val="1C1C1C"/>
                </a:solidFill>
                <a:latin typeface="Calibri"/>
              </a:rPr>
              <a:t>▸  Ask what was eaten this morning. Clients feed ‘just a biscuit.’</a:t>
            </a:r>
          </a:p>
          <a:p>
            <a:pPr algn="l">
              <a:spcAft>
                <a:spcPts val="600"/>
              </a:spcAft>
            </a:pPr>
            <a:r>
              <a:rPr sz="1600" b="0">
                <a:solidFill>
                  <a:srgbClr val="1C1C1C"/>
                </a:solidFill>
                <a:latin typeface="Calibri"/>
              </a:rPr>
              <a:t>▸  Diabetics: write the insulin dose and a small meal with anesthesia before drop-off.</a:t>
            </a:r>
          </a:p>
        </p:txBody>
      </p:sp>
      <p:sp>
        <p:nvSpPr>
          <p:cNvPr id="11" name="Rounded Rectangle 10"/>
          <p:cNvSpPr/>
          <p:nvPr/>
        </p:nvSpPr>
        <p:spPr>
          <a:xfrm>
            <a:off x="6217920" y="1051560"/>
            <a:ext cx="5532120" cy="5074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170432"/>
            <a:ext cx="5120640" cy="365760"/>
          </a:xfrm>
          <a:prstGeom prst="rect">
            <a:avLst/>
          </a:prstGeom>
          <a:noFill/>
        </p:spPr>
        <p:txBody>
          <a:bodyPr wrap="square" anchor="t"/>
          <a:lstStyle/>
          <a:p>
            <a:pPr algn="l"/>
            <a:r>
              <a:rPr sz="1800" b="1">
                <a:solidFill>
                  <a:srgbClr val="0B2C4A"/>
                </a:solidFill>
                <a:latin typeface="Calibri"/>
              </a:rPr>
              <a:t>Consent, then file it</a:t>
            </a:r>
          </a:p>
        </p:txBody>
      </p:sp>
      <p:sp>
        <p:nvSpPr>
          <p:cNvPr id="13" name="TextBox 12"/>
          <p:cNvSpPr txBox="1"/>
          <p:nvPr/>
        </p:nvSpPr>
        <p:spPr>
          <a:xfrm>
            <a:off x="6400800" y="1627632"/>
            <a:ext cx="5166360" cy="4297680"/>
          </a:xfrm>
          <a:prstGeom prst="rect">
            <a:avLst/>
          </a:prstGeom>
          <a:noFill/>
        </p:spPr>
        <p:txBody>
          <a:bodyPr wrap="square">
            <a:spAutoFit/>
          </a:bodyPr>
          <a:lstStyle/>
          <a:p>
            <a:pPr algn="l">
              <a:spcAft>
                <a:spcPts val="600"/>
              </a:spcAft>
            </a:pPr>
            <a:r>
              <a:rPr sz="1600" b="0">
                <a:solidFill>
                  <a:srgbClr val="1C1C1C"/>
                </a:solidFill>
                <a:latin typeface="Calibri"/>
              </a:rPr>
              <a:t>▸  Procedure name in plain language, and the reason.</a:t>
            </a:r>
          </a:p>
          <a:p>
            <a:pPr algn="l">
              <a:spcAft>
                <a:spcPts val="600"/>
              </a:spcAft>
            </a:pPr>
            <a:r>
              <a:rPr sz="1600" b="0">
                <a:solidFill>
                  <a:srgbClr val="1C1C1C"/>
                </a:solidFill>
                <a:latin typeface="Calibri"/>
              </a:rPr>
              <a:t>▸  Benefits, alternatives including medical management, and what happens if we wait.</a:t>
            </a:r>
          </a:p>
          <a:p>
            <a:pPr algn="l">
              <a:spcAft>
                <a:spcPts val="600"/>
              </a:spcAft>
            </a:pPr>
            <a:r>
              <a:rPr sz="1600" b="0">
                <a:solidFill>
                  <a:srgbClr val="1C1C1C"/>
                </a:solidFill>
                <a:latin typeface="Calibri"/>
              </a:rPr>
              <a:t>▸  Material risks in one sentence each: anesthesia death, hemorrhage, infection, dehiscence. After OHE, name urinary incontinence.</a:t>
            </a:r>
          </a:p>
          <a:p>
            <a:pPr algn="l">
              <a:spcAft>
                <a:spcPts val="600"/>
              </a:spcAft>
            </a:pPr>
            <a:r>
              <a:rPr sz="1600" b="0">
                <a:solidFill>
                  <a:srgbClr val="1C1C1C"/>
                </a:solidFill>
                <a:latin typeface="Calibri"/>
              </a:rPr>
              <a:t>▸  Estimate: what is included and what is not.</a:t>
            </a:r>
          </a:p>
          <a:p>
            <a:pPr algn="l">
              <a:spcAft>
                <a:spcPts val="600"/>
              </a:spcAft>
            </a:pPr>
            <a:r>
              <a:rPr sz="1600" b="0">
                <a:solidFill>
                  <a:srgbClr val="1C1C1C"/>
                </a:solidFill>
                <a:latin typeface="Calibri"/>
              </a:rPr>
              <a:t>▸  Resuscitation code / DNR before induction.</a:t>
            </a:r>
          </a:p>
          <a:p>
            <a:pPr algn="l">
              <a:spcAft>
                <a:spcPts val="600"/>
              </a:spcAft>
            </a:pPr>
            <a:r>
              <a:rPr sz="1600" b="0">
                <a:solidFill>
                  <a:srgbClr val="1C1C1C"/>
                </a:solidFill>
                <a:latin typeface="Calibri"/>
              </a:rPr>
              <a:t>▸  File the signed form. Then start induction.</a:t>
            </a:r>
          </a:p>
        </p:txBody>
      </p:sp>
      <p:sp>
        <p:nvSpPr>
          <p:cNvPr id="14" name="Rectangle 13"/>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6" name="TextBox 15"/>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15  /  38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CPE MOA 2026 APPENDIX 3: ASA, ETT SIZE, BAG, CIRCUIT, IV FLUID NAME/RATE, FRESH-GAS FLOW.</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ASA, tube, bag, and fluid rate</a:t>
            </a:r>
          </a:p>
        </p:txBody>
      </p:sp>
      <p:sp>
        <p:nvSpPr>
          <p:cNvPr id="8" name="Rounded Rectangle 7"/>
          <p:cNvSpPr/>
          <p:nvPr/>
        </p:nvSpPr>
        <p:spPr>
          <a:xfrm>
            <a:off x="365760" y="987552"/>
            <a:ext cx="3767328" cy="135331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987552"/>
            <a:ext cx="3767328" cy="3108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987552"/>
            <a:ext cx="3767328" cy="310896"/>
          </a:xfrm>
          <a:prstGeom prst="rect">
            <a:avLst/>
          </a:prstGeom>
          <a:noFill/>
        </p:spPr>
        <p:txBody>
          <a:bodyPr wrap="square" anchor="ctr"/>
          <a:lstStyle/>
          <a:p>
            <a:pPr algn="ctr"/>
            <a:r>
              <a:rPr sz="1600" b="1">
                <a:solidFill>
                  <a:srgbClr val="0B2C4A"/>
                </a:solidFill>
                <a:latin typeface="Calibri"/>
              </a:rPr>
              <a:t>Endotracheal tube</a:t>
            </a:r>
          </a:p>
        </p:txBody>
      </p:sp>
      <p:sp>
        <p:nvSpPr>
          <p:cNvPr id="11" name="TextBox 10"/>
          <p:cNvSpPr txBox="1"/>
          <p:nvPr/>
        </p:nvSpPr>
        <p:spPr>
          <a:xfrm>
            <a:off x="438912" y="1316736"/>
            <a:ext cx="3621024" cy="365760"/>
          </a:xfrm>
          <a:prstGeom prst="rect">
            <a:avLst/>
          </a:prstGeom>
          <a:noFill/>
        </p:spPr>
        <p:txBody>
          <a:bodyPr wrap="square" anchor="ctr"/>
          <a:lstStyle/>
          <a:p>
            <a:pPr algn="ctr"/>
            <a:r>
              <a:rPr sz="1600" b="1">
                <a:solidFill>
                  <a:srgbClr val="0B2C4A"/>
                </a:solidFill>
                <a:latin typeface="Calibri"/>
              </a:rPr>
              <a:t>ID mm  =  (kg / 4)  +  3.5</a:t>
            </a:r>
          </a:p>
        </p:txBody>
      </p:sp>
      <p:sp>
        <p:nvSpPr>
          <p:cNvPr id="12" name="TextBox 11"/>
          <p:cNvSpPr txBox="1"/>
          <p:nvPr/>
        </p:nvSpPr>
        <p:spPr>
          <a:xfrm>
            <a:off x="475488" y="1682496"/>
            <a:ext cx="3547872" cy="603504"/>
          </a:xfrm>
          <a:prstGeom prst="rect">
            <a:avLst/>
          </a:prstGeom>
          <a:noFill/>
        </p:spPr>
        <p:txBody>
          <a:bodyPr wrap="square" anchor="t"/>
          <a:lstStyle/>
          <a:p>
            <a:pPr algn="l"/>
            <a:r>
              <a:rPr sz="1400" b="0">
                <a:solidFill>
                  <a:srgbClr val="1C1C1C"/>
                </a:solidFill>
                <a:latin typeface="Calibri"/>
              </a:rPr>
              <a:t>Dog start. ±0.5 mm ready. Largest through arytenoids (Grubb 2020). Cat: 3.0–4.5 mm (not the dog formula).</a:t>
            </a:r>
          </a:p>
        </p:txBody>
      </p:sp>
      <p:sp>
        <p:nvSpPr>
          <p:cNvPr id="13" name="Rounded Rectangle 12"/>
          <p:cNvSpPr/>
          <p:nvPr/>
        </p:nvSpPr>
        <p:spPr>
          <a:xfrm>
            <a:off x="4279392" y="987552"/>
            <a:ext cx="3767328" cy="135331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9392" y="987552"/>
            <a:ext cx="3767328" cy="310896"/>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79392" y="987552"/>
            <a:ext cx="3767328" cy="310896"/>
          </a:xfrm>
          <a:prstGeom prst="rect">
            <a:avLst/>
          </a:prstGeom>
          <a:noFill/>
        </p:spPr>
        <p:txBody>
          <a:bodyPr wrap="square" anchor="ctr"/>
          <a:lstStyle/>
          <a:p>
            <a:pPr algn="ctr"/>
            <a:r>
              <a:rPr sz="1600" b="1">
                <a:solidFill>
                  <a:srgbClr val="C5A35A"/>
                </a:solidFill>
                <a:latin typeface="Calibri"/>
              </a:rPr>
              <a:t>Reservoir bag</a:t>
            </a:r>
          </a:p>
        </p:txBody>
      </p:sp>
      <p:sp>
        <p:nvSpPr>
          <p:cNvPr id="16" name="TextBox 15"/>
          <p:cNvSpPr txBox="1"/>
          <p:nvPr/>
        </p:nvSpPr>
        <p:spPr>
          <a:xfrm>
            <a:off x="4352544" y="1316736"/>
            <a:ext cx="3621024" cy="365760"/>
          </a:xfrm>
          <a:prstGeom prst="rect">
            <a:avLst/>
          </a:prstGeom>
          <a:noFill/>
        </p:spPr>
        <p:txBody>
          <a:bodyPr wrap="square" anchor="ctr"/>
          <a:lstStyle/>
          <a:p>
            <a:pPr algn="ctr"/>
            <a:r>
              <a:rPr sz="1600" b="1">
                <a:solidFill>
                  <a:srgbClr val="0B2C4A"/>
                </a:solidFill>
                <a:latin typeface="Calibri"/>
              </a:rPr>
              <a:t>mL  =  kg  ×  60,  round UP</a:t>
            </a:r>
          </a:p>
        </p:txBody>
      </p:sp>
      <p:sp>
        <p:nvSpPr>
          <p:cNvPr id="17" name="TextBox 16"/>
          <p:cNvSpPr txBox="1"/>
          <p:nvPr/>
        </p:nvSpPr>
        <p:spPr>
          <a:xfrm>
            <a:off x="4389120" y="1682496"/>
            <a:ext cx="3547872" cy="603504"/>
          </a:xfrm>
          <a:prstGeom prst="rect">
            <a:avLst/>
          </a:prstGeom>
          <a:noFill/>
        </p:spPr>
        <p:txBody>
          <a:bodyPr wrap="square" anchor="t"/>
          <a:lstStyle/>
          <a:p>
            <a:pPr algn="l"/>
            <a:r>
              <a:rPr sz="1400" b="0">
                <a:solidFill>
                  <a:srgbClr val="1C1C1C"/>
                </a:solidFill>
                <a:latin typeface="Calibri"/>
              </a:rPr>
              <a:t>Round up to 0.5, 1, 2, or 3 L. NRC if &lt;3–5 kg. Circle if larger. Leak-test, then OPEN the pop-off.</a:t>
            </a:r>
          </a:p>
        </p:txBody>
      </p:sp>
      <p:sp>
        <p:nvSpPr>
          <p:cNvPr id="18" name="Rounded Rectangle 17"/>
          <p:cNvSpPr/>
          <p:nvPr/>
        </p:nvSpPr>
        <p:spPr>
          <a:xfrm>
            <a:off x="8193024" y="987552"/>
            <a:ext cx="3767328" cy="135331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93024" y="987552"/>
            <a:ext cx="3767328" cy="310896"/>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93024" y="987552"/>
            <a:ext cx="3767328" cy="310896"/>
          </a:xfrm>
          <a:prstGeom prst="rect">
            <a:avLst/>
          </a:prstGeom>
          <a:noFill/>
        </p:spPr>
        <p:txBody>
          <a:bodyPr wrap="square" anchor="ctr"/>
          <a:lstStyle/>
          <a:p>
            <a:pPr algn="ctr"/>
            <a:r>
              <a:rPr sz="1600" b="1">
                <a:solidFill>
                  <a:srgbClr val="FFFFFF"/>
                </a:solidFill>
                <a:latin typeface="Calibri"/>
              </a:rPr>
              <a:t>IV fluid rate</a:t>
            </a:r>
          </a:p>
        </p:txBody>
      </p:sp>
      <p:sp>
        <p:nvSpPr>
          <p:cNvPr id="21" name="TextBox 20"/>
          <p:cNvSpPr txBox="1"/>
          <p:nvPr/>
        </p:nvSpPr>
        <p:spPr>
          <a:xfrm>
            <a:off x="8266176" y="1316736"/>
            <a:ext cx="3621024" cy="365760"/>
          </a:xfrm>
          <a:prstGeom prst="rect">
            <a:avLst/>
          </a:prstGeom>
          <a:noFill/>
        </p:spPr>
        <p:txBody>
          <a:bodyPr wrap="square" anchor="ctr"/>
          <a:lstStyle/>
          <a:p>
            <a:pPr algn="ctr"/>
            <a:r>
              <a:rPr sz="1600" b="1">
                <a:solidFill>
                  <a:srgbClr val="0B2C4A"/>
                </a:solidFill>
                <a:latin typeface="Calibri"/>
              </a:rPr>
              <a:t>Dog  kg × 5   ·   cat  kg × 3–5</a:t>
            </a:r>
          </a:p>
        </p:txBody>
      </p:sp>
      <p:sp>
        <p:nvSpPr>
          <p:cNvPr id="22" name="TextBox 21"/>
          <p:cNvSpPr txBox="1"/>
          <p:nvPr/>
        </p:nvSpPr>
        <p:spPr>
          <a:xfrm>
            <a:off x="8302752" y="1682496"/>
            <a:ext cx="3547872" cy="603504"/>
          </a:xfrm>
          <a:prstGeom prst="rect">
            <a:avLst/>
          </a:prstGeom>
          <a:noFill/>
        </p:spPr>
        <p:txBody>
          <a:bodyPr wrap="square" anchor="t"/>
          <a:lstStyle/>
          <a:p>
            <a:pPr algn="l"/>
            <a:r>
              <a:rPr sz="1400" b="0">
                <a:solidFill>
                  <a:srgbClr val="1C1C1C"/>
                </a:solidFill>
                <a:latin typeface="Calibri"/>
              </a:rPr>
              <a:t>mL/hr. Balanced crystalloid (Pardo 2024). Not 10 mL/kg/hr. Willie: 13.7 × 5 = 69 mL/hr.</a:t>
            </a:r>
          </a:p>
        </p:txBody>
      </p:sp>
      <p:pic>
        <p:nvPicPr>
          <p:cNvPr id="23" name="Picture 22" descr="anesthesia_setup_table.png"/>
          <p:cNvPicPr>
            <a:picLocks noChangeAspect="1"/>
          </p:cNvPicPr>
          <p:nvPr/>
        </p:nvPicPr>
        <p:blipFill>
          <a:blip r:embed="rId2"/>
          <a:stretch>
            <a:fillRect/>
          </a:stretch>
        </p:blipFill>
        <p:spPr>
          <a:xfrm>
            <a:off x="256032" y="2395728"/>
            <a:ext cx="11686032" cy="4114800"/>
          </a:xfrm>
          <a:prstGeom prst="rect">
            <a:avLst/>
          </a:prstGeom>
        </p:spPr>
      </p:pic>
      <p:sp>
        <p:nvSpPr>
          <p:cNvPr id="24" name="Rectangle 23"/>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6" name="TextBox 25"/>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16  /  38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PAGE 1 OF THE TEACHING RECORD: PE, PCV/TP/BUN, ASA. COMPLETE BEFORE THE FIRST DRUG.</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Willie’s perioperative record</a:t>
            </a:r>
          </a:p>
        </p:txBody>
      </p:sp>
      <p:pic>
        <p:nvPicPr>
          <p:cNvPr id="8" name="Picture 7" descr="anesthesia_record_willie.png"/>
          <p:cNvPicPr>
            <a:picLocks noChangeAspect="1"/>
          </p:cNvPicPr>
          <p:nvPr/>
        </p:nvPicPr>
        <p:blipFill>
          <a:blip r:embed="rId2"/>
          <a:stretch>
            <a:fillRect/>
          </a:stretch>
        </p:blipFill>
        <p:spPr>
          <a:xfrm>
            <a:off x="256032" y="987552"/>
            <a:ext cx="11686032" cy="5440680"/>
          </a:xfrm>
          <a:prstGeom prst="rect">
            <a:avLst/>
          </a:prstGeom>
        </p:spPr>
      </p:pic>
      <p:sp>
        <p:nvSpPr>
          <p:cNvPr id="9" name="Rectangle 8"/>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1" name="TextBox 10"/>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17  /  38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EXPLORATORY CANCELLED. RECORD THE DECISION.</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MoMo’s perioperative record</a:t>
            </a:r>
          </a:p>
        </p:txBody>
      </p:sp>
      <p:pic>
        <p:nvPicPr>
          <p:cNvPr id="8" name="Picture 7" descr="anesthesia_record_momo.png"/>
          <p:cNvPicPr>
            <a:picLocks noChangeAspect="1"/>
          </p:cNvPicPr>
          <p:nvPr/>
        </p:nvPicPr>
        <p:blipFill>
          <a:blip r:embed="rId2"/>
          <a:stretch>
            <a:fillRect/>
          </a:stretch>
        </p:blipFill>
        <p:spPr>
          <a:xfrm>
            <a:off x="256032" y="987552"/>
            <a:ext cx="11686032" cy="5440680"/>
          </a:xfrm>
          <a:prstGeom prst="rect">
            <a:avLst/>
          </a:prstGeom>
        </p:spPr>
      </p:pic>
      <p:sp>
        <p:nvSpPr>
          <p:cNvPr id="9" name="Rectangle 8"/>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1" name="TextBox 10"/>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18  /  38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CLEAN, CLEAN-CONTAMINATED, CONTAMINATED, DIRTY. THEN DECIDE ANTIBIOTICS. FOSSUM 2018; FREY ET AL. 2022.</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Surgical wound classification</a:t>
            </a:r>
          </a:p>
        </p:txBody>
      </p:sp>
      <p:sp>
        <p:nvSpPr>
          <p:cNvPr id="8" name="Rounded Rectangle 7"/>
          <p:cNvSpPr/>
          <p:nvPr/>
        </p:nvSpPr>
        <p:spPr>
          <a:xfrm>
            <a:off x="411480" y="1024128"/>
            <a:ext cx="5715000" cy="2011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024128"/>
            <a:ext cx="5715000" cy="438912"/>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024128"/>
            <a:ext cx="5715000" cy="438912"/>
          </a:xfrm>
          <a:prstGeom prst="rect">
            <a:avLst/>
          </a:prstGeom>
          <a:noFill/>
        </p:spPr>
        <p:txBody>
          <a:bodyPr wrap="square" anchor="ctr"/>
          <a:lstStyle/>
          <a:p>
            <a:pPr algn="ctr"/>
            <a:r>
              <a:rPr sz="1800" b="1">
                <a:solidFill>
                  <a:srgbClr val="FFFFFF"/>
                </a:solidFill>
                <a:latin typeface="Calibri"/>
              </a:rPr>
              <a:t>1. Clean</a:t>
            </a:r>
          </a:p>
        </p:txBody>
      </p:sp>
      <p:sp>
        <p:nvSpPr>
          <p:cNvPr id="11" name="TextBox 10"/>
          <p:cNvSpPr txBox="1"/>
          <p:nvPr/>
        </p:nvSpPr>
        <p:spPr>
          <a:xfrm>
            <a:off x="612648" y="1554480"/>
            <a:ext cx="5349240" cy="1371600"/>
          </a:xfrm>
          <a:prstGeom prst="rect">
            <a:avLst/>
          </a:prstGeom>
          <a:noFill/>
        </p:spPr>
        <p:txBody>
          <a:bodyPr wrap="square" anchor="t"/>
          <a:lstStyle/>
          <a:p>
            <a:pPr algn="l"/>
            <a:r>
              <a:rPr sz="1600" b="0">
                <a:solidFill>
                  <a:srgbClr val="1C1C1C"/>
                </a:solidFill>
                <a:latin typeface="Calibri"/>
              </a:rPr>
              <a:t>No infection. Hollow viscus not entered.
Elective OHE, orchiectomy, simple skin mass.
Skip routine prophylaxis (Frey 2022).</a:t>
            </a:r>
          </a:p>
        </p:txBody>
      </p:sp>
      <p:sp>
        <p:nvSpPr>
          <p:cNvPr id="12" name="Rounded Rectangle 11"/>
          <p:cNvSpPr/>
          <p:nvPr/>
        </p:nvSpPr>
        <p:spPr>
          <a:xfrm>
            <a:off x="6309360" y="1024128"/>
            <a:ext cx="5715000" cy="2011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024128"/>
            <a:ext cx="5715000" cy="438912"/>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024128"/>
            <a:ext cx="5715000" cy="438912"/>
          </a:xfrm>
          <a:prstGeom prst="rect">
            <a:avLst/>
          </a:prstGeom>
          <a:noFill/>
        </p:spPr>
        <p:txBody>
          <a:bodyPr wrap="square" anchor="ctr"/>
          <a:lstStyle/>
          <a:p>
            <a:pPr algn="ctr"/>
            <a:r>
              <a:rPr sz="1800" b="1">
                <a:solidFill>
                  <a:srgbClr val="FFFFFF"/>
                </a:solidFill>
                <a:latin typeface="Calibri"/>
              </a:rPr>
              <a:t>2. Clean-contaminated</a:t>
            </a:r>
          </a:p>
        </p:txBody>
      </p:sp>
      <p:sp>
        <p:nvSpPr>
          <p:cNvPr id="15" name="TextBox 14"/>
          <p:cNvSpPr txBox="1"/>
          <p:nvPr/>
        </p:nvSpPr>
        <p:spPr>
          <a:xfrm>
            <a:off x="6510528" y="1554480"/>
            <a:ext cx="5349240" cy="1371600"/>
          </a:xfrm>
          <a:prstGeom prst="rect">
            <a:avLst/>
          </a:prstGeom>
          <a:noFill/>
        </p:spPr>
        <p:txBody>
          <a:bodyPr wrap="square" anchor="t"/>
          <a:lstStyle/>
          <a:p>
            <a:pPr algn="l"/>
            <a:r>
              <a:rPr sz="1600" b="0">
                <a:solidFill>
                  <a:srgbClr val="1C1C1C"/>
                </a:solidFill>
                <a:latin typeface="Calibri"/>
              </a:rPr>
              <a:t>GI, respiratory, or urinary tract entered under control. Minor break in asepsis.
Cystotomy. Enterotomy without spillage.</a:t>
            </a:r>
          </a:p>
        </p:txBody>
      </p:sp>
      <p:sp>
        <p:nvSpPr>
          <p:cNvPr id="16" name="Rounded Rectangle 15"/>
          <p:cNvSpPr/>
          <p:nvPr/>
        </p:nvSpPr>
        <p:spPr>
          <a:xfrm>
            <a:off x="411480" y="3172968"/>
            <a:ext cx="5715000" cy="2011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172968"/>
            <a:ext cx="5715000" cy="438912"/>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3172968"/>
            <a:ext cx="5715000" cy="438912"/>
          </a:xfrm>
          <a:prstGeom prst="rect">
            <a:avLst/>
          </a:prstGeom>
          <a:noFill/>
        </p:spPr>
        <p:txBody>
          <a:bodyPr wrap="square" anchor="ctr"/>
          <a:lstStyle/>
          <a:p>
            <a:pPr algn="ctr"/>
            <a:r>
              <a:rPr sz="1800" b="1">
                <a:solidFill>
                  <a:srgbClr val="FFFFFF"/>
                </a:solidFill>
                <a:latin typeface="Calibri"/>
              </a:rPr>
              <a:t>3. Contaminated</a:t>
            </a:r>
          </a:p>
        </p:txBody>
      </p:sp>
      <p:sp>
        <p:nvSpPr>
          <p:cNvPr id="19" name="TextBox 18"/>
          <p:cNvSpPr txBox="1"/>
          <p:nvPr/>
        </p:nvSpPr>
        <p:spPr>
          <a:xfrm>
            <a:off x="612648" y="3703320"/>
            <a:ext cx="5349240" cy="1371600"/>
          </a:xfrm>
          <a:prstGeom prst="rect">
            <a:avLst/>
          </a:prstGeom>
          <a:noFill/>
        </p:spPr>
        <p:txBody>
          <a:bodyPr wrap="square" anchor="t"/>
          <a:lstStyle/>
          <a:p>
            <a:pPr algn="l"/>
            <a:r>
              <a:rPr sz="1600" b="0">
                <a:solidFill>
                  <a:srgbClr val="1C1C1C"/>
                </a:solidFill>
                <a:latin typeface="Calibri"/>
              </a:rPr>
              <a:t>Fresh open trauma. Major viscus spillage. Major break in sterile technique.
Time IV prophylaxis. Fix the break.</a:t>
            </a:r>
          </a:p>
        </p:txBody>
      </p:sp>
      <p:sp>
        <p:nvSpPr>
          <p:cNvPr id="20" name="Rounded Rectangle 19"/>
          <p:cNvSpPr/>
          <p:nvPr/>
        </p:nvSpPr>
        <p:spPr>
          <a:xfrm>
            <a:off x="6309360" y="3172968"/>
            <a:ext cx="5715000" cy="2011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3172968"/>
            <a:ext cx="5715000" cy="438912"/>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3172968"/>
            <a:ext cx="5715000" cy="438912"/>
          </a:xfrm>
          <a:prstGeom prst="rect">
            <a:avLst/>
          </a:prstGeom>
          <a:noFill/>
        </p:spPr>
        <p:txBody>
          <a:bodyPr wrap="square" anchor="ctr"/>
          <a:lstStyle/>
          <a:p>
            <a:pPr algn="ctr"/>
            <a:r>
              <a:rPr sz="1800" b="1">
                <a:solidFill>
                  <a:srgbClr val="FFFFFF"/>
                </a:solidFill>
                <a:latin typeface="Calibri"/>
              </a:rPr>
              <a:t>4. Dirty / infected</a:t>
            </a:r>
          </a:p>
        </p:txBody>
      </p:sp>
      <p:sp>
        <p:nvSpPr>
          <p:cNvPr id="23" name="TextBox 22"/>
          <p:cNvSpPr txBox="1"/>
          <p:nvPr/>
        </p:nvSpPr>
        <p:spPr>
          <a:xfrm>
            <a:off x="6510528" y="3703320"/>
            <a:ext cx="5349240" cy="1371600"/>
          </a:xfrm>
          <a:prstGeom prst="rect">
            <a:avLst/>
          </a:prstGeom>
          <a:noFill/>
        </p:spPr>
        <p:txBody>
          <a:bodyPr wrap="square" anchor="t"/>
          <a:lstStyle/>
          <a:p>
            <a:pPr algn="l"/>
            <a:r>
              <a:rPr sz="1600" b="0">
                <a:solidFill>
                  <a:srgbClr val="1C1C1C"/>
                </a:solidFill>
                <a:latin typeface="Calibri"/>
              </a:rPr>
              <a:t>Pus, abscess, old trauma, perforated viscus with peritonitis.
Willie’s ear. Pyometra with pus.
This is treatment, not prophylaxis.</a:t>
            </a:r>
          </a:p>
        </p:txBody>
      </p:sp>
      <p:sp>
        <p:nvSpPr>
          <p:cNvPr id="24" name="Rounded Rectangle 23"/>
          <p:cNvSpPr/>
          <p:nvPr/>
        </p:nvSpPr>
        <p:spPr>
          <a:xfrm>
            <a:off x="411480" y="5394960"/>
            <a:ext cx="11338560" cy="1078992"/>
          </a:xfrm>
          <a:prstGeom prst="roundRect">
            <a:avLst>
              <a:gd name="adj" fmla="val 8000"/>
            </a:avLst>
          </a:prstGeom>
          <a:solidFill>
            <a:srgbClr val="F4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468112"/>
            <a:ext cx="11018520" cy="932688"/>
          </a:xfrm>
          <a:prstGeom prst="rect">
            <a:avLst/>
          </a:prstGeom>
          <a:noFill/>
        </p:spPr>
        <p:txBody>
          <a:bodyPr wrap="square" anchor="ctr"/>
          <a:lstStyle/>
          <a:p>
            <a:pPr algn="l"/>
            <a:r>
              <a:rPr sz="1600" b="0">
                <a:solidFill>
                  <a:srgbClr val="0B2C4A"/>
                </a:solidFill>
                <a:latin typeface="Calibri"/>
              </a:rPr>
              <a:t>Write the class before you draw cefazolin. Clean elective: skip. When prophylaxis is indicated: cefazolin 22 mg/kg IV 30–60 min before incision (Gonzalez 2017; Frey 2022). Second dose if surgery lasts &gt;90 min (Whittem 1999). Stop at closure unless you are treating infection.</a:t>
            </a:r>
          </a:p>
        </p:txBody>
      </p:sp>
      <p:sp>
        <p:nvSpPr>
          <p:cNvPr id="26" name="Rectangle 25"/>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8" name="TextBox 27"/>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19  /  38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CPE MOA 2026 SURGERY: HAIR, SKIN, POSITION, DRAPE. THEN ANNOUNCE INCISION.</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Sequence of patient preparation</a:t>
            </a:r>
          </a:p>
        </p:txBody>
      </p:sp>
      <p:sp>
        <p:nvSpPr>
          <p:cNvPr id="8" name="Rounded Rectangle 7"/>
          <p:cNvSpPr/>
          <p:nvPr/>
        </p:nvSpPr>
        <p:spPr>
          <a:xfrm>
            <a:off x="411480" y="1143000"/>
            <a:ext cx="278892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143000"/>
            <a:ext cx="2788920" cy="64008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143000"/>
            <a:ext cx="2788920" cy="640080"/>
          </a:xfrm>
          <a:prstGeom prst="rect">
            <a:avLst/>
          </a:prstGeom>
          <a:noFill/>
        </p:spPr>
        <p:txBody>
          <a:bodyPr wrap="square" anchor="ctr"/>
          <a:lstStyle/>
          <a:p>
            <a:pPr algn="ctr"/>
            <a:r>
              <a:rPr sz="2000" b="1">
                <a:solidFill>
                  <a:srgbClr val="C5A35A"/>
                </a:solidFill>
                <a:latin typeface="Calibri"/>
              </a:rPr>
              <a:t>1</a:t>
            </a:r>
          </a:p>
        </p:txBody>
      </p:sp>
      <p:sp>
        <p:nvSpPr>
          <p:cNvPr id="11" name="TextBox 10"/>
          <p:cNvSpPr txBox="1"/>
          <p:nvPr/>
        </p:nvSpPr>
        <p:spPr>
          <a:xfrm>
            <a:off x="548640" y="1920240"/>
            <a:ext cx="2514600" cy="1234440"/>
          </a:xfrm>
          <a:prstGeom prst="rect">
            <a:avLst/>
          </a:prstGeom>
          <a:noFill/>
        </p:spPr>
        <p:txBody>
          <a:bodyPr wrap="square" anchor="t"/>
          <a:lstStyle/>
          <a:p>
            <a:pPr algn="ctr"/>
            <a:r>
              <a:rPr sz="1800" b="0">
                <a:solidFill>
                  <a:srgbClr val="1C1C1C"/>
                </a:solidFill>
                <a:latin typeface="Calibri"/>
              </a:rPr>
              <a:t>Ready for prep: ETT in, cuff to 20 cm H2O, bag on, IV running, surgical plane</a:t>
            </a:r>
          </a:p>
        </p:txBody>
      </p:sp>
      <p:sp>
        <p:nvSpPr>
          <p:cNvPr id="12" name="Rounded Rectangle 11"/>
          <p:cNvSpPr/>
          <p:nvPr/>
        </p:nvSpPr>
        <p:spPr>
          <a:xfrm>
            <a:off x="3337560" y="1143000"/>
            <a:ext cx="278892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1143000"/>
            <a:ext cx="2788920" cy="64008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1143000"/>
            <a:ext cx="2788920" cy="640080"/>
          </a:xfrm>
          <a:prstGeom prst="rect">
            <a:avLst/>
          </a:prstGeom>
          <a:noFill/>
        </p:spPr>
        <p:txBody>
          <a:bodyPr wrap="square" anchor="ctr"/>
          <a:lstStyle/>
          <a:p>
            <a:pPr algn="ctr"/>
            <a:r>
              <a:rPr sz="2000" b="1">
                <a:solidFill>
                  <a:srgbClr val="C5A35A"/>
                </a:solidFill>
                <a:latin typeface="Calibri"/>
              </a:rPr>
              <a:t>2</a:t>
            </a:r>
          </a:p>
        </p:txBody>
      </p:sp>
      <p:sp>
        <p:nvSpPr>
          <p:cNvPr id="15" name="TextBox 14"/>
          <p:cNvSpPr txBox="1"/>
          <p:nvPr/>
        </p:nvSpPr>
        <p:spPr>
          <a:xfrm>
            <a:off x="3474720" y="1920240"/>
            <a:ext cx="2514600" cy="1234440"/>
          </a:xfrm>
          <a:prstGeom prst="rect">
            <a:avLst/>
          </a:prstGeom>
          <a:noFill/>
        </p:spPr>
        <p:txBody>
          <a:bodyPr wrap="square" anchor="t"/>
          <a:lstStyle/>
          <a:p>
            <a:pPr algn="ctr"/>
            <a:r>
              <a:rPr sz="1800" b="0">
                <a:solidFill>
                  <a:srgbClr val="1C1C1C"/>
                </a:solidFill>
                <a:latin typeface="Calibri"/>
              </a:rPr>
              <a:t>Express bladder if abdominal / caudal surgery</a:t>
            </a:r>
          </a:p>
        </p:txBody>
      </p:sp>
      <p:sp>
        <p:nvSpPr>
          <p:cNvPr id="16" name="Rounded Rectangle 15"/>
          <p:cNvSpPr/>
          <p:nvPr/>
        </p:nvSpPr>
        <p:spPr>
          <a:xfrm>
            <a:off x="6263640" y="1143000"/>
            <a:ext cx="278892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143000"/>
            <a:ext cx="2788920" cy="64008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1143000"/>
            <a:ext cx="2788920" cy="640080"/>
          </a:xfrm>
          <a:prstGeom prst="rect">
            <a:avLst/>
          </a:prstGeom>
          <a:noFill/>
        </p:spPr>
        <p:txBody>
          <a:bodyPr wrap="square" anchor="ctr"/>
          <a:lstStyle/>
          <a:p>
            <a:pPr algn="ctr"/>
            <a:r>
              <a:rPr sz="2000" b="1">
                <a:solidFill>
                  <a:srgbClr val="C5A35A"/>
                </a:solidFill>
                <a:latin typeface="Calibri"/>
              </a:rPr>
              <a:t>3</a:t>
            </a:r>
          </a:p>
        </p:txBody>
      </p:sp>
      <p:sp>
        <p:nvSpPr>
          <p:cNvPr id="19" name="TextBox 18"/>
          <p:cNvSpPr txBox="1"/>
          <p:nvPr/>
        </p:nvSpPr>
        <p:spPr>
          <a:xfrm>
            <a:off x="6400800" y="1920240"/>
            <a:ext cx="2514600" cy="1234440"/>
          </a:xfrm>
          <a:prstGeom prst="rect">
            <a:avLst/>
          </a:prstGeom>
          <a:noFill/>
        </p:spPr>
        <p:txBody>
          <a:bodyPr wrap="square" anchor="t"/>
          <a:lstStyle/>
          <a:p>
            <a:pPr algn="ctr"/>
            <a:r>
              <a:rPr sz="1800" b="0">
                <a:solidFill>
                  <a:srgbClr val="1C1C1C"/>
                </a:solidFill>
                <a:latin typeface="Calibri"/>
              </a:rPr>
              <a:t>Clip with #40, vacuum hair, dirty antiseptic</a:t>
            </a:r>
          </a:p>
        </p:txBody>
      </p:sp>
      <p:sp>
        <p:nvSpPr>
          <p:cNvPr id="20" name="Rounded Rectangle 19"/>
          <p:cNvSpPr/>
          <p:nvPr/>
        </p:nvSpPr>
        <p:spPr>
          <a:xfrm>
            <a:off x="9189720" y="1143000"/>
            <a:ext cx="278892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89720" y="1143000"/>
            <a:ext cx="2788920" cy="64008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9720" y="1143000"/>
            <a:ext cx="2788920" cy="640080"/>
          </a:xfrm>
          <a:prstGeom prst="rect">
            <a:avLst/>
          </a:prstGeom>
          <a:noFill/>
        </p:spPr>
        <p:txBody>
          <a:bodyPr wrap="square" anchor="ctr"/>
          <a:lstStyle/>
          <a:p>
            <a:pPr algn="ctr"/>
            <a:r>
              <a:rPr sz="2000" b="1">
                <a:solidFill>
                  <a:srgbClr val="C5A35A"/>
                </a:solidFill>
                <a:latin typeface="Calibri"/>
              </a:rPr>
              <a:t>4</a:t>
            </a:r>
          </a:p>
        </p:txBody>
      </p:sp>
      <p:sp>
        <p:nvSpPr>
          <p:cNvPr id="23" name="TextBox 22"/>
          <p:cNvSpPr txBox="1"/>
          <p:nvPr/>
        </p:nvSpPr>
        <p:spPr>
          <a:xfrm>
            <a:off x="9326880" y="1920240"/>
            <a:ext cx="2514600" cy="1234440"/>
          </a:xfrm>
          <a:prstGeom prst="rect">
            <a:avLst/>
          </a:prstGeom>
          <a:noFill/>
        </p:spPr>
        <p:txBody>
          <a:bodyPr wrap="square" anchor="t"/>
          <a:lstStyle/>
          <a:p>
            <a:pPr algn="ctr"/>
            <a:r>
              <a:rPr sz="1800" b="0">
                <a:solidFill>
                  <a:srgbClr val="1C1C1C"/>
                </a:solidFill>
                <a:latin typeface="Calibri"/>
              </a:rPr>
              <a:t>Move to OR, position, pad, tie, final check</a:t>
            </a:r>
          </a:p>
        </p:txBody>
      </p:sp>
      <p:sp>
        <p:nvSpPr>
          <p:cNvPr id="24" name="Rounded Rectangle 23"/>
          <p:cNvSpPr/>
          <p:nvPr/>
        </p:nvSpPr>
        <p:spPr>
          <a:xfrm>
            <a:off x="411480" y="3611880"/>
            <a:ext cx="278892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3611880"/>
            <a:ext cx="2788920" cy="640080"/>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3611880"/>
            <a:ext cx="2788920" cy="640080"/>
          </a:xfrm>
          <a:prstGeom prst="rect">
            <a:avLst/>
          </a:prstGeom>
          <a:noFill/>
        </p:spPr>
        <p:txBody>
          <a:bodyPr wrap="square" anchor="ctr"/>
          <a:lstStyle/>
          <a:p>
            <a:pPr algn="ctr"/>
            <a:r>
              <a:rPr sz="2000" b="1">
                <a:solidFill>
                  <a:srgbClr val="C5A35A"/>
                </a:solidFill>
                <a:latin typeface="Calibri"/>
              </a:rPr>
              <a:t>5</a:t>
            </a:r>
          </a:p>
        </p:txBody>
      </p:sp>
      <p:sp>
        <p:nvSpPr>
          <p:cNvPr id="27" name="TextBox 26"/>
          <p:cNvSpPr txBox="1"/>
          <p:nvPr/>
        </p:nvSpPr>
        <p:spPr>
          <a:xfrm>
            <a:off x="548640" y="4389120"/>
            <a:ext cx="2514600" cy="1234440"/>
          </a:xfrm>
          <a:prstGeom prst="rect">
            <a:avLst/>
          </a:prstGeom>
          <a:noFill/>
        </p:spPr>
        <p:txBody>
          <a:bodyPr wrap="square" anchor="t"/>
          <a:lstStyle/>
          <a:p>
            <a:pPr algn="ctr"/>
            <a:r>
              <a:rPr sz="1800" b="0">
                <a:solidFill>
                  <a:srgbClr val="1C1C1C"/>
                </a:solidFill>
                <a:latin typeface="Calibri"/>
              </a:rPr>
              <a:t>Sterile prep. Clock minimum contact time. Skin: 7.5% ~5 min, then 5% paint. Eye: 2 min + 2 min</a:t>
            </a:r>
          </a:p>
        </p:txBody>
      </p:sp>
      <p:sp>
        <p:nvSpPr>
          <p:cNvPr id="28" name="Rounded Rectangle 27"/>
          <p:cNvSpPr/>
          <p:nvPr/>
        </p:nvSpPr>
        <p:spPr>
          <a:xfrm>
            <a:off x="3337560" y="3611880"/>
            <a:ext cx="278892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37560" y="3611880"/>
            <a:ext cx="2788920" cy="640080"/>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37560" y="3611880"/>
            <a:ext cx="2788920" cy="640080"/>
          </a:xfrm>
          <a:prstGeom prst="rect">
            <a:avLst/>
          </a:prstGeom>
          <a:noFill/>
        </p:spPr>
        <p:txBody>
          <a:bodyPr wrap="square" anchor="ctr"/>
          <a:lstStyle/>
          <a:p>
            <a:pPr algn="ctr"/>
            <a:r>
              <a:rPr sz="2000" b="1">
                <a:solidFill>
                  <a:srgbClr val="C5A35A"/>
                </a:solidFill>
                <a:latin typeface="Calibri"/>
              </a:rPr>
              <a:t>6</a:t>
            </a:r>
          </a:p>
        </p:txBody>
      </p:sp>
      <p:sp>
        <p:nvSpPr>
          <p:cNvPr id="31" name="TextBox 30"/>
          <p:cNvSpPr txBox="1"/>
          <p:nvPr/>
        </p:nvSpPr>
        <p:spPr>
          <a:xfrm>
            <a:off x="3474720" y="4389120"/>
            <a:ext cx="2514600" cy="1234440"/>
          </a:xfrm>
          <a:prstGeom prst="rect">
            <a:avLst/>
          </a:prstGeom>
          <a:noFill/>
        </p:spPr>
        <p:txBody>
          <a:bodyPr wrap="square" anchor="t"/>
          <a:lstStyle/>
          <a:p>
            <a:pPr algn="ctr"/>
            <a:r>
              <a:rPr sz="1800" b="0">
                <a:solidFill>
                  <a:srgbClr val="1C1C1C"/>
                </a:solidFill>
                <a:latin typeface="Calibri"/>
              </a:rPr>
              <a:t>Four-quadrant towels → large drape</a:t>
            </a:r>
          </a:p>
        </p:txBody>
      </p:sp>
      <p:sp>
        <p:nvSpPr>
          <p:cNvPr id="32" name="Rounded Rectangle 31"/>
          <p:cNvSpPr/>
          <p:nvPr/>
        </p:nvSpPr>
        <p:spPr>
          <a:xfrm>
            <a:off x="6263640" y="3611880"/>
            <a:ext cx="278892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63640" y="3611880"/>
            <a:ext cx="2788920" cy="640080"/>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3640" y="3611880"/>
            <a:ext cx="2788920" cy="640080"/>
          </a:xfrm>
          <a:prstGeom prst="rect">
            <a:avLst/>
          </a:prstGeom>
          <a:noFill/>
        </p:spPr>
        <p:txBody>
          <a:bodyPr wrap="square" anchor="ctr"/>
          <a:lstStyle/>
          <a:p>
            <a:pPr algn="ctr"/>
            <a:r>
              <a:rPr sz="2000" b="1">
                <a:solidFill>
                  <a:srgbClr val="C5A35A"/>
                </a:solidFill>
                <a:latin typeface="Calibri"/>
              </a:rPr>
              <a:t>7</a:t>
            </a:r>
          </a:p>
        </p:txBody>
      </p:sp>
      <p:sp>
        <p:nvSpPr>
          <p:cNvPr id="35" name="TextBox 34"/>
          <p:cNvSpPr txBox="1"/>
          <p:nvPr/>
        </p:nvSpPr>
        <p:spPr>
          <a:xfrm>
            <a:off x="6400800" y="4389120"/>
            <a:ext cx="2514600" cy="1234440"/>
          </a:xfrm>
          <a:prstGeom prst="rect">
            <a:avLst/>
          </a:prstGeom>
          <a:noFill/>
        </p:spPr>
        <p:txBody>
          <a:bodyPr wrap="square" anchor="t"/>
          <a:lstStyle/>
          <a:p>
            <a:pPr algn="ctr"/>
            <a:r>
              <a:rPr sz="1800" b="0">
                <a:solidFill>
                  <a:srgbClr val="1C1C1C"/>
                </a:solidFill>
                <a:latin typeface="Calibri"/>
              </a:rPr>
              <a:t>Surgeon: cap, mask, gown, closed glove</a:t>
            </a:r>
          </a:p>
        </p:txBody>
      </p:sp>
      <p:sp>
        <p:nvSpPr>
          <p:cNvPr id="36" name="Rounded Rectangle 35"/>
          <p:cNvSpPr/>
          <p:nvPr/>
        </p:nvSpPr>
        <p:spPr>
          <a:xfrm>
            <a:off x="9189720" y="3611880"/>
            <a:ext cx="278892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189720" y="3611880"/>
            <a:ext cx="2788920" cy="640080"/>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9720" y="3611880"/>
            <a:ext cx="2788920" cy="640080"/>
          </a:xfrm>
          <a:prstGeom prst="rect">
            <a:avLst/>
          </a:prstGeom>
          <a:noFill/>
        </p:spPr>
        <p:txBody>
          <a:bodyPr wrap="square" anchor="ctr"/>
          <a:lstStyle/>
          <a:p>
            <a:pPr algn="ctr"/>
            <a:r>
              <a:rPr sz="2000" b="1">
                <a:solidFill>
                  <a:srgbClr val="C5A35A"/>
                </a:solidFill>
                <a:latin typeface="Calibri"/>
              </a:rPr>
              <a:t>8</a:t>
            </a:r>
          </a:p>
        </p:txBody>
      </p:sp>
      <p:sp>
        <p:nvSpPr>
          <p:cNvPr id="39" name="TextBox 38"/>
          <p:cNvSpPr txBox="1"/>
          <p:nvPr/>
        </p:nvSpPr>
        <p:spPr>
          <a:xfrm>
            <a:off x="9326880" y="4389120"/>
            <a:ext cx="2514600" cy="1234440"/>
          </a:xfrm>
          <a:prstGeom prst="rect">
            <a:avLst/>
          </a:prstGeom>
          <a:noFill/>
        </p:spPr>
        <p:txBody>
          <a:bodyPr wrap="square" anchor="t"/>
          <a:lstStyle/>
          <a:p>
            <a:pPr algn="ctr"/>
            <a:r>
              <a:rPr sz="1800" b="0">
                <a:solidFill>
                  <a:srgbClr val="1C1C1C"/>
                </a:solidFill>
                <a:latin typeface="Calibri"/>
              </a:rPr>
              <a:t>Timeout. Announce incision. Clock runs to the last skin suture.</a:t>
            </a:r>
          </a:p>
        </p:txBody>
      </p:sp>
      <p:sp>
        <p:nvSpPr>
          <p:cNvPr id="40" name="Rectangle 39"/>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42" name="TextBox 41"/>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20  /  38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#40 CLIPPER AFTER INDUCTION. FIELD 20 CM BEYOND THE PLANNED INCISION.</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Hair removal</a:t>
            </a:r>
          </a:p>
        </p:txBody>
      </p:sp>
      <p:sp>
        <p:nvSpPr>
          <p:cNvPr id="8" name="Rounded Rectangle 7"/>
          <p:cNvSpPr/>
          <p:nvPr/>
        </p:nvSpPr>
        <p:spPr>
          <a:xfrm>
            <a:off x="365760" y="1005840"/>
            <a:ext cx="5669280" cy="457200"/>
          </a:xfrm>
          <a:prstGeom prst="roundRect">
            <a:avLst>
              <a:gd name="adj" fmla="val 8000"/>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05840"/>
            <a:ext cx="5669280" cy="457200"/>
          </a:xfrm>
          <a:prstGeom prst="rect">
            <a:avLst/>
          </a:prstGeom>
          <a:noFill/>
        </p:spPr>
        <p:txBody>
          <a:bodyPr wrap="square" anchor="ctr"/>
          <a:lstStyle/>
          <a:p>
            <a:pPr algn="ctr"/>
            <a:r>
              <a:rPr sz="1600" b="1">
                <a:solidFill>
                  <a:srgbClr val="FFFFFF"/>
                </a:solidFill>
                <a:latin typeface="Calibri"/>
              </a:rPr>
              <a:t>Too narrow. Hair at the margin.</a:t>
            </a:r>
          </a:p>
        </p:txBody>
      </p:sp>
      <p:pic>
        <p:nvPicPr>
          <p:cNvPr id="10" name="Picture 9" descr="clip_cat.jpg"/>
          <p:cNvPicPr>
            <a:picLocks noChangeAspect="1"/>
          </p:cNvPicPr>
          <p:nvPr/>
        </p:nvPicPr>
        <p:blipFill>
          <a:blip r:embed="rId2"/>
          <a:stretch>
            <a:fillRect/>
          </a:stretch>
        </p:blipFill>
        <p:spPr>
          <a:xfrm>
            <a:off x="365760" y="1481328"/>
            <a:ext cx="5669280" cy="3108960"/>
          </a:xfrm>
          <a:prstGeom prst="rect">
            <a:avLst/>
          </a:prstGeom>
        </p:spPr>
      </p:pic>
      <p:sp>
        <p:nvSpPr>
          <p:cNvPr id="11" name="Rounded Rectangle 10"/>
          <p:cNvSpPr/>
          <p:nvPr/>
        </p:nvSpPr>
        <p:spPr>
          <a:xfrm>
            <a:off x="6172200" y="1005840"/>
            <a:ext cx="5669280" cy="457200"/>
          </a:xfrm>
          <a:prstGeom prst="roundRect">
            <a:avLst>
              <a:gd name="adj" fmla="val 8000"/>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005840"/>
            <a:ext cx="5669280" cy="457200"/>
          </a:xfrm>
          <a:prstGeom prst="rect">
            <a:avLst/>
          </a:prstGeom>
          <a:noFill/>
        </p:spPr>
        <p:txBody>
          <a:bodyPr wrap="square" anchor="ctr"/>
          <a:lstStyle/>
          <a:p>
            <a:pPr algn="ctr"/>
            <a:r>
              <a:rPr sz="1600" b="1">
                <a:solidFill>
                  <a:srgbClr val="FFFFFF"/>
                </a:solidFill>
                <a:latin typeface="Calibri"/>
              </a:rPr>
              <a:t>24 hours after OHE. Clip was wide enough.</a:t>
            </a:r>
          </a:p>
        </p:txBody>
      </p:sp>
      <p:pic>
        <p:nvPicPr>
          <p:cNvPr id="13" name="Picture 12" descr="spay_incision.jpg"/>
          <p:cNvPicPr>
            <a:picLocks noChangeAspect="1"/>
          </p:cNvPicPr>
          <p:nvPr/>
        </p:nvPicPr>
        <p:blipFill>
          <a:blip r:embed="rId3"/>
          <a:stretch>
            <a:fillRect/>
          </a:stretch>
        </p:blipFill>
        <p:spPr>
          <a:xfrm>
            <a:off x="6172200" y="1481328"/>
            <a:ext cx="5669280" cy="3108960"/>
          </a:xfrm>
          <a:prstGeom prst="rect">
            <a:avLst/>
          </a:prstGeom>
        </p:spPr>
      </p:pic>
      <p:sp>
        <p:nvSpPr>
          <p:cNvPr id="14" name="Rounded Rectangle 13"/>
          <p:cNvSpPr/>
          <p:nvPr/>
        </p:nvSpPr>
        <p:spPr>
          <a:xfrm>
            <a:off x="365760" y="4709160"/>
            <a:ext cx="11475720" cy="1691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828032"/>
            <a:ext cx="11155680" cy="1417320"/>
          </a:xfrm>
          <a:prstGeom prst="rect">
            <a:avLst/>
          </a:prstGeom>
          <a:noFill/>
        </p:spPr>
        <p:txBody>
          <a:bodyPr wrap="square" anchor="t"/>
          <a:lstStyle/>
          <a:p>
            <a:pPr algn="l"/>
            <a:r>
              <a:rPr sz="1600" b="0">
                <a:solidFill>
                  <a:srgbClr val="1C1C1C"/>
                </a:solidFill>
                <a:latin typeface="Calibri"/>
              </a:rPr>
              <a:t>#40 after a surgical plane. Xiphoid to pubis, past the nipples, 20 cm beyond the incision.
Photos: Uwe Gille, CC0; Liannadavis, CC BY-SA 4.0.</a:t>
            </a:r>
          </a:p>
        </p:txBody>
      </p:sp>
      <p:sp>
        <p:nvSpPr>
          <p:cNvPr id="16" name="Rectangle 15"/>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8" name="TextBox 17"/>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21  /  38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MINIMUM CONTACT TIME. CLOCK IT. THEN DRAPE.</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Skin antiseptics</a:t>
            </a:r>
          </a:p>
        </p:txBody>
      </p:sp>
      <p:sp>
        <p:nvSpPr>
          <p:cNvPr id="8" name="Rounded Rectangle 7"/>
          <p:cNvSpPr/>
          <p:nvPr/>
        </p:nvSpPr>
        <p:spPr>
          <a:xfrm>
            <a:off x="365760" y="1024128"/>
            <a:ext cx="11448288" cy="1097280"/>
          </a:xfrm>
          <a:prstGeom prst="roundRect">
            <a:avLst>
              <a:gd name="adj" fmla="val 8000"/>
            </a:avLst>
          </a:prstGeom>
          <a:solidFill>
            <a:srgbClr val="F4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078992"/>
            <a:ext cx="11155680" cy="987552"/>
          </a:xfrm>
          <a:prstGeom prst="rect">
            <a:avLst/>
          </a:prstGeom>
          <a:noFill/>
        </p:spPr>
        <p:txBody>
          <a:bodyPr wrap="square" anchor="ctr"/>
          <a:lstStyle/>
          <a:p>
            <a:pPr algn="ctr"/>
            <a:r>
              <a:rPr sz="1800" b="1">
                <a:solidFill>
                  <a:srgbClr val="0B2C4A"/>
                </a:solidFill>
                <a:latin typeface="Calibri"/>
              </a:rPr>
              <a:t>Human Betadine Solution = 10% PVP-I.   Veterinary paint = 5%, not 10%.
Eye: 10% stock 1:50, or 5% bottle 1:25. Both = 0.2% on the cornea (Roberts 1986).</a:t>
            </a:r>
          </a:p>
        </p:txBody>
      </p:sp>
      <p:sp>
        <p:nvSpPr>
          <p:cNvPr id="10" name="Rounded Rectangle 9"/>
          <p:cNvSpPr/>
          <p:nvPr/>
        </p:nvSpPr>
        <p:spPr>
          <a:xfrm>
            <a:off x="365760" y="2267712"/>
            <a:ext cx="3749039"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267712"/>
            <a:ext cx="3749039" cy="438912"/>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267712"/>
            <a:ext cx="3749039" cy="438912"/>
          </a:xfrm>
          <a:prstGeom prst="rect">
            <a:avLst/>
          </a:prstGeom>
          <a:noFill/>
        </p:spPr>
        <p:txBody>
          <a:bodyPr wrap="square" anchor="ctr"/>
          <a:lstStyle/>
          <a:p>
            <a:pPr algn="ctr"/>
            <a:r>
              <a:rPr sz="1800" b="1">
                <a:solidFill>
                  <a:srgbClr val="FFFFFF"/>
                </a:solidFill>
                <a:latin typeface="Calibri"/>
              </a:rPr>
              <a:t>CHG  ·  Nolvasan</a:t>
            </a:r>
          </a:p>
        </p:txBody>
      </p:sp>
      <p:sp>
        <p:nvSpPr>
          <p:cNvPr id="13" name="TextBox 12"/>
          <p:cNvSpPr txBox="1"/>
          <p:nvPr/>
        </p:nvSpPr>
        <p:spPr>
          <a:xfrm>
            <a:off x="502920" y="2779776"/>
            <a:ext cx="3474720" cy="1828800"/>
          </a:xfrm>
          <a:prstGeom prst="rect">
            <a:avLst/>
          </a:prstGeom>
          <a:noFill/>
        </p:spPr>
        <p:txBody>
          <a:bodyPr wrap="square" anchor="t"/>
          <a:lstStyle/>
          <a:p>
            <a:pPr algn="l"/>
            <a:r>
              <a:rPr sz="1600" b="0">
                <a:solidFill>
                  <a:srgbClr val="1C1C1C"/>
                </a:solidFill>
                <a:latin typeface="Calibri"/>
              </a:rPr>
              <a:t>2% chlorhexidine acetate
MIN contact: 2 to 4 min
Keep out of eyes
Trunk / intact skin
Alcohol: rinse, then dry</a:t>
            </a:r>
          </a:p>
        </p:txBody>
      </p:sp>
      <p:sp>
        <p:nvSpPr>
          <p:cNvPr id="14" name="Rounded Rectangle 13"/>
          <p:cNvSpPr/>
          <p:nvPr/>
        </p:nvSpPr>
        <p:spPr>
          <a:xfrm>
            <a:off x="4224528" y="2267712"/>
            <a:ext cx="3749039"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24528" y="2267712"/>
            <a:ext cx="3749039" cy="438912"/>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24528" y="2267712"/>
            <a:ext cx="3749039" cy="438912"/>
          </a:xfrm>
          <a:prstGeom prst="rect">
            <a:avLst/>
          </a:prstGeom>
          <a:noFill/>
        </p:spPr>
        <p:txBody>
          <a:bodyPr wrap="square" anchor="ctr"/>
          <a:lstStyle/>
          <a:p>
            <a:pPr algn="ctr"/>
            <a:r>
              <a:rPr sz="1800" b="1">
                <a:solidFill>
                  <a:srgbClr val="0B2C4A"/>
                </a:solidFill>
                <a:latin typeface="Calibri"/>
              </a:rPr>
              <a:t>Skin  ·  Betadine vet</a:t>
            </a:r>
          </a:p>
        </p:txBody>
      </p:sp>
      <p:sp>
        <p:nvSpPr>
          <p:cNvPr id="17" name="TextBox 16"/>
          <p:cNvSpPr txBox="1"/>
          <p:nvPr/>
        </p:nvSpPr>
        <p:spPr>
          <a:xfrm>
            <a:off x="4361688" y="2779776"/>
            <a:ext cx="3474720" cy="1828800"/>
          </a:xfrm>
          <a:prstGeom prst="rect">
            <a:avLst/>
          </a:prstGeom>
          <a:noFill/>
        </p:spPr>
        <p:txBody>
          <a:bodyPr wrap="square" anchor="t"/>
          <a:lstStyle/>
          <a:p>
            <a:pPr algn="l"/>
            <a:r>
              <a:rPr sz="1600" b="0">
                <a:solidFill>
                  <a:srgbClr val="1C1C1C"/>
                </a:solidFill>
                <a:latin typeface="Calibri"/>
              </a:rPr>
              <a:t>7.5% scrub
MIN contact: about 5 min
Rinse with sterile water
Paint 5% solution
Dry, then drape</a:t>
            </a:r>
          </a:p>
        </p:txBody>
      </p:sp>
      <p:sp>
        <p:nvSpPr>
          <p:cNvPr id="18" name="Rounded Rectangle 17"/>
          <p:cNvSpPr/>
          <p:nvPr/>
        </p:nvSpPr>
        <p:spPr>
          <a:xfrm>
            <a:off x="8083296" y="2267712"/>
            <a:ext cx="3730752"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83296" y="2267712"/>
            <a:ext cx="3730752" cy="43891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83296" y="2267712"/>
            <a:ext cx="3730752" cy="438912"/>
          </a:xfrm>
          <a:prstGeom prst="rect">
            <a:avLst/>
          </a:prstGeom>
          <a:noFill/>
        </p:spPr>
        <p:txBody>
          <a:bodyPr wrap="square" anchor="ctr"/>
          <a:lstStyle/>
          <a:p>
            <a:pPr algn="ctr"/>
            <a:r>
              <a:rPr sz="1800" b="1">
                <a:solidFill>
                  <a:srgbClr val="C5A35A"/>
                </a:solidFill>
                <a:latin typeface="Calibri"/>
              </a:rPr>
              <a:t>Eye  ·  Roberts 1986</a:t>
            </a:r>
          </a:p>
        </p:txBody>
      </p:sp>
      <p:sp>
        <p:nvSpPr>
          <p:cNvPr id="21" name="TextBox 20"/>
          <p:cNvSpPr txBox="1"/>
          <p:nvPr/>
        </p:nvSpPr>
        <p:spPr>
          <a:xfrm>
            <a:off x="8220456" y="2779776"/>
            <a:ext cx="3456432" cy="1828800"/>
          </a:xfrm>
          <a:prstGeom prst="rect">
            <a:avLst/>
          </a:prstGeom>
          <a:noFill/>
        </p:spPr>
        <p:txBody>
          <a:bodyPr wrap="square" anchor="t"/>
          <a:lstStyle/>
          <a:p>
            <a:pPr algn="l"/>
            <a:r>
              <a:rPr sz="1600" b="0">
                <a:solidFill>
                  <a:srgbClr val="1C1C1C"/>
                </a:solidFill>
                <a:latin typeface="Calibri"/>
              </a:rPr>
              <a:t>Goal: 0.2% on cornea
10% stock → dilute 1:50
5% bottle → dilute 1:25
MIN: 2 min + 2 min
Not full strength</a:t>
            </a:r>
          </a:p>
        </p:txBody>
      </p:sp>
      <p:sp>
        <p:nvSpPr>
          <p:cNvPr id="22" name="Rounded Rectangle 21"/>
          <p:cNvSpPr/>
          <p:nvPr/>
        </p:nvSpPr>
        <p:spPr>
          <a:xfrm>
            <a:off x="365760" y="4919472"/>
            <a:ext cx="11448288"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029200"/>
            <a:ext cx="11082528" cy="1243584"/>
          </a:xfrm>
          <a:prstGeom prst="rect">
            <a:avLst/>
          </a:prstGeom>
          <a:noFill/>
        </p:spPr>
        <p:txBody>
          <a:bodyPr wrap="square" anchor="t"/>
          <a:lstStyle/>
          <a:p>
            <a:pPr algn="l"/>
            <a:r>
              <a:rPr sz="1400" b="0">
                <a:solidFill>
                  <a:srgbClr val="3D4A57"/>
                </a:solidFill>
                <a:latin typeface="Calibri"/>
              </a:rPr>
              <a:t>Nolvasan Surgical Scrub: 2% chlorhexidine acetate, DailyMed NDC 54771-8701, wash 2 to 4 min, keep out of eyes.
BETADINE Surgical Scrub Veterinary NDC 67618-154 (7.5%, lather about 5 min). BETADINE Solution Veterinary NDC 67618-155 (5% paint, not 10%).
Eye: both 1:50 of 10% and 1:25 of 5% give 0.2% on the cornea (Roberts 1986). 1:2 of 10% caused corneal edema in 1/15 eyes.</a:t>
            </a:r>
          </a:p>
        </p:txBody>
      </p:sp>
      <p:sp>
        <p:nvSpPr>
          <p:cNvPr id="24" name="Rectangle 23"/>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6" name="TextBox 25"/>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22  /  38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CENTER TO PERIPHERY. DIRTY PREP, THEN STERILE PREP.</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Patient skin preparation technique</a:t>
            </a:r>
          </a:p>
        </p:txBody>
      </p:sp>
      <p:pic>
        <p:nvPicPr>
          <p:cNvPr id="8" name="Picture 7" descr="prep_spiral_antiseptic.png"/>
          <p:cNvPicPr>
            <a:picLocks noChangeAspect="1"/>
          </p:cNvPicPr>
          <p:nvPr/>
        </p:nvPicPr>
        <p:blipFill>
          <a:blip r:embed="rId2"/>
          <a:stretch>
            <a:fillRect/>
          </a:stretch>
        </p:blipFill>
        <p:spPr>
          <a:xfrm>
            <a:off x="365760" y="1051560"/>
            <a:ext cx="6766560" cy="5394960"/>
          </a:xfrm>
          <a:prstGeom prst="rect">
            <a:avLst/>
          </a:prstGeom>
        </p:spPr>
      </p:pic>
      <p:sp>
        <p:nvSpPr>
          <p:cNvPr id="9" name="Rounded Rectangle 8"/>
          <p:cNvSpPr/>
          <p:nvPr/>
        </p:nvSpPr>
        <p:spPr>
          <a:xfrm>
            <a:off x="7269480" y="1051560"/>
            <a:ext cx="4480560" cy="53949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1188720"/>
            <a:ext cx="4160520" cy="365760"/>
          </a:xfrm>
          <a:prstGeom prst="rect">
            <a:avLst/>
          </a:prstGeom>
          <a:noFill/>
        </p:spPr>
        <p:txBody>
          <a:bodyPr wrap="square" anchor="t"/>
          <a:lstStyle/>
          <a:p>
            <a:pPr algn="l"/>
            <a:r>
              <a:rPr sz="1800" b="1">
                <a:solidFill>
                  <a:srgbClr val="0B2C4A"/>
                </a:solidFill>
                <a:latin typeface="Calibri"/>
              </a:rPr>
              <a:t>Technique</a:t>
            </a:r>
          </a:p>
        </p:txBody>
      </p:sp>
      <p:sp>
        <p:nvSpPr>
          <p:cNvPr id="11" name="TextBox 10"/>
          <p:cNvSpPr txBox="1"/>
          <p:nvPr/>
        </p:nvSpPr>
        <p:spPr>
          <a:xfrm>
            <a:off x="7406640" y="1600200"/>
            <a:ext cx="4160520" cy="4572000"/>
          </a:xfrm>
          <a:prstGeom prst="rect">
            <a:avLst/>
          </a:prstGeom>
          <a:noFill/>
        </p:spPr>
        <p:txBody>
          <a:bodyPr wrap="square">
            <a:spAutoFit/>
          </a:bodyPr>
          <a:lstStyle/>
          <a:p>
            <a:pPr algn="l">
              <a:spcAft>
                <a:spcPts val="1000"/>
              </a:spcAft>
            </a:pPr>
            <a:r>
              <a:rPr sz="1600" b="0">
                <a:solidFill>
                  <a:srgbClr val="1C1C1C"/>
                </a:solidFill>
                <a:latin typeface="Calibri"/>
              </a:rPr>
              <a:t>▸  Dirty prep, then sterile prep.</a:t>
            </a:r>
          </a:p>
          <a:p>
            <a:pPr algn="l">
              <a:spcAft>
                <a:spcPts val="1000"/>
              </a:spcAft>
            </a:pPr>
            <a:r>
              <a:rPr sz="1600" b="0">
                <a:solidFill>
                  <a:srgbClr val="1C1C1C"/>
                </a:solidFill>
                <a:latin typeface="Calibri"/>
              </a:rPr>
              <a:t>▸  Start at the incision. Spiral out. Drop the sponge.</a:t>
            </a:r>
          </a:p>
          <a:p>
            <a:pPr algn="l">
              <a:spcAft>
                <a:spcPts val="1000"/>
              </a:spcAft>
            </a:pPr>
            <a:r>
              <a:rPr sz="1600" b="0">
                <a:solidFill>
                  <a:srgbClr val="1C1C1C"/>
                </a:solidFill>
                <a:latin typeface="Calibri"/>
              </a:rPr>
              <a:t>▸  Clock the minimum contact time.</a:t>
            </a:r>
          </a:p>
          <a:p>
            <a:pPr algn="l">
              <a:spcAft>
                <a:spcPts val="1000"/>
              </a:spcAft>
            </a:pPr>
            <a:r>
              <a:rPr sz="1600" b="0">
                <a:solidFill>
                  <a:srgbClr val="1C1C1C"/>
                </a:solidFill>
                <a:latin typeface="Calibri"/>
              </a:rPr>
              <a:t>▸  Skin: 7.5% ~5 min, then 5% paint.</a:t>
            </a:r>
          </a:p>
          <a:p>
            <a:pPr algn="l">
              <a:spcAft>
                <a:spcPts val="1000"/>
              </a:spcAft>
            </a:pPr>
            <a:r>
              <a:rPr sz="1600" b="0">
                <a:solidFill>
                  <a:srgbClr val="1C1C1C"/>
                </a:solidFill>
                <a:latin typeface="Calibri"/>
              </a:rPr>
              <a:t>▸  Eye: 10% 1:50 or 5% 1:25. Both = 0.2% on the cornea.</a:t>
            </a:r>
          </a:p>
          <a:p>
            <a:pPr algn="l">
              <a:spcAft>
                <a:spcPts val="1000"/>
              </a:spcAft>
            </a:pPr>
            <a:r>
              <a:rPr sz="1600" b="0">
                <a:solidFill>
                  <a:srgbClr val="1C1C1C"/>
                </a:solidFill>
                <a:latin typeface="Calibri"/>
              </a:rPr>
              <a:t>▸  Willie canal: dilute PVP-I, not 7.5% scrub.</a:t>
            </a:r>
          </a:p>
        </p:txBody>
      </p:sp>
      <p:sp>
        <p:nvSpPr>
          <p:cNvPr id="12" name="Rectangle 11"/>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4" name="TextBox 13"/>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23  /  38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DORSAL RECUMBENCY, AIRWAY, IV CATHETER, MONITORING, V-TROUGH</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Patient positioning</a:t>
            </a:r>
          </a:p>
        </p:txBody>
      </p:sp>
      <p:pic>
        <p:nvPicPr>
          <p:cNvPr id="8" name="Picture 7" descr="dog_or.jpg"/>
          <p:cNvPicPr>
            <a:picLocks noChangeAspect="1"/>
          </p:cNvPicPr>
          <p:nvPr/>
        </p:nvPicPr>
        <p:blipFill>
          <a:blip r:embed="rId2"/>
          <a:stretch>
            <a:fillRect/>
          </a:stretch>
        </p:blipFill>
        <p:spPr>
          <a:xfrm>
            <a:off x="320040" y="1024128"/>
            <a:ext cx="7635240" cy="5440680"/>
          </a:xfrm>
          <a:prstGeom prst="rect">
            <a:avLst/>
          </a:prstGeom>
        </p:spPr>
      </p:pic>
      <p:sp>
        <p:nvSpPr>
          <p:cNvPr id="9" name="Rounded Rectangle 8"/>
          <p:cNvSpPr/>
          <p:nvPr/>
        </p:nvSpPr>
        <p:spPr>
          <a:xfrm>
            <a:off x="8092440" y="1024128"/>
            <a:ext cx="3749039" cy="5440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170432"/>
            <a:ext cx="3429000" cy="411480"/>
          </a:xfrm>
          <a:prstGeom prst="rect">
            <a:avLst/>
          </a:prstGeom>
          <a:noFill/>
        </p:spPr>
        <p:txBody>
          <a:bodyPr wrap="square" anchor="t"/>
          <a:lstStyle/>
          <a:p>
            <a:pPr algn="l"/>
            <a:r>
              <a:rPr sz="1800" b="1">
                <a:solidFill>
                  <a:srgbClr val="0B2C4A"/>
                </a:solidFill>
                <a:latin typeface="Calibri"/>
              </a:rPr>
              <a:t>Visible in this photograph</a:t>
            </a:r>
          </a:p>
        </p:txBody>
      </p:sp>
      <p:sp>
        <p:nvSpPr>
          <p:cNvPr id="11" name="TextBox 10"/>
          <p:cNvSpPr txBox="1"/>
          <p:nvPr/>
        </p:nvSpPr>
        <p:spPr>
          <a:xfrm>
            <a:off x="8275320" y="1645920"/>
            <a:ext cx="3429000" cy="4572000"/>
          </a:xfrm>
          <a:prstGeom prst="rect">
            <a:avLst/>
          </a:prstGeom>
          <a:noFill/>
        </p:spPr>
        <p:txBody>
          <a:bodyPr wrap="square" anchor="t"/>
          <a:lstStyle/>
          <a:p>
            <a:pPr algn="l"/>
            <a:r>
              <a:rPr sz="1600" b="0">
                <a:solidFill>
                  <a:srgbClr val="1C1C1C"/>
                </a:solidFill>
                <a:latin typeface="Calibri"/>
              </a:rPr>
              <a:t>• ET tube + pulse ox
• IV catheter + fluids
• Circle + reservoir bag
• V-trough / padding
• Ties snug; pulse distal to each tie
• Clip after a surgical plane
Tube tip: midway larynx to thoracic inlet (Grubb 2020).
Confirm: ETCO2, bag move, no esophageal tube.
Photo: Anja, CC BY-SA 4.0.</a:t>
            </a:r>
          </a:p>
        </p:txBody>
      </p:sp>
      <p:sp>
        <p:nvSpPr>
          <p:cNvPr id="12" name="Rectangle 11"/>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4" name="TextBox 13"/>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24  /  38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FOUR-QUADRANT TOWELS, THEN THE LARGE DRAPE</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Draping</a:t>
            </a:r>
          </a:p>
        </p:txBody>
      </p:sp>
      <p:sp>
        <p:nvSpPr>
          <p:cNvPr id="8" name="Rounded Rectangle 7"/>
          <p:cNvSpPr/>
          <p:nvPr/>
        </p:nvSpPr>
        <p:spPr>
          <a:xfrm>
            <a:off x="365760" y="1005840"/>
            <a:ext cx="5669280" cy="457200"/>
          </a:xfrm>
          <a:prstGeom prst="roundRect">
            <a:avLst>
              <a:gd name="adj" fmla="val 8000"/>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05840"/>
            <a:ext cx="5669280" cy="457200"/>
          </a:xfrm>
          <a:prstGeom prst="rect">
            <a:avLst/>
          </a:prstGeom>
          <a:noFill/>
        </p:spPr>
        <p:txBody>
          <a:bodyPr wrap="square" anchor="ctr"/>
          <a:lstStyle/>
          <a:p>
            <a:pPr algn="ctr"/>
            <a:r>
              <a:rPr sz="1600" b="1">
                <a:solidFill>
                  <a:srgbClr val="FFFFFF"/>
                </a:solidFill>
                <a:latin typeface="Calibri"/>
              </a:rPr>
              <a:t>OHE: hair visible at the drape edge</a:t>
            </a:r>
          </a:p>
        </p:txBody>
      </p:sp>
      <p:pic>
        <p:nvPicPr>
          <p:cNvPr id="10" name="Picture 9" descr="cherry_point_spay.jpg"/>
          <p:cNvPicPr>
            <a:picLocks noChangeAspect="1"/>
          </p:cNvPicPr>
          <p:nvPr/>
        </p:nvPicPr>
        <p:blipFill>
          <a:blip r:embed="rId2"/>
          <a:stretch>
            <a:fillRect/>
          </a:stretch>
        </p:blipFill>
        <p:spPr>
          <a:xfrm>
            <a:off x="365760" y="1481328"/>
            <a:ext cx="5669280" cy="3108960"/>
          </a:xfrm>
          <a:prstGeom prst="rect">
            <a:avLst/>
          </a:prstGeom>
        </p:spPr>
      </p:pic>
      <p:sp>
        <p:nvSpPr>
          <p:cNvPr id="11" name="Rounded Rectangle 10"/>
          <p:cNvSpPr/>
          <p:nvPr/>
        </p:nvSpPr>
        <p:spPr>
          <a:xfrm>
            <a:off x="6172200" y="1005840"/>
            <a:ext cx="5669280" cy="457200"/>
          </a:xfrm>
          <a:prstGeom prst="roundRect">
            <a:avLst>
              <a:gd name="adj" fmla="val 8000"/>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005840"/>
            <a:ext cx="5669280" cy="457200"/>
          </a:xfrm>
          <a:prstGeom prst="rect">
            <a:avLst/>
          </a:prstGeom>
          <a:noFill/>
        </p:spPr>
        <p:txBody>
          <a:bodyPr wrap="square" anchor="ctr"/>
          <a:lstStyle/>
          <a:p>
            <a:pPr algn="ctr"/>
            <a:r>
              <a:rPr sz="1600" b="1">
                <a:solidFill>
                  <a:srgbClr val="FFFFFF"/>
                </a:solidFill>
                <a:latin typeface="Calibri"/>
              </a:rPr>
              <a:t>Sterile field: gown, glove, drape</a:t>
            </a:r>
          </a:p>
        </p:txBody>
      </p:sp>
      <p:pic>
        <p:nvPicPr>
          <p:cNvPr id="13" name="Picture 12" descr="hektor_drape.jpg"/>
          <p:cNvPicPr>
            <a:picLocks noChangeAspect="1"/>
          </p:cNvPicPr>
          <p:nvPr/>
        </p:nvPicPr>
        <p:blipFill>
          <a:blip r:embed="rId3"/>
          <a:stretch>
            <a:fillRect/>
          </a:stretch>
        </p:blipFill>
        <p:spPr>
          <a:xfrm>
            <a:off x="6172200" y="1481328"/>
            <a:ext cx="5669280" cy="3108960"/>
          </a:xfrm>
          <a:prstGeom prst="rect">
            <a:avLst/>
          </a:prstGeom>
        </p:spPr>
      </p:pic>
      <p:sp>
        <p:nvSpPr>
          <p:cNvPr id="14" name="Rounded Rectangle 13"/>
          <p:cNvSpPr/>
          <p:nvPr/>
        </p:nvSpPr>
        <p:spPr>
          <a:xfrm>
            <a:off x="365760" y="4709160"/>
            <a:ext cx="11475720" cy="1691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828032"/>
            <a:ext cx="11155680" cy="1417320"/>
          </a:xfrm>
          <a:prstGeom prst="rect">
            <a:avLst/>
          </a:prstGeom>
          <a:noFill/>
        </p:spPr>
        <p:txBody>
          <a:bodyPr wrap="square" anchor="t"/>
          <a:lstStyle/>
          <a:p>
            <a:pPr algn="l"/>
            <a:r>
              <a:rPr sz="1600" b="0">
                <a:solidFill>
                  <a:srgbClr val="1C1C1C"/>
                </a:solidFill>
                <a:latin typeface="Calibri"/>
              </a:rPr>
              <a:t>Near towel first. Four towels box the field. Towel clamps on skin, not through the drape to viscera. Large drape last. Only the incision is in the window. Re-clip until the window is hair-free.
Photos: Cpl. Samuel A. Nasso, USMC, public domain; MSgt Carlotta Holley, USAF, public domain.</a:t>
            </a:r>
          </a:p>
        </p:txBody>
      </p:sp>
      <p:sp>
        <p:nvSpPr>
          <p:cNvPr id="16" name="Rectangle 15"/>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8" name="TextBox 17"/>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25  /  38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TECHNIQUE DIAGRAM AND OPERATING-ROOM PHOTOGRAPH</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Closed gloving and the anesthesia workstation</a:t>
            </a:r>
          </a:p>
        </p:txBody>
      </p:sp>
      <p:pic>
        <p:nvPicPr>
          <p:cNvPr id="8" name="Picture 7" descr="prep_closed_gloving.png"/>
          <p:cNvPicPr>
            <a:picLocks noChangeAspect="1"/>
          </p:cNvPicPr>
          <p:nvPr/>
        </p:nvPicPr>
        <p:blipFill>
          <a:blip r:embed="rId2"/>
          <a:stretch>
            <a:fillRect/>
          </a:stretch>
        </p:blipFill>
        <p:spPr>
          <a:xfrm>
            <a:off x="320040" y="1024128"/>
            <a:ext cx="5760720" cy="3794760"/>
          </a:xfrm>
          <a:prstGeom prst="rect">
            <a:avLst/>
          </a:prstGeom>
        </p:spPr>
      </p:pic>
      <p:pic>
        <p:nvPicPr>
          <p:cNvPr id="9" name="Picture 8" descr="hektor_or.jpg"/>
          <p:cNvPicPr>
            <a:picLocks noChangeAspect="1"/>
          </p:cNvPicPr>
          <p:nvPr/>
        </p:nvPicPr>
        <p:blipFill>
          <a:blip r:embed="rId3"/>
          <a:stretch>
            <a:fillRect/>
          </a:stretch>
        </p:blipFill>
        <p:spPr>
          <a:xfrm>
            <a:off x="6172200" y="1024128"/>
            <a:ext cx="5669280" cy="3794760"/>
          </a:xfrm>
          <a:prstGeom prst="rect">
            <a:avLst/>
          </a:prstGeom>
        </p:spPr>
      </p:pic>
      <p:sp>
        <p:nvSpPr>
          <p:cNvPr id="10" name="Rounded Rectangle 9"/>
          <p:cNvSpPr/>
          <p:nvPr/>
        </p:nvSpPr>
        <p:spPr>
          <a:xfrm>
            <a:off x="320040" y="4919472"/>
            <a:ext cx="1152144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029200"/>
            <a:ext cx="11155680" cy="1325880"/>
          </a:xfrm>
          <a:prstGeom prst="rect">
            <a:avLst/>
          </a:prstGeom>
          <a:noFill/>
        </p:spPr>
        <p:txBody>
          <a:bodyPr wrap="square" anchor="t"/>
          <a:lstStyle/>
          <a:p>
            <a:pPr algn="l"/>
            <a:r>
              <a:rPr sz="1600" b="0">
                <a:solidFill>
                  <a:srgbClr val="1C1C1C"/>
                </a:solidFill>
                <a:latin typeface="Calibri"/>
              </a:rPr>
              <a:t>Left: closed-gloving technique (hands stay inside the gown cuffs). Right: cap, mask, ECG, SpO2, ETCO2, circle system, IV fluids, airway. Name every monitor on the workstation before the first incision.
Photo: MSgt Carlotta Holley, U.S. Air Force, public domain.</a:t>
            </a:r>
          </a:p>
        </p:txBody>
      </p:sp>
      <p:sp>
        <p:nvSpPr>
          <p:cNvPr id="12" name="Rectangle 11"/>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4" name="TextBox 13"/>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26  /  38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SAY IT. CORRECT IT. AFTER THE INCISION, EVERY BREAK MUST BE FULLY CORRECTED.</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Breaks in asepsis</a:t>
            </a:r>
          </a:p>
        </p:txBody>
      </p:sp>
      <p:sp>
        <p:nvSpPr>
          <p:cNvPr id="8" name="Rounded Rectangle 7"/>
          <p:cNvSpPr/>
          <p:nvPr/>
        </p:nvSpPr>
        <p:spPr>
          <a:xfrm>
            <a:off x="411480" y="1051560"/>
            <a:ext cx="5623560" cy="3246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170432"/>
            <a:ext cx="5212080" cy="320040"/>
          </a:xfrm>
          <a:prstGeom prst="rect">
            <a:avLst/>
          </a:prstGeom>
          <a:noFill/>
        </p:spPr>
        <p:txBody>
          <a:bodyPr wrap="square" anchor="t"/>
          <a:lstStyle/>
          <a:p>
            <a:pPr algn="l"/>
            <a:r>
              <a:rPr sz="1800" b="1">
                <a:solidFill>
                  <a:srgbClr val="1B6B7A"/>
                </a:solidFill>
                <a:latin typeface="Calibri"/>
              </a:rPr>
              <a:t>If you contaminate</a:t>
            </a:r>
          </a:p>
        </p:txBody>
      </p:sp>
      <p:sp>
        <p:nvSpPr>
          <p:cNvPr id="10" name="TextBox 9"/>
          <p:cNvSpPr txBox="1"/>
          <p:nvPr/>
        </p:nvSpPr>
        <p:spPr>
          <a:xfrm>
            <a:off x="640080" y="1554480"/>
            <a:ext cx="5212080" cy="2560320"/>
          </a:xfrm>
          <a:prstGeom prst="rect">
            <a:avLst/>
          </a:prstGeom>
          <a:noFill/>
        </p:spPr>
        <p:txBody>
          <a:bodyPr wrap="square" anchor="t"/>
          <a:lstStyle/>
          <a:p>
            <a:pPr algn="l"/>
            <a:r>
              <a:rPr sz="1600" b="0">
                <a:solidFill>
                  <a:srgbClr val="1C1C1C"/>
                </a:solidFill>
                <a:latin typeface="Calibri"/>
              </a:rPr>
              <a:t>Prep, gown, glove, drape: say it immediately. Re-glove, re-gown, or re-drape. Do not continue with a contaminated field.
After the incision: notice, announce, and fully correct. Sleeve in the abdomen, instrument off the table, hole in a glove: stop and fix it.</a:t>
            </a:r>
          </a:p>
        </p:txBody>
      </p:sp>
      <p:sp>
        <p:nvSpPr>
          <p:cNvPr id="11" name="Rounded Rectangle 10"/>
          <p:cNvSpPr/>
          <p:nvPr/>
        </p:nvSpPr>
        <p:spPr>
          <a:xfrm>
            <a:off x="6217920" y="1051560"/>
            <a:ext cx="5532120" cy="3246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170432"/>
            <a:ext cx="5120640" cy="320040"/>
          </a:xfrm>
          <a:prstGeom prst="rect">
            <a:avLst/>
          </a:prstGeom>
          <a:noFill/>
        </p:spPr>
        <p:txBody>
          <a:bodyPr wrap="square" anchor="t"/>
          <a:lstStyle/>
          <a:p>
            <a:pPr algn="l"/>
            <a:r>
              <a:rPr sz="1800" b="1">
                <a:solidFill>
                  <a:srgbClr val="0B2C4A"/>
                </a:solidFill>
                <a:latin typeface="Calibri"/>
              </a:rPr>
              <a:t>Protect the patient</a:t>
            </a:r>
          </a:p>
        </p:txBody>
      </p:sp>
      <p:sp>
        <p:nvSpPr>
          <p:cNvPr id="13" name="TextBox 12"/>
          <p:cNvSpPr txBox="1"/>
          <p:nvPr/>
        </p:nvSpPr>
        <p:spPr>
          <a:xfrm>
            <a:off x="6446520" y="1554480"/>
            <a:ext cx="5120640" cy="2560320"/>
          </a:xfrm>
          <a:prstGeom prst="rect">
            <a:avLst/>
          </a:prstGeom>
          <a:noFill/>
        </p:spPr>
        <p:txBody>
          <a:bodyPr wrap="square" anchor="t"/>
          <a:lstStyle/>
          <a:p>
            <a:pPr algn="l"/>
            <a:r>
              <a:rPr sz="1600" b="0">
                <a:solidFill>
                  <a:srgbClr val="1C1C1C"/>
                </a:solidFill>
                <a:latin typeface="Calibri"/>
              </a:rPr>
              <a:t>1. Control significant hemorrhage.
2. Create a secure abdominal wall closure.
3. Achieve and maintain an aseptic field.
4. Identify and protect adjacent organs before you clamp.
5. Complete a sponge and instrument count before closure.</a:t>
            </a:r>
          </a:p>
        </p:txBody>
      </p:sp>
      <p:sp>
        <p:nvSpPr>
          <p:cNvPr id="14" name="Rounded Rectangle 13"/>
          <p:cNvSpPr/>
          <p:nvPr/>
        </p:nvSpPr>
        <p:spPr>
          <a:xfrm>
            <a:off x="411480" y="4434840"/>
            <a:ext cx="11338560" cy="1920240"/>
          </a:xfrm>
          <a:prstGeom prst="roundRect">
            <a:avLst>
              <a:gd name="adj" fmla="val 8000"/>
            </a:avLst>
          </a:prstGeom>
          <a:solidFill>
            <a:srgbClr val="F4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617720"/>
            <a:ext cx="10927080" cy="1600200"/>
          </a:xfrm>
          <a:prstGeom prst="rect">
            <a:avLst/>
          </a:prstGeom>
          <a:noFill/>
        </p:spPr>
        <p:txBody>
          <a:bodyPr wrap="square" anchor="t"/>
          <a:lstStyle/>
          <a:p>
            <a:pPr algn="l"/>
            <a:r>
              <a:rPr sz="1600" b="0">
                <a:solidFill>
                  <a:srgbClr val="0B2C4A"/>
                </a:solidFill>
                <a:latin typeface="Calibri"/>
              </a:rPr>
              <a:t>The operation is not over at the last skin suture. The first 24 hours still count: intra-abdominal hemorrhage from a weak ligature, or herniation from a weak linea, is still the operation (CPE MOA 2026 Surgery).</a:t>
            </a:r>
          </a:p>
        </p:txBody>
      </p:sp>
      <p:sp>
        <p:nvSpPr>
          <p:cNvPr id="16" name="Rectangle 15"/>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8" name="TextBox 17"/>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27  /  38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WHAT DO YOU DO NEXT?</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Knowledge check</a:t>
            </a:r>
          </a:p>
        </p:txBody>
      </p:sp>
      <p:sp>
        <p:nvSpPr>
          <p:cNvPr id="8" name="Rounded Rectangle 7"/>
          <p:cNvSpPr/>
          <p:nvPr/>
        </p:nvSpPr>
        <p:spPr>
          <a:xfrm>
            <a:off x="457200" y="1051560"/>
            <a:ext cx="11247120" cy="1188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51560"/>
            <a:ext cx="777240" cy="118872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051560"/>
            <a:ext cx="777240" cy="1188720"/>
          </a:xfrm>
          <a:prstGeom prst="rect">
            <a:avLst/>
          </a:prstGeom>
          <a:noFill/>
        </p:spPr>
        <p:txBody>
          <a:bodyPr wrap="square" anchor="ctr"/>
          <a:lstStyle/>
          <a:p>
            <a:pPr algn="ctr"/>
            <a:r>
              <a:rPr sz="2200" b="1">
                <a:solidFill>
                  <a:srgbClr val="C5A35A"/>
                </a:solidFill>
                <a:latin typeface="Calibri"/>
              </a:rPr>
              <a:t>A</a:t>
            </a:r>
          </a:p>
        </p:txBody>
      </p:sp>
      <p:sp>
        <p:nvSpPr>
          <p:cNvPr id="11" name="TextBox 10"/>
          <p:cNvSpPr txBox="1"/>
          <p:nvPr/>
        </p:nvSpPr>
        <p:spPr>
          <a:xfrm>
            <a:off x="1417320" y="1161288"/>
            <a:ext cx="9966960" cy="457200"/>
          </a:xfrm>
          <a:prstGeom prst="rect">
            <a:avLst/>
          </a:prstGeom>
          <a:noFill/>
        </p:spPr>
        <p:txBody>
          <a:bodyPr wrap="square" anchor="t"/>
          <a:lstStyle/>
          <a:p>
            <a:pPr algn="l"/>
            <a:r>
              <a:rPr sz="1800" b="1">
                <a:solidFill>
                  <a:srgbClr val="1C1C1C"/>
                </a:solidFill>
                <a:latin typeface="Calibri"/>
              </a:rPr>
              <a:t>When do you clip the OHE field?</a:t>
            </a:r>
          </a:p>
        </p:txBody>
      </p:sp>
      <p:sp>
        <p:nvSpPr>
          <p:cNvPr id="12" name="TextBox 11"/>
          <p:cNvSpPr txBox="1"/>
          <p:nvPr/>
        </p:nvSpPr>
        <p:spPr>
          <a:xfrm>
            <a:off x="1417320" y="1673352"/>
            <a:ext cx="9966960" cy="438912"/>
          </a:xfrm>
          <a:prstGeom prst="rect">
            <a:avLst/>
          </a:prstGeom>
          <a:noFill/>
        </p:spPr>
        <p:txBody>
          <a:bodyPr wrap="square" anchor="t"/>
          <a:lstStyle/>
          <a:p>
            <a:pPr algn="l"/>
            <a:r>
              <a:rPr sz="1600" b="0">
                <a:solidFill>
                  <a:srgbClr val="1B6B7A"/>
                </a:solidFill>
                <a:latin typeface="Calibri"/>
              </a:rPr>
              <a:t>After ready for prep: tube in, IV running, surgical plane. Then sterile prep and drape.</a:t>
            </a:r>
          </a:p>
        </p:txBody>
      </p:sp>
      <p:sp>
        <p:nvSpPr>
          <p:cNvPr id="13" name="Rounded Rectangle 12"/>
          <p:cNvSpPr/>
          <p:nvPr/>
        </p:nvSpPr>
        <p:spPr>
          <a:xfrm>
            <a:off x="457200" y="2350008"/>
            <a:ext cx="11247120" cy="1188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350008"/>
            <a:ext cx="777240" cy="118872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350008"/>
            <a:ext cx="777240" cy="1188720"/>
          </a:xfrm>
          <a:prstGeom prst="rect">
            <a:avLst/>
          </a:prstGeom>
          <a:noFill/>
        </p:spPr>
        <p:txBody>
          <a:bodyPr wrap="square" anchor="ctr"/>
          <a:lstStyle/>
          <a:p>
            <a:pPr algn="ctr"/>
            <a:r>
              <a:rPr sz="2200" b="1">
                <a:solidFill>
                  <a:srgbClr val="C5A35A"/>
                </a:solidFill>
                <a:latin typeface="Calibri"/>
              </a:rPr>
              <a:t>B</a:t>
            </a:r>
          </a:p>
        </p:txBody>
      </p:sp>
      <p:sp>
        <p:nvSpPr>
          <p:cNvPr id="16" name="TextBox 15"/>
          <p:cNvSpPr txBox="1"/>
          <p:nvPr/>
        </p:nvSpPr>
        <p:spPr>
          <a:xfrm>
            <a:off x="1417320" y="2459736"/>
            <a:ext cx="9966960" cy="457200"/>
          </a:xfrm>
          <a:prstGeom prst="rect">
            <a:avLst/>
          </a:prstGeom>
          <a:noFill/>
        </p:spPr>
        <p:txBody>
          <a:bodyPr wrap="square" anchor="t"/>
          <a:lstStyle/>
          <a:p>
            <a:pPr algn="l"/>
            <a:r>
              <a:rPr sz="1800" b="1">
                <a:solidFill>
                  <a:srgbClr val="1C1C1C"/>
                </a:solidFill>
                <a:latin typeface="Calibri"/>
              </a:rPr>
              <a:t>How do you prep conjunctiva with iodine?</a:t>
            </a:r>
          </a:p>
        </p:txBody>
      </p:sp>
      <p:sp>
        <p:nvSpPr>
          <p:cNvPr id="17" name="TextBox 16"/>
          <p:cNvSpPr txBox="1"/>
          <p:nvPr/>
        </p:nvSpPr>
        <p:spPr>
          <a:xfrm>
            <a:off x="1417320" y="2971800"/>
            <a:ext cx="9966960" cy="438912"/>
          </a:xfrm>
          <a:prstGeom prst="rect">
            <a:avLst/>
          </a:prstGeom>
          <a:noFill/>
        </p:spPr>
        <p:txBody>
          <a:bodyPr wrap="square" anchor="t"/>
          <a:lstStyle/>
          <a:p>
            <a:pPr algn="l"/>
            <a:r>
              <a:rPr sz="1600" b="0">
                <a:solidFill>
                  <a:srgbClr val="1B6B7A"/>
                </a:solidFill>
                <a:latin typeface="Calibri"/>
              </a:rPr>
              <a:t>10% stock 1:50. MIN contact 2 min + 2 min. 5% bottle: 1:25.</a:t>
            </a:r>
          </a:p>
        </p:txBody>
      </p:sp>
      <p:sp>
        <p:nvSpPr>
          <p:cNvPr id="18" name="Rounded Rectangle 17"/>
          <p:cNvSpPr/>
          <p:nvPr/>
        </p:nvSpPr>
        <p:spPr>
          <a:xfrm>
            <a:off x="457200" y="3648456"/>
            <a:ext cx="11247120" cy="1188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648456"/>
            <a:ext cx="777240" cy="118872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648456"/>
            <a:ext cx="777240" cy="1188720"/>
          </a:xfrm>
          <a:prstGeom prst="rect">
            <a:avLst/>
          </a:prstGeom>
          <a:noFill/>
        </p:spPr>
        <p:txBody>
          <a:bodyPr wrap="square" anchor="ctr"/>
          <a:lstStyle/>
          <a:p>
            <a:pPr algn="ctr"/>
            <a:r>
              <a:rPr sz="2200" b="1">
                <a:solidFill>
                  <a:srgbClr val="C5A35A"/>
                </a:solidFill>
                <a:latin typeface="Calibri"/>
              </a:rPr>
              <a:t>C</a:t>
            </a:r>
          </a:p>
        </p:txBody>
      </p:sp>
      <p:sp>
        <p:nvSpPr>
          <p:cNvPr id="21" name="TextBox 20"/>
          <p:cNvSpPr txBox="1"/>
          <p:nvPr/>
        </p:nvSpPr>
        <p:spPr>
          <a:xfrm>
            <a:off x="1417320" y="3758184"/>
            <a:ext cx="9966960" cy="457200"/>
          </a:xfrm>
          <a:prstGeom prst="rect">
            <a:avLst/>
          </a:prstGeom>
          <a:noFill/>
        </p:spPr>
        <p:txBody>
          <a:bodyPr wrap="square" anchor="t"/>
          <a:lstStyle/>
          <a:p>
            <a:pPr algn="l"/>
            <a:r>
              <a:rPr sz="1800" b="1">
                <a:solidFill>
                  <a:srgbClr val="1C1C1C"/>
                </a:solidFill>
                <a:latin typeface="Calibri"/>
              </a:rPr>
              <a:t>Albumin 1.6 g/dL, elective mass. First move?</a:t>
            </a:r>
          </a:p>
        </p:txBody>
      </p:sp>
      <p:sp>
        <p:nvSpPr>
          <p:cNvPr id="22" name="TextBox 21"/>
          <p:cNvSpPr txBox="1"/>
          <p:nvPr/>
        </p:nvSpPr>
        <p:spPr>
          <a:xfrm>
            <a:off x="1417320" y="4270248"/>
            <a:ext cx="9966960" cy="438912"/>
          </a:xfrm>
          <a:prstGeom prst="rect">
            <a:avLst/>
          </a:prstGeom>
          <a:noFill/>
        </p:spPr>
        <p:txBody>
          <a:bodyPr wrap="square" anchor="t"/>
          <a:lstStyle/>
          <a:p>
            <a:pPr algn="l"/>
            <a:r>
              <a:rPr sz="1600" b="0">
                <a:solidFill>
                  <a:srgbClr val="1B6B7A"/>
                </a:solidFill>
                <a:latin typeface="Calibri"/>
              </a:rPr>
              <a:t>Delay. Find the cause. Feed. Do not crystalloid-flood. Do not cut today.</a:t>
            </a:r>
          </a:p>
        </p:txBody>
      </p:sp>
      <p:sp>
        <p:nvSpPr>
          <p:cNvPr id="23" name="Rounded Rectangle 22"/>
          <p:cNvSpPr/>
          <p:nvPr/>
        </p:nvSpPr>
        <p:spPr>
          <a:xfrm>
            <a:off x="457200" y="4946904"/>
            <a:ext cx="11247120" cy="1188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946904"/>
            <a:ext cx="777240" cy="118872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946904"/>
            <a:ext cx="777240" cy="1188720"/>
          </a:xfrm>
          <a:prstGeom prst="rect">
            <a:avLst/>
          </a:prstGeom>
          <a:noFill/>
        </p:spPr>
        <p:txBody>
          <a:bodyPr wrap="square" anchor="ctr"/>
          <a:lstStyle/>
          <a:p>
            <a:pPr algn="ctr"/>
            <a:r>
              <a:rPr sz="2200" b="1">
                <a:solidFill>
                  <a:srgbClr val="C5A35A"/>
                </a:solidFill>
                <a:latin typeface="Calibri"/>
              </a:rPr>
              <a:t>D</a:t>
            </a:r>
          </a:p>
        </p:txBody>
      </p:sp>
      <p:sp>
        <p:nvSpPr>
          <p:cNvPr id="26" name="TextBox 25"/>
          <p:cNvSpPr txBox="1"/>
          <p:nvPr/>
        </p:nvSpPr>
        <p:spPr>
          <a:xfrm>
            <a:off x="1417320" y="5056632"/>
            <a:ext cx="9966960" cy="457200"/>
          </a:xfrm>
          <a:prstGeom prst="rect">
            <a:avLst/>
          </a:prstGeom>
          <a:noFill/>
        </p:spPr>
        <p:txBody>
          <a:bodyPr wrap="square" anchor="t"/>
          <a:lstStyle/>
          <a:p>
            <a:pPr algn="l"/>
            <a:r>
              <a:rPr sz="1800" b="1">
                <a:solidFill>
                  <a:srgbClr val="1C1C1C"/>
                </a:solidFill>
                <a:latin typeface="Calibri"/>
              </a:rPr>
              <a:t>13.7 kg dog. Tube, bag, and IV fluid rate if you intubate?</a:t>
            </a:r>
          </a:p>
        </p:txBody>
      </p:sp>
      <p:sp>
        <p:nvSpPr>
          <p:cNvPr id="27" name="TextBox 26"/>
          <p:cNvSpPr txBox="1"/>
          <p:nvPr/>
        </p:nvSpPr>
        <p:spPr>
          <a:xfrm>
            <a:off x="1417320" y="5568696"/>
            <a:ext cx="9966960" cy="438912"/>
          </a:xfrm>
          <a:prstGeom prst="rect">
            <a:avLst/>
          </a:prstGeom>
          <a:noFill/>
        </p:spPr>
        <p:txBody>
          <a:bodyPr wrap="square" anchor="t"/>
          <a:lstStyle/>
          <a:p>
            <a:pPr algn="l"/>
            <a:r>
              <a:rPr sz="1600" b="0">
                <a:solidFill>
                  <a:srgbClr val="1B6B7A"/>
                </a:solidFill>
                <a:latin typeface="Calibri"/>
              </a:rPr>
              <a:t>7.0 mm, 1 L circle, LRS 69 mL/hr (5 mL/kg/hr). Murmur: opioid + alfaxalone.</a:t>
            </a:r>
          </a:p>
        </p:txBody>
      </p:sp>
      <p:sp>
        <p:nvSpPr>
          <p:cNvPr id="28" name="Rectangle 27"/>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30" name="TextBox 29"/>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28  /  38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REMAIN WITH THE PATIENT UNTIL AIRWAY AND CIRCULATION ARE STABLE</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Immediate recovery</a:t>
            </a:r>
          </a:p>
        </p:txBody>
      </p:sp>
      <p:pic>
        <p:nvPicPr>
          <p:cNvPr id="8" name="Picture 7" descr="remus_recovery.jpg"/>
          <p:cNvPicPr>
            <a:picLocks noChangeAspect="1"/>
          </p:cNvPicPr>
          <p:nvPr/>
        </p:nvPicPr>
        <p:blipFill>
          <a:blip r:embed="rId2"/>
          <a:stretch>
            <a:fillRect/>
          </a:stretch>
        </p:blipFill>
        <p:spPr>
          <a:xfrm>
            <a:off x="320040" y="1024128"/>
            <a:ext cx="7452360" cy="5440680"/>
          </a:xfrm>
          <a:prstGeom prst="rect">
            <a:avLst/>
          </a:prstGeom>
        </p:spPr>
      </p:pic>
      <p:sp>
        <p:nvSpPr>
          <p:cNvPr id="9" name="Rounded Rectangle 8"/>
          <p:cNvSpPr/>
          <p:nvPr/>
        </p:nvSpPr>
        <p:spPr>
          <a:xfrm>
            <a:off x="7863840" y="1024128"/>
            <a:ext cx="3977639" cy="5440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170432"/>
            <a:ext cx="3657600" cy="365760"/>
          </a:xfrm>
          <a:prstGeom prst="rect">
            <a:avLst/>
          </a:prstGeom>
          <a:noFill/>
        </p:spPr>
        <p:txBody>
          <a:bodyPr wrap="square" anchor="t"/>
          <a:lstStyle/>
          <a:p>
            <a:pPr algn="l"/>
            <a:r>
              <a:rPr sz="1800" b="1">
                <a:solidFill>
                  <a:srgbClr val="0B2C4A"/>
                </a:solidFill>
                <a:latin typeface="Calibri"/>
              </a:rPr>
              <a:t>Recovery priorities</a:t>
            </a:r>
          </a:p>
        </p:txBody>
      </p:sp>
      <p:sp>
        <p:nvSpPr>
          <p:cNvPr id="11" name="TextBox 10"/>
          <p:cNvSpPr txBox="1"/>
          <p:nvPr/>
        </p:nvSpPr>
        <p:spPr>
          <a:xfrm>
            <a:off x="8001000" y="1691640"/>
            <a:ext cx="3703320" cy="4480560"/>
          </a:xfrm>
          <a:prstGeom prst="rect">
            <a:avLst/>
          </a:prstGeom>
          <a:noFill/>
        </p:spPr>
        <p:txBody>
          <a:bodyPr wrap="square">
            <a:spAutoFit/>
          </a:bodyPr>
          <a:lstStyle/>
          <a:p>
            <a:pPr algn="l">
              <a:spcAft>
                <a:spcPts val="1000"/>
              </a:spcAft>
            </a:pPr>
            <a:r>
              <a:rPr sz="1600" b="0">
                <a:solidFill>
                  <a:srgbClr val="1C1C1C"/>
                </a:solidFill>
                <a:latin typeface="Calibri"/>
              </a:rPr>
              <a:t>▸  Extubate when swallow returns.</a:t>
            </a:r>
          </a:p>
          <a:p>
            <a:pPr algn="l">
              <a:spcAft>
                <a:spcPts val="1000"/>
              </a:spcAft>
            </a:pPr>
            <a:r>
              <a:rPr sz="1600" b="0">
                <a:solidFill>
                  <a:srgbClr val="1C1C1C"/>
                </a:solidFill>
                <a:latin typeface="Calibri"/>
              </a:rPr>
              <a:t>▸  Most anesthetic deaths are in recovery, often in the first 3 hours (Grubb 2020).</a:t>
            </a:r>
          </a:p>
          <a:p>
            <a:pPr algn="l">
              <a:spcAft>
                <a:spcPts val="1000"/>
              </a:spcAft>
            </a:pPr>
            <a:r>
              <a:rPr sz="1600" b="0">
                <a:solidFill>
                  <a:srgbClr val="1C1C1C"/>
                </a:solidFill>
                <a:latin typeface="Calibri"/>
              </a:rPr>
              <a:t>▸  Pale + tachycardic after celiotomy: return to OR.</a:t>
            </a:r>
          </a:p>
          <a:p>
            <a:pPr algn="l">
              <a:spcAft>
                <a:spcPts val="1000"/>
              </a:spcAft>
            </a:pPr>
            <a:r>
              <a:rPr sz="1600" b="0">
                <a:solidFill>
                  <a:srgbClr val="1C1C1C"/>
                </a:solidFill>
                <a:latin typeface="Calibri"/>
              </a:rPr>
              <a:t>▸  NSAID: carprofen in the dog, Onsior in the cat. Do not stack with a steroid.</a:t>
            </a:r>
          </a:p>
          <a:p>
            <a:pPr algn="l">
              <a:spcAft>
                <a:spcPts val="1000"/>
              </a:spcAft>
            </a:pPr>
            <a:r>
              <a:rPr sz="1600" b="0">
                <a:solidFill>
                  <a:srgbClr val="1C1C1C"/>
                </a:solidFill>
                <a:latin typeface="Calibri"/>
              </a:rPr>
              <a:t>▸  E-collar on before they can lick.</a:t>
            </a:r>
          </a:p>
        </p:txBody>
      </p:sp>
      <p:sp>
        <p:nvSpPr>
          <p:cNvPr id="12" name="Rectangle 11"/>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4" name="TextBox 13"/>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29  /  38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TARGET COLUMN IS THE ACCEPTABLE BAND. TIME CELLS STAY EMPTY UNTIL A REAL PATIENT. THEN COMPLICATIONS, FLUIDS, ANALGESICS, SIGN.</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Anesthesia chart and end of case</a:t>
            </a:r>
          </a:p>
        </p:txBody>
      </p:sp>
      <p:pic>
        <p:nvPicPr>
          <p:cNvPr id="8" name="Picture 7" descr="anesthesia_chart_recovery.png"/>
          <p:cNvPicPr>
            <a:picLocks noChangeAspect="1"/>
          </p:cNvPicPr>
          <p:nvPr/>
        </p:nvPicPr>
        <p:blipFill>
          <a:blip r:embed="rId2"/>
          <a:stretch>
            <a:fillRect/>
          </a:stretch>
        </p:blipFill>
        <p:spPr>
          <a:xfrm>
            <a:off x="201168" y="960120"/>
            <a:ext cx="11795760" cy="5532120"/>
          </a:xfrm>
          <a:prstGeom prst="rect">
            <a:avLst/>
          </a:prstGeom>
        </p:spPr>
      </p:pic>
      <p:sp>
        <p:nvSpPr>
          <p:cNvPr id="9" name="Rectangle 8"/>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1" name="TextBox 10"/>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30  /  38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ON-LABEL NSAIDS. DOG: CARPROFEN. CAT: ONSIOR. THEN TEACH THE E-COLLAR.</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Postop analgesia and incision care</a:t>
            </a:r>
          </a:p>
        </p:txBody>
      </p:sp>
      <p:sp>
        <p:nvSpPr>
          <p:cNvPr id="8" name="Rounded Rectangle 7"/>
          <p:cNvSpPr/>
          <p:nvPr/>
        </p:nvSpPr>
        <p:spPr>
          <a:xfrm>
            <a:off x="411480" y="1051560"/>
            <a:ext cx="5623560" cy="5074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170432"/>
            <a:ext cx="5212080" cy="365760"/>
          </a:xfrm>
          <a:prstGeom prst="rect">
            <a:avLst/>
          </a:prstGeom>
          <a:noFill/>
        </p:spPr>
        <p:txBody>
          <a:bodyPr wrap="square" anchor="t"/>
          <a:lstStyle/>
          <a:p>
            <a:pPr algn="l"/>
            <a:r>
              <a:rPr sz="1800" b="1">
                <a:solidFill>
                  <a:srgbClr val="0B2C4A"/>
                </a:solidFill>
                <a:latin typeface="Calibri"/>
              </a:rPr>
              <a:t>On-label NSAID</a:t>
            </a:r>
          </a:p>
        </p:txBody>
      </p:sp>
      <p:sp>
        <p:nvSpPr>
          <p:cNvPr id="10" name="TextBox 9"/>
          <p:cNvSpPr txBox="1"/>
          <p:nvPr/>
        </p:nvSpPr>
        <p:spPr>
          <a:xfrm>
            <a:off x="594360" y="1627632"/>
            <a:ext cx="5257800" cy="4297680"/>
          </a:xfrm>
          <a:prstGeom prst="rect">
            <a:avLst/>
          </a:prstGeom>
          <a:noFill/>
        </p:spPr>
        <p:txBody>
          <a:bodyPr wrap="square">
            <a:spAutoFit/>
          </a:bodyPr>
          <a:lstStyle/>
          <a:p>
            <a:pPr algn="l">
              <a:spcAft>
                <a:spcPts val="600"/>
              </a:spcAft>
            </a:pPr>
            <a:r>
              <a:rPr sz="1600" b="0">
                <a:solidFill>
                  <a:srgbClr val="1C1C1C"/>
                </a:solidFill>
                <a:latin typeface="Calibri"/>
              </a:rPr>
              <a:t>▸  Score pain. Dogs: Glasgow CMPS-SF. Cats: Feline Grimace Scale. Opioid as planned.</a:t>
            </a:r>
          </a:p>
          <a:p>
            <a:pPr algn="l">
              <a:spcAft>
                <a:spcPts val="600"/>
              </a:spcAft>
            </a:pPr>
            <a:r>
              <a:rPr sz="1600" b="0">
                <a:solidFill>
                  <a:srgbClr val="1C1C1C"/>
                </a:solidFill>
                <a:latin typeface="Calibri"/>
              </a:rPr>
              <a:t>▸  Dog: carprofen (Rimadyl) 4.4 mg/kg SQ. Dogs only. Give ~2 hours before incision so levels are on board (pre-emptive; Rimadyl label).</a:t>
            </a:r>
          </a:p>
          <a:p>
            <a:pPr algn="l">
              <a:spcAft>
                <a:spcPts val="600"/>
              </a:spcAft>
            </a:pPr>
            <a:r>
              <a:rPr sz="1600" b="0">
                <a:solidFill>
                  <a:srgbClr val="1C1C1C"/>
                </a:solidFill>
                <a:latin typeface="Calibri"/>
              </a:rPr>
              <a:t>▸  Cat: Onsior (robenacoxib) 2 mg/kg SQ. Cats only. First dose ~30 min before incision so levels are on board. OHE, castration, orthopedic. Up to 3 days.</a:t>
            </a:r>
          </a:p>
          <a:p>
            <a:pPr algn="l">
              <a:spcAft>
                <a:spcPts val="600"/>
              </a:spcAft>
            </a:pPr>
            <a:r>
              <a:rPr sz="1600" b="0">
                <a:solidFill>
                  <a:srgbClr val="1C1C1C"/>
                </a:solidFill>
                <a:latin typeface="Calibri"/>
              </a:rPr>
              <a:t>▸  Dog: carprofen. Cat: Onsior. Do not swap species in this course.</a:t>
            </a:r>
          </a:p>
          <a:p>
            <a:pPr algn="l">
              <a:spcAft>
                <a:spcPts val="600"/>
              </a:spcAft>
            </a:pPr>
            <a:r>
              <a:rPr sz="1600" b="0">
                <a:solidFill>
                  <a:srgbClr val="1C1C1C"/>
                </a:solidFill>
                <a:latin typeface="Calibri"/>
              </a:rPr>
              <a:t>▸  Do not stack an NSAID with a steroid. Skip NSAID if the patient is azotemic.</a:t>
            </a:r>
          </a:p>
        </p:txBody>
      </p:sp>
      <p:sp>
        <p:nvSpPr>
          <p:cNvPr id="11" name="Rounded Rectangle 10"/>
          <p:cNvSpPr/>
          <p:nvPr/>
        </p:nvSpPr>
        <p:spPr>
          <a:xfrm>
            <a:off x="6217920" y="1051560"/>
            <a:ext cx="5532120" cy="5074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170432"/>
            <a:ext cx="5120640" cy="365760"/>
          </a:xfrm>
          <a:prstGeom prst="rect">
            <a:avLst/>
          </a:prstGeom>
          <a:noFill/>
        </p:spPr>
        <p:txBody>
          <a:bodyPr wrap="square" anchor="t"/>
          <a:lstStyle/>
          <a:p>
            <a:pPr algn="l"/>
            <a:r>
              <a:rPr sz="1800" b="1">
                <a:solidFill>
                  <a:srgbClr val="0B2C4A"/>
                </a:solidFill>
                <a:latin typeface="Calibri"/>
              </a:rPr>
              <a:t>Antibiotic injection and incision</a:t>
            </a:r>
          </a:p>
        </p:txBody>
      </p:sp>
      <p:sp>
        <p:nvSpPr>
          <p:cNvPr id="13" name="TextBox 12"/>
          <p:cNvSpPr txBox="1"/>
          <p:nvPr/>
        </p:nvSpPr>
        <p:spPr>
          <a:xfrm>
            <a:off x="6400800" y="1627632"/>
            <a:ext cx="5166360" cy="4297680"/>
          </a:xfrm>
          <a:prstGeom prst="rect">
            <a:avLst/>
          </a:prstGeom>
          <a:noFill/>
        </p:spPr>
        <p:txBody>
          <a:bodyPr wrap="square">
            <a:spAutoFit/>
          </a:bodyPr>
          <a:lstStyle/>
          <a:p>
            <a:pPr algn="l">
              <a:spcAft>
                <a:spcPts val="600"/>
              </a:spcAft>
            </a:pPr>
            <a:r>
              <a:rPr sz="1600" b="0">
                <a:solidFill>
                  <a:srgbClr val="1C1C1C"/>
                </a:solidFill>
                <a:latin typeface="Calibri"/>
              </a:rPr>
              <a:t>▸  A postoperative antibiotic injection is treatment. Write the drug, dose, and why.</a:t>
            </a:r>
          </a:p>
          <a:p>
            <a:pPr algn="l">
              <a:spcAft>
                <a:spcPts val="600"/>
              </a:spcAft>
            </a:pPr>
            <a:r>
              <a:rPr sz="1600" b="0">
                <a:solidFill>
                  <a:srgbClr val="1C1C1C"/>
                </a:solidFill>
                <a:latin typeface="Calibri"/>
              </a:rPr>
              <a:t>▸  Clean elective OHE: skip (Frey 2022). Do not send home 14 days of cephalexin.</a:t>
            </a:r>
          </a:p>
          <a:p>
            <a:pPr algn="l">
              <a:spcAft>
                <a:spcPts val="600"/>
              </a:spcAft>
            </a:pPr>
            <a:r>
              <a:rPr sz="1600" b="0">
                <a:solidFill>
                  <a:srgbClr val="1C1C1C"/>
                </a:solidFill>
                <a:latin typeface="Calibri"/>
              </a:rPr>
              <a:t>▸  Dirty or infected: continue as therapy, not prophylaxis.</a:t>
            </a:r>
          </a:p>
          <a:p>
            <a:pPr algn="l">
              <a:spcAft>
                <a:spcPts val="600"/>
              </a:spcAft>
            </a:pPr>
            <a:r>
              <a:rPr sz="1600" b="0">
                <a:solidFill>
                  <a:srgbClr val="1C1C1C"/>
                </a:solidFill>
                <a:latin typeface="Calibri"/>
              </a:rPr>
              <a:t>▸  Look twice daily: swelling, discharge, gapping, smell, heat.</a:t>
            </a:r>
          </a:p>
          <a:p>
            <a:pPr algn="l">
              <a:spcAft>
                <a:spcPts val="600"/>
              </a:spcAft>
            </a:pPr>
            <a:r>
              <a:rPr sz="1600" b="0">
                <a:solidFill>
                  <a:srgbClr val="1C1C1C"/>
                </a:solidFill>
                <a:latin typeface="Calibri"/>
              </a:rPr>
              <a:t>▸  E-collar that stays on. Leash walks 14 days.</a:t>
            </a:r>
          </a:p>
          <a:p>
            <a:pPr algn="l">
              <a:spcAft>
                <a:spcPts val="600"/>
              </a:spcAft>
            </a:pPr>
            <a:r>
              <a:rPr sz="1600" b="0">
                <a:solidFill>
                  <a:srgbClr val="1C1C1C"/>
                </a:solidFill>
                <a:latin typeface="Calibri"/>
              </a:rPr>
              <a:t>▸  Skin sutures typically 10–14 days.</a:t>
            </a:r>
          </a:p>
        </p:txBody>
      </p:sp>
      <p:sp>
        <p:nvSpPr>
          <p:cNvPr id="14" name="Rectangle 13"/>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6" name="TextBox 15"/>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31  /  38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THE OPERATION IS NOT OVER AT THE LAST SKIN SUTURE. HEMORRHAGE, HERNIA, DEHISCENCE.</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Complications in the first 24 hours</a:t>
            </a:r>
          </a:p>
        </p:txBody>
      </p:sp>
      <p:sp>
        <p:nvSpPr>
          <p:cNvPr id="8" name="Rounded Rectangle 7"/>
          <p:cNvSpPr/>
          <p:nvPr/>
        </p:nvSpPr>
        <p:spPr>
          <a:xfrm>
            <a:off x="411480" y="1078992"/>
            <a:ext cx="571500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078992"/>
            <a:ext cx="109728" cy="155448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188720"/>
            <a:ext cx="5212080" cy="365760"/>
          </a:xfrm>
          <a:prstGeom prst="rect">
            <a:avLst/>
          </a:prstGeom>
          <a:noFill/>
        </p:spPr>
        <p:txBody>
          <a:bodyPr wrap="square" anchor="t"/>
          <a:lstStyle/>
          <a:p>
            <a:pPr algn="l"/>
            <a:r>
              <a:rPr sz="1800" b="1">
                <a:solidFill>
                  <a:srgbClr val="8B2E2E"/>
                </a:solidFill>
                <a:latin typeface="Calibri"/>
              </a:rPr>
              <a:t>Hemorrhage</a:t>
            </a:r>
          </a:p>
        </p:txBody>
      </p:sp>
      <p:sp>
        <p:nvSpPr>
          <p:cNvPr id="11" name="TextBox 10"/>
          <p:cNvSpPr txBox="1"/>
          <p:nvPr/>
        </p:nvSpPr>
        <p:spPr>
          <a:xfrm>
            <a:off x="731520" y="1581912"/>
            <a:ext cx="5212080" cy="914400"/>
          </a:xfrm>
          <a:prstGeom prst="rect">
            <a:avLst/>
          </a:prstGeom>
          <a:noFill/>
        </p:spPr>
        <p:txBody>
          <a:bodyPr wrap="square" anchor="t"/>
          <a:lstStyle/>
          <a:p>
            <a:pPr algn="l"/>
            <a:r>
              <a:rPr sz="1600" b="0">
                <a:solidFill>
                  <a:srgbClr val="3D4A57"/>
                </a:solidFill>
                <a:latin typeface="Calibri"/>
              </a:rPr>
              <a:t>Pale mm, tachycardia, distending abdomen, drip from incision, collapsing. Stabilize and return to OR.</a:t>
            </a:r>
          </a:p>
        </p:txBody>
      </p:sp>
      <p:sp>
        <p:nvSpPr>
          <p:cNvPr id="12" name="Rounded Rectangle 11"/>
          <p:cNvSpPr/>
          <p:nvPr/>
        </p:nvSpPr>
        <p:spPr>
          <a:xfrm>
            <a:off x="6309360" y="1078992"/>
            <a:ext cx="571500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078992"/>
            <a:ext cx="109728" cy="1554480"/>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1188720"/>
            <a:ext cx="5212080" cy="365760"/>
          </a:xfrm>
          <a:prstGeom prst="rect">
            <a:avLst/>
          </a:prstGeom>
          <a:noFill/>
        </p:spPr>
        <p:txBody>
          <a:bodyPr wrap="square" anchor="t"/>
          <a:lstStyle/>
          <a:p>
            <a:pPr algn="l"/>
            <a:r>
              <a:rPr sz="1800" b="1">
                <a:solidFill>
                  <a:srgbClr val="1B6B7A"/>
                </a:solidFill>
                <a:latin typeface="Calibri"/>
              </a:rPr>
              <a:t>Airway / aspiration</a:t>
            </a:r>
          </a:p>
        </p:txBody>
      </p:sp>
      <p:sp>
        <p:nvSpPr>
          <p:cNvPr id="15" name="TextBox 14"/>
          <p:cNvSpPr txBox="1"/>
          <p:nvPr/>
        </p:nvSpPr>
        <p:spPr>
          <a:xfrm>
            <a:off x="6629400" y="1581912"/>
            <a:ext cx="5212080" cy="914400"/>
          </a:xfrm>
          <a:prstGeom prst="rect">
            <a:avLst/>
          </a:prstGeom>
          <a:noFill/>
        </p:spPr>
        <p:txBody>
          <a:bodyPr wrap="square" anchor="t"/>
          <a:lstStyle/>
          <a:p>
            <a:pPr algn="l"/>
            <a:r>
              <a:rPr sz="1600" b="0">
                <a:solidFill>
                  <a:srgbClr val="3D4A57"/>
                </a:solidFill>
                <a:latin typeface="Calibri"/>
              </a:rPr>
              <a:t>Stertor, crackles, regurg on the pillow. Especially brachycephalics and after opioids.</a:t>
            </a:r>
          </a:p>
        </p:txBody>
      </p:sp>
      <p:sp>
        <p:nvSpPr>
          <p:cNvPr id="16" name="Rounded Rectangle 15"/>
          <p:cNvSpPr/>
          <p:nvPr/>
        </p:nvSpPr>
        <p:spPr>
          <a:xfrm>
            <a:off x="411480" y="2770632"/>
            <a:ext cx="571500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770632"/>
            <a:ext cx="109728" cy="155448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880360"/>
            <a:ext cx="5212080" cy="365760"/>
          </a:xfrm>
          <a:prstGeom prst="rect">
            <a:avLst/>
          </a:prstGeom>
          <a:noFill/>
        </p:spPr>
        <p:txBody>
          <a:bodyPr wrap="square" anchor="t"/>
          <a:lstStyle/>
          <a:p>
            <a:pPr algn="l"/>
            <a:r>
              <a:rPr sz="1800" b="1">
                <a:solidFill>
                  <a:srgbClr val="0B2C4A"/>
                </a:solidFill>
                <a:latin typeface="Calibri"/>
              </a:rPr>
              <a:t>Hernia / evisceration</a:t>
            </a:r>
          </a:p>
        </p:txBody>
      </p:sp>
      <p:sp>
        <p:nvSpPr>
          <p:cNvPr id="19" name="TextBox 18"/>
          <p:cNvSpPr txBox="1"/>
          <p:nvPr/>
        </p:nvSpPr>
        <p:spPr>
          <a:xfrm>
            <a:off x="731520" y="3273552"/>
            <a:ext cx="5212080" cy="914400"/>
          </a:xfrm>
          <a:prstGeom prst="rect">
            <a:avLst/>
          </a:prstGeom>
          <a:noFill/>
        </p:spPr>
        <p:txBody>
          <a:bodyPr wrap="square" anchor="t"/>
          <a:lstStyle/>
          <a:p>
            <a:pPr algn="l"/>
            <a:r>
              <a:rPr sz="1600" b="0">
                <a:solidFill>
                  <a:srgbClr val="3D4A57"/>
                </a:solidFill>
                <a:latin typeface="Calibri"/>
              </a:rPr>
              <a:t>Linea failure. Emergency. Protect viscera with sterile moist towels, opioids, OR now.</a:t>
            </a:r>
          </a:p>
        </p:txBody>
      </p:sp>
      <p:sp>
        <p:nvSpPr>
          <p:cNvPr id="20" name="Rounded Rectangle 19"/>
          <p:cNvSpPr/>
          <p:nvPr/>
        </p:nvSpPr>
        <p:spPr>
          <a:xfrm>
            <a:off x="6309360" y="2770632"/>
            <a:ext cx="571500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2770632"/>
            <a:ext cx="109728" cy="155448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2880360"/>
            <a:ext cx="5212080" cy="365760"/>
          </a:xfrm>
          <a:prstGeom prst="rect">
            <a:avLst/>
          </a:prstGeom>
          <a:noFill/>
        </p:spPr>
        <p:txBody>
          <a:bodyPr wrap="square" anchor="t"/>
          <a:lstStyle/>
          <a:p>
            <a:pPr algn="l"/>
            <a:r>
              <a:rPr sz="1800" b="1">
                <a:solidFill>
                  <a:srgbClr val="C5A35A"/>
                </a:solidFill>
                <a:latin typeface="Calibri"/>
              </a:rPr>
              <a:t>Dehiscence (later)</a:t>
            </a:r>
          </a:p>
        </p:txBody>
      </p:sp>
      <p:sp>
        <p:nvSpPr>
          <p:cNvPr id="23" name="TextBox 22"/>
          <p:cNvSpPr txBox="1"/>
          <p:nvPr/>
        </p:nvSpPr>
        <p:spPr>
          <a:xfrm>
            <a:off x="6629400" y="3273552"/>
            <a:ext cx="5212080" cy="914400"/>
          </a:xfrm>
          <a:prstGeom prst="rect">
            <a:avLst/>
          </a:prstGeom>
          <a:noFill/>
        </p:spPr>
        <p:txBody>
          <a:bodyPr wrap="square" anchor="t"/>
          <a:lstStyle/>
          <a:p>
            <a:pPr algn="l"/>
            <a:r>
              <a:rPr sz="1600" b="0">
                <a:solidFill>
                  <a:srgbClr val="3D4A57"/>
                </a:solidFill>
                <a:latin typeface="Calibri"/>
              </a:rPr>
              <a:t>Often day 3–5. Skin versus fascia: fascial dehiscence is the emergency.</a:t>
            </a:r>
          </a:p>
        </p:txBody>
      </p:sp>
      <p:sp>
        <p:nvSpPr>
          <p:cNvPr id="24" name="Rounded Rectangle 23"/>
          <p:cNvSpPr/>
          <p:nvPr/>
        </p:nvSpPr>
        <p:spPr>
          <a:xfrm>
            <a:off x="411480" y="4462272"/>
            <a:ext cx="571500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4462272"/>
            <a:ext cx="109728" cy="1554480"/>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572000"/>
            <a:ext cx="5212080" cy="365760"/>
          </a:xfrm>
          <a:prstGeom prst="rect">
            <a:avLst/>
          </a:prstGeom>
          <a:noFill/>
        </p:spPr>
        <p:txBody>
          <a:bodyPr wrap="square" anchor="t"/>
          <a:lstStyle/>
          <a:p>
            <a:pPr algn="l"/>
            <a:r>
              <a:rPr sz="1800" b="1">
                <a:solidFill>
                  <a:srgbClr val="2E6B4F"/>
                </a:solidFill>
                <a:latin typeface="Calibri"/>
              </a:rPr>
              <a:t>SSI</a:t>
            </a:r>
          </a:p>
        </p:txBody>
      </p:sp>
      <p:sp>
        <p:nvSpPr>
          <p:cNvPr id="27" name="TextBox 26"/>
          <p:cNvSpPr txBox="1"/>
          <p:nvPr/>
        </p:nvSpPr>
        <p:spPr>
          <a:xfrm>
            <a:off x="731520" y="4965192"/>
            <a:ext cx="5212080" cy="914400"/>
          </a:xfrm>
          <a:prstGeom prst="rect">
            <a:avLst/>
          </a:prstGeom>
          <a:noFill/>
        </p:spPr>
        <p:txBody>
          <a:bodyPr wrap="square" anchor="t"/>
          <a:lstStyle/>
          <a:p>
            <a:pPr algn="l"/>
            <a:r>
              <a:rPr sz="1600" b="0">
                <a:solidFill>
                  <a:srgbClr val="3D4A57"/>
                </a:solidFill>
                <a:latin typeface="Calibri"/>
              </a:rPr>
              <a:t>Redness, pain, discharge, fever, usually after day 3. Culture. Open, lavage, and treat the organism you grow.</a:t>
            </a:r>
          </a:p>
        </p:txBody>
      </p:sp>
      <p:sp>
        <p:nvSpPr>
          <p:cNvPr id="28" name="Rounded Rectangle 27"/>
          <p:cNvSpPr/>
          <p:nvPr/>
        </p:nvSpPr>
        <p:spPr>
          <a:xfrm>
            <a:off x="6309360" y="4462272"/>
            <a:ext cx="571500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4462272"/>
            <a:ext cx="109728" cy="1554480"/>
          </a:xfrm>
          <a:prstGeom prst="rect">
            <a:avLst/>
          </a:prstGeom>
          <a:solidFill>
            <a:srgbClr val="1B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4572000"/>
            <a:ext cx="5212080" cy="365760"/>
          </a:xfrm>
          <a:prstGeom prst="rect">
            <a:avLst/>
          </a:prstGeom>
          <a:noFill/>
        </p:spPr>
        <p:txBody>
          <a:bodyPr wrap="square" anchor="t"/>
          <a:lstStyle/>
          <a:p>
            <a:pPr algn="l"/>
            <a:r>
              <a:rPr sz="1800" b="1">
                <a:solidFill>
                  <a:srgbClr val="1B6B7A"/>
                </a:solidFill>
                <a:latin typeface="Calibri"/>
              </a:rPr>
              <a:t>Seroma / self-trauma</a:t>
            </a:r>
          </a:p>
        </p:txBody>
      </p:sp>
      <p:sp>
        <p:nvSpPr>
          <p:cNvPr id="31" name="TextBox 30"/>
          <p:cNvSpPr txBox="1"/>
          <p:nvPr/>
        </p:nvSpPr>
        <p:spPr>
          <a:xfrm>
            <a:off x="6629400" y="4965192"/>
            <a:ext cx="5212080" cy="914400"/>
          </a:xfrm>
          <a:prstGeom prst="rect">
            <a:avLst/>
          </a:prstGeom>
          <a:noFill/>
        </p:spPr>
        <p:txBody>
          <a:bodyPr wrap="square" anchor="t"/>
          <a:lstStyle/>
          <a:p>
            <a:pPr algn="l"/>
            <a:r>
              <a:rPr sz="1600" b="0">
                <a:solidFill>
                  <a:srgbClr val="3D4A57"/>
                </a:solidFill>
                <a:latin typeface="Calibri"/>
              </a:rPr>
              <a:t>Dead space + motion. Restrict activity. Bandage if needed. Leave the fluid unless it is infected.</a:t>
            </a:r>
          </a:p>
        </p:txBody>
      </p:sp>
      <p:sp>
        <p:nvSpPr>
          <p:cNvPr id="32" name="Rectangle 31"/>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34" name="TextBox 33"/>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32  /  38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WHAT THE OVERNIGHT CLINICIAN AND THE OWNER BOTH NEED</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Surgical report and discharge</a:t>
            </a:r>
          </a:p>
        </p:txBody>
      </p:sp>
      <p:sp>
        <p:nvSpPr>
          <p:cNvPr id="8" name="Rounded Rectangle 7"/>
          <p:cNvSpPr/>
          <p:nvPr/>
        </p:nvSpPr>
        <p:spPr>
          <a:xfrm>
            <a:off x="411480" y="1051560"/>
            <a:ext cx="5623560" cy="5074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170432"/>
            <a:ext cx="5212080" cy="365760"/>
          </a:xfrm>
          <a:prstGeom prst="rect">
            <a:avLst/>
          </a:prstGeom>
          <a:noFill/>
        </p:spPr>
        <p:txBody>
          <a:bodyPr wrap="square" anchor="t"/>
          <a:lstStyle/>
          <a:p>
            <a:pPr algn="l"/>
            <a:r>
              <a:rPr sz="1800" b="1">
                <a:solidFill>
                  <a:srgbClr val="0B2C4A"/>
                </a:solidFill>
                <a:latin typeface="Calibri"/>
              </a:rPr>
              <a:t>Minimum report elements</a:t>
            </a:r>
          </a:p>
        </p:txBody>
      </p:sp>
      <p:sp>
        <p:nvSpPr>
          <p:cNvPr id="10" name="TextBox 9"/>
          <p:cNvSpPr txBox="1"/>
          <p:nvPr/>
        </p:nvSpPr>
        <p:spPr>
          <a:xfrm>
            <a:off x="594360" y="1627632"/>
            <a:ext cx="5257800" cy="4297680"/>
          </a:xfrm>
          <a:prstGeom prst="rect">
            <a:avLst/>
          </a:prstGeom>
          <a:noFill/>
        </p:spPr>
        <p:txBody>
          <a:bodyPr wrap="square">
            <a:spAutoFit/>
          </a:bodyPr>
          <a:lstStyle/>
          <a:p>
            <a:pPr algn="l">
              <a:spcAft>
                <a:spcPts val="600"/>
              </a:spcAft>
            </a:pPr>
            <a:r>
              <a:rPr sz="1600" b="0">
                <a:solidFill>
                  <a:srgbClr val="1C1C1C"/>
                </a:solidFill>
                <a:latin typeface="Calibri"/>
              </a:rPr>
              <a:t>▸  Date/time, patient ID, surgeon, anesthesia, ASA.</a:t>
            </a:r>
          </a:p>
          <a:p>
            <a:pPr algn="l">
              <a:spcAft>
                <a:spcPts val="600"/>
              </a:spcAft>
            </a:pPr>
            <a:r>
              <a:rPr sz="1600" b="0">
                <a:solidFill>
                  <a:srgbClr val="1C1C1C"/>
                </a:solidFill>
                <a:latin typeface="Calibri"/>
              </a:rPr>
              <a:t>▸  Procedure name and side. Position, clip/prep, approach.</a:t>
            </a:r>
          </a:p>
          <a:p>
            <a:pPr algn="l">
              <a:spcAft>
                <a:spcPts val="600"/>
              </a:spcAft>
            </a:pPr>
            <a:r>
              <a:rPr sz="1600" b="0">
                <a:solidFill>
                  <a:srgbClr val="1C1C1C"/>
                </a:solidFill>
                <a:latin typeface="Calibri"/>
              </a:rPr>
              <a:t>▸  Findings in order. Ligatures, implants, samples.</a:t>
            </a:r>
          </a:p>
          <a:p>
            <a:pPr algn="l">
              <a:spcAft>
                <a:spcPts val="600"/>
              </a:spcAft>
            </a:pPr>
            <a:r>
              <a:rPr sz="1600" b="0">
                <a:solidFill>
                  <a:srgbClr val="1C1C1C"/>
                </a:solidFill>
                <a:latin typeface="Calibri"/>
              </a:rPr>
              <a:t>▸  Suture: layer, material, size, pattern.</a:t>
            </a:r>
          </a:p>
          <a:p>
            <a:pPr algn="l">
              <a:spcAft>
                <a:spcPts val="600"/>
              </a:spcAft>
            </a:pPr>
            <a:r>
              <a:rPr sz="1600" b="0">
                <a:solidFill>
                  <a:srgbClr val="1C1C1C"/>
                </a:solidFill>
                <a:latin typeface="Calibri"/>
              </a:rPr>
              <a:t>▸  Hemostasis, blood loss, sponge count, complications.</a:t>
            </a:r>
          </a:p>
          <a:p>
            <a:pPr algn="l">
              <a:spcAft>
                <a:spcPts val="600"/>
              </a:spcAft>
            </a:pPr>
            <a:r>
              <a:rPr sz="1600" b="0">
                <a:solidFill>
                  <a:srgbClr val="1C1C1C"/>
                </a:solidFill>
                <a:latin typeface="Calibri"/>
              </a:rPr>
              <a:t>▸  Postop plan: fluids, pain, feeding, recheck.</a:t>
            </a:r>
          </a:p>
        </p:txBody>
      </p:sp>
      <p:sp>
        <p:nvSpPr>
          <p:cNvPr id="11" name="Rounded Rectangle 10"/>
          <p:cNvSpPr/>
          <p:nvPr/>
        </p:nvSpPr>
        <p:spPr>
          <a:xfrm>
            <a:off x="6217920" y="1051560"/>
            <a:ext cx="5532120" cy="5074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170432"/>
            <a:ext cx="5120640" cy="365760"/>
          </a:xfrm>
          <a:prstGeom prst="rect">
            <a:avLst/>
          </a:prstGeom>
          <a:noFill/>
        </p:spPr>
        <p:txBody>
          <a:bodyPr wrap="square" anchor="t"/>
          <a:lstStyle/>
          <a:p>
            <a:pPr algn="l"/>
            <a:r>
              <a:rPr sz="1800" b="1">
                <a:solidFill>
                  <a:srgbClr val="0B2C4A"/>
                </a:solidFill>
                <a:latin typeface="Calibri"/>
              </a:rPr>
              <a:t>Discharge, verbal and written</a:t>
            </a:r>
          </a:p>
        </p:txBody>
      </p:sp>
      <p:sp>
        <p:nvSpPr>
          <p:cNvPr id="13" name="TextBox 12"/>
          <p:cNvSpPr txBox="1"/>
          <p:nvPr/>
        </p:nvSpPr>
        <p:spPr>
          <a:xfrm>
            <a:off x="6400800" y="1627632"/>
            <a:ext cx="5166360" cy="4297680"/>
          </a:xfrm>
          <a:prstGeom prst="rect">
            <a:avLst/>
          </a:prstGeom>
          <a:noFill/>
        </p:spPr>
        <p:txBody>
          <a:bodyPr wrap="square">
            <a:spAutoFit/>
          </a:bodyPr>
          <a:lstStyle/>
          <a:p>
            <a:pPr algn="l">
              <a:spcAft>
                <a:spcPts val="600"/>
              </a:spcAft>
            </a:pPr>
            <a:r>
              <a:rPr sz="1600" b="0">
                <a:solidFill>
                  <a:srgbClr val="1C1C1C"/>
                </a:solidFill>
                <a:latin typeface="Calibri"/>
              </a:rPr>
              <a:t>▸  What we did, in one sentence.</a:t>
            </a:r>
          </a:p>
          <a:p>
            <a:pPr algn="l">
              <a:spcAft>
                <a:spcPts val="600"/>
              </a:spcAft>
            </a:pPr>
            <a:r>
              <a:rPr sz="1600" b="0">
                <a:solidFill>
                  <a:srgbClr val="1C1C1C"/>
                </a:solidFill>
                <a:latin typeface="Calibri"/>
              </a:rPr>
              <a:t>▸  When to start food and water, and how much.</a:t>
            </a:r>
          </a:p>
          <a:p>
            <a:pPr algn="l">
              <a:spcAft>
                <a:spcPts val="600"/>
              </a:spcAft>
            </a:pPr>
            <a:r>
              <a:rPr sz="1600" b="0">
                <a:solidFill>
                  <a:srgbClr val="1C1C1C"/>
                </a:solidFill>
                <a:latin typeface="Calibri"/>
              </a:rPr>
              <a:t>▸  Every medication: name, dose, time, with food?</a:t>
            </a:r>
          </a:p>
          <a:p>
            <a:pPr algn="l">
              <a:spcAft>
                <a:spcPts val="600"/>
              </a:spcAft>
            </a:pPr>
            <a:r>
              <a:rPr sz="1600" b="0">
                <a:solidFill>
                  <a:srgbClr val="1C1C1C"/>
                </a:solidFill>
                <a:latin typeface="Calibri"/>
              </a:rPr>
              <a:t>▸  Incision care and 14-day leash walks.</a:t>
            </a:r>
          </a:p>
          <a:p>
            <a:pPr algn="l">
              <a:spcAft>
                <a:spcPts val="600"/>
              </a:spcAft>
            </a:pPr>
            <a:r>
              <a:rPr sz="1600" b="0">
                <a:solidFill>
                  <a:srgbClr val="1C1C1C"/>
                </a:solidFill>
                <a:latin typeface="Calibri"/>
              </a:rPr>
              <a:t>▸  E-collar on except when directly watching.</a:t>
            </a:r>
          </a:p>
          <a:p>
            <a:pPr algn="l">
              <a:spcAft>
                <a:spcPts val="600"/>
              </a:spcAft>
            </a:pPr>
            <a:r>
              <a:rPr sz="1600" b="0">
                <a:solidFill>
                  <a:srgbClr val="1C1C1C"/>
                </a:solidFill>
                <a:latin typeface="Calibri"/>
              </a:rPr>
              <a:t>▸  Next appointment. ER criteria. After-hours number.</a:t>
            </a:r>
          </a:p>
        </p:txBody>
      </p:sp>
      <p:sp>
        <p:nvSpPr>
          <p:cNvPr id="14" name="Rectangle 13"/>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6" name="TextBox 15"/>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33  /  38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THE CLIENT MUST BE ABLE TO REPEAT THESE</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Emergency criteria for discharge</a:t>
            </a:r>
          </a:p>
        </p:txBody>
      </p:sp>
      <p:sp>
        <p:nvSpPr>
          <p:cNvPr id="8" name="Rounded Rectangle 7"/>
          <p:cNvSpPr/>
          <p:nvPr/>
        </p:nvSpPr>
        <p:spPr>
          <a:xfrm>
            <a:off x="411480" y="1097280"/>
            <a:ext cx="370332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097280"/>
            <a:ext cx="3703320" cy="64008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097280"/>
            <a:ext cx="3703320" cy="640080"/>
          </a:xfrm>
          <a:prstGeom prst="rect">
            <a:avLst/>
          </a:prstGeom>
          <a:noFill/>
        </p:spPr>
        <p:txBody>
          <a:bodyPr wrap="square" anchor="ctr"/>
          <a:lstStyle/>
          <a:p>
            <a:pPr algn="ctr"/>
            <a:r>
              <a:rPr sz="2000" b="1">
                <a:solidFill>
                  <a:srgbClr val="FFFFFF"/>
                </a:solidFill>
                <a:latin typeface="Calibri"/>
              </a:rPr>
              <a:t>Come now</a:t>
            </a:r>
          </a:p>
        </p:txBody>
      </p:sp>
      <p:sp>
        <p:nvSpPr>
          <p:cNvPr id="11" name="TextBox 10"/>
          <p:cNvSpPr txBox="1"/>
          <p:nvPr/>
        </p:nvSpPr>
        <p:spPr>
          <a:xfrm>
            <a:off x="640080" y="1920240"/>
            <a:ext cx="3246120" cy="3931920"/>
          </a:xfrm>
          <a:prstGeom prst="rect">
            <a:avLst/>
          </a:prstGeom>
          <a:noFill/>
        </p:spPr>
        <p:txBody>
          <a:bodyPr wrap="square" anchor="t"/>
          <a:lstStyle/>
          <a:p>
            <a:pPr algn="l"/>
            <a:r>
              <a:rPr sz="1800" b="0">
                <a:solidFill>
                  <a:srgbClr val="1C1C1C"/>
                </a:solidFill>
                <a:latin typeface="Calibri"/>
              </a:rPr>
              <a:t>Collapse. Pale gums. Distended abdomen. Unstoppable bleeding. Can’t breathe. Can’t urinate. Evisceration. Uncontrolled pain.</a:t>
            </a:r>
          </a:p>
        </p:txBody>
      </p:sp>
      <p:sp>
        <p:nvSpPr>
          <p:cNvPr id="12" name="Rounded Rectangle 11"/>
          <p:cNvSpPr/>
          <p:nvPr/>
        </p:nvSpPr>
        <p:spPr>
          <a:xfrm>
            <a:off x="4297680" y="1097280"/>
            <a:ext cx="370332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097280"/>
            <a:ext cx="3703320" cy="64008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1097280"/>
            <a:ext cx="3703320" cy="640080"/>
          </a:xfrm>
          <a:prstGeom prst="rect">
            <a:avLst/>
          </a:prstGeom>
          <a:noFill/>
        </p:spPr>
        <p:txBody>
          <a:bodyPr wrap="square" anchor="ctr"/>
          <a:lstStyle/>
          <a:p>
            <a:pPr algn="ctr"/>
            <a:r>
              <a:rPr sz="2000" b="1">
                <a:solidFill>
                  <a:srgbClr val="FFFFFF"/>
                </a:solidFill>
                <a:latin typeface="Calibri"/>
              </a:rPr>
              <a:t>Call today</a:t>
            </a:r>
          </a:p>
        </p:txBody>
      </p:sp>
      <p:sp>
        <p:nvSpPr>
          <p:cNvPr id="15" name="TextBox 14"/>
          <p:cNvSpPr txBox="1"/>
          <p:nvPr/>
        </p:nvSpPr>
        <p:spPr>
          <a:xfrm>
            <a:off x="4526280" y="1920240"/>
            <a:ext cx="3246120" cy="3931920"/>
          </a:xfrm>
          <a:prstGeom prst="rect">
            <a:avLst/>
          </a:prstGeom>
          <a:noFill/>
        </p:spPr>
        <p:txBody>
          <a:bodyPr wrap="square" anchor="t"/>
          <a:lstStyle/>
          <a:p>
            <a:pPr algn="l"/>
            <a:r>
              <a:rPr sz="1800" b="0">
                <a:solidFill>
                  <a:srgbClr val="1C1C1C"/>
                </a:solidFill>
                <a:latin typeface="Calibri"/>
              </a:rPr>
              <a:t>Not eating by morning. A few vomits. Mild incision redness. Diarrhea. E-collar problems.</a:t>
            </a:r>
          </a:p>
        </p:txBody>
      </p:sp>
      <p:sp>
        <p:nvSpPr>
          <p:cNvPr id="16" name="Rounded Rectangle 15"/>
          <p:cNvSpPr/>
          <p:nvPr/>
        </p:nvSpPr>
        <p:spPr>
          <a:xfrm>
            <a:off x="8183880" y="1097280"/>
            <a:ext cx="370332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83880" y="1097280"/>
            <a:ext cx="3703320" cy="640080"/>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80" y="1097280"/>
            <a:ext cx="3703320" cy="640080"/>
          </a:xfrm>
          <a:prstGeom prst="rect">
            <a:avLst/>
          </a:prstGeom>
          <a:noFill/>
        </p:spPr>
        <p:txBody>
          <a:bodyPr wrap="square" anchor="ctr"/>
          <a:lstStyle/>
          <a:p>
            <a:pPr algn="ctr"/>
            <a:r>
              <a:rPr sz="2000" b="1">
                <a:solidFill>
                  <a:srgbClr val="FFFFFF"/>
                </a:solidFill>
                <a:latin typeface="Calibri"/>
              </a:rPr>
              <a:t>Expected</a:t>
            </a:r>
          </a:p>
        </p:txBody>
      </p:sp>
      <p:sp>
        <p:nvSpPr>
          <p:cNvPr id="19" name="TextBox 18"/>
          <p:cNvSpPr txBox="1"/>
          <p:nvPr/>
        </p:nvSpPr>
        <p:spPr>
          <a:xfrm>
            <a:off x="8412480" y="1920240"/>
            <a:ext cx="3246120" cy="3931920"/>
          </a:xfrm>
          <a:prstGeom prst="rect">
            <a:avLst/>
          </a:prstGeom>
          <a:noFill/>
        </p:spPr>
        <p:txBody>
          <a:bodyPr wrap="square" anchor="t"/>
          <a:lstStyle/>
          <a:p>
            <a:pPr algn="l"/>
            <a:r>
              <a:rPr sz="1800" b="0">
                <a:solidFill>
                  <a:srgbClr val="1C1C1C"/>
                </a:solidFill>
                <a:latin typeface="Calibri"/>
              </a:rPr>
              <a:t>Sleepy tonight. Small bruise. Slightly tacky incision. Reduced appetite this evening.</a:t>
            </a:r>
          </a:p>
        </p:txBody>
      </p:sp>
      <p:sp>
        <p:nvSpPr>
          <p:cNvPr id="20" name="Rectangle 19"/>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2" name="TextBox 21"/>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34  /  38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ASA EXAMPLE: EAR DISEASE + DEXSP. RE-ASSIGN ASA ON THE DAY OF ANY LATER TECA-LBO.</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Willie: complete perioperative plan</a:t>
            </a:r>
          </a:p>
        </p:txBody>
      </p:sp>
      <p:sp>
        <p:nvSpPr>
          <p:cNvPr id="8" name="Rounded Rectangle 7"/>
          <p:cNvSpPr/>
          <p:nvPr/>
        </p:nvSpPr>
        <p:spPr>
          <a:xfrm>
            <a:off x="457200" y="1051560"/>
            <a:ext cx="11247120" cy="731520"/>
          </a:xfrm>
          <a:prstGeom prst="roundRect">
            <a:avLst>
              <a:gd name="adj" fmla="val 8000"/>
            </a:avLst>
          </a:prstGeom>
          <a:solidFill>
            <a:srgbClr val="F4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115568"/>
            <a:ext cx="10789920" cy="640080"/>
          </a:xfrm>
          <a:prstGeom prst="rect">
            <a:avLst/>
          </a:prstGeom>
          <a:noFill/>
        </p:spPr>
        <p:txBody>
          <a:bodyPr wrap="square" anchor="t"/>
          <a:lstStyle/>
          <a:p>
            <a:pPr algn="l"/>
            <a:r>
              <a:rPr sz="1800" b="0">
                <a:solidFill>
                  <a:srgbClr val="0B2C4A"/>
                </a:solidFill>
                <a:latin typeface="Calibri"/>
              </a:rPr>
              <a:t>Willie  ·  Cavalier  ·  13.7 kg  ·  ASA Status 3-E  ·  vestibular + AS otitis  ·  skip NSAID</a:t>
            </a:r>
          </a:p>
        </p:txBody>
      </p:sp>
      <p:sp>
        <p:nvSpPr>
          <p:cNvPr id="10" name="Rounded Rectangle 9"/>
          <p:cNvSpPr/>
          <p:nvPr/>
        </p:nvSpPr>
        <p:spPr>
          <a:xfrm>
            <a:off x="411480" y="1920240"/>
            <a:ext cx="2788920" cy="4389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920240"/>
            <a:ext cx="2788920" cy="5943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920240"/>
            <a:ext cx="2788920" cy="594360"/>
          </a:xfrm>
          <a:prstGeom prst="rect">
            <a:avLst/>
          </a:prstGeom>
          <a:noFill/>
        </p:spPr>
        <p:txBody>
          <a:bodyPr wrap="square" anchor="ctr"/>
          <a:lstStyle/>
          <a:p>
            <a:pPr algn="ctr"/>
            <a:r>
              <a:rPr sz="1800" b="1">
                <a:solidFill>
                  <a:srgbClr val="C5A35A"/>
                </a:solidFill>
                <a:latin typeface="Calibri"/>
              </a:rPr>
              <a:t>Pre-op</a:t>
            </a:r>
          </a:p>
        </p:txBody>
      </p:sp>
      <p:sp>
        <p:nvSpPr>
          <p:cNvPr id="13" name="TextBox 12"/>
          <p:cNvSpPr txBox="1"/>
          <p:nvPr/>
        </p:nvSpPr>
        <p:spPr>
          <a:xfrm>
            <a:off x="548640" y="2651760"/>
            <a:ext cx="2514600" cy="3474720"/>
          </a:xfrm>
          <a:prstGeom prst="rect">
            <a:avLst/>
          </a:prstGeom>
          <a:noFill/>
        </p:spPr>
        <p:txBody>
          <a:bodyPr wrap="square" anchor="t"/>
          <a:lstStyle/>
          <a:p>
            <a:pPr algn="l"/>
            <a:r>
              <a:rPr sz="1600" b="0">
                <a:solidFill>
                  <a:srgbClr val="1C1C1C"/>
                </a:solidFill>
                <a:latin typeface="Calibri"/>
              </a:rPr>
              <a:t>Neuro exam. ASA 3-E. Exam before any drug. Skip NSAID after DexSP. Premed path: opioid + alfaxalone.</a:t>
            </a:r>
          </a:p>
        </p:txBody>
      </p:sp>
      <p:sp>
        <p:nvSpPr>
          <p:cNvPr id="14" name="Rounded Rectangle 13"/>
          <p:cNvSpPr/>
          <p:nvPr/>
        </p:nvSpPr>
        <p:spPr>
          <a:xfrm>
            <a:off x="3337560" y="1920240"/>
            <a:ext cx="2788920" cy="4389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1920240"/>
            <a:ext cx="2788920" cy="5943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37560" y="1920240"/>
            <a:ext cx="2788920" cy="594360"/>
          </a:xfrm>
          <a:prstGeom prst="rect">
            <a:avLst/>
          </a:prstGeom>
          <a:noFill/>
        </p:spPr>
        <p:txBody>
          <a:bodyPr wrap="square" anchor="ctr"/>
          <a:lstStyle/>
          <a:p>
            <a:pPr algn="ctr"/>
            <a:r>
              <a:rPr sz="1800" b="1">
                <a:solidFill>
                  <a:srgbClr val="C5A35A"/>
                </a:solidFill>
                <a:latin typeface="Calibri"/>
              </a:rPr>
              <a:t>Sedation</a:t>
            </a:r>
          </a:p>
        </p:txBody>
      </p:sp>
      <p:sp>
        <p:nvSpPr>
          <p:cNvPr id="17" name="TextBox 16"/>
          <p:cNvSpPr txBox="1"/>
          <p:nvPr/>
        </p:nvSpPr>
        <p:spPr>
          <a:xfrm>
            <a:off x="3474720" y="2651760"/>
            <a:ext cx="2514600" cy="3474720"/>
          </a:xfrm>
          <a:prstGeom prst="rect">
            <a:avLst/>
          </a:prstGeom>
          <a:noFill/>
        </p:spPr>
        <p:txBody>
          <a:bodyPr wrap="square" anchor="t"/>
          <a:lstStyle/>
          <a:p>
            <a:pPr algn="l"/>
            <a:r>
              <a:rPr sz="1600" b="0">
                <a:solidFill>
                  <a:srgbClr val="1C1C1C"/>
                </a:solidFill>
                <a:latin typeface="Calibri"/>
              </a:rPr>
              <a:t>Alfaxalone for an ear clean. Tube, bag, and 69 mL/hr only if you intubate a 13.7 kg dog. Canal: dilute PVP-I, not 7.5% scrub.</a:t>
            </a:r>
          </a:p>
        </p:txBody>
      </p:sp>
      <p:sp>
        <p:nvSpPr>
          <p:cNvPr id="18" name="Rounded Rectangle 17"/>
          <p:cNvSpPr/>
          <p:nvPr/>
        </p:nvSpPr>
        <p:spPr>
          <a:xfrm>
            <a:off x="6263640" y="1920240"/>
            <a:ext cx="2788920" cy="4389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1920240"/>
            <a:ext cx="2788920" cy="5943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920240"/>
            <a:ext cx="2788920" cy="594360"/>
          </a:xfrm>
          <a:prstGeom prst="rect">
            <a:avLst/>
          </a:prstGeom>
          <a:noFill/>
        </p:spPr>
        <p:txBody>
          <a:bodyPr wrap="square" anchor="ctr"/>
          <a:lstStyle/>
          <a:p>
            <a:pPr algn="ctr"/>
            <a:r>
              <a:rPr sz="1800" b="1">
                <a:solidFill>
                  <a:srgbClr val="C5A35A"/>
                </a:solidFill>
                <a:latin typeface="Calibri"/>
              </a:rPr>
              <a:t>Intra</a:t>
            </a:r>
          </a:p>
        </p:txBody>
      </p:sp>
      <p:sp>
        <p:nvSpPr>
          <p:cNvPr id="21" name="TextBox 20"/>
          <p:cNvSpPr txBox="1"/>
          <p:nvPr/>
        </p:nvSpPr>
        <p:spPr>
          <a:xfrm>
            <a:off x="6400800" y="2651760"/>
            <a:ext cx="2514600" cy="3474720"/>
          </a:xfrm>
          <a:prstGeom prst="rect">
            <a:avLst/>
          </a:prstGeom>
          <a:noFill/>
        </p:spPr>
        <p:txBody>
          <a:bodyPr wrap="square" anchor="t"/>
          <a:lstStyle/>
          <a:p>
            <a:pPr algn="l"/>
            <a:r>
              <a:rPr sz="1600" b="0">
                <a:solidFill>
                  <a:srgbClr val="1C1C1C"/>
                </a:solidFill>
                <a:latin typeface="Calibri"/>
              </a:rPr>
              <a:t>Timeout. Deep clean + cytology. If you contaminate, say it and re-glove.</a:t>
            </a:r>
          </a:p>
        </p:txBody>
      </p:sp>
      <p:sp>
        <p:nvSpPr>
          <p:cNvPr id="22" name="Rounded Rectangle 21"/>
          <p:cNvSpPr/>
          <p:nvPr/>
        </p:nvSpPr>
        <p:spPr>
          <a:xfrm>
            <a:off x="9189720" y="1920240"/>
            <a:ext cx="2788920" cy="4389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89720" y="1920240"/>
            <a:ext cx="2788920" cy="5943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89720" y="1920240"/>
            <a:ext cx="2788920" cy="594360"/>
          </a:xfrm>
          <a:prstGeom prst="rect">
            <a:avLst/>
          </a:prstGeom>
          <a:noFill/>
        </p:spPr>
        <p:txBody>
          <a:bodyPr wrap="square" anchor="ctr"/>
          <a:lstStyle/>
          <a:p>
            <a:pPr algn="ctr"/>
            <a:r>
              <a:rPr sz="1800" b="1">
                <a:solidFill>
                  <a:srgbClr val="C5A35A"/>
                </a:solidFill>
                <a:latin typeface="Calibri"/>
              </a:rPr>
              <a:t>Post</a:t>
            </a:r>
          </a:p>
        </p:txBody>
      </p:sp>
      <p:sp>
        <p:nvSpPr>
          <p:cNvPr id="25" name="TextBox 24"/>
          <p:cNvSpPr txBox="1"/>
          <p:nvPr/>
        </p:nvSpPr>
        <p:spPr>
          <a:xfrm>
            <a:off x="9326880" y="2651760"/>
            <a:ext cx="2514600" cy="3474720"/>
          </a:xfrm>
          <a:prstGeom prst="rect">
            <a:avLst/>
          </a:prstGeom>
          <a:noFill/>
        </p:spPr>
        <p:txBody>
          <a:bodyPr wrap="square" anchor="t"/>
          <a:lstStyle/>
          <a:p>
            <a:pPr algn="l"/>
            <a:r>
              <a:rPr sz="1600" b="0">
                <a:solidFill>
                  <a:srgbClr val="1C1C1C"/>
                </a:solidFill>
                <a:latin typeface="Calibri"/>
              </a:rPr>
              <a:t>No stairs. Watch neuro signs. MRI if signs persist. If TECA-LBO later: new ASA that morning.</a:t>
            </a:r>
          </a:p>
        </p:txBody>
      </p:sp>
      <p:sp>
        <p:nvSpPr>
          <p:cNvPr id="26" name="Rectangle 25"/>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8" name="TextBox 27"/>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35  /  38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ASA EXAMPLES. BOTH RECEIVED A PREOPERATIVE EVALUATION. ONLY WILLIE WAS SEDATED.</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Willie and MoMo</a:t>
            </a:r>
          </a:p>
        </p:txBody>
      </p:sp>
      <p:sp>
        <p:nvSpPr>
          <p:cNvPr id="8" name="Rounded Rectangle 7"/>
          <p:cNvSpPr/>
          <p:nvPr/>
        </p:nvSpPr>
        <p:spPr>
          <a:xfrm>
            <a:off x="411480" y="1097280"/>
            <a:ext cx="562356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097280"/>
            <a:ext cx="91440" cy="50292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07008"/>
            <a:ext cx="5257800" cy="329184"/>
          </a:xfrm>
          <a:prstGeom prst="rect">
            <a:avLst/>
          </a:prstGeom>
          <a:noFill/>
        </p:spPr>
        <p:txBody>
          <a:bodyPr wrap="square" anchor="t"/>
          <a:lstStyle/>
          <a:p>
            <a:pPr algn="l"/>
            <a:r>
              <a:rPr sz="1800" b="1">
                <a:solidFill>
                  <a:srgbClr val="0B2C4A"/>
                </a:solidFill>
                <a:latin typeface="Calibri"/>
              </a:rPr>
              <a:t>Willie, ASA Status 3-E</a:t>
            </a:r>
          </a:p>
        </p:txBody>
      </p:sp>
      <p:sp>
        <p:nvSpPr>
          <p:cNvPr id="11" name="TextBox 10"/>
          <p:cNvSpPr txBox="1"/>
          <p:nvPr/>
        </p:nvSpPr>
        <p:spPr>
          <a:xfrm>
            <a:off x="667512" y="1554480"/>
            <a:ext cx="5257800" cy="4462272"/>
          </a:xfrm>
          <a:prstGeom prst="rect">
            <a:avLst/>
          </a:prstGeom>
          <a:noFill/>
        </p:spPr>
        <p:txBody>
          <a:bodyPr wrap="square" anchor="t"/>
          <a:lstStyle/>
          <a:p>
            <a:pPr algn="l"/>
            <a:r>
              <a:rPr sz="1600" b="0">
                <a:solidFill>
                  <a:srgbClr val="3D4A57"/>
                </a:solidFill>
                <a:latin typeface="Calibri"/>
              </a:rPr>
              <a:t>Proceed with sedation. Cavalier, 13.7 kg. Acute vestibular + AS otitis + murmur. Compensated. Fill the anesthesia record. Alfaxalone, ear clean, skip NSAID after DexSP. If TECA-LBO is needed later, assign a new ASA that morning.</a:t>
            </a:r>
          </a:p>
        </p:txBody>
      </p:sp>
      <p:sp>
        <p:nvSpPr>
          <p:cNvPr id="12" name="Rounded Rectangle 11"/>
          <p:cNvSpPr/>
          <p:nvPr/>
        </p:nvSpPr>
        <p:spPr>
          <a:xfrm>
            <a:off x="6172200" y="1097280"/>
            <a:ext cx="562356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097280"/>
            <a:ext cx="91440" cy="502920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207008"/>
            <a:ext cx="5257800" cy="329184"/>
          </a:xfrm>
          <a:prstGeom prst="rect">
            <a:avLst/>
          </a:prstGeom>
          <a:noFill/>
        </p:spPr>
        <p:txBody>
          <a:bodyPr wrap="square" anchor="t"/>
          <a:lstStyle/>
          <a:p>
            <a:pPr algn="l"/>
            <a:r>
              <a:rPr sz="1800" b="1">
                <a:solidFill>
                  <a:srgbClr val="0B2C4A"/>
                </a:solidFill>
                <a:latin typeface="Calibri"/>
              </a:rPr>
              <a:t>MoMo, ASA Status 4-E</a:t>
            </a:r>
          </a:p>
        </p:txBody>
      </p:sp>
      <p:sp>
        <p:nvSpPr>
          <p:cNvPr id="15" name="TextBox 14"/>
          <p:cNvSpPr txBox="1"/>
          <p:nvPr/>
        </p:nvSpPr>
        <p:spPr>
          <a:xfrm>
            <a:off x="6428232" y="1554480"/>
            <a:ext cx="5257800" cy="4462272"/>
          </a:xfrm>
          <a:prstGeom prst="rect">
            <a:avLst/>
          </a:prstGeom>
          <a:noFill/>
        </p:spPr>
        <p:txBody>
          <a:bodyPr wrap="square" anchor="t"/>
          <a:lstStyle/>
          <a:p>
            <a:pPr algn="l"/>
            <a:r>
              <a:rPr sz="1600" b="0">
                <a:solidFill>
                  <a:srgbClr val="3D4A57"/>
                </a:solidFill>
                <a:latin typeface="Calibri"/>
              </a:rPr>
              <a:t>Cancel the exploratory. DSH, 4.25 kg. Vomiting that looked like FB. Right kidney fluid-filled and non-functional on AUS. Progressive azotemia on fluids (creatinine 3.0 → 4.71). NSAIDs contraindicated. Record the decision. Offer supportive care, referral, or euthanasia.</a:t>
            </a:r>
          </a:p>
        </p:txBody>
      </p:sp>
      <p:sp>
        <p:nvSpPr>
          <p:cNvPr id="16" name="Rectangle 15"/>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8" name="TextBox 17"/>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36  /  38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1247120" cy="292608"/>
          </a:xfrm>
          <a:prstGeom prst="rect">
            <a:avLst/>
          </a:prstGeom>
          <a:noFill/>
        </p:spPr>
        <p:txBody>
          <a:bodyPr wrap="square" anchor="t"/>
          <a:lstStyle/>
          <a:p>
            <a:pPr algn="l"/>
            <a:r>
              <a:rPr sz="1300" b="1">
                <a:solidFill>
                  <a:srgbClr val="1B6B7A"/>
                </a:solidFill>
                <a:latin typeface="Calibri"/>
              </a:rPr>
              <a:t>CPE MOA 2026 APPENDIX 3 AND SURGERY COMPETENCIES</a:t>
            </a:r>
          </a:p>
        </p:txBody>
      </p:sp>
      <p:sp>
        <p:nvSpPr>
          <p:cNvPr id="6" name="Rectangle 5"/>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Key points</a:t>
            </a:r>
          </a:p>
        </p:txBody>
      </p:sp>
      <p:sp>
        <p:nvSpPr>
          <p:cNvPr id="8" name="Rounded Rectangle 7"/>
          <p:cNvSpPr/>
          <p:nvPr/>
        </p:nvSpPr>
        <p:spPr>
          <a:xfrm>
            <a:off x="457200" y="1051560"/>
            <a:ext cx="1124712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51560"/>
            <a:ext cx="777240" cy="7680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051560"/>
            <a:ext cx="777240" cy="768096"/>
          </a:xfrm>
          <a:prstGeom prst="rect">
            <a:avLst/>
          </a:prstGeom>
          <a:noFill/>
        </p:spPr>
        <p:txBody>
          <a:bodyPr wrap="square" anchor="ctr"/>
          <a:lstStyle/>
          <a:p>
            <a:pPr algn="ctr"/>
            <a:r>
              <a:rPr sz="2000" b="1">
                <a:solidFill>
                  <a:srgbClr val="0B2C4A"/>
                </a:solidFill>
                <a:latin typeface="Calibri"/>
              </a:rPr>
              <a:t>1</a:t>
            </a:r>
          </a:p>
        </p:txBody>
      </p:sp>
      <p:sp>
        <p:nvSpPr>
          <p:cNvPr id="11" name="TextBox 10"/>
          <p:cNvSpPr txBox="1"/>
          <p:nvPr/>
        </p:nvSpPr>
        <p:spPr>
          <a:xfrm>
            <a:off x="1417320" y="1051560"/>
            <a:ext cx="9966960" cy="768096"/>
          </a:xfrm>
          <a:prstGeom prst="rect">
            <a:avLst/>
          </a:prstGeom>
          <a:noFill/>
        </p:spPr>
        <p:txBody>
          <a:bodyPr wrap="square" anchor="ctr"/>
          <a:lstStyle/>
          <a:p>
            <a:pPr algn="l"/>
            <a:r>
              <a:rPr sz="1800" b="0">
                <a:solidFill>
                  <a:srgbClr val="1C1C1C"/>
                </a:solidFill>
                <a:latin typeface="Calibri"/>
              </a:rPr>
              <a:t>Pre-anesthetic assessment: TPR, mm/CRT, then PCV, TP, BUN. Interpret. Circle ASA. Then IM or SQ premed.</a:t>
            </a:r>
          </a:p>
        </p:txBody>
      </p:sp>
      <p:sp>
        <p:nvSpPr>
          <p:cNvPr id="12" name="Rounded Rectangle 11"/>
          <p:cNvSpPr/>
          <p:nvPr/>
        </p:nvSpPr>
        <p:spPr>
          <a:xfrm>
            <a:off x="457200" y="1892808"/>
            <a:ext cx="1124712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892808"/>
            <a:ext cx="777240" cy="7680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892808"/>
            <a:ext cx="777240" cy="768096"/>
          </a:xfrm>
          <a:prstGeom prst="rect">
            <a:avLst/>
          </a:prstGeom>
          <a:noFill/>
        </p:spPr>
        <p:txBody>
          <a:bodyPr wrap="square" anchor="ctr"/>
          <a:lstStyle/>
          <a:p>
            <a:pPr algn="ctr"/>
            <a:r>
              <a:rPr sz="2000" b="1">
                <a:solidFill>
                  <a:srgbClr val="0B2C4A"/>
                </a:solidFill>
                <a:latin typeface="Calibri"/>
              </a:rPr>
              <a:t>2</a:t>
            </a:r>
          </a:p>
        </p:txBody>
      </p:sp>
      <p:sp>
        <p:nvSpPr>
          <p:cNvPr id="15" name="TextBox 14"/>
          <p:cNvSpPr txBox="1"/>
          <p:nvPr/>
        </p:nvSpPr>
        <p:spPr>
          <a:xfrm>
            <a:off x="1417320" y="1892808"/>
            <a:ext cx="9966960" cy="768096"/>
          </a:xfrm>
          <a:prstGeom prst="rect">
            <a:avLst/>
          </a:prstGeom>
          <a:noFill/>
        </p:spPr>
        <p:txBody>
          <a:bodyPr wrap="square" anchor="ctr"/>
          <a:lstStyle/>
          <a:p>
            <a:pPr algn="l"/>
            <a:r>
              <a:rPr sz="1800" b="0">
                <a:solidFill>
                  <a:srgbClr val="1C1C1C"/>
                </a:solidFill>
                <a:latin typeface="Calibri"/>
              </a:rPr>
              <a:t>Write drug, concentration, dose, volume, and route. Then IV fluid name and rate, ETT size, circuit, and fresh-gas flow.</a:t>
            </a:r>
          </a:p>
        </p:txBody>
      </p:sp>
      <p:sp>
        <p:nvSpPr>
          <p:cNvPr id="16" name="Rounded Rectangle 15"/>
          <p:cNvSpPr/>
          <p:nvPr/>
        </p:nvSpPr>
        <p:spPr>
          <a:xfrm>
            <a:off x="457200" y="2734056"/>
            <a:ext cx="1124712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734056"/>
            <a:ext cx="777240" cy="7680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734056"/>
            <a:ext cx="777240" cy="768096"/>
          </a:xfrm>
          <a:prstGeom prst="rect">
            <a:avLst/>
          </a:prstGeom>
          <a:noFill/>
        </p:spPr>
        <p:txBody>
          <a:bodyPr wrap="square" anchor="ctr"/>
          <a:lstStyle/>
          <a:p>
            <a:pPr algn="ctr"/>
            <a:r>
              <a:rPr sz="2000" b="1">
                <a:solidFill>
                  <a:srgbClr val="0B2C4A"/>
                </a:solidFill>
                <a:latin typeface="Calibri"/>
              </a:rPr>
              <a:t>3</a:t>
            </a:r>
          </a:p>
        </p:txBody>
      </p:sp>
      <p:sp>
        <p:nvSpPr>
          <p:cNvPr id="19" name="TextBox 18"/>
          <p:cNvSpPr txBox="1"/>
          <p:nvPr/>
        </p:nvSpPr>
        <p:spPr>
          <a:xfrm>
            <a:off x="1417320" y="2734056"/>
            <a:ext cx="9966960" cy="768096"/>
          </a:xfrm>
          <a:prstGeom prst="rect">
            <a:avLst/>
          </a:prstGeom>
          <a:noFill/>
        </p:spPr>
        <p:txBody>
          <a:bodyPr wrap="square" anchor="ctr"/>
          <a:lstStyle/>
          <a:p>
            <a:pPr algn="l"/>
            <a:r>
              <a:rPr sz="1800" b="0">
                <a:solidFill>
                  <a:srgbClr val="1C1C1C"/>
                </a:solidFill>
                <a:latin typeface="Calibri"/>
              </a:rPr>
              <a:t>Ready for surgical prep: airway secured, machine on, patent IV running, surgical plane, monitoring started.</a:t>
            </a:r>
          </a:p>
        </p:txBody>
      </p:sp>
      <p:sp>
        <p:nvSpPr>
          <p:cNvPr id="20" name="Rounded Rectangle 19"/>
          <p:cNvSpPr/>
          <p:nvPr/>
        </p:nvSpPr>
        <p:spPr>
          <a:xfrm>
            <a:off x="457200" y="3575304"/>
            <a:ext cx="1124712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575304"/>
            <a:ext cx="777240" cy="7680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575304"/>
            <a:ext cx="777240" cy="768096"/>
          </a:xfrm>
          <a:prstGeom prst="rect">
            <a:avLst/>
          </a:prstGeom>
          <a:noFill/>
        </p:spPr>
        <p:txBody>
          <a:bodyPr wrap="square" anchor="ctr"/>
          <a:lstStyle/>
          <a:p>
            <a:pPr algn="ctr"/>
            <a:r>
              <a:rPr sz="2000" b="1">
                <a:solidFill>
                  <a:srgbClr val="0B2C4A"/>
                </a:solidFill>
                <a:latin typeface="Calibri"/>
              </a:rPr>
              <a:t>4</a:t>
            </a:r>
          </a:p>
        </p:txBody>
      </p:sp>
      <p:sp>
        <p:nvSpPr>
          <p:cNvPr id="23" name="TextBox 22"/>
          <p:cNvSpPr txBox="1"/>
          <p:nvPr/>
        </p:nvSpPr>
        <p:spPr>
          <a:xfrm>
            <a:off x="1417320" y="3575304"/>
            <a:ext cx="9966960" cy="768096"/>
          </a:xfrm>
          <a:prstGeom prst="rect">
            <a:avLst/>
          </a:prstGeom>
          <a:noFill/>
        </p:spPr>
        <p:txBody>
          <a:bodyPr wrap="square" anchor="ctr"/>
          <a:lstStyle/>
          <a:p>
            <a:pPr algn="l"/>
            <a:r>
              <a:rPr sz="1800" b="0">
                <a:solidFill>
                  <a:srgbClr val="1C1C1C"/>
                </a:solidFill>
                <a:latin typeface="Calibri"/>
              </a:rPr>
              <a:t>Patient: hair, skin, position, drape. Surgeon: attire, gown, closed glove. Announce incision.</a:t>
            </a:r>
          </a:p>
        </p:txBody>
      </p:sp>
      <p:sp>
        <p:nvSpPr>
          <p:cNvPr id="24" name="Rounded Rectangle 23"/>
          <p:cNvSpPr/>
          <p:nvPr/>
        </p:nvSpPr>
        <p:spPr>
          <a:xfrm>
            <a:off x="457200" y="4416552"/>
            <a:ext cx="1124712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416552"/>
            <a:ext cx="777240" cy="7680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416552"/>
            <a:ext cx="777240" cy="768096"/>
          </a:xfrm>
          <a:prstGeom prst="rect">
            <a:avLst/>
          </a:prstGeom>
          <a:noFill/>
        </p:spPr>
        <p:txBody>
          <a:bodyPr wrap="square" anchor="ctr"/>
          <a:lstStyle/>
          <a:p>
            <a:pPr algn="ctr"/>
            <a:r>
              <a:rPr sz="2000" b="1">
                <a:solidFill>
                  <a:srgbClr val="0B2C4A"/>
                </a:solidFill>
                <a:latin typeface="Calibri"/>
              </a:rPr>
              <a:t>5</a:t>
            </a:r>
          </a:p>
        </p:txBody>
      </p:sp>
      <p:sp>
        <p:nvSpPr>
          <p:cNvPr id="27" name="TextBox 26"/>
          <p:cNvSpPr txBox="1"/>
          <p:nvPr/>
        </p:nvSpPr>
        <p:spPr>
          <a:xfrm>
            <a:off x="1417320" y="4416552"/>
            <a:ext cx="9966960" cy="768096"/>
          </a:xfrm>
          <a:prstGeom prst="rect">
            <a:avLst/>
          </a:prstGeom>
          <a:noFill/>
        </p:spPr>
        <p:txBody>
          <a:bodyPr wrap="square" anchor="ctr"/>
          <a:lstStyle/>
          <a:p>
            <a:pPr algn="l"/>
            <a:r>
              <a:rPr sz="1800" b="0">
                <a:solidFill>
                  <a:srgbClr val="1C1C1C"/>
                </a:solidFill>
                <a:latin typeface="Calibri"/>
              </a:rPr>
              <a:t>Fill the chart: HR, RR, BP, inhalant, O2, ETCO2, SpO2, temp, fluids. Then complications, recovery analgesics, and sign.</a:t>
            </a:r>
          </a:p>
        </p:txBody>
      </p:sp>
      <p:sp>
        <p:nvSpPr>
          <p:cNvPr id="28" name="Rounded Rectangle 27"/>
          <p:cNvSpPr/>
          <p:nvPr/>
        </p:nvSpPr>
        <p:spPr>
          <a:xfrm>
            <a:off x="457200" y="5257800"/>
            <a:ext cx="1124712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5257800"/>
            <a:ext cx="777240" cy="7680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257800"/>
            <a:ext cx="777240" cy="768096"/>
          </a:xfrm>
          <a:prstGeom prst="rect">
            <a:avLst/>
          </a:prstGeom>
          <a:noFill/>
        </p:spPr>
        <p:txBody>
          <a:bodyPr wrap="square" anchor="ctr"/>
          <a:lstStyle/>
          <a:p>
            <a:pPr algn="ctr"/>
            <a:r>
              <a:rPr sz="2000" b="1">
                <a:solidFill>
                  <a:srgbClr val="0B2C4A"/>
                </a:solidFill>
                <a:latin typeface="Calibri"/>
              </a:rPr>
              <a:t>6</a:t>
            </a:r>
          </a:p>
        </p:txBody>
      </p:sp>
      <p:sp>
        <p:nvSpPr>
          <p:cNvPr id="31" name="TextBox 30"/>
          <p:cNvSpPr txBox="1"/>
          <p:nvPr/>
        </p:nvSpPr>
        <p:spPr>
          <a:xfrm>
            <a:off x="1417320" y="5257800"/>
            <a:ext cx="9966960" cy="768096"/>
          </a:xfrm>
          <a:prstGeom prst="rect">
            <a:avLst/>
          </a:prstGeom>
          <a:noFill/>
        </p:spPr>
        <p:txBody>
          <a:bodyPr wrap="square" anchor="ctr"/>
          <a:lstStyle/>
          <a:p>
            <a:pPr algn="l"/>
            <a:r>
              <a:rPr sz="1800" b="0">
                <a:solidFill>
                  <a:srgbClr val="1C1C1C"/>
                </a:solidFill>
                <a:latin typeface="Calibri"/>
              </a:rPr>
              <a:t>First 24 hours still count: hemorrhage from a weak ligature, or hernia from a weak linea.</a:t>
            </a:r>
          </a:p>
        </p:txBody>
      </p:sp>
      <p:sp>
        <p:nvSpPr>
          <p:cNvPr id="32" name="Rectangle 31"/>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34" name="TextBox 33"/>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37  /  38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37744"/>
            <a:ext cx="11155680" cy="256032"/>
          </a:xfrm>
          <a:prstGeom prst="rect">
            <a:avLst/>
          </a:prstGeom>
          <a:noFill/>
        </p:spPr>
        <p:txBody>
          <a:bodyPr wrap="square" anchor="t"/>
          <a:lstStyle/>
          <a:p>
            <a:pPr algn="l"/>
            <a:r>
              <a:rPr sz="1400" b="1">
                <a:solidFill>
                  <a:srgbClr val="C5A35A"/>
                </a:solidFill>
                <a:latin typeface="Calibri"/>
              </a:rPr>
              <a:t>DVM 612  ·  PRINCIPLES OF SURGERY</a:t>
            </a:r>
          </a:p>
        </p:txBody>
      </p:sp>
      <p:sp>
        <p:nvSpPr>
          <p:cNvPr id="6" name="TextBox 5"/>
          <p:cNvSpPr txBox="1"/>
          <p:nvPr/>
        </p:nvSpPr>
        <p:spPr>
          <a:xfrm>
            <a:off x="502920" y="475488"/>
            <a:ext cx="11155680" cy="438912"/>
          </a:xfrm>
          <a:prstGeom prst="rect">
            <a:avLst/>
          </a:prstGeom>
          <a:noFill/>
        </p:spPr>
        <p:txBody>
          <a:bodyPr wrap="square" anchor="t"/>
          <a:lstStyle/>
          <a:p>
            <a:pPr algn="l"/>
            <a:r>
              <a:rPr sz="2800" b="1">
                <a:solidFill>
                  <a:srgbClr val="FFFFFF"/>
                </a:solidFill>
                <a:latin typeface="Calibri"/>
              </a:rPr>
              <a:t>Questions</a:t>
            </a:r>
          </a:p>
        </p:txBody>
      </p:sp>
      <p:sp>
        <p:nvSpPr>
          <p:cNvPr id="7" name="TextBox 6"/>
          <p:cNvSpPr txBox="1"/>
          <p:nvPr/>
        </p:nvSpPr>
        <p:spPr>
          <a:xfrm>
            <a:off x="502920" y="932688"/>
            <a:ext cx="11155680" cy="640080"/>
          </a:xfrm>
          <a:prstGeom prst="rect">
            <a:avLst/>
          </a:prstGeom>
          <a:noFill/>
        </p:spPr>
        <p:txBody>
          <a:bodyPr wrap="square" anchor="t"/>
          <a:lstStyle/>
          <a:p>
            <a:pPr algn="l"/>
            <a:r>
              <a:rPr sz="1600" b="0">
                <a:solidFill>
                  <a:srgbClr val="F4EBD3"/>
                </a:solidFill>
                <a:latin typeface="Calibri"/>
              </a:rPr>
              <a:t>When is the patient ready for clippers?
What do you write before the first IM or SQ premed?</a:t>
            </a:r>
          </a:p>
        </p:txBody>
      </p:sp>
      <p:sp>
        <p:nvSpPr>
          <p:cNvPr id="8" name="TextBox 7"/>
          <p:cNvSpPr txBox="1"/>
          <p:nvPr/>
        </p:nvSpPr>
        <p:spPr>
          <a:xfrm>
            <a:off x="502920" y="1627632"/>
            <a:ext cx="11155680" cy="292608"/>
          </a:xfrm>
          <a:prstGeom prst="rect">
            <a:avLst/>
          </a:prstGeom>
          <a:noFill/>
        </p:spPr>
        <p:txBody>
          <a:bodyPr wrap="square" anchor="t"/>
          <a:lstStyle/>
          <a:p>
            <a:pPr algn="l"/>
            <a:r>
              <a:rPr sz="1400" b="1">
                <a:solidFill>
                  <a:srgbClr val="C5A35A"/>
                </a:solidFill>
                <a:latin typeface="Calibri"/>
              </a:rPr>
              <a:t>References  (course texts, guidelines, labels, and papers used in this hour)</a:t>
            </a:r>
          </a:p>
        </p:txBody>
      </p:sp>
      <p:sp>
        <p:nvSpPr>
          <p:cNvPr id="9" name="TextBox 8"/>
          <p:cNvSpPr txBox="1"/>
          <p:nvPr/>
        </p:nvSpPr>
        <p:spPr>
          <a:xfrm>
            <a:off x="502920" y="1938528"/>
            <a:ext cx="5532120" cy="4160520"/>
          </a:xfrm>
          <a:prstGeom prst="rect">
            <a:avLst/>
          </a:prstGeom>
          <a:noFill/>
        </p:spPr>
        <p:txBody>
          <a:bodyPr wrap="square" anchor="t"/>
          <a:lstStyle/>
          <a:p>
            <a:pPr algn="l"/>
            <a:r>
              <a:rPr sz="1300" b="0">
                <a:solidFill>
                  <a:srgbClr val="FFFFFF"/>
                </a:solidFill>
                <a:latin typeface="Calibri"/>
              </a:rPr>
              <a:t>1. Fossum TW. Small Animal Surgery. 5th ed. Elsevier; 2018. ISBN 978-0-323-44344-9. Ch. 4, 5, 6, 9.
2. Hendrickson DA, Baird AN. Turner and McIlwraith’s Techniques in Large Animal Surgery. 4th ed. Wiley-Blackwell; 2013. ISBN 978-1-118-27323-4.
3. Johnston SA, Tobias KM. Veterinary Surgery: Small Animal. 2nd ed. Elsevier Saunders; 2017. ISBN 978-0-323-32065-8.
4. Grubb T, Sager J, Gaynor JS, Montgomery E, Parker JA, Shafford H, Tearney C. 2020 AAHA Anesthesia and Monitoring Guidelines for Dogs and Cats. J Am Anim Hosp Assoc. 2020;56(2):59–82.
5. Frey E, Costin M, Granick J, Kornya M, Weese JS. 2022 AAFP/AAHA Antimicrobial Stewardship Guidelines. J Am Anim Hosp Assoc. 2022;58(4):1–5.
6. Roberts SM, Severin GA, Lavach JD. Am J Vet Res. 1986;47(6):1207–1210.</a:t>
            </a:r>
          </a:p>
        </p:txBody>
      </p:sp>
      <p:sp>
        <p:nvSpPr>
          <p:cNvPr id="10" name="TextBox 9"/>
          <p:cNvSpPr txBox="1"/>
          <p:nvPr/>
        </p:nvSpPr>
        <p:spPr>
          <a:xfrm>
            <a:off x="6172200" y="1938528"/>
            <a:ext cx="5532120" cy="4160520"/>
          </a:xfrm>
          <a:prstGeom prst="rect">
            <a:avLst/>
          </a:prstGeom>
          <a:noFill/>
        </p:spPr>
        <p:txBody>
          <a:bodyPr wrap="square" anchor="t"/>
          <a:lstStyle/>
          <a:p>
            <a:pPr algn="l"/>
            <a:r>
              <a:rPr sz="1300" b="0">
                <a:solidFill>
                  <a:srgbClr val="FFFFFF"/>
                </a:solidFill>
                <a:latin typeface="Calibri"/>
              </a:rPr>
              <a:t>7. Whittem TL, Johnson AL, Smith CW, et al. J Am Vet Med Assoc. 1999;215(2):212–216.
8. Gonzalez OJ, Renberg WC, Roush JK, KuKanich B, Warner M. Am J Vet Res. 2017;78(6):695–701.
9. BETADINE Surgical Scrub Veterinary. 7.5% povidone-iodine. DailyMed NDC 67618-154. Lather about 5 min, rinse, paint Solution Veterinary, dry.
10. BETADINE Solution Veterinary. 5% povidone-iodine (not 10%). DailyMed NDC 67618-155.
11. Nolvasan Surgical Scrub. 2% chlorhexidine acetate. DailyMed NDC 54771-8701.
12. ECFVG. CPE Manual of Administration. 2026 ed. Anesthesia; Surgery.
13. Pardo et al. 2024 AAHA Fluid Therapy. JAAHA. 2024;60:131–163.</a:t>
            </a:r>
          </a:p>
        </p:txBody>
      </p:sp>
      <p:sp>
        <p:nvSpPr>
          <p:cNvPr id="11" name="TextBox 10"/>
          <p:cNvSpPr txBox="1"/>
          <p:nvPr/>
        </p:nvSpPr>
        <p:spPr>
          <a:xfrm>
            <a:off x="502920" y="6144768"/>
            <a:ext cx="11155680" cy="292608"/>
          </a:xfrm>
          <a:prstGeom prst="rect">
            <a:avLst/>
          </a:prstGeom>
          <a:noFill/>
        </p:spPr>
        <p:txBody>
          <a:bodyPr wrap="square" anchor="t"/>
          <a:lstStyle/>
          <a:p>
            <a:pPr algn="l"/>
            <a:r>
              <a:rPr sz="1400" b="0">
                <a:solidFill>
                  <a:srgbClr val="C5A35A"/>
                </a:solidFill>
                <a:latin typeface="Calibri"/>
              </a:rPr>
              <a:t>Dr. Yujin Kim, D.V.M., Ph.D., FFCP  ·  Lewyt CVM  ·  Long Island University</a:t>
            </a:r>
          </a:p>
        </p:txBody>
      </p:sp>
      <p:sp>
        <p:nvSpPr>
          <p:cNvPr id="12" name="TextBox 11"/>
          <p:cNvSpPr txBox="1"/>
          <p:nvPr/>
        </p:nvSpPr>
        <p:spPr>
          <a:xfrm>
            <a:off x="10241280" y="6565392"/>
            <a:ext cx="1554480" cy="292608"/>
          </a:xfrm>
          <a:prstGeom prst="rect">
            <a:avLst/>
          </a:prstGeom>
          <a:noFill/>
        </p:spPr>
        <p:txBody>
          <a:bodyPr wrap="square" anchor="ctr"/>
          <a:lstStyle/>
          <a:p>
            <a:pPr algn="r"/>
            <a:r>
              <a:rPr sz="1200" b="0">
                <a:solidFill>
                  <a:srgbClr val="C5A35A"/>
                </a:solidFill>
                <a:latin typeface="Calibri"/>
              </a:rPr>
              <a:t>38  /  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