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Next two slides: CBC/chem and EPOC numbers mapped onto ASA Status. They inform the number; they do not replace the 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Do not call a venous pO2 of 33 an arterial Status 4. Whole-patient Status was still 4-E from the kidneys. Willie did not need an EPOC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a real clip in progress and still too narrow — that is the teaching point. Right photo is a real 24-hour OHE: the clip is the field you needed yesterday. Willie: TECA field is pinna and skull, not abdomen. MoMo never reached clippers.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choice for trunk skin when not contraindicated. Willie’s left ear is exactly where CHG and aminoglycosides can harm a swollen drum and middle ear.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No open-license spiral-prep photograph was available; this stays a diagram. Real clip, drape, anesthesia, and recovery photos are adjacent.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dog in dorsal recumbency. Point: airway and monitoring are on before the clip. Over-splitting femurs is a student habit. GDV positioning can worsen caval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gown/mask/drape are present, but hair is still at the window — that is the fail. Right is a real sterile field.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closed gloving. Students name SpO2, ETCO2, ECG, temp, fluids off the real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24-hour OHE. 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and why only Willie was anesthetized.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617720"/>
            <a:ext cx="10972800" cy="411480"/>
          </a:xfrm>
          <a:prstGeom prst="rect">
            <a:avLst/>
          </a:prstGeom>
          <a:noFill/>
        </p:spPr>
        <p:txBody>
          <a:bodyPr wrap="square" anchor="t"/>
          <a:lstStyle/>
          <a:p>
            <a:pPr algn="l"/>
            <a:r>
              <a:rPr sz="2200" b="1">
                <a:solidFill>
                  <a:srgbClr val="C5A35A"/>
                </a:solidFill>
                <a:latin typeface="Calibri"/>
              </a:rPr>
              <a:t>Dr. Yujin Kim, D.V.M., Ph.D., FFCP</a:t>
            </a:r>
          </a:p>
        </p:txBody>
      </p:sp>
      <p:sp>
        <p:nvSpPr>
          <p:cNvPr id="9" name="TextBox 8"/>
          <p:cNvSpPr txBox="1"/>
          <p:nvPr/>
        </p:nvSpPr>
        <p:spPr>
          <a:xfrm>
            <a:off x="685800" y="5029200"/>
            <a:ext cx="10972800" cy="320040"/>
          </a:xfrm>
          <a:prstGeom prst="rect">
            <a:avLst/>
          </a:prstGeom>
          <a:noFill/>
        </p:spPr>
        <p:txBody>
          <a:bodyPr wrap="square" anchor="t"/>
          <a:lstStyle/>
          <a:p>
            <a:pPr algn="l"/>
            <a:r>
              <a:rPr sz="1600" b="0">
                <a:solidFill>
                  <a:srgbClr val="F4EBD3"/>
                </a:solidFill>
                <a:latin typeface="Calibri"/>
              </a:rPr>
              <a:t>Lecture  |  60 minutes</a:t>
            </a:r>
          </a:p>
        </p:txBody>
      </p:sp>
      <p:sp>
        <p:nvSpPr>
          <p:cNvPr id="10" name="TextBox 9"/>
          <p:cNvSpPr txBox="1"/>
          <p:nvPr/>
        </p:nvSpPr>
        <p:spPr>
          <a:xfrm>
            <a:off x="685800" y="539496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1" name="TextBox 10"/>
          <p:cNvSpPr txBox="1"/>
          <p:nvPr/>
        </p:nvSpPr>
        <p:spPr>
          <a:xfrm>
            <a:off x="685800" y="6053328"/>
            <a:ext cx="10972800" cy="292608"/>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2" name="TextBox 11"/>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 — this is the wording to memorize</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 vestibular +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WORKING TEACHING TABLE  ·  THESE BANDS INFORM STATUS; THEY DO NOT ASSIGN IT BY THEMSELVES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THE PHYSICAL EXAM STILL OWNS THE NUMBER.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Put both patients on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 labs look quieter than the dog</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 mild ↑ (Status 2).
Glucose 130 — stress (Status 2 band).
Kidneys, liver, electrolytes normal.
No EPOC indicated for this ear clean.
ASA Status 3-E anyway: acute vestibular disease, severe AS otitis, murmur. Do not down-stage him because the chemistry is pretty.</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 labs and EPOC support Status 4-E</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~26K with neutrophilia — Status 3–4 inflammatory band.
Platelets 74 K — Status 3.
Creatinine 3.0 → 4.71; BUN 49.7 → 100 — Status 4 (severe ↑ + uremia).
Phosphorus 8.0 — Status 3–4.
EPOC pH 7.255 (Status 3); BE −7.4 (Status 2); lactate 2.05 (Status 1).
Venous pO2 33 is not arterial hypoxemia.
Whole patient = Status 4-E.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PHOTOGRAPHS  ·  #40 CLIPPER, NOT RAZOR  ·  FIELD WIDE ENOUGH TO EXTEND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Too narrow — hair still at the margin</a:t>
            </a:r>
          </a:p>
        </p:txBody>
      </p:sp>
      <p:pic>
        <p:nvPicPr>
          <p:cNvPr id="10" name="Picture 9" descr="clip_cat.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24 h after OHE — this is the clip you needed</a:t>
            </a:r>
          </a:p>
        </p:txBody>
      </p:sp>
      <p:pic>
        <p:nvPicPr>
          <p:cNvPr id="13" name="Picture 12" descr="spay_incision.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Xiphoid (or slightly cranial) to pubis, widely lateral past the nipples — a rectangle, not a bikini strip. Clip with the grain, then against, to the skin. Vacuum. ~20 cm beyond the planned incision. Do not clip the night before. Razor = micro-nicks = higher SSI. Airway in and depth adequate BEFORE the clippers start.
Photos: Uwe Gille, CC0 (cat clip); Liannadavis, CC BY-SA 4.0 (OHE incision).</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TECHNIQUE DIAGRAM  ·  CENTER → PERIPHERY  ·  REAL PHOTOS ARE ON THE CLIP AND DRAPE SLIDES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Typical teaching: timed 3–5 min or product cycles, then a final paint.</a:t>
            </a:r>
          </a:p>
          <a:p>
            <a:pPr algn="l">
              <a:spcAft>
                <a:spcPts val="600"/>
              </a:spcAft>
            </a:pPr>
            <a:r>
              <a:rPr sz="1300" b="0">
                <a:solidFill>
                  <a:srgbClr val="1C1C1C"/>
                </a:solidFill>
                <a:latin typeface="Calibri"/>
              </a:rPr>
              <a:t>▸  Damp-to-dry, not a lake.</a:t>
            </a:r>
          </a:p>
          <a:p>
            <a:pPr algn="l">
              <a:spcAft>
                <a:spcPts val="600"/>
              </a:spcAft>
            </a:pPr>
            <a:r>
              <a:rPr sz="1300" b="0">
                <a:solidFill>
                  <a:srgbClr val="1C1C1C"/>
                </a:solidFill>
                <a:latin typeface="Calibri"/>
              </a:rPr>
              <a:t>▸  CHG off the cornea and out of the middle ear — Willie’s swollen drum.</a:t>
            </a:r>
          </a:p>
          <a:p>
            <a:pPr algn="l">
              <a:spcAft>
                <a:spcPts val="600"/>
              </a:spcAft>
            </a:pPr>
            <a:r>
              <a:rPr sz="1300" b="0">
                <a:solidFill>
                  <a:srgbClr val="1C1C1C"/>
                </a:solidFill>
                <a:latin typeface="Calibri"/>
              </a:rPr>
              <a:t>▸  This spiral is a diagram. The clip and drape slides are real clinic photographs.</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OR PHOTOGRAPH  ·  DORSAL RECUMBENCY, AIRWAY, IV, MONITORING, V-TROUGH</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600" b="1">
                <a:solidFill>
                  <a:srgbClr val="0B2C4A"/>
                </a:solidFill>
                <a:latin typeface="Calibri"/>
              </a:rPr>
              <a:t>Name what you see</a:t>
            </a:r>
          </a:p>
        </p:txBody>
      </p:sp>
      <p:sp>
        <p:nvSpPr>
          <p:cNvPr id="11" name="TextBox 10"/>
          <p:cNvSpPr txBox="1"/>
          <p:nvPr/>
        </p:nvSpPr>
        <p:spPr>
          <a:xfrm>
            <a:off x="8275320" y="1645920"/>
            <a:ext cx="3429000" cy="4572000"/>
          </a:xfrm>
          <a:prstGeom prst="rect">
            <a:avLst/>
          </a:prstGeom>
          <a:noFill/>
        </p:spPr>
        <p:txBody>
          <a:bodyPr wrap="square" anchor="t"/>
          <a:lstStyle/>
          <a:p>
            <a:pPr algn="l"/>
            <a:r>
              <a:rPr sz="1400" b="0">
                <a:solidFill>
                  <a:srgbClr val="1C1C1C"/>
                </a:solidFill>
                <a:latin typeface="Calibri"/>
              </a:rPr>
              <a:t>• ET tube + pulse ox
• IV catheter + fluids
• Anesthesia machine
• V-trough / padding
• Ties that are not tourniquets
• Abdomen not yet clipped — that is next, after a surgical plane
Do not over-split the hips.
Eyes lubricated. Tube not kinked.
Photo: Anja,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PHOTOGRAPHS  ·  GOWN, GLOVE, BOX THE FIELD, THEN THE LARGE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Draping — hair at the edge fails the prep</a:t>
            </a:r>
          </a:p>
        </p:txBody>
      </p:sp>
      <p:sp>
        <p:nvSpPr>
          <p:cNvPr id="8" name="Rounded Rectangle 7"/>
          <p:cNvSpPr/>
          <p:nvPr/>
        </p:nvSpPr>
        <p:spPr>
          <a:xfrm>
            <a:off x="365760" y="1005840"/>
            <a:ext cx="56692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347472"/>
          </a:xfrm>
          <a:prstGeom prst="rect">
            <a:avLst/>
          </a:prstGeom>
          <a:noFill/>
        </p:spPr>
        <p:txBody>
          <a:bodyPr wrap="square" anchor="ctr"/>
          <a:lstStyle/>
          <a:p>
            <a:pPr algn="ctr"/>
            <a:r>
              <a:rPr sz="1300" b="1">
                <a:solidFill>
                  <a:srgbClr val="FFFFFF"/>
                </a:solidFill>
                <a:latin typeface="Calibri"/>
              </a:rPr>
              <a:t>Real OHE — hair still at the drape</a:t>
            </a:r>
          </a:p>
        </p:txBody>
      </p:sp>
      <p:pic>
        <p:nvPicPr>
          <p:cNvPr id="10" name="Picture 9" descr="cherry_point_spay.jpg"/>
          <p:cNvPicPr>
            <a:picLocks noChangeAspect="1"/>
          </p:cNvPicPr>
          <p:nvPr/>
        </p:nvPicPr>
        <p:blipFill>
          <a:blip r:embed="rId2"/>
          <a:stretch>
            <a:fillRect/>
          </a:stretch>
        </p:blipFill>
        <p:spPr>
          <a:xfrm>
            <a:off x="365760" y="1371600"/>
            <a:ext cx="5669280" cy="3246120"/>
          </a:xfrm>
          <a:prstGeom prst="rect">
            <a:avLst/>
          </a:prstGeom>
        </p:spPr>
      </p:pic>
      <p:sp>
        <p:nvSpPr>
          <p:cNvPr id="11" name="Rounded Rectangle 10"/>
          <p:cNvSpPr/>
          <p:nvPr/>
        </p:nvSpPr>
        <p:spPr>
          <a:xfrm>
            <a:off x="6172200" y="1005840"/>
            <a:ext cx="5669280" cy="347472"/>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347472"/>
          </a:xfrm>
          <a:prstGeom prst="rect">
            <a:avLst/>
          </a:prstGeom>
          <a:noFill/>
        </p:spPr>
        <p:txBody>
          <a:bodyPr wrap="square" anchor="ctr"/>
          <a:lstStyle/>
          <a:p>
            <a:pPr algn="ctr"/>
            <a:r>
              <a:rPr sz="1300" b="1">
                <a:solidFill>
                  <a:srgbClr val="FFFFFF"/>
                </a:solidFill>
                <a:latin typeface="Calibri"/>
              </a:rPr>
              <a:t>Real sterile field — gown, glove, drape</a:t>
            </a:r>
          </a:p>
        </p:txBody>
      </p:sp>
      <p:pic>
        <p:nvPicPr>
          <p:cNvPr id="13" name="Picture 12" descr="hektor_drape.jpg"/>
          <p:cNvPicPr>
            <a:picLocks noChangeAspect="1"/>
          </p:cNvPicPr>
          <p:nvPr/>
        </p:nvPicPr>
        <p:blipFill>
          <a:blip r:embed="rId3"/>
          <a:stretch>
            <a:fillRect/>
          </a:stretch>
        </p:blipFill>
        <p:spPr>
          <a:xfrm>
            <a:off x="6172200" y="1371600"/>
            <a:ext cx="5669280" cy="3246120"/>
          </a:xfrm>
          <a:prstGeom prst="rect">
            <a:avLst/>
          </a:prstGeom>
        </p:spPr>
      </p:pic>
      <p:sp>
        <p:nvSpPr>
          <p:cNvPr id="14" name="Rounded Rectangle 13"/>
          <p:cNvSpPr/>
          <p:nvPr/>
        </p:nvSpPr>
        <p:spPr>
          <a:xfrm>
            <a:off x="365760" y="4736592"/>
            <a:ext cx="11475720" cy="1737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64608"/>
            <a:ext cx="11155680" cy="1463040"/>
          </a:xfrm>
          <a:prstGeom prst="rect">
            <a:avLst/>
          </a:prstGeom>
          <a:noFill/>
        </p:spPr>
        <p:txBody>
          <a:bodyPr wrap="square" anchor="t"/>
          <a:lstStyle/>
          <a:p>
            <a:pPr algn="l"/>
            <a:r>
              <a:rPr sz="1400" b="0">
                <a:solidFill>
                  <a:srgbClr val="1C1C1C"/>
                </a:solidFill>
                <a:latin typeface="Calibri"/>
              </a:rPr>
              <a:t>Four towels box the field (near towel first). Hair must not show at any edge — re-clip or re-drape. Large drape over towels; cuff your hands. Wet-through is contaminated. Hands stay on the field.
Photos: Cpl. Samuel A. Nasso, U.S. Marine Corps, public domain (left); MSgt Carlotta Holley, U.S. Air Force, public domain (right).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DIAGRAM FOR THE GLOVE  ·  PHOTOGRAPH FOR THE MACHINE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a real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Left: closed-gloving technique diagram (hands stay inside the gown cuffs). Right: real K9 anesthesia — cap, mask, ECG/SpO2/ETCO2 monitors, circle system, IV fluids, airway. Monitoring is on before the first drug. Willie needed this for an ear clean. MoMo never reached induction.
Photo: MSgt Carlotta Holley, U.S. Air Force, public domain.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CLINIC PHOTOGRAPH  ·  E-COLLAR, IV, CLIPPED ABDOMEN, NOT LEFT ALONE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02336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Willie: no NSAID after DexSP.</a:t>
            </a:r>
          </a:p>
        </p:txBody>
      </p:sp>
      <p:sp>
        <p:nvSpPr>
          <p:cNvPr id="12" name="TextBox 11"/>
          <p:cNvSpPr txBox="1"/>
          <p:nvPr/>
        </p:nvSpPr>
        <p:spPr>
          <a:xfrm>
            <a:off x="8046720" y="5806440"/>
            <a:ext cx="3657600" cy="502920"/>
          </a:xfrm>
          <a:prstGeom prst="rect">
            <a:avLst/>
          </a:prstGeom>
          <a:noFill/>
        </p:spPr>
        <p:txBody>
          <a:bodyPr wrap="square" anchor="t"/>
          <a:lstStyle/>
          <a:p>
            <a:pPr algn="l"/>
            <a:r>
              <a:rPr sz="1100" b="0">
                <a:solidFill>
                  <a:srgbClr val="5B646E"/>
                </a:solidFill>
                <a:latin typeface="Calibri"/>
              </a:rPr>
              <a:t>Photo: Anja, CC BY-SA 4.0.</a:t>
            </a:r>
          </a:p>
        </p:txBody>
      </p:sp>
      <p:sp>
        <p:nvSpPr>
          <p:cNvPr id="13" name="Rectangle 1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5" name="TextBox 1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REAL 24-HOUR OHE PHOTOGRAPH  ·  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pic>
        <p:nvPicPr>
          <p:cNvPr id="8" name="Picture 7" descr="spay_incision.jpg"/>
          <p:cNvPicPr>
            <a:picLocks noChangeAspect="1"/>
          </p:cNvPicPr>
          <p:nvPr/>
        </p:nvPicPr>
        <p:blipFill>
          <a:blip r:embed="rId2"/>
          <a:stretch>
            <a:fillRect/>
          </a:stretch>
        </p:blipFill>
        <p:spPr>
          <a:xfrm>
            <a:off x="365760" y="1024128"/>
            <a:ext cx="5852160" cy="5440680"/>
          </a:xfrm>
          <a:prstGeom prst="rect">
            <a:avLst/>
          </a:prstGeom>
        </p:spPr>
      </p:pic>
      <p:sp>
        <p:nvSpPr>
          <p:cNvPr id="9" name="Rounded Rectangle 8"/>
          <p:cNvSpPr/>
          <p:nvPr/>
        </p:nvSpPr>
        <p:spPr>
          <a:xfrm>
            <a:off x="6355080" y="1024128"/>
            <a:ext cx="5440680"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1170432"/>
            <a:ext cx="5074920" cy="365760"/>
          </a:xfrm>
          <a:prstGeom prst="rect">
            <a:avLst/>
          </a:prstGeom>
          <a:noFill/>
        </p:spPr>
        <p:txBody>
          <a:bodyPr wrap="square" anchor="t"/>
          <a:lstStyle/>
          <a:p>
            <a:pPr algn="l"/>
            <a:r>
              <a:rPr sz="1600" b="1">
                <a:solidFill>
                  <a:srgbClr val="0B2C4A"/>
                </a:solidFill>
                <a:latin typeface="Calibri"/>
              </a:rPr>
              <a:t>Protect it</a:t>
            </a:r>
          </a:p>
        </p:txBody>
      </p:sp>
      <p:sp>
        <p:nvSpPr>
          <p:cNvPr id="11" name="TextBox 10"/>
          <p:cNvSpPr txBox="1"/>
          <p:nvPr/>
        </p:nvSpPr>
        <p:spPr>
          <a:xfrm>
            <a:off x="6492240" y="1600200"/>
            <a:ext cx="5120640" cy="4297680"/>
          </a:xfrm>
          <a:prstGeom prst="rect">
            <a:avLst/>
          </a:prstGeom>
          <a:noFill/>
        </p:spPr>
        <p:txBody>
          <a:bodyPr wrap="square">
            <a:spAutoFit/>
          </a:bodyPr>
          <a:lstStyle/>
          <a:p>
            <a:pPr algn="l">
              <a:spcAft>
                <a:spcPts val="700"/>
              </a:spcAft>
            </a:pPr>
            <a:r>
              <a:rPr sz="1400" b="0">
                <a:solidFill>
                  <a:srgbClr val="1C1C1C"/>
                </a:solidFill>
                <a:latin typeface="Calibri"/>
              </a:rPr>
              <a:t>▸  Look twice daily: swelling, discharge, gapping, smell, heat.</a:t>
            </a:r>
          </a:p>
          <a:p>
            <a:pPr algn="l">
              <a:spcAft>
                <a:spcPts val="700"/>
              </a:spcAft>
            </a:pPr>
            <a:r>
              <a:rPr sz="1400" b="0">
                <a:solidFill>
                  <a:srgbClr val="1C1C1C"/>
                </a:solidFill>
                <a:latin typeface="Calibri"/>
              </a:rPr>
              <a:t>▸  E-collar that actually stays on. Licking is the leading student dehiscence.</a:t>
            </a:r>
          </a:p>
          <a:p>
            <a:pPr algn="l">
              <a:spcAft>
                <a:spcPts val="700"/>
              </a:spcAft>
            </a:pPr>
            <a:r>
              <a:rPr sz="1400" b="0">
                <a:solidFill>
                  <a:srgbClr val="1C1C1C"/>
                </a:solidFill>
                <a:latin typeface="Calibri"/>
              </a:rPr>
              <a:t>▸  Leash only. No running, jumping, wrestling, unsupervised stairs.</a:t>
            </a:r>
          </a:p>
          <a:p>
            <a:pPr algn="l">
              <a:spcAft>
                <a:spcPts val="700"/>
              </a:spcAft>
            </a:pPr>
            <a:r>
              <a:rPr sz="1400" b="0">
                <a:solidFill>
                  <a:srgbClr val="1C1C1C"/>
                </a:solidFill>
                <a:latin typeface="Calibri"/>
              </a:rPr>
              <a:t>▸  Usually no daily CHG scrub. Saline if dirty.</a:t>
            </a:r>
          </a:p>
          <a:p>
            <a:pPr algn="l">
              <a:spcAft>
                <a:spcPts val="700"/>
              </a:spcAft>
            </a:pPr>
            <a:r>
              <a:rPr sz="1400" b="0">
                <a:solidFill>
                  <a:srgbClr val="1C1C1C"/>
                </a:solidFill>
                <a:latin typeface="Calibri"/>
              </a:rPr>
              <a:t>▸  Skin sutures typically 10–14 days if healing is routine.</a:t>
            </a:r>
          </a:p>
          <a:p>
            <a:pPr algn="l">
              <a:spcAft>
                <a:spcPts val="700"/>
              </a:spcAft>
            </a:pPr>
            <a:r>
              <a:rPr sz="1400" b="0">
                <a:solidFill>
                  <a:srgbClr val="1C1C1C"/>
                </a:solidFill>
                <a:latin typeface="Calibri"/>
              </a:rPr>
              <a:t>▸  Photo: Liannadavis, CC BY-SA 4.0.</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Alfaxalone only after a surgical plane. Clip/prep the ear if you flush. CHG off the eye and drum. Pad him — he falls. Maintain the airway.</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Closed glove; CHG off the cornea and out of the middle ear; announce contamination.</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700"/>
              </a:spcAft>
            </a:pPr>
            <a:r>
              <a:rPr sz="1400" b="0">
                <a:solidFill>
                  <a:srgbClr val="1C1C1C"/>
                </a:solidFill>
                <a:latin typeface="Calibri"/>
              </a:rPr>
              <a:t>▸  Fossum T.W. Small Animal Surgery. 5th ed. Elsevier; 2018. Preoperative evaluation, patient preparation, postoperative care.</a:t>
            </a:r>
          </a:p>
          <a:p>
            <a:pPr algn="l">
              <a:spcAft>
                <a:spcPts val="700"/>
              </a:spcAft>
            </a:pPr>
            <a:r>
              <a:rPr sz="1400" b="0">
                <a:solidFill>
                  <a:srgbClr val="1C1C1C"/>
                </a:solidFill>
                <a:latin typeface="Calibri"/>
              </a:rPr>
              <a:t>▸  Hendrickson D.A., Baird A.N. Turner and McIlwraith’s Techniques in Large Animal Surgery. 4th ed. Wiley-Blackwell; 2013.</a:t>
            </a:r>
          </a:p>
          <a:p>
            <a:pPr algn="l">
              <a:spcAft>
                <a:spcPts val="700"/>
              </a:spcAft>
            </a:pPr>
            <a:r>
              <a:rPr sz="1400" b="0">
                <a:solidFill>
                  <a:srgbClr val="1C1C1C"/>
                </a:solidFill>
                <a:latin typeface="Calibri"/>
              </a:rPr>
              <a:t>▸  Johnston S.A., Tobias K.M. Veterinary Surgery: Small Animal. 2nd ed. Elsevier; 2017.</a:t>
            </a:r>
          </a:p>
          <a:p>
            <a:pPr algn="l">
              <a:spcAft>
                <a:spcPts val="700"/>
              </a:spcAft>
            </a:pPr>
            <a:r>
              <a:rPr sz="1400" b="0">
                <a:solidFill>
                  <a:srgbClr val="1C1C1C"/>
                </a:solidFill>
                <a:latin typeface="Calibri"/>
              </a:rPr>
              <a:t>▸  AAHA/AAFP Antimicrobial Stewardship Guidelines, 2022 — surgical prophylaxis.</a:t>
            </a:r>
          </a:p>
          <a:p>
            <a:pPr algn="l">
              <a:spcAft>
                <a:spcPts val="700"/>
              </a:spcAft>
            </a:pPr>
            <a:r>
              <a:rPr sz="1400" b="0">
                <a:solidFill>
                  <a:srgbClr val="1C1C1C"/>
                </a:solidFill>
                <a:latin typeface="Calibri"/>
              </a:rPr>
              <a:t>▸  AAHA Anesthesia and Monitoring Guidelines (current edition) — fasting, PE, monitoring, recovery.</a:t>
            </a:r>
          </a:p>
          <a:p>
            <a:pPr algn="l">
              <a:spcAft>
                <a:spcPts val="700"/>
              </a:spcAft>
            </a:pPr>
            <a:r>
              <a:rPr sz="1400" b="0">
                <a:solidFill>
                  <a:srgbClr val="1C1C1C"/>
                </a:solidFill>
                <a:latin typeface="Calibri"/>
              </a:rPr>
              <a:t>▸  Clinical photographs (open license or U.S. government work): Uwe Gille (CC0); Anja (CC BY-SA 4.0); Liannadavis (CC BY-SA 4.0); Cpl. Samuel A. Nasso, USMC (public domain); MSgt Carlotta Holley, USAF (public domain). Closed-gloving and spiral-prep figures are technique diagrams, not clinic photographs.</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why did only one of them get anesthetized?</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