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hour is preoperative evaluation, patient and surgeon preparation, and postoperative care. Two real patients from the same hospital. Willie, a 6-year 11-month MN Cavalier, 13.7 kg, acute vestibular crisis plus left otitis. We sedated him. MoMo, a 6-year SF DSH, 4.25 kg, vomiting that looked like a foreign-body surgery. Imaging cancelled the exploratory. Assign both ASA statuses. Owner identifiers stay off these slides. Thirty-eight slides. If discussion runs, protect antiseptics, both cases, and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five objectives aloud. Timer: protect Part II (prep pictures) and both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closure that hemorrhages in recovery is a failed surgery. The first 24 hours are part of the operation.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move. Every Halsted principle has a preop or postop action, not just an intraoperative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Anesthesia prepares the patient for surgical prep. Surgery owns prep through the last skin suture. Both own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jobs. Students often skip #3 and #4. Do your own PE, then use technician vitals as a second set of numbers. Order: examine, then premedicate.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Status 1, then 3, then 4 slowly. E means emergency. Next: four 60-second cases, then Willie (3-E, we sedated) and MoMo (4-E, exploratory cancelled).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Cold-call four students. C is Willie (sedation). D is MoMo (exploratory cancelled).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Record the murmur. Right-sided knuckling with left circling: treat as central vestibular plus otitis, then sedate. Aminoglycosides are a risk if the middle ear is involved even when the drum looks present. Skip NSAID after DexSP.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MoMo is the cat whose films looked like maybe GI and were kidneys. Cold-call: who would have clipped her on history alone? Be respectful; this cat died. The teaching point is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Request labs that change the plan. They inform the ASA number. Today’s PE writes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seconds. Point at PCV, platelets, creatinine, potassium. Willie: CBC essentially Status 1. His Status 3-E is the vestibular exam. MoMo: WBC ~26 and creatinine 3.0 then 4.71.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want to average the columns. The worst compensated vital-system problem that is a constant threat sets the floor. MoMo’s kidneys set Status 4. Willie’s neuro exam set Status 3 even with a normal CBC.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Resuscitate first, then clip. Delay elective OHE for pyoderma. Take GDV to surgery after resuscitation. MoMo: image and run labs, then cancel the exploratory.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Grubb et al., 2020 AAHA Anesthesia and Monitoring Guidelines: healthy adults, food 4 to 6 hours, water until premedication. Neonates and patients under 2 kg: food fast no longer than 1 to 2 hours. A 2-minute risk talk prevents a 2-hour complaint. Mention DNR.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takes 90 seconds and prevents wrong-site and forgotten cefazolin. Locals are underused.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header: ASA III-E is written before alfaxalone. DexSP means skip NSAID. Grid every 5 minutes while sedated. Recovery boxes are part of the same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 is not only for patients who get clipped. Recording the cancellation is a surgical document. Say it once, respectfully, then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attribute 22 mg/kg every 90 minutes to AAHA 2022. That guideline says when: 30 to 60 minutes before incision, skip clean OHE, stop postop. Whittem 1999 timed a second dose if surgery lasted more than 90 minutes. Gonzalez 2017 used 22 mg/kg IV. Elective canine OHE: skip the 14-day cephalexin prescription.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Airway and plane before clippers. Veterinary Betadine labels: 7.5% scrub, lather about 5 minutes, rinse, paint 5% Solution Veterinary, allow to dry. Eye: Roberts 1986, 1:50 of 10% PVP-I stock, 2-minute scrub plus 2-minute soak. Do not paint 10% from the veterinary bottle; that bottle is 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photo is still too narrow. Right is a real 24-hour OHE. Willie: TECA field is pinna and skull. MoMo: skip the clippers.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bottle math on the board. Veterinary Betadine Solution is 5 percent, not 10 percent. Roberts 1986: 1 to 50 of 10 percent stock, 2-minute scrub plus 2-minute soak. One case of corneal edema at 1 to 2. Nolvasan: 2 percent CHG acetate, wash 2 to 4 minutes, keep out of eyes. Willie: swollen tympanum. Canal and periocular mucosa: detergent-free dilute PVP-I, not 7.5 percent scrub.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Mime the spiral. Clock about 5 minutes for veterinary Betadine scrub on intact skin. Recite Roberts 1 to 50 of 10 percent stock for the eye: 2 minutes plus 2 minutes. If the bottle is 5 percent veterinary solution, 1 to 25 matches 0.2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Airway and monitoring are on before the clip. Keep hips in a neutral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is a real spay with hair at the window. Re-clip or re-drape. Then timeout before you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out closed gloving. Students name SpO2, ETCO2, ECG, temp, fluids off the workstation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Praise the person who says I just contaminated my sleeve. Then re-glove. Ureter injury is a calm, well-exposed patient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B is Roberts 1986 bottle math. D is CHG off the cornea. C is the stabilize-first cat.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recovery: e-collar, IV, clipped abdomen. Pale OHE: stay at the cage, return to OR if unstable.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should be able to fill this after a spay. Photograph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Licking and unsupervised running are the two discharge failures after otherwise adequate closure.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Hemorrhage versus seroma. Skin versus fascial dehiscence. Evisceration protocol in one breath.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2 a.m. someone opens this record because the abdomen is swelling. They need ligatures, sponge count, linea suture, and whether the client was called.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Pale gums + distended abdomen after OHE: come now. Return to 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Willie without questions until the end. Then one sentence on MoMo: the same hour of preoperative evaluation cancelled her exploratory.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content slide if time is gone. Healthy Lab OHE is only the ASA I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here if time is gone. They should defend Willie III-E and MoMo IV-E without looking.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questions. If none: Willie versus MoMo ASA, then iodine: Roberts 1 to 50 of 10 percent stock, 2 minutes plus 2 minutes on the eye; intact skin is the 7.5 percent scrub for about 5 minutes then 5 percent veterinary paint. Dismiss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C5A35A"/>
                </a:solidFill>
                <a:latin typeface="Calibri"/>
              </a:rPr>
              <a:t>LONG ISLAND UNIVERSITY  ·  LEWYT COLLEGE OF VETERINARY MEDICINE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F4EBD3"/>
                </a:solidFill>
                <a:latin typeface="Calibri"/>
              </a:rPr>
              <a:t>DVM 612  ·  PRINCIPLES OF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9728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Preoperative Evaluation,
Patient Preparation &amp;
Postoperative 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17720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C5A35A"/>
                </a:solidFill>
                <a:latin typeface="Calibri"/>
              </a:rPr>
              <a:t>Dr. Yujin Kim, D.V.M., Ph.D., FFCP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F4EBD3"/>
                </a:solidFill>
                <a:latin typeface="Calibri"/>
              </a:rPr>
              <a:t>Lecture  |  38 slides  |  60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394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Preoperative evaluation · patient and surgeon preparation · postoperative care.
Two hospital cases: Willie (Cavalier, ASA III-E) and MoMo (cat, ASA IV-E; exploratory cancelled).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533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5A35A"/>
                </a:solidFill>
                <a:latin typeface="Calibri"/>
              </a:rPr>
              <a:t>Required reading: Fossum, Small Animal Surgery, 5th ed. (2018)  ·  Hendrickson &amp; Baird (2013)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C5A35A"/>
                </a:solidFill>
                <a:latin typeface="Calibri"/>
              </a:rPr>
              <a:t>1  /  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DVM 612 WEEK 4  ·  38 SLIDES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Learning 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11155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Perform a preoperative evaluation, assign an ASA status, and decide whether to proceed, delay, or stabilize.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Build a peri-operative plan: fasting, analgesia, antimicrobial prophylaxis, consent, and checklist.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Prepare the patient and surgeon for aseptic surgery: clip, labeled antiseptic contact times, dilute 10% PVP-I 1:50 for the eye (Roberts 1986), four-quadrant drape, gown, closed glove.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Recognize and correct a break in asepsis before and after the incision is made.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Write a postoperative plan, surgical report elements, and client discharge instructions, including 24-hour emergency criteria.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074920"/>
            <a:ext cx="11247120" cy="1325880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16636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B2C4A"/>
                </a:solidFill>
                <a:latin typeface="Calibri"/>
              </a:rPr>
              <a:t>Hour  ·  0–20 min preop and both cases  ·  20–40 min clip, antiseptic, drape  ·  40–57 min recovery and discharge  ·  57–60 min Willie vs MoMo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7784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0B2C4A"/>
                </a:solidFill>
                <a:latin typeface="Calibri"/>
              </a:rPr>
              <a:t>Willie: examine, assign ASA Status 3-E, then sedate. MoMo: examine, image, run labs, then cancel the exploratory.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 / 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WHY THIS HOUR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Surgical site infection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36576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91440" cy="214884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20700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Causes of SSI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536192"/>
            <a:ext cx="3291840" cy="1618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Hair, skin flora, hypothermia, poor hemostasis, dead space, and breaks in asepsis.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097280"/>
            <a:ext cx="36576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097280"/>
            <a:ext cx="91440" cy="21488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20700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Client-owned patients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536192"/>
            <a:ext cx="3291840" cy="1618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Elective OHE patients go home to the owner after recovery. Documentation and the discharge conversation are part of the operation.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09728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097280"/>
            <a:ext cx="91440" cy="214884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207008"/>
            <a:ext cx="3200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Decisions made before incision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536192"/>
            <a:ext cx="3200400" cy="1618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Analgesia, antibiotics, temperature management, and client expectations are set in the preoperative period.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429000"/>
            <a:ext cx="11247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Surgeon responsibilities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Prepare the patient for a surgical procedure.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Prepare yourself for a surgical procedure.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Perform the procedure. Then own the first 24 hours: hemorrhage or herniation in recovery is still the operation.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 / 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EACH PRINCIPLE HAS A PREOPERATIVE OR POSTOPERATIVE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Halsted’s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20700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1.  Gentle tissue handling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Prep trauma, clipper burn, and crushing towel clamps are tissue handling.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09728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09728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20700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2.  Meticulous hemostasis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157276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Preop coagulopathy; postop hemorrhage is a 24-hour emergency.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33172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44144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3.  Preserve blood supply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80720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Place clamps and bandages so skin perfusion is preserved.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33172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33172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244144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4.  Strict asepsis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280720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Patient preparation, surgeon preparation, and draping.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56616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56616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67588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5.  No tension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04164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Plan incision location and closure now, not after the fascia splits.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356616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356616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65392" y="367588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6.  Accurate apposition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404164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Postop incision care protects the apposition you create.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80060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80060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4910328"/>
            <a:ext cx="108813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7.  Obliterate dead space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276088"/>
            <a:ext cx="1088136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Plan dead space now: sutures, bandage, or a drain with a written pull plan.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 / 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PREOPERATIVE, PREPARATION, INTRAOPERATIVE, POSTOPERATIVE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The perioperative continuum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34440"/>
            <a:ext cx="27432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2743200" cy="6400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34440"/>
            <a:ext cx="2743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PRE-OP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11680"/>
            <a:ext cx="237744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1C1C1C"/>
                </a:solidFill>
                <a:latin typeface="Calibri"/>
              </a:rPr>
              <a:t>History, PE, ASA
Labs, stabilize
Consent, plan
Analgesia, Abx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92608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C5A35A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234440"/>
            <a:ext cx="27432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234440"/>
            <a:ext cx="2743200" cy="64008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234440"/>
            <a:ext cx="2743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011680"/>
            <a:ext cx="237744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1C1C1C"/>
                </a:solidFill>
                <a:latin typeface="Calibri"/>
              </a:rPr>
              <a:t>Clip after induction
Dirty then sterile prep
Position, drape
Gown, closed glove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8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C5A3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234440"/>
            <a:ext cx="27432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234440"/>
            <a:ext cx="2743200" cy="6400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234440"/>
            <a:ext cx="2743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INTRA-OP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11680"/>
            <a:ext cx="237744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1C1C1C"/>
                </a:solidFill>
                <a:latin typeface="Calibri"/>
              </a:rPr>
              <a:t>Asepsis held
Halsted applied
Time, temp, pain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292608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C5A35A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234440"/>
            <a:ext cx="27432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1234440"/>
            <a:ext cx="2743200" cy="64008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1234440"/>
            <a:ext cx="2743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POST-OP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011680"/>
            <a:ext cx="237744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1C1C1C"/>
                </a:solidFill>
                <a:latin typeface="Calibri"/>
              </a:rPr>
              <a:t>Airway, pain, heat
Watch 24 hours
Report + discharge
Recheck plan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 / 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EXAMINE, REQUEST INDICATED LABS, INTERPRET, THEN ASSIGN ASA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Preoperative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24128"/>
            <a:ext cx="5715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24128"/>
            <a:ext cx="640080" cy="1298448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24128"/>
            <a:ext cx="640080" cy="1298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C5A35A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133856"/>
            <a:ext cx="4709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Identify surgical disease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527048"/>
            <a:ext cx="47091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Confirm the lesion, laterality, and that surgery is indicated.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24128"/>
            <a:ext cx="5715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024128"/>
            <a:ext cx="640080" cy="1298448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024128"/>
            <a:ext cx="640080" cy="1298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C5A35A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133856"/>
            <a:ext cx="4709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Quantify anesthetic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1527048"/>
            <a:ext cx="47091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Assign ASA after today’s examination and labs. Write that number on the record.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441448"/>
            <a:ext cx="5715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441448"/>
            <a:ext cx="640080" cy="1298448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441448"/>
            <a:ext cx="640080" cy="1298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C5A35A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551176"/>
            <a:ext cx="4709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Fix what you can 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944368"/>
            <a:ext cx="47091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Dehydration, anemia, electrolyte crises, uncontrolled diabetes, full bladder, pyoderma over the site.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2441448"/>
            <a:ext cx="5715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441448"/>
            <a:ext cx="640080" cy="1298448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441448"/>
            <a:ext cx="640080" cy="1298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C5A35A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2551176"/>
            <a:ext cx="4709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Plan the 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2944368"/>
            <a:ext cx="47091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Approach, positioning, implants, blood products, ICU bed, who calls the client.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3950208"/>
            <a:ext cx="745236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041648"/>
            <a:ext cx="70408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1B6B7A"/>
                </a:solidFill>
                <a:latin typeface="Calibri"/>
              </a:rPr>
              <a:t>History and PE, then any drug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370832"/>
            <a:ext cx="7086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Signalment, last meal, medications, prior anesthesia, bleeding tendency.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TPR, mm, CRT, hydration, murmur, lungs, surgical site, abdomen, neuro if indicated.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Record the examination. The next clinician reads what you wrote.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3950208"/>
            <a:ext cx="3611880" cy="2423160"/>
          </a:xfrm>
          <a:prstGeom prst="roundRect">
            <a:avLst>
              <a:gd name="adj" fmla="val 8000"/>
            </a:avLst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4069080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5A35A"/>
                </a:solidFill>
                <a:latin typeface="Calibri"/>
              </a:rPr>
              <a:t>Order of operations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526280"/>
            <a:ext cx="3291840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1. Examine the patient
2. Request indicated labs
3. Interpret the results
4. Assign ASA status
5. Adjust the drug plan
6. Premedicate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 /  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AMERICAN SOCIETY OF ANESTHESIOLOGISTS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ASA physical status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24128"/>
            <a:ext cx="11338560" cy="36576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024128"/>
            <a:ext cx="21945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>
                <a:solidFill>
                  <a:srgbClr val="C5A35A"/>
                </a:solidFill>
                <a:latin typeface="Calibri"/>
              </a:rPr>
              <a:t>ASA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024128"/>
            <a:ext cx="58521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024128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26464"/>
            <a:ext cx="113385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26464"/>
            <a:ext cx="2148840" cy="768096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426464"/>
            <a:ext cx="2148840" cy="7680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Status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481328"/>
            <a:ext cx="5806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Normal, healthy patient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1481328"/>
            <a:ext cx="2971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3D4A57"/>
                </a:solidFill>
                <a:latin typeface="Calibri"/>
              </a:rPr>
              <a:t>Healthy 1-year-old OHE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249424"/>
            <a:ext cx="113385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9424"/>
            <a:ext cx="2148840" cy="768096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249424"/>
            <a:ext cx="2148840" cy="7680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Status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304288"/>
            <a:ext cx="5806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Mild systemic disease, well compensated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304288"/>
            <a:ext cx="2971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3D4A57"/>
                </a:solidFill>
                <a:latin typeface="Calibri"/>
              </a:rPr>
              <a:t>Obesity; asymptomatic murmur; controlled diabetes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072384"/>
            <a:ext cx="113385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072384"/>
            <a:ext cx="2148840" cy="768096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072384"/>
            <a:ext cx="2148840" cy="7680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Status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127248"/>
            <a:ext cx="5806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Moderate systemic disease that is ongoing but compensated; some functional limitations exist that increase the risk of anesthesia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127248"/>
            <a:ext cx="2971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3D4A57"/>
                </a:solidFill>
                <a:latin typeface="Calibri"/>
              </a:rPr>
              <a:t>Willie: vestibular disease, otitis, walking, compensated murmur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895344"/>
            <a:ext cx="113385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895344"/>
            <a:ext cx="2148840" cy="768096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3895344"/>
            <a:ext cx="2148840" cy="7680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Status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3950208"/>
            <a:ext cx="5806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Severe systemic disease that is a constant threat to life, uncompensated disease, high anesthetic risk because vital body systems involved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3950208"/>
            <a:ext cx="2971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3D4A57"/>
                </a:solidFill>
                <a:latin typeface="Calibri"/>
              </a:rPr>
              <a:t>MoMo: rising azotemia, non-functional kidney; GDV; septic abdomen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4718304"/>
            <a:ext cx="113385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4718304"/>
            <a:ext cx="2148840" cy="768096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8304"/>
            <a:ext cx="2148840" cy="7680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Status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773168"/>
            <a:ext cx="5806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Moribund patient not expected to live more than 24 hours with or without surgery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773168"/>
            <a:ext cx="2971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3D4A57"/>
                </a:solidFill>
                <a:latin typeface="Calibri"/>
              </a:rPr>
              <a:t>Gastric rupture; catastrophic trauma; end-stage disease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5596128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687568"/>
            <a:ext cx="110185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0B2C4A"/>
                </a:solidFill>
                <a:latin typeface="Calibri"/>
              </a:rPr>
              <a:t>E = emergency (written Status 3-E or 4-E). Willie is Status 3-E: acute, still compensated. MoMo is Status 4-E: acute, uncompensated, vital systems involved. Assign the number after today’s PE and labs.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 / 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ASSIGN STATUS, THEN SAY WHETHER YOU PROCEED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ASA practice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640080" cy="1115568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640080" cy="1115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207008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Healthy 8-month Labrador for elective OHE. Normal PE, PCV/TS normal.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719072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E6B4F"/>
                </a:solidFill>
                <a:latin typeface="Calibri"/>
              </a:rPr>
              <a:t>ASA Status 1  ·  proceed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3172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1115568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331720"/>
            <a:ext cx="640080" cy="1115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441448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10-year MN Beagle, BCS 8/9, grade 2/6 murmur, no CHF, dental + mass removal.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953512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1B6B7A"/>
                </a:solidFill>
                <a:latin typeface="Calibri"/>
              </a:rPr>
              <a:t>ASA Status 2  ·  proceed with monitoring plan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6616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64008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640080" cy="1115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675888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Willie: 6 y 11 mo MN Cavalier, 13.7 kg. Acute ataxia 1 h. AS otitis, TM visible/swollen. Circling left, nystagmus fast-left, right knuckling. Grade II murmur. CV stable.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87952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5A35A"/>
                </a:solidFill>
                <a:latin typeface="Calibri"/>
              </a:rPr>
              <a:t>ASA Status 3-E. Proceed with a sedation plan.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0060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800600"/>
            <a:ext cx="640080" cy="1115568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00600"/>
            <a:ext cx="640080" cy="1115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910328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MoMo: 6 yo SF DSH, 4.25 kg. Acute vomiting ×2, lethargy, construction at home; possible foreign body. T 98.0 °F, HR 200, mm pink tacky. Mildly enlarged abdomen.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422392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8B2E2E"/>
                </a:solidFill>
                <a:latin typeface="Calibri"/>
              </a:rPr>
              <a:t>Stabilize, image, and run labs first. This became ASA Status 4-E. Medical abdomen.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 / 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6 Y 11 MO MN CAVALIER KING CHARLES SPANIEL, 13.7 KG, BCS 6/9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Willie, ASA Status 3-E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24128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107899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0B2C4A"/>
                </a:solidFill>
                <a:latin typeface="Calibri"/>
              </a:rPr>
              <a:t>Acute ataxia ~1 hour. Fell off the couch twice. Cytopoint for allergies. Vitals: T 100.8 °F, HR 132, RR 52, mm pink, CRT 2 s, quiet/dull. ASA III-E: compensated vestibular disease plus severe AS otitis. Still pink, walking, kidneys normal.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91440" cy="260604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0428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Left ear (AS)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633472"/>
            <a:ext cx="329184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Brown and bloody discharge. Pedal reflex at the pinna base. Canal patent. Cartilage hardened. Tympanic membrane visible but swollen.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19456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194560"/>
            <a:ext cx="91440" cy="26060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30428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Neuro exam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33472"/>
            <a:ext cx="329184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Circling left. Horizontal nystagmus, fast left, slow right. Right knuckling. Treat as central vestibular disease until MRI.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194560"/>
            <a:ext cx="356616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194560"/>
            <a:ext cx="91440" cy="260604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304288"/>
            <a:ext cx="3200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Also on 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2633472"/>
            <a:ext cx="320040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Grade II/VI left systolic murmur. Heavy tartar. Soft non-painful abdomen. Compensated tonight.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3776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29200"/>
            <a:ext cx="107899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Plan: CBC WNL. Skip NSAID after DexSP 0.68 mL SQ. Alfaxalone sedation, deep left-ear clean, cytology/culture, 3-view films. Home: meclizine 25 mg PO BID × 5 d, Cerenia 60 mg PO SID × 4 d, confine. MRI recommended. TECA-LBO if culture-guided medical therapy fails.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9  / 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6 YO SF DSH, 4.25 KG, BCS 5/9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MoMo, ASA Status 4-E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24128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107899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0B2C4A"/>
                </a:solidFill>
                <a:latin typeface="Calibri"/>
              </a:rPr>
              <a:t>Acute vomiting and lethargy. Two vomits. Household construction. Possible FB. Vitals: T 98.0 °F, HR 200, RR 30, mm pink tacky, CRT &lt;2 s, QAR. ASA IV-E: rising azotemia and a non-functional kidney. A cancelled exploratory is a successful preoperative evaluation.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91440" cy="26060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0428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Why this looked surgical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633472"/>
            <a:ext cx="329184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FB obstruction was on the list. Mildly enlarged abdomen. That is how cats get booked for an exploratory.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19456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194560"/>
            <a:ext cx="91440" cy="260604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30428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What the PE showed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33472"/>
            <a:ext cx="329184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Heart/lungs normal. Ambulatory ×4. Dehydrated. The PE did not prove a foreign body.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194560"/>
            <a:ext cx="356616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194560"/>
            <a:ext cx="91440" cy="260604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304288"/>
            <a:ext cx="3200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Next: labs and imaging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2633472"/>
            <a:ext cx="320040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POCUS: abnormal kidneys, bladder intact. 3-view abdomen STAT. CBC/chem. Assign ASA after those results.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3776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29200"/>
            <a:ext cx="107899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Work-up: IVF 1.5×, Cerenia, ondansetron, Unasyn. Creatinine 3.0 → 4.71 on fluids. AUS: right kidney fluid-filled and non-functional. Skip NSAIDs. Cancel the exploratory. Record the decision. Owner elected humane euthanasia.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 / 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TESTS INDICATED FOR THIS PATIENT AND THIS PROCEDURE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Preoperative diagnostics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55778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91440" cy="233172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207008"/>
            <a:ext cx="521208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Young, healthy, elective (ASA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536192"/>
            <a:ext cx="5212080" cy="1801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PCV/TS ± blood glucose and Azo stick is a defensible minimum. Many hospitals still run a preanesthetic chemistry/CBC. Know your hospital policy and be able to defend either choice.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097280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91440" cy="23317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207008"/>
            <a:ext cx="51206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Age, disease, or invasive procedure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1536192"/>
            <a:ext cx="5120640" cy="1801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CBC, chemistry, UA. Add clotting (PT/PTT or BMBT) if bleeding risk. T4 in older cats. Blood pressure. ECG if arrhythmia. Imaging if it changes the approach.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11880"/>
            <a:ext cx="112471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49039"/>
            <a:ext cx="10789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How to use the tests you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6052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▸  Anemia, hypoalbuminemia, azotemia, electrolyte storms, and thrombocytopenia change drugs, fluids, and whether you cut today.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▸  Abdominal surgery: image first so you know whether you are cutting a pyometra, a mass that needs a different approach, or a medical abdomen. MoMo: POCUS/AUS cancelled the cut.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▸  Repeat a value that changes the plan. MoMo: creatinine 3.0 then 4.71. Act on the rising creatinine.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 / 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THESE BANDS INFORM STATUS. TODAY’S PE WRITES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CBC and chemistry → ASA Status</a:t>
            </a:r>
          </a:p>
        </p:txBody>
      </p:sp>
      <p:pic>
        <p:nvPicPr>
          <p:cNvPr id="8" name="Picture 7" descr="asa_cbc_ch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960120"/>
            <a:ext cx="11795760" cy="55961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 /  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LABS INFORM ASA STATUS. THE PHYSICAL EXAMINATION ASSIGNS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Applying the lab tables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515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51560"/>
            <a:ext cx="91440" cy="50749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161288"/>
            <a:ext cx="5257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Willie, laboratory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490472"/>
            <a:ext cx="5257800" cy="45445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CBC WNL (Status 1 band).
Phosphorus 6.0, mild increase (Status 2).
Glucose 130, stress (Status 2 band).
Kidneys, liver, electrolytes normal.
Skip the EPOC for this ear clean.
ASA Status 3-E: acute vestibular disease, severe AS otitis, murmur. An unremarkable chemistry leaves the neurologic Status 3 in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0515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051560"/>
            <a:ext cx="91440" cy="507492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161288"/>
            <a:ext cx="5257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MoMo, laboratory results and EPOC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490472"/>
            <a:ext cx="5257800" cy="45445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WBC about 26K with neutrophilia (Status 3 to 4).
Platelets 74 K (Status 3).
Creatinine 3.0 to 4.71; BUN 49.7 to 100 (Status 4).
Phosphorus 8.0 (Status 3 to 4).
EPOC pH 7.255 (Status 3); BE −7.4 (Status 2); lactate 2.05 (Status 1).
Venous pO2 33 is venous.
Whole-patient status is 4-E. Cancel the exploratory.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 / 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WHEN TO DELAY, WHEN TO PROCEED URGENTLY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Stabilization before elective surgery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97280"/>
            <a:ext cx="3703320" cy="54864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97280"/>
            <a:ext cx="370332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Fix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324612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Hypovolemia / shock
Electrolyte crises (K+, Na+)
Severe anemia (transfuse)
Respiratory distress
Uncontrolled pain
Hypoglycemia
Hyperthermia / heat stroke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097280"/>
            <a:ext cx="3703320" cy="5486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097280"/>
            <a:ext cx="370332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Often delay elective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1828800"/>
            <a:ext cx="324612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Pyoderma over the site
Anestrus vs. heat if policy
Unstable endocrine disease
Active URI in cats
Recent live vaccines (clinic policy)
Client cannot confine / medicate
Full-stomach elective: suction or reschedule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097280"/>
            <a:ext cx="3703320" cy="54864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097280"/>
            <a:ext cx="370332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May proceed urgently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828800"/>
            <a:ext cx="324612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GDV
Septic abdomen
C-section with fetal distress
Airway obstruction
Hemorrhage you cannot pack
Open fracture (after resuscitation)
Uterine rupture / pyometra shock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 /  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2020 AAHA ANESTHESIA AND MONITORING GUIDELINES; THEN THE RISK TALK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Fasting and informed consent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515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Fasting (Grubb et al. 2020 AAHA)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5257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Healthy adult dog/cat: food 4–6 h; water until premedication.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Some hospitals still use 8–12 h NPO. Teach aspiration versus hypoglycemia.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Neonates / &lt;2 kg: food fast no longer than 1–2 h.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Brachycephalics: shorter fast, pre-oxygenate.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Ask what was eaten this morning. Clients feed ‘just a biscuit.’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Diabetics: write the insulin dose and a small meal with anesthesia before drop-off.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53212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170432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Consent, then file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Procedure name in plain language, and the reason.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Benefits, alternatives including medical management, and what happens if we wait.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Material risks in one sentence each: anesthesia death, hemorrhage, infection, dehiscence. After OHE, name urinary incontinence.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Estimate: what is included and what is not.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Resuscitation code / DNR before induction.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File the signed form. Then start induction.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15  / 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WHO-ADAPTED TIMEOUT AND MULTIMODAL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Pre-incision checklist and analgesia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Pre-incision 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Identity, procedure, site/side confirmed.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Consent, estimate, DNR documented.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ASA, allergies, last meal.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IV catheter patent; fluids running.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Airway secured; monitoring on.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Antibiotics given (if indicated) 30 minutes before incision.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Local block planned (incisional, testicular, TAP, splash).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Instruments, suture, extra gloves, cautery, suction.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8016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Multimodal analgesia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737360"/>
            <a:ext cx="5074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Opioid as part of premed or induction.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NSAID if perfusion, kidneys, and GI tract allow. Often at recovery.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Local/regional: the cheapest MAC-sparing tool you have.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Adjuncts: ketamine CRI, dexmedetomidine CRI, gabapentin, acetaminophen (dog only).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Cats: skip acetaminophen; careful NSAID choice and dose.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Write the pain plan before the patient leaves the 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 / 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TEACHING FORM. COMPLETE THE HEADER BEFORE THE FIRST DRUG.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Anesthesia record, Willie</a:t>
            </a:r>
          </a:p>
        </p:txBody>
      </p:sp>
      <p:pic>
        <p:nvPicPr>
          <p:cNvPr id="8" name="Picture 7" descr="anesthesia_record_will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987552"/>
            <a:ext cx="11658600" cy="5577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17  / 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PREOPERATIVE EVALUATION DOCUMENTED; EXPLORATORY CANCELLED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Anesthesia record, MoMo</a:t>
            </a:r>
          </a:p>
        </p:txBody>
      </p:sp>
      <p:pic>
        <p:nvPicPr>
          <p:cNvPr id="8" name="Picture 7" descr="anesthesia_record_m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987552"/>
            <a:ext cx="11658600" cy="5577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18  / 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FREY ET AL. 2022 AAFP/AAHA: WHEN. WHITTEM 1999 AND GONZALEZ 2017: HOW.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Surgical antimicrobial prophylaxis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E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120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2E6B4F"/>
                </a:solidFill>
                <a:latin typeface="Calibri"/>
              </a:rPr>
              <a:t>Clean elective: skip prophylaxis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512064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2022 AAFP/AAHA (Frey et al.):
• Prophylaxis is a brief course started 30–60 min before the first incision.
• Not usually needed for clean procedures.
• Sterile technique should eliminate the need in OHE, orchiectomy, and most sterile procedures.
• Ongoing postoperative antimicrobials are rarely required.
1. Hold asepsis, Halsted, and a dry field.
2. Skip peri-op antibiotics on these cases.
3. After an uncomplicated clean surgery, stop at closure.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801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8B2E2E"/>
                </a:solidFill>
                <a:latin typeface="Calibri"/>
              </a:rPr>
              <a:t>When indicated: timed IV, then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502920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AAFP/AAHA 2022 does not publish a cefazolin mg/kg.
1. Start 30–60 min before incision (Frey 2022).
2. Extra-label teaching dose: cefazolin 22 mg/kg IV (Gonzalez et al. AJVR 2017 studied this dose).
3. Whittem et al. JAVMA 1999 (orthopedic): first dose within 30 min of surgery; second dose if surgery lasted &gt;90 min.
4. Stop at closure unless you are treating an established infection.
Willie’s left ear is infected: treatment, not clean prophylaxis.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19  / 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PREP ROOM, THEN OPERATING ROOM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Sequence of patient preparation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430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2788920" cy="6400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14300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2024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Anesthetized, airway in, IV in, depth adequate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1430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143000"/>
            <a:ext cx="2788920" cy="6400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114300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92024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Express bladder if abdominal / caudal surgery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1430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143000"/>
            <a:ext cx="2788920" cy="6400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14300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Clip with #40, vacuum hair, dirty antiseptic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1430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143000"/>
            <a:ext cx="2788920" cy="6400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14300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92024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Move to OR, position, pad, tie, final check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61188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3611880"/>
            <a:ext cx="2788920" cy="6400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61188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8912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Sterile prep. Skin: 7.5% PVP-I ~5 min, rinse, paint 5% vet solution, dry. Eye: Roberts 1:50 of 10% stock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361188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37560" y="3611880"/>
            <a:ext cx="2788920" cy="6400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7560" y="361188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38912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Four-quadrant towels → large drape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61188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3611880"/>
            <a:ext cx="2788920" cy="6400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61188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38912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Surgeon gowns/gloves (or already gowned)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361188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89720" y="3611880"/>
            <a:ext cx="2788920" cy="6400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61188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438912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Timeout / checklist → announce incision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20  / 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#40 CLIPPER AFTER INDUCTION. FIELD 20 CM BEYOND THE PLANNED INCISION.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Hair removal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05840"/>
            <a:ext cx="5669280" cy="347472"/>
          </a:xfrm>
          <a:prstGeom prst="roundRect">
            <a:avLst>
              <a:gd name="adj" fmla="val 8000"/>
            </a:avLst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05840"/>
            <a:ext cx="5669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Too narrow. Hair remains at the margin.</a:t>
            </a:r>
          </a:p>
        </p:txBody>
      </p:sp>
      <p:pic>
        <p:nvPicPr>
          <p:cNvPr id="10" name="Picture 9" descr="clip_c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669280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72200" y="1005840"/>
            <a:ext cx="5669280" cy="347472"/>
          </a:xfrm>
          <a:prstGeom prst="roundRect">
            <a:avLst>
              <a:gd name="adj" fmla="val 8000"/>
            </a:avLst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005840"/>
            <a:ext cx="5669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24 hours after OHE. Clip width was adequate.</a:t>
            </a:r>
          </a:p>
        </p:txBody>
      </p:sp>
      <p:pic>
        <p:nvPicPr>
          <p:cNvPr id="13" name="Picture 12" descr="spay_inci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71600"/>
            <a:ext cx="5669280" cy="3246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65760" y="4736592"/>
            <a:ext cx="1147572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64608"/>
            <a:ext cx="111556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1. Airway in and a surgical plane before the clippers start.  2. #40 clipper, with the grain then against, to the skin.  3. Rectangle: xiphoid to pubis, widely lateral past the nipples, 20 cm beyond the incision. OHE, castration, and limb: clip a field the drape can cover. Orthopedic hang-prep: wrap the dirty foot, then prep from the incision toward the foot.
Photos: Uwe Gille, CC0; Liannadavis, CC BY-SA 4.0.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21  / 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READ THE BOTTLE. CITE THE LABEL OR THE PAPER. DO NOT INVENT A FOSSUM PAGE.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Skin antiseptics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87552"/>
            <a:ext cx="11448288" cy="1298448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024128"/>
            <a:ext cx="1115568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Human Betadine Solution = 10% PVP-I (1% available iodine).  Veterinary Betadine Solution = 5% PVP-I (0.5% available iodine).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89888"/>
            <a:ext cx="1115568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1C1C1C"/>
                </a:solidFill>
                <a:latin typeface="Calibri"/>
              </a:rPr>
              <a:t>Roberts 1986 used 10% stock.  1 mL + 49 mL saline = 1:50 = 0.2% PVP-I.  If the bottle is veterinary 5%, 1 mL + 24 mL (1:25) matches that 0.2%.
A 1:50 of the 5% veterinary bottle is 0.1% PVP-I, not the Roberts concentration.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395728"/>
            <a:ext cx="3749039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395728"/>
            <a:ext cx="3749039" cy="45720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395728"/>
            <a:ext cx="3749039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CHG (Nolvasan label)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07792"/>
            <a:ext cx="3474720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2% chlorhexidine acetate surgical scrub.
1. Rinse, apply 1–5 mL, wash 2 to 4 minutes, wipe foam.
2. Avoid eyes and mucous membranes; flush if contact.
3. Trunk and intact skin. Cornea or middle ear: dilute PVP-I.
4. Choose one agent for the field: CHG or iodine.
5. 70% alcohol: rinse between cycles on intact skin; allow to dry; keep off mucosa, eye, and cautery.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2395728"/>
            <a:ext cx="3749039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2395728"/>
            <a:ext cx="3749039" cy="45720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4528" y="2395728"/>
            <a:ext cx="3749039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Skin (Betadine vet labels)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2907792"/>
            <a:ext cx="3474720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1. Dirty prep first (organic matter inactivates iodine).
2. 7.5% scrub (0.75% available iodine).
3. After clip: wet, lather about 5 minutes, rinse with sterile water.
4. Paint BETADINE Solution Veterinary 5% (not 10%), allow to dry, then drape.
5. Solution is labeled full strength for skin and mucous membranes; avoid pooling.
6. Use detergent-free SOLUTION, not 7.5% scrub, on mucosa.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395728"/>
            <a:ext cx="3730752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2395728"/>
            <a:ext cx="3730752" cy="4572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6" y="2395728"/>
            <a:ext cx="3730752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C5A35A"/>
                </a:solidFill>
                <a:latin typeface="Calibri"/>
              </a:rPr>
              <a:t>Eye (Roberts 1986)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907792"/>
            <a:ext cx="3456432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Canine ocular surface. Stock = 10% PVP-I (1% available iodine).
1. 1:50 recommended: 2-minute scrub + 2-minute soak.
2. 1:2, 1:10, and 1:50 all cleared culture.
3. One instance of epithelial corneal edema at 1:2 (15 eyes).
4. 1:100 less consistent (E. coli in 1 of 16).
Do not put full-strength 5% or 10% on the cornea.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22  / 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CENTER TO PERIPHERY. DIRTY PREP, THEN STERILE PREP.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Patient skin preparation technique</a:t>
            </a:r>
          </a:p>
        </p:txBody>
      </p:sp>
      <p:pic>
        <p:nvPicPr>
          <p:cNvPr id="8" name="Picture 7" descr="prep_spiral_antisep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6766560" cy="5394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69480" y="1051560"/>
            <a:ext cx="4480560" cy="5394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1188720"/>
            <a:ext cx="4160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Technique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6002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C1C1C"/>
                </a:solidFill>
                <a:latin typeface="Calibri"/>
              </a:rPr>
              <a:t>▸  1. Dirty prep in the prep room; sterile prep in the OR.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C1C1C"/>
                </a:solidFill>
                <a:latin typeface="Calibri"/>
              </a:rPr>
              <a:t>▸  2. Start at the planned incision. Spiral out. Drop each sponge after the outer ring.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C1C1C"/>
                </a:solidFill>
                <a:latin typeface="Calibri"/>
              </a:rPr>
              <a:t>▸  3. Skin: 7.5% PVP-I, lather ~5 min, rinse, paint 5% vet solution, dry (Betadine labels). Nolvasan CHG: wash 2 to 4 min. Drain pools, then drape.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C1C1C"/>
                </a:solidFill>
                <a:latin typeface="Calibri"/>
              </a:rPr>
              <a:t>▸  4. Eye: 10% PVP-I stock 1:50 (1 mL + 49 mL). 2 min scrub + 2 min soak (Roberts 1986). 5% bottle: 1:25 to match 0.2%.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C1C1C"/>
                </a:solidFill>
                <a:latin typeface="Calibri"/>
              </a:rPr>
              <a:t>▸  5. Willie: swollen tympanic membrane. Periocular and canal mucosa: detergent-free dilute PVP-I, not 7.5% scrub.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23  / 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DORSAL RECUMBENCY, AIRWAY, IV CATHETER, MONITORING, V-TROUGH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Patient positioning</a:t>
            </a:r>
          </a:p>
        </p:txBody>
      </p:sp>
      <p:pic>
        <p:nvPicPr>
          <p:cNvPr id="8" name="Picture 7" descr="dog_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24128"/>
            <a:ext cx="7635240" cy="5440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92440" y="1024128"/>
            <a:ext cx="3749039" cy="5440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170432"/>
            <a:ext cx="34290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Visible in this photograph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45920"/>
            <a:ext cx="3429000" cy="457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• ET tube + pulse ox
• IV catheter + fluids
• Anesthesia machine
• V-trough / padding
• Ties snug, then check the pulse distal to each tie
• Clip after a surgical plane of anesthesia
Keep the hips in a neutral spread.
Lubricate the eyes. Confirm the tube is patent.
Photo: Anja, CC BY-SA 4.0.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24  / 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FOUR-QUADRANT TOWELS, THEN THE LARGE DRAPE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Draping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05840"/>
            <a:ext cx="5669280" cy="347472"/>
          </a:xfrm>
          <a:prstGeom prst="roundRect">
            <a:avLst>
              <a:gd name="adj" fmla="val 8000"/>
            </a:avLst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05840"/>
            <a:ext cx="5669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OHE: hair visible at the drape edge</a:t>
            </a:r>
          </a:p>
        </p:txBody>
      </p:sp>
      <p:pic>
        <p:nvPicPr>
          <p:cNvPr id="10" name="Picture 9" descr="cherry_point_sp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669280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72200" y="1005840"/>
            <a:ext cx="5669280" cy="347472"/>
          </a:xfrm>
          <a:prstGeom prst="roundRect">
            <a:avLst>
              <a:gd name="adj" fmla="val 8000"/>
            </a:avLst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005840"/>
            <a:ext cx="5669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Sterile field: gown, glove, drape</a:t>
            </a:r>
          </a:p>
        </p:txBody>
      </p:sp>
      <p:pic>
        <p:nvPicPr>
          <p:cNvPr id="13" name="Picture 12" descr="hektor_dra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71600"/>
            <a:ext cx="5669280" cy="3246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65760" y="4736592"/>
            <a:ext cx="1147572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64608"/>
            <a:ext cx="111556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1. Near towel first. Four towels box the field.  2. Re-clip or re-drape until the window is hair-free.  3. Large drape over towels; cuff your hands.  4. If the drape is soaked through, cover or replace it. Hands stay on the field.
Photos: Cpl. Samuel A. Nasso, USMC, public domain; MSgt Carlotta Holley, USAF, public domain.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25  / 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TECHNIQUE DIAGRAM AND OPERATING-ROOM PHOTOGRAPH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Closed gloving and the anesthesia workstation</a:t>
            </a:r>
          </a:p>
        </p:txBody>
      </p:sp>
      <p:pic>
        <p:nvPicPr>
          <p:cNvPr id="8" name="Picture 7" descr="prep_closed_glov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24128"/>
            <a:ext cx="5760720" cy="3794760"/>
          </a:xfrm>
          <a:prstGeom prst="rect">
            <a:avLst/>
          </a:prstGeom>
        </p:spPr>
      </p:pic>
      <p:pic>
        <p:nvPicPr>
          <p:cNvPr id="9" name="Picture 8" descr="hektor_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24128"/>
            <a:ext cx="5669280" cy="37947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20040" y="4919472"/>
            <a:ext cx="11521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029200"/>
            <a:ext cx="1115568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Left: closed-gloving technique (hands stay inside the gown cuffs). Right: cap, mask, ECG/SpO2/ETCO2, circle system, IV fluids, airway. Monitoring is on before the first drug. Willie needed this for an ear clean. MoMo: the record stopped at preoperative evaluation.
Photo: MSgt Carlotta Holley, U.S. Air Force, public domain.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26  / 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RECOGNIZE, ANNOUNCE, CORRECT. THEN PROTECT THE PATIENT.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Breaks in asepsis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51560"/>
            <a:ext cx="562356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B6B7A"/>
                </a:solidFill>
                <a:latin typeface="Calibri"/>
              </a:rPr>
              <a:t>If you contaminate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21208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Say it immediately. Re-glove, re-gown, or re-drape. Name the break once. Fix it completely.
After the incision is made, the same rule: notice, announce, correct. Sleeve in the abdomen, instrument off the table, hole in a glove: stop and fix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5321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170432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Protect the patient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554480"/>
            <a:ext cx="512064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1. Control significant hemorrhage.
2. Create a secure abdominal wall closure.
3. Achieve and maintain an aseptic field.
4. Identify and protect adjacent organs before you clamp.
5. Complete a sponge and instrument count before closure.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434840"/>
            <a:ext cx="11338560" cy="1920240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617720"/>
            <a:ext cx="10927080" cy="1600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0B2C4A"/>
                </a:solidFill>
                <a:latin typeface="Calibri"/>
              </a:rPr>
              <a:t>The operation is not over when the last skin suture is placed. Intra-abdominal hemorrhage from poor ligation, or herniation from a weak linea, can kill the patient after you have left the OR. That is why postoperative care is part of this lecture.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27  / 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WHAT DO YOU DO NEXT?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Knowledge 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640080" cy="11704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51560"/>
            <a:ext cx="640080" cy="11704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C5A35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14300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1C1C1C"/>
                </a:solidFill>
                <a:latin typeface="Calibri"/>
              </a:rPr>
              <a:t>When do you clip the OHE field?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64592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B6B7A"/>
                </a:solidFill>
                <a:latin typeface="Calibri"/>
              </a:rPr>
              <a:t>After induction, immediately before the scrub.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31720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11704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331720"/>
            <a:ext cx="640080" cy="11704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C5A35A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42316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1C1C1C"/>
                </a:solidFill>
                <a:latin typeface="Calibri"/>
              </a:rPr>
              <a:t>How do you prep conjunctiva with iodine?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2608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B6B7A"/>
                </a:solidFill>
                <a:latin typeface="Calibri"/>
              </a:rPr>
              <a:t>Draw 10% PVP-I stock (1% available iodine). Dilute 1:50 (1 mL + 49 mL). 2 min scrub + 2 min soak (Roberts 1986). If the bottle is 5% vet solution, 1:25 matches 0.2%.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11880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640080" cy="11704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611880"/>
            <a:ext cx="640080" cy="11704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C5A35A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0332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1C1C1C"/>
                </a:solidFill>
                <a:latin typeface="Calibri"/>
              </a:rPr>
              <a:t>A blocked cat with K+ 8.2 is booked for PU this morning. First move?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20624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B6B7A"/>
                </a:solidFill>
                <a:latin typeface="Calibri"/>
              </a:rPr>
              <a:t>1. Calcium, fluids, insulin/dextrose as indicated. 2. Decompress. 3. Recheck K+. 4. Then decide on anesthesia.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92039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892039"/>
            <a:ext cx="640080" cy="11704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92039"/>
            <a:ext cx="640080" cy="11704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C5A35A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983479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1C1C1C"/>
                </a:solidFill>
                <a:latin typeface="Calibri"/>
              </a:rPr>
              <a:t>CHG runs into the eye during a trunk scrub. Next three steps?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486399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B6B7A"/>
                </a:solidFill>
                <a:latin typeface="Calibri"/>
              </a:rPr>
              <a:t>1. Stop the prep. 2. Irrigate with sterile saline. 3. Reassess the cornea, then finish the field with dilute PVP-I.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28  / 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REMAIN WITH THE PATIENT UNTIL AIRWAY AND CIRCULATION ARE STABLE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Immediate recovery</a:t>
            </a:r>
          </a:p>
        </p:txBody>
      </p:sp>
      <p:pic>
        <p:nvPicPr>
          <p:cNvPr id="8" name="Picture 7" descr="remus_recov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24128"/>
            <a:ext cx="7452360" cy="5440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863840" y="1024128"/>
            <a:ext cx="3977639" cy="5440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170432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Recovery priorities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600200"/>
            <a:ext cx="3703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Extubate when swallow/gag returns (later in brachycephalics).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SpO2, mm, CRT, pulse. Pale + tachycardia after celiotomy: treat as hemorrhage, return to OR.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Rewarm with a blanket or Bair Hugger. Check skin every 15 minutes.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E-collar on before they can lick.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Offer water when fully awake. Small meal when swallowing well.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Willie: skip NSAID after DexSP.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29  / 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TEACHING 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Postoperative flowsheet, first 2 hours</a:t>
            </a:r>
          </a:p>
        </p:txBody>
      </p:sp>
      <p:pic>
        <p:nvPicPr>
          <p:cNvPr id="8" name="Picture 7" descr="recovery_flow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987552"/>
            <a:ext cx="11658600" cy="5577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30  / 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SCORE PAIN. THEN TEACH THE E-COLLAR.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Pain and incision 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515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Score pain and record the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5257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Dogs: Glasgow CMPS-SF. Cats: Feline Grimace Scale plus behavior.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Re-score after intervention.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Soft tissue elective: opioid ± NSAID ± local.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Celiotomy / orthopedic: CRIs, extra locals, overnight monitoring.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Send home the opioid + NSAID (if kidneys and GI allow) + the local you already placed. Write the dosing times.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Willie already received DexSP: skip NSAID.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53212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170432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Incision care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Look twice daily: swelling, discharge, gapping, smell, heat.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E-collar that actually stays 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Leash walks only for 14 days. Keep the patient confined indoors otherwise.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Saline if dirty. Skin sutures typically 10–14 days.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Heart or kidney patients: measured fluid rate and a written stop time.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Cats: start a meal the night of surgery.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31  / 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HEMORRHAGE, AIRWAY, HERNIA, DEHISCENCE, SSI, SEROMA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Complications in the first 24 hours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7899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78992"/>
            <a:ext cx="109728" cy="155448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887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8B2E2E"/>
                </a:solidFill>
                <a:latin typeface="Calibri"/>
              </a:rPr>
              <a:t>Hemorrhage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Pale mm, tachycardia, distending abdomen, drip from incision, collapsing. Stabilize and return to 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07899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078992"/>
            <a:ext cx="109728" cy="15544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1887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B6B7A"/>
                </a:solidFill>
                <a:latin typeface="Calibri"/>
              </a:rPr>
              <a:t>Airway / aspiration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58191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Stertor, crackles, regurg on the pillow. Especially brachycephalics and after opioids.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77063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2770632"/>
            <a:ext cx="109728" cy="15544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8803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Hernia / evisceration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27355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Linea failure. Emergency. Protect viscera with sterile moist towels, opioids, OR now.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77063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770632"/>
            <a:ext cx="109728" cy="155448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28803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C5A35A"/>
                </a:solidFill>
                <a:latin typeface="Calibri"/>
              </a:rPr>
              <a:t>Dehiscence (later)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27355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Often day 3–5. Skin versus fascia: fascial dehiscence is the emergency.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446227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4462272"/>
            <a:ext cx="109728" cy="155448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5720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2E6B4F"/>
                </a:solidFill>
                <a:latin typeface="Calibri"/>
              </a:rPr>
              <a:t>SSI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96519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Redness, pain, discharge, fever, usually after day 3. Culture. Open, lavage, and treat the organism you grow.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46227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462272"/>
            <a:ext cx="109728" cy="15544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5720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B6B7A"/>
                </a:solidFill>
                <a:latin typeface="Calibri"/>
              </a:rPr>
              <a:t>Seroma / self-trauma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96519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Dead space + motion. Restrict activity. Bandage if needed. Leave the fluid unless it is infected.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32  / 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WHAT THE OVERNIGHT CLINICIAN AND THE OWNER BOTH NEED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Surgical report and discharge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515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Minimum report elements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5257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Date/time, patient ID, surgeon, anesthesia, ASA.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Procedure name and side. Position, clip/prep, approach.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Findings in order. Ligatures, implants, samples.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Suture: layer, material, size, pattern.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Hemostasis, blood loss, sponge count, complications.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Postop plan: fluids, pain, feeding, recheck.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53212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170432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Discharge, verbal and written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What we did, in one sentence.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When to start food and water, and how much.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Every medication: name, dose, time, with food?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Incision care and 14-day leash walks.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E-collar on except when directly watching.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Next appointment. ER criteria. After-hours number.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33  / 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THE CLIENT MUST BE ABLE TO REPEAT THESE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Emergency criteria for discharge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97280"/>
            <a:ext cx="3703320" cy="64008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97280"/>
            <a:ext cx="37033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Come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3246120" cy="3931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Collapse, pale gums, distended/painful abdomen, unstoppable bleeding, vomiting that prevents meds, difficulty breathing, inability to urinate, evisceration, uncontrolled pain, or you are frightened.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097280"/>
            <a:ext cx="3703320" cy="64008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097280"/>
            <a:ext cx="37033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Call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1920240"/>
            <a:ext cx="3246120" cy="3931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Not eating by the next morning (species/procedure dependent), a few episodes of vomiting, mild incision redness, diarrhea, e-collar problems, constipation vs. straining.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097280"/>
            <a:ext cx="3703320" cy="64008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097280"/>
            <a:ext cx="37033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920240"/>
            <a:ext cx="3246120" cy="3931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Sleepiness tonight, a small bruise near the incision, a slightly tacky incision, a reduced appetite the evening of surgery.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34  / 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ASA STATUS 3-E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Willie: complete perioperative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47120" cy="1325880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70432"/>
            <a:ext cx="107899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B2C4A"/>
                </a:solidFill>
                <a:latin typeface="Calibri"/>
              </a:rPr>
              <a:t>Willie, 6 y 11 mo MN Cavalier, 13.7 kg. Acute vestibular crisis. Severe AS otitis, TM visible/swollen. Circling left, nystagmus fast-left, right knuckling. Grade II murmur. CBC WNL. This is ASA III-E. Client-owned.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5603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560320"/>
            <a:ext cx="2788920" cy="5029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560320"/>
            <a:ext cx="2788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C5A35A"/>
                </a:solidFill>
                <a:latin typeface="Calibri"/>
              </a:rPr>
              <a:t>Pre-op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54680"/>
            <a:ext cx="251460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ASA III-E. Neuro exam. Skip NSAID (DexSP already given). IVF, Cerenia, meclizine. Culture the ear. Radiographs ≠ MRI. Central until proven otherwise.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25603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2560320"/>
            <a:ext cx="2788920" cy="5029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2560320"/>
            <a:ext cx="2788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C5A35A"/>
                </a:solidFill>
                <a:latin typeface="Calibri"/>
              </a:rPr>
              <a:t>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154680"/>
            <a:ext cx="251460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Airway protected, monitors on, then alfaxalone to a depth that is safe to clip and flush. Periocular and canal mucosa: detergent-free dilute PVP-I (Roberts 1:50 of 10% stock for the eye). Pad him. He falls.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5603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560320"/>
            <a:ext cx="2788920" cy="5029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560320"/>
            <a:ext cx="2788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C5A35A"/>
                </a:solidFill>
                <a:latin typeface="Calibri"/>
              </a:rPr>
              <a:t>Intra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54680"/>
            <a:ext cx="251460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Timeout. Deep clean + cytology. If you contaminate, say it and re-glove. Stay until the canal is clean.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25603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2560320"/>
            <a:ext cx="2788920" cy="5029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2560320"/>
            <a:ext cx="2788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C5A35A"/>
                </a:solidFill>
                <a:latin typeface="Calibri"/>
              </a:rPr>
              <a:t>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154680"/>
            <a:ext cx="251460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Confine, no stairs. Watch neuro signs, vomiting, seizures. MRI next. TECA-LBO only after culture if medical therapy fails.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35  / 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BOTH RECEIVED A PREOPERATIVE EVALUATION. ONLY WILLIE WAS ANESTHETIZED.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Willie and MoMo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562356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97280"/>
            <a:ext cx="91440" cy="502920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207008"/>
            <a:ext cx="5257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Willie, ASA Status 3-E. Proceed with sedation.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536192"/>
            <a:ext cx="5257800" cy="44988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Cavalier, 13.7 kg. Acute vestibular + AS otitis + murmur. Compensated. Fill the anesthesia record. Alfaxalone, monitoring, ear clean, skip NSAID after DexSP. Own the next 24 hours. MRI / possible TECA-LBO later. Assign a new ASA status on the day of that surgery.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097280"/>
            <a:ext cx="562356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097280"/>
            <a:ext cx="91440" cy="50292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207008"/>
            <a:ext cx="5257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MoMo, ASA Status 4-E. Cancel the exploratory.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536192"/>
            <a:ext cx="5257800" cy="44988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DSH, 4.25 kg. Vomiting that looked like FB. Labs + POCUS + AUS: structural renal disease, creatinine 3.0 → 4.71 on fluids. Exploratory cancelled. NSAIDs contraindicated. Record the decision. Offer supportive care, referral, or euthanasia. That conversation is still surgery.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36  / 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Key 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5156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05156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ASA is assigned after today’s PE and labs. Willie is III-E (sedate with a plan). MoMo is IV-E (image first, then cancel the exploratory).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7452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7452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7452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87452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Imaging and serial creatinine can cancel a surgery. That is a successful preoperative evaluation.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9748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9748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9748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69748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Elective clean OHE: skip routine postoperative antibiotics. Fill the anesthesia record and the 2-hour recovery sheet.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20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2044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52044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52044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Clip after induction, #40; spiral prep center → out; re-clip or re-drape until the window is hair-free.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4340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4340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34340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34340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Skin: 7.5% PVP-I ~5 min, then 5% vet paint (Betadine labels), or Nolvasan CHG 2–4 min. Eye: 10% PVP-I 1:50, 2 min + 2 min (Roberts 1986). Cornea/middle ear: dilute PVP-I, not CHG.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16636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6636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16636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16636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Pale + tachycardic after celiotomy: treat as hemorrhage, return to OR; the first 24 hours still count.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37  / 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C5A35A"/>
                </a:solidFill>
                <a:latin typeface="Calibri"/>
              </a:rPr>
              <a:t>DVM 612  ·  PRINCIPLES OF SURGERY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6692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899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F4EBD3"/>
                </a:solidFill>
                <a:latin typeface="Calibri"/>
              </a:rPr>
              <a:t>If there are no questions: why was Willie ASA III-E and MoMo ASA IV-E,
and how do you dilute 10% povidone-iodine for the eye?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5A35A"/>
                </a:solidFill>
                <a:latin typeface="Calibri"/>
              </a:rPr>
              <a:t>Sources used in this hour. Numbers match the cited label or paper. No invented Fossum page quotes.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29968"/>
            <a:ext cx="548640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Course texts
1. Fossum TW. Small Animal Surgery. 5th ed. Elsevier; 2018. ISBN 978-0-323-44344-9. Ch. 4, 5, 6, 9. Doses and dilutions on these slides are not quoted from Fossum pages.
2. Hendrickson DA, Baird AN. Turner and McIlwraith’s Techniques in Large Animal Surgery. 4th ed. Wiley-Blackwell; 2013. ISBN 978-1-118-27323-4.
3. Johnston SA, Tobias KM. Veterinary Surgery: Small Animal. 2nd ed. Elsevier Saunders; 2017 (copyright 2018). ISBN 978-0-323-32065-8.
Skin and eye numbers
4. Roberts SM, Severin GA, Lavach JD. Am J Vet Res. 1986;47(6):1207–1210. 10% PVP-I stock (1% available iodine); 1:50 recommended; 2-min scrub + 2-min soak.
5. BETADINE Surgical Scrub Veterinary, 7.5% PVP-I. DailyMed NDC 67618-154. Lather about 5 min, rinse, paint Solution Veterinary, dry.
6. BETADINE Solution Veterinary, 5% PVP-I (not 10%). DailyMed NDC 67618-155.
7. Nolvasan Surgical Scrub, 2% chlorhexidine acetate. DailyMed. Wash 2 to 4 min. Avoid eyes and mucous membranes.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029968"/>
            <a:ext cx="539496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Fasting and antimicrobials
8. Frey E, Costin M, Granick J, Kornya M, Weese JS. 2022 AAFP/AAHA Antimicrobial Stewardship Guidelines. J Am Anim Hosp Assoc. 2022;58(4):1–5. Start 30–60 min before incision; skip clean OHE; postop rarely required. Does not publish cefazolin mg/kg.
9. Grubb T, Sager J, Gaynor JS, Montgomery E, Parker JA, Shafford H, Tearney C. 2020 AAHA Anesthesia and Monitoring Guidelines for Dogs and Cats. J Am Anim Hosp Assoc. 2020. Healthy adult food fast 4–6 h; water until premedication.
10. Whittem TL, Johnson AL, Smith CW, et al. J Am Vet Med Assoc. 1999;215(2):212–216. First dose within 30 min of surgery; second dose if surgery lasted &gt;90 min.
11. Gonzalez OJ, Renberg WC, Roush JK, KuKanich B, Warner M. Am J Vet Res. 2017;78(6):695–701. Extra-label cefazolin 22 mg/kg IV studied in dogs.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10972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A35A"/>
                </a:solidFill>
                <a:latin typeface="Calibri"/>
              </a:rPr>
              <a:t>Dr. Yujin Kim, D.V.M., Ph.D., FFCP  ·  Lewyt College of Veterinary Medicine  ·  Long Island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C5A35A"/>
                </a:solidFill>
                <a:latin typeface="Calibri"/>
              </a:rPr>
              <a:t>38  /  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