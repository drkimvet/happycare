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Teach the ASA chart first. Then MoMo: PE, then labs, then the students write the status. Do not give them 4-E before they commit. Then Willie the same way: PE, then labs, then they write the status. Do not give them 3-E before they commit.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After the ASA chart: MoMo is the first quiz, then Willie. Neither is a treatment case.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name once: American Society of Anesthesiologists, ASA. Then read the 2020 AAHA table with MOA Appendix 2: Status 1 healthy, Status 2 mild and compensated, Status 3 moderate and compensated, Status 4 a constant threat to life, Status 5 moribund. E means emergency. Do not preview MoMo or Willie. Next: one cat’s PE, then labs, then they write the status. Then the dog.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ASA quiz, after the chart. Read the PE from today’s record. Do not say 4-E yet. Pause on the photograph. Be respectful; this cat died. Do not put the client name on the board. Vitals list QAR and tacky mucous membranes; the oral and neuro lines list pink moist CRT less than 2 seconds and BAR. Both wordings are on the record; do not reconcile them into a story. Fear-based aggression is on the history; do not put the owner incident on the board. Next slide is the actual lab numbers, then they write the status. No DexSP. No Unasyn. No Cerenia.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First chemistry: BUN 48.7 (15 to 32), creatinine 3.0 (0.8 to 1.8). Later panel: BUN 100, creatinine 4.71 (0.50 to 1.90), HCT 44 percent in range, BE minus 7.4, sodium 142, glucose 136. WBC 26, neutrophils 24. TP, total protein, is 5.1 grams per deciliter. Do not treat TP as albumin. Pardo 2.0 is albumin, not this number. Hyperphosphatemia is on the problem list without a milligrams-per-deciliter number on these pages. Fluids were recorded as 1.5 times maintenance, 40 milliliters per kilogram per day. Do not invent fluid overload as the mechanism. USG from the previous day was within normal limits. Differentials on the record are not assigned as the diagnosis. Do not advance until they say a number. Then the key: Status 4-E. Uncompensated, a constant threat to life. Not 1: the PE is not normal, and azotemia is not a healthy cat. Not 3: Status 3 is compensated. Rising creatinine, a non-functional right kidney, and a left kidney with reduced corticomedullary architecture are not compensated IRIS-stage CKD. Emergency because vomiting and lethargy are acute. The workup cancelled the cut. Owner elected euthanasia. Never put DexSP on this cat. Do not teach Unasyn or Cerenia as an ASA protocol. Slide 35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ASA quiz. Read the neuro exam from today’s record. Do not say 3-E yet. Do not put the client name on the board. Infected side is the left ear, AS. Head tilt and circling are to the left. Nystagmus: rapid phase left, slow phase right. Wheelbarrow left intact, right absent. Prolonged proprioception and knuckling on the right limbs when walking. Limbs slip. Do not turn this into a TECA or ear-clean plan. Do not assign central versus peripheral as the ASA. Next slide is the actual lab numbers, then they write the status. No DexSP, alfaxalone, ear clean, or TECA.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put the client name on the board. These are today’s printed numbers, not invented WNL. HCT 47.5 percent is on the CBC; this hour still teaches spun PCV on other patients. BUN 11.9 and creatinine 0.7 are in range. Phosphorus 6.0 and glucose 130 are above this lab’s range. Do not invent a renal diagnosis from phosphorus alone, and do not invent diabetes from one glucose. CBC values on this printout are in range. Do not advance until they say a number. Then the key: Status 3-E. Moderate systemic disease that is still compensated. Emergency because the left otitis plus the vestibular and proprioceptive signs are acute. Not 1: head tilt, circling, nystagmus, and right-sided knuckling are not a normal PE. Not 4: pink, CRT 2 seconds, BUN and creatinine in range, not a constant threat to life today. Mild high phosphorus and glucose do not write Status 4. No Willie treatment plan. Slide 36 is the written key.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They already wrote MoMo, then Willie, on the quizzes. ASA cells stay blank on purpose. Healthy Lab OHE is Status 1. PCV and TP method: EDTA, spin, read PCV, snap the capillary tube, refractometer TP. Do not invent percentages. A normal CBC does not write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Walk the math on the 25 kilogram ASA 1 elective OHE. Carprofen: 25 times 4.4 equals 110 milligrams; 110 divided by 50 milligrams per milliliter equals 2.2 milliliters SQ, Rimadyl label, about 2 hours before incision. Alfaxalone: 10 milligrams per milliliter. Unpremedicated field-study mean 2.2 milligrams per kilogram, so draw 55 milligrams which is 5.5 milliliters, then give IV to effect until you can intubate. You may not use the whole syringe. That 2.2 is a mean, not a fixed bolus. This example skips premed so every milliliter is from a US label. Hospital DKT or BAA still happens after ASA; do not invent those milligrams per kilogram on the board. LRS 125 milliliters per hour. Cat OHE: Onsior, not carprofen. Do not stack an NSAID with a steroid. It is not a hospital-patient protocol.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HCT 44 percent, TP 5.1 grams per deciliter, BUN 48.7 to 100, and creatinine 3.0 to 4.71 are written as recorded. Fluids 1.5 times maintenance, 40 milliliters per kilogram per day, are on the record. Do not invent overload as the cause. Do not treat TP 5.1 as the Pardo albumin cutoff. Say it once, respectfully, then continue.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That skip is Frey 2022 AAFP/AAHA Antimicrobial Stewardship. Timing the first dose 30 to 60 minutes before incision is also Frey 2022. Do not tell them AAHA published 22 milligrams per kilogram. That dose is Gonzalez 2017, extra-label in dogs. Whittem 1999 is a second dose if surgery lasted more than 90 minutes, not a q90 Gonzalez or AAHA schedule. Clean-contaminated: controlled entry into gut, airway, or bladder. Contaminated: fresh trauma or major spillage. Dirty: pus. An infected ear is dirty: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That is 0.2 percent. Do not put undiluted 10 percent human Betadine or undiluted 5 percent veterinary paint on the cornea. One case of corneal epithelial edema at 1 to 2, which is 5 percent. Do not upgrade that to a claim that Roberts proved massive toxicity from neat 10 percent; they recommended 1 to 50 after seeing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is looking down on a fenestrated drape: the hole is clipped, painted skin. Hair is under the drape, not in the window. Left is a real spay with hair at the margin: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0.2 percent, 2 plus 2 minutes, not undiluted 10 percent or 5 percent paint;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Respiratory rate: dog 8 to 20, cat 10 to 25 is the intra-op teaching band on this chart. Dogs often sit 10 to 20; 8 can be acceptable in a small dog or a deeper plane. Cats often sit 12 to 20. Fossum 20 to 40 is the conscious patient, on the PE slide. Do not cite Grubb for 8 to 20 or 10 to 25. Apnea is out of range; start PPV. Blood pressure floors: SAP 90, MAP 70, DAP 40, Grubb 2020.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first quiz. Status 4-E. Why not 1, why not 3. No DexSP. No Unasyn. No Cerenia. Do not invent fluid overload. Client identifiers stay off the board.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Written key after the second quiz. Status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then you write the ASA. Then prep. Then 24 hours of monitoring and complication management.</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American Society of Anesthesiologists (ASA) status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American Society of Anesthesiologists (ASA)</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moderate and compensated. Status 4 is uncompensated and a threat to life. Today’s PE and labs write the number. A normal CBC does not write Status 1.</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today’s PE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SF DSH, 6 yr, 4.25 kg, BCS 5/9. Acute vomiting and lethargy this morning. Two vomits (food, then liquid). Construction at home. T 98.0 °F, HR 200, RR 30, mm pink tacky, CRT &lt;2 s, QAR. Do not write the ASA yet.</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Possible FB or toxin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Abdomen and the rest of PE</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Mildly enlarged abdomen on palpation. Rectal not examined.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Eyes, ears, nose normal. Oral pink, CRT &lt;2. Lungs clear, eupneic. No murmur, regular rhythm. Ambulatory ×4. LN and skin WNL. Neuro: normal gait, CNs intact. MCS 3/3. Generalized small stature.</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44%  (28–50)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 (total protein)</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5.1 g/dL</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48.7 → 100 (15–32). Cr 3.0 → 4.71.</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WBC 26 (3–16). Neutrophils 24 (4–11). Na 142. BE −7.4. Glucose 136. Phos high; no number printed.</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600" b="1">
                <a:solidFill>
                  <a:srgbClr val="0B2C4A"/>
                </a:solidFill>
                <a:latin typeface="Calibri"/>
              </a:rPr>
              <a:t>Quiz. Assign ASA. Add E if emergency. Write it before you hear the key. AUS: right kidney fluid-filled, non-functional; left kidney reduced corticomedullary architecture.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3?</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Is this still compensated CKD, or a constant threat to life?</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Cut today?</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Exploratory on vomiting and an enlarged abdomen?</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today’s PE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MN Cavalier, 6 y 11 mo, 13.7 kg. Acute ataxia and disorientation ~1 hour. Found on the floor; fell off the couch twice. Cytopoint. T 100.8 °F, HR 132, RR 52, mm pink, CRT 2 s, dull/quiet. Do not write the ASA yet.</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Vestibular</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Head tilt / leaning toward the left (infected ear, AS). Stumbling. Circling or tight turns to the left. Nystagmus: rapid left, slow right.</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Wheelbarrow / CP</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Wheelbarrow: left intact, right absent. Prolonged proprioception, right limbs. Knuckling on the right limbs when walking. Limbs slip.</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Also on PE: Grade II/VI left systolic murmur. Lungs clear, eupneic. Heavy tartar. Yellow crusts on the nasal philtrum. Eyes: PLR present. Next: today’s chemistry and CBC. Then you write the ASA. Owner identifiers stay off these slides. Do not use a drug list on this dog.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labs. Write the ASA</a:t>
            </a:r>
          </a:p>
        </p:txBody>
      </p:sp>
      <p:sp>
        <p:nvSpPr>
          <p:cNvPr id="7" name="Rounded Rectangle 6"/>
          <p:cNvSpPr/>
          <p:nvPr/>
        </p:nvSpPr>
        <p:spPr>
          <a:xfrm>
            <a:off x="41148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61288"/>
            <a:ext cx="2423160" cy="329184"/>
          </a:xfrm>
          <a:prstGeom prst="rect">
            <a:avLst/>
          </a:prstGeom>
          <a:noFill/>
        </p:spPr>
        <p:txBody>
          <a:bodyPr wrap="square" anchor="t"/>
          <a:lstStyle/>
          <a:p>
            <a:pPr algn="l"/>
            <a:r>
              <a:rPr sz="1800" b="1">
                <a:solidFill>
                  <a:srgbClr val="0B2C4A"/>
                </a:solidFill>
                <a:latin typeface="Calibri"/>
              </a:rPr>
              <a:t>HCT</a:t>
            </a:r>
          </a:p>
        </p:txBody>
      </p:sp>
      <p:sp>
        <p:nvSpPr>
          <p:cNvPr id="10" name="TextBox 9"/>
          <p:cNvSpPr txBox="1"/>
          <p:nvPr/>
        </p:nvSpPr>
        <p:spPr>
          <a:xfrm>
            <a:off x="667512" y="1508760"/>
            <a:ext cx="2423160" cy="1399032"/>
          </a:xfrm>
          <a:prstGeom prst="rect">
            <a:avLst/>
          </a:prstGeom>
          <a:noFill/>
        </p:spPr>
        <p:txBody>
          <a:bodyPr wrap="square" anchor="t"/>
          <a:lstStyle/>
          <a:p>
            <a:pPr algn="l"/>
            <a:r>
              <a:rPr sz="1600" b="0">
                <a:solidFill>
                  <a:srgbClr val="3D4A57"/>
                </a:solidFill>
                <a:latin typeface="Calibri"/>
              </a:rPr>
              <a:t>47.5%  (36.9–60.0)</a:t>
            </a:r>
          </a:p>
        </p:txBody>
      </p:sp>
      <p:sp>
        <p:nvSpPr>
          <p:cNvPr id="11" name="Rounded Rectangle 10"/>
          <p:cNvSpPr/>
          <p:nvPr/>
        </p:nvSpPr>
        <p:spPr>
          <a:xfrm>
            <a:off x="333756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05156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2" y="1161288"/>
            <a:ext cx="2423160" cy="329184"/>
          </a:xfrm>
          <a:prstGeom prst="rect">
            <a:avLst/>
          </a:prstGeom>
          <a:noFill/>
        </p:spPr>
        <p:txBody>
          <a:bodyPr wrap="square" anchor="t"/>
          <a:lstStyle/>
          <a:p>
            <a:pPr algn="l"/>
            <a:r>
              <a:rPr sz="1800" b="1">
                <a:solidFill>
                  <a:srgbClr val="0B2C4A"/>
                </a:solidFill>
                <a:latin typeface="Calibri"/>
              </a:rPr>
              <a:t>TP</a:t>
            </a:r>
          </a:p>
        </p:txBody>
      </p:sp>
      <p:sp>
        <p:nvSpPr>
          <p:cNvPr id="14" name="TextBox 13"/>
          <p:cNvSpPr txBox="1"/>
          <p:nvPr/>
        </p:nvSpPr>
        <p:spPr>
          <a:xfrm>
            <a:off x="3593592" y="1508760"/>
            <a:ext cx="2423160" cy="1399032"/>
          </a:xfrm>
          <a:prstGeom prst="rect">
            <a:avLst/>
          </a:prstGeom>
          <a:noFill/>
        </p:spPr>
        <p:txBody>
          <a:bodyPr wrap="square" anchor="t"/>
          <a:lstStyle/>
          <a:p>
            <a:pPr algn="l"/>
            <a:r>
              <a:rPr sz="1600" b="0">
                <a:solidFill>
                  <a:srgbClr val="3D4A57"/>
                </a:solidFill>
                <a:latin typeface="Calibri"/>
              </a:rPr>
              <a:t>6.4 g/dL  (5.5–7.6)</a:t>
            </a:r>
          </a:p>
        </p:txBody>
      </p:sp>
      <p:sp>
        <p:nvSpPr>
          <p:cNvPr id="15" name="Rounded Rectangle 14"/>
          <p:cNvSpPr/>
          <p:nvPr/>
        </p:nvSpPr>
        <p:spPr>
          <a:xfrm>
            <a:off x="6263640" y="1051560"/>
            <a:ext cx="278892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051560"/>
            <a:ext cx="91440" cy="19659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19672" y="1161288"/>
            <a:ext cx="2423160" cy="329184"/>
          </a:xfrm>
          <a:prstGeom prst="rect">
            <a:avLst/>
          </a:prstGeom>
          <a:noFill/>
        </p:spPr>
        <p:txBody>
          <a:bodyPr wrap="square" anchor="t"/>
          <a:lstStyle/>
          <a:p>
            <a:pPr algn="l"/>
            <a:r>
              <a:rPr sz="1800" b="1">
                <a:solidFill>
                  <a:srgbClr val="0B2C4A"/>
                </a:solidFill>
                <a:latin typeface="Calibri"/>
              </a:rPr>
              <a:t>BUN / creatinine</a:t>
            </a:r>
          </a:p>
        </p:txBody>
      </p:sp>
      <p:sp>
        <p:nvSpPr>
          <p:cNvPr id="18" name="TextBox 17"/>
          <p:cNvSpPr txBox="1"/>
          <p:nvPr/>
        </p:nvSpPr>
        <p:spPr>
          <a:xfrm>
            <a:off x="6519672" y="1508760"/>
            <a:ext cx="2423160" cy="1399032"/>
          </a:xfrm>
          <a:prstGeom prst="rect">
            <a:avLst/>
          </a:prstGeom>
          <a:noFill/>
        </p:spPr>
        <p:txBody>
          <a:bodyPr wrap="square" anchor="t"/>
          <a:lstStyle/>
          <a:p>
            <a:pPr algn="l"/>
            <a:r>
              <a:rPr sz="1600" b="0">
                <a:solidFill>
                  <a:srgbClr val="3D4A57"/>
                </a:solidFill>
                <a:latin typeface="Calibri"/>
              </a:rPr>
              <a:t>BUN 11.9 (9.0–29.0). Cr 0.7 (0.4–1.4).</a:t>
            </a:r>
          </a:p>
        </p:txBody>
      </p:sp>
      <p:sp>
        <p:nvSpPr>
          <p:cNvPr id="19" name="Rounded Rectangle 18"/>
          <p:cNvSpPr/>
          <p:nvPr/>
        </p:nvSpPr>
        <p:spPr>
          <a:xfrm>
            <a:off x="9189720" y="1051560"/>
            <a:ext cx="260604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051560"/>
            <a:ext cx="91440" cy="19659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45752" y="1161288"/>
            <a:ext cx="2240280" cy="329184"/>
          </a:xfrm>
          <a:prstGeom prst="rect">
            <a:avLst/>
          </a:prstGeom>
          <a:noFill/>
        </p:spPr>
        <p:txBody>
          <a:bodyPr wrap="square" anchor="t"/>
          <a:lstStyle/>
          <a:p>
            <a:pPr algn="l"/>
            <a:r>
              <a:rPr sz="1800" b="1">
                <a:solidFill>
                  <a:srgbClr val="0B2C4A"/>
                </a:solidFill>
                <a:latin typeface="Calibri"/>
              </a:rPr>
              <a:t>Out of range</a:t>
            </a:r>
          </a:p>
        </p:txBody>
      </p:sp>
      <p:sp>
        <p:nvSpPr>
          <p:cNvPr id="22" name="TextBox 21"/>
          <p:cNvSpPr txBox="1"/>
          <p:nvPr/>
        </p:nvSpPr>
        <p:spPr>
          <a:xfrm>
            <a:off x="9445752" y="1508760"/>
            <a:ext cx="2240280" cy="1399032"/>
          </a:xfrm>
          <a:prstGeom prst="rect">
            <a:avLst/>
          </a:prstGeom>
          <a:noFill/>
        </p:spPr>
        <p:txBody>
          <a:bodyPr wrap="square" anchor="t"/>
          <a:lstStyle/>
          <a:p>
            <a:pPr algn="l"/>
            <a:r>
              <a:rPr sz="1600" b="0">
                <a:solidFill>
                  <a:srgbClr val="3D4A57"/>
                </a:solidFill>
                <a:latin typeface="Calibri"/>
              </a:rPr>
              <a:t>Phos 6.0 (1.9–5.0). Glucose 130 (75–125). CBC in range.</a:t>
            </a:r>
          </a:p>
        </p:txBody>
      </p:sp>
      <p:sp>
        <p:nvSpPr>
          <p:cNvPr id="23" name="Rounded Rectangle 22"/>
          <p:cNvSpPr/>
          <p:nvPr/>
        </p:nvSpPr>
        <p:spPr>
          <a:xfrm>
            <a:off x="411480" y="3154680"/>
            <a:ext cx="1133856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246120"/>
            <a:ext cx="10927080" cy="1051560"/>
          </a:xfrm>
          <a:prstGeom prst="rect">
            <a:avLst/>
          </a:prstGeom>
          <a:noFill/>
        </p:spPr>
        <p:txBody>
          <a:bodyPr wrap="square" anchor="ctr"/>
          <a:lstStyle/>
          <a:p>
            <a:pPr algn="l"/>
            <a:r>
              <a:rPr sz="1800" b="1">
                <a:solidFill>
                  <a:srgbClr val="0B2C4A"/>
                </a:solidFill>
                <a:latin typeface="Calibri"/>
              </a:rPr>
              <a:t>Quiz. Assign ASA. Add E if emergency. Write it before you hear the key. HCT in range does not write Status 1.</a:t>
            </a:r>
          </a:p>
        </p:txBody>
      </p:sp>
      <p:sp>
        <p:nvSpPr>
          <p:cNvPr id="25" name="Rounded Rectangle 24"/>
          <p:cNvSpPr/>
          <p:nvPr/>
        </p:nvSpPr>
        <p:spPr>
          <a:xfrm>
            <a:off x="41148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526280"/>
            <a:ext cx="91440" cy="1920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 y="4636008"/>
            <a:ext cx="3337560" cy="329184"/>
          </a:xfrm>
          <a:prstGeom prst="rect">
            <a:avLst/>
          </a:prstGeom>
          <a:noFill/>
        </p:spPr>
        <p:txBody>
          <a:bodyPr wrap="square" anchor="t"/>
          <a:lstStyle/>
          <a:p>
            <a:pPr algn="l"/>
            <a:r>
              <a:rPr sz="1800" b="1">
                <a:solidFill>
                  <a:srgbClr val="0B2C4A"/>
                </a:solidFill>
                <a:latin typeface="Calibri"/>
              </a:rPr>
              <a:t>1. Status?</a:t>
            </a:r>
          </a:p>
        </p:txBody>
      </p:sp>
      <p:sp>
        <p:nvSpPr>
          <p:cNvPr id="28" name="TextBox 27"/>
          <p:cNvSpPr txBox="1"/>
          <p:nvPr/>
        </p:nvSpPr>
        <p:spPr>
          <a:xfrm>
            <a:off x="667512" y="4983480"/>
            <a:ext cx="3337560" cy="1353312"/>
          </a:xfrm>
          <a:prstGeom prst="rect">
            <a:avLst/>
          </a:prstGeom>
          <a:noFill/>
        </p:spPr>
        <p:txBody>
          <a:bodyPr wrap="square" anchor="t"/>
          <a:lstStyle/>
          <a:p>
            <a:pPr algn="l"/>
            <a:r>
              <a:rPr sz="1600" b="0">
                <a:solidFill>
                  <a:srgbClr val="3D4A57"/>
                </a:solidFill>
                <a:latin typeface="Calibri"/>
              </a:rPr>
              <a:t>Number, and E or not.</a:t>
            </a:r>
          </a:p>
        </p:txBody>
      </p:sp>
      <p:sp>
        <p:nvSpPr>
          <p:cNvPr id="29" name="Rounded Rectangle 28"/>
          <p:cNvSpPr/>
          <p:nvPr/>
        </p:nvSpPr>
        <p:spPr>
          <a:xfrm>
            <a:off x="4251960" y="4526280"/>
            <a:ext cx="370332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51960" y="4526280"/>
            <a:ext cx="91440" cy="19202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4636008"/>
            <a:ext cx="3337560" cy="329184"/>
          </a:xfrm>
          <a:prstGeom prst="rect">
            <a:avLst/>
          </a:prstGeom>
          <a:noFill/>
        </p:spPr>
        <p:txBody>
          <a:bodyPr wrap="square" anchor="t"/>
          <a:lstStyle/>
          <a:p>
            <a:pPr algn="l"/>
            <a:r>
              <a:rPr sz="1800" b="1">
                <a:solidFill>
                  <a:srgbClr val="0B2C4A"/>
                </a:solidFill>
                <a:latin typeface="Calibri"/>
              </a:rPr>
              <a:t>2. Why not Status 1?</a:t>
            </a:r>
          </a:p>
        </p:txBody>
      </p:sp>
      <p:sp>
        <p:nvSpPr>
          <p:cNvPr id="32" name="TextBox 31"/>
          <p:cNvSpPr txBox="1"/>
          <p:nvPr/>
        </p:nvSpPr>
        <p:spPr>
          <a:xfrm>
            <a:off x="4507992" y="4983480"/>
            <a:ext cx="3337560" cy="1353312"/>
          </a:xfrm>
          <a:prstGeom prst="rect">
            <a:avLst/>
          </a:prstGeom>
          <a:noFill/>
        </p:spPr>
        <p:txBody>
          <a:bodyPr wrap="square" anchor="t"/>
          <a:lstStyle/>
          <a:p>
            <a:pPr algn="l"/>
            <a:r>
              <a:rPr sz="1600" b="0">
                <a:solidFill>
                  <a:srgbClr val="3D4A57"/>
                </a:solidFill>
                <a:latin typeface="Calibri"/>
              </a:rPr>
              <a:t>What on today’s PE is not a normal healthy patient?</a:t>
            </a:r>
          </a:p>
        </p:txBody>
      </p:sp>
      <p:sp>
        <p:nvSpPr>
          <p:cNvPr id="33" name="Rounded Rectangle 32"/>
          <p:cNvSpPr/>
          <p:nvPr/>
        </p:nvSpPr>
        <p:spPr>
          <a:xfrm>
            <a:off x="8092440" y="4526280"/>
            <a:ext cx="3657600" cy="19202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92440" y="4526280"/>
            <a:ext cx="91440" cy="19202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48472" y="4636008"/>
            <a:ext cx="3291840" cy="329184"/>
          </a:xfrm>
          <a:prstGeom prst="rect">
            <a:avLst/>
          </a:prstGeom>
          <a:noFill/>
        </p:spPr>
        <p:txBody>
          <a:bodyPr wrap="square" anchor="t"/>
          <a:lstStyle/>
          <a:p>
            <a:pPr algn="l"/>
            <a:r>
              <a:rPr sz="1800" b="1">
                <a:solidFill>
                  <a:srgbClr val="0B2C4A"/>
                </a:solidFill>
                <a:latin typeface="Calibri"/>
              </a:rPr>
              <a:t>3. Why not Status 4?</a:t>
            </a:r>
          </a:p>
        </p:txBody>
      </p:sp>
      <p:sp>
        <p:nvSpPr>
          <p:cNvPr id="36" name="TextBox 35"/>
          <p:cNvSpPr txBox="1"/>
          <p:nvPr/>
        </p:nvSpPr>
        <p:spPr>
          <a:xfrm>
            <a:off x="8348472" y="4983480"/>
            <a:ext cx="3291840" cy="1353312"/>
          </a:xfrm>
          <a:prstGeom prst="rect">
            <a:avLst/>
          </a:prstGeom>
          <a:noFill/>
        </p:spPr>
        <p:txBody>
          <a:bodyPr wrap="square" anchor="t"/>
          <a:lstStyle/>
          <a:p>
            <a:pPr algn="l"/>
            <a:r>
              <a:rPr sz="1600" b="0">
                <a:solidFill>
                  <a:srgbClr val="3D4A57"/>
                </a:solidFill>
                <a:latin typeface="Calibri"/>
              </a:rPr>
              <a:t>Is this a constant threat to life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Hospital: DKT or BAA. Same columns, hospital doses.</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10 mg/mL. Draw 5.5 mL. Give until you can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if you add it, lowers MAC and lowers alfaxalone.</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first. Clean elective: skip (Frey 2022 AAFP/AAHA stewardship). When prophylaxis is indicated: 30–60 min before incision; cefazolin 22 mg/kg IV (Gonzalez 2017, extra-label). Redose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0.2% only. 2 min scrub + 2 min soak. Do not put 10% or 5% undiluted on the cornea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0.2%: 2 min scrub + 2 min soak
10% stock → dilute 1:50
5% bottle → dilute 1:25
Not 10% or 5% undiluted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healthy cornea. 1:50 of 10% = 0.2%, 2-min scrub + 2-min soak. Do not use undiluted 10% or undiluted 5% paint. 1:2 caused edema in 1/15 eyes. Perforation: saline.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0.2% (10% 1:50 or 5% 1:25). 2 min + 2 min. Not 10% or 5% undiluted.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The window: clipped skin only</a:t>
            </a:r>
          </a:p>
        </p:txBody>
      </p:sp>
      <p:pic>
        <p:nvPicPr>
          <p:cNvPr id="12" name="Picture 11" descr="yap_surgical_window.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Hair stays under the drape. Re-clip until the window is hair-free.
Photos: Cpl. Samuel A. Nasso, USMC, public domain; MC1 Ryan D. McLearnon, USN,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0.2% (10% 1:50 or 5% 1:25), 2 min scrub + 2 min soak. Not 10% or 5% undiluted.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MoMo is Status 4-E</a:t>
            </a:r>
          </a:p>
        </p:txBody>
      </p:sp>
      <p:sp>
        <p:nvSpPr>
          <p:cNvPr id="7" name="Rounded Rectangle 6"/>
          <p:cNvSpPr/>
          <p:nvPr/>
        </p:nvSpPr>
        <p:spPr>
          <a:xfrm>
            <a:off x="457200" y="1051560"/>
            <a:ext cx="11247120" cy="73152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MoMo  ·  SF DSH  ·  4.25 kg  ·  today’s PE and today’s labs write the status. Do not cut.</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FFFFFF"/>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vomiting and lethargy. Azotemia. Right kidney fluid-filled and non-functional. Left kidney reduced corticomedullary architecture.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FFFFFF"/>
                </a:solidFill>
                <a:latin typeface="Calibri"/>
              </a:rPr>
              <a:t>Uncompensated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BUN 48.7 → 100. Cr 3.0 → 4.71. BE −7.4. Na 142. HR 200, tacky mm. That is a constant threat to life.</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FFFFFF"/>
                </a:solidFill>
                <a:latin typeface="Calibri"/>
              </a:rPr>
              <a:t>Not Status 3</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Status 3 is moderate and compensated. A HCT of 44% in range does not write Status 1. This is not compensated CKD.</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FFFFFF"/>
                </a:solidFill>
                <a:latin typeface="Calibri"/>
              </a:rPr>
              <a:t>Do not cut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Exploratory cancelled. NSAIDs contraindicated. Owner elected euthanasia. Record SURGERY CANCELLED.</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Answer: Willie is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and today’s labs write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AS otitis. Head tilt left. Circling left. Nystagmus rapid left, slow right. Wheelbarrow right absent. Knuckling, right limbs. Grade II/VI murmur.</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CRT 2 s. BUN 11.9 and creatinine 0.7 in range.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HCT 47.5% in range does not write Status 1. This neuro PE is not a normal healthy patient.</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Phos 6.0 and glucose 130 are high. They do not write Status 4. Status 4 is a constant threat to life.</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