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We sedated him. MoMo, a 6-year SF DSH, 4.25 kg, vomiting that looked like a foreign-body surgery. Imaging cancelled the exploratory. Assign both ASA statuses. Owner identifiers stay off these slides. We use the 2026 CPE Manual of Administration anesthesia and surgery chapters as the competency list for this hour, not as an exam-prep course. Thirty-eight slides. If discussion runs, protect antiseptics, both cases,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Part II (prep pictures) and both cases.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own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number 3 and 4. Do your own PE, then use technician vitals as a second set of numbers. CPE MOA 2026 Anesthesia: premedicating before the examination is a dismissible event. Premed is IM or SQ. If today’s ASA is not Status 1, change the drug plan before you inject.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Status 1 healthy neuter, Status 2 compensated mild mitral, Status 3 moderate disease such as IRIS 3 CKD, Status 4 threat to life such as bleeding splenic mass, Status 5 moribund septic cat. CPE MOA 2026 Appendix 2 uses the same five statuses. Then map Willie to 3-E and MoMo to 4-E. E means emergency.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(sedation). D is MoMo (exploratory cancelled).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murmur. Right-sided knuckling with left circling: treat as central vestibular plus otitis, then sedate. Aminoglycosides are a risk if the middle ear is involved even when the drum looks present.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MoMo is the cat whose films looked like maybe GI and were kidneys. Cold-call: who would have clipped her on history alone? Be respectful; this cat died. The teaching point is judgment.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 labs that change the plan. They inform the ASA number. Today’s PE writes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AAHA 2020 lists K greater than 6.0 as a condition to correct before anesthesia. PCV and platelet numbers are teaching flags. Willie: CBC is unremarkable; Status 3-E is the exam. MoMo: WBC about 26 and creatinine 3.0 then 4.71.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want to average numbers into an ASA score. Do not. The PE assigns status. MoMo’s kidneys set Status 4. Willie’s neuro exam set Status 3 even with a normal CBC.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Resuscitate first, then clip. Delay elective OHE for pyoderma. Take GDV to surgery after resuscitation. MoMo: image and run labs, then cancel the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A 2-minute risk talk prevents a 2-hour complaint.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both formulas. Dog tube: kilograms divided by 4, plus 3.5. Willie 13.7: 3.425 plus 3.5 is 6.9, so start 7.0 millimeter, with 6.5 and 7.5 in the hand. Confirm on the larynx: largest that passes without trauma. Bag: kilograms times 60 milliliters, round up. Willie 822 milliliters is a 1 liter bag, circle. Healthy 25 kilogram Lab: 9.75 goes to 10 millimeter, 1500 milliliters rounds up to 2 liters. MoMo is cancelled, but if a 4.25 kilogram cat were anesthetized: cat tube 3.5 to 4.0, not the dog formula, 0.5 liter bag, non-rebreathing, oxygen 200 to 400 milliliters per kilogram per minute. Leak-test, then open the pop-off. Premed is the gold bar: DKT or BAA if healthy, alfaxalone for Willie.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Skip NSAID after DexSP. Recovery is on the same page. This hour is preop, patient prep, and recovery, not the intra-op grid.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22 milligrams per kilogram IV out loud. Do not attribute that dose to AAHA 2022. Frey 2022 says when: 30 to 60 minutes before incision, skip clean OHE, stop postop. Whittem 1999 timed a second dose if surgery lasted more than 90 minutes. Gonzalez 2017 used 22 mg/kg IV. Elective canine OHE: skip the 14-day cephalexin prescription.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Willie: TECA field is pinna and skull. MoMo: skip the clippers.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fluids off the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Before incision, one unrecognized break is a warning. After incision, there is no warning. Ureter injury is a calm, well-exposed patient problem. The 24-hour window is why recovery is in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the board math: Willie 7.0 millimeter tube, 1 liter bag. B is Roberts 1986 bottle math. D is CHG off the cornea. If a student asks about the blocked cat: stabilize potassium first.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Photograph it. Pale plus tachycardic after celiotomy: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carprofen for dogs and Onsior 2 mg/kg SQ for cats or dogs per label.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cancelled her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versus MoMo ASA from the 2020 AAHA table, then Willie 13.7 kg: start 7.0 mm ETT, 1 L bag. Iodine if asked: Roberts 1 to 50 of 10 percent stock.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Willie (Cavalier, ASA Status 3-E): sedate.
MoMo (cat, ASA Status 4-E): cancel the exploratory.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Proceed, delay, or stabilize. Premedicate only after that exam.</a:t>
            </a:r>
          </a:p>
          <a:p>
            <a:pPr algn="l">
              <a:spcAft>
                <a:spcPts val="1200"/>
              </a:spcAft>
            </a:pPr>
            <a:r>
              <a:rPr sz="2000" b="0">
                <a:solidFill>
                  <a:srgbClr val="1C1C1C"/>
                </a:solidFill>
                <a:latin typeface="Calibri"/>
              </a:rPr>
              <a:t>▸  Write the peri-op plan: fasting, analgesia, antibiotics, consent, ETT, reservoir bag, breathing system.</a:t>
            </a:r>
          </a:p>
          <a:p>
            <a:pPr algn="l">
              <a:spcAft>
                <a:spcPts val="1200"/>
              </a:spcAft>
            </a:pPr>
            <a:r>
              <a:rPr sz="2000" b="0">
                <a:solidFill>
                  <a:srgbClr val="1C1C1C"/>
                </a:solidFill>
                <a:latin typeface="Calibri"/>
              </a:rPr>
              <a:t>▸  Prep for aseptic surgery: clip, labeled antiseptics, 10% PVP-I 1:50 for the eye, drape, closed glove.</a:t>
            </a:r>
          </a:p>
          <a:p>
            <a:pPr algn="l">
              <a:spcAft>
                <a:spcPts val="1200"/>
              </a:spcAft>
            </a:pPr>
            <a:r>
              <a:rPr sz="2000" b="0">
                <a:solidFill>
                  <a:srgbClr val="1C1C1C"/>
                </a:solidFill>
                <a:latin typeface="Calibri"/>
              </a:rPr>
              <a:t>▸  Name a break in asepsis and correct it, before or after the incision.</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800" b="0">
                <a:solidFill>
                  <a:srgbClr val="0B2C4A"/>
                </a:solidFill>
                <a:latin typeface="Calibri"/>
              </a:rPr>
              <a:t>Willie: examine, ASA 3-E, then sedate.   MoMo: examine, image, labs, then cancel.</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WHY THIS HOUR EXISTS. CPE MOA 2026 SURGERY: PREPARE THE PATIENT, PREPARE YOURSELF, PERFORM THE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site infection</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Decisions made before incision</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from a weak ligature, or herniation from a weak linea, is still the operation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then labs, ASA
Then IM/SQ premed
ETT, bag, circuit
Leak-test the machine</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own the first 24 hours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ANESTHESIA: EXAMINE, REQUEST LABS, ASSIGN ASA, THEN PREMEDICATE.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evaluation</a:t>
            </a:r>
          </a:p>
        </p:txBody>
      </p:sp>
      <p:sp>
        <p:nvSpPr>
          <p:cNvPr id="8" name="Rounded Rectangle 7"/>
          <p:cNvSpPr/>
          <p:nvPr/>
        </p:nvSpPr>
        <p:spPr>
          <a:xfrm>
            <a:off x="41148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640080" cy="1298448"/>
          </a:xfrm>
          <a:prstGeom prst="rect">
            <a:avLst/>
          </a:prstGeom>
          <a:noFill/>
        </p:spPr>
        <p:txBody>
          <a:bodyPr wrap="square" anchor="ctr"/>
          <a:lstStyle/>
          <a:p>
            <a:pPr algn="ctr"/>
            <a:r>
              <a:rPr sz="1800" b="1">
                <a:solidFill>
                  <a:srgbClr val="C5A35A"/>
                </a:solidFill>
                <a:latin typeface="Calibri"/>
              </a:rPr>
              <a:t>01</a:t>
            </a:r>
          </a:p>
        </p:txBody>
      </p:sp>
      <p:sp>
        <p:nvSpPr>
          <p:cNvPr id="11" name="TextBox 10"/>
          <p:cNvSpPr txBox="1"/>
          <p:nvPr/>
        </p:nvSpPr>
        <p:spPr>
          <a:xfrm>
            <a:off x="1234440" y="1133856"/>
            <a:ext cx="470916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234440" y="1527048"/>
            <a:ext cx="4709160" cy="685800"/>
          </a:xfrm>
          <a:prstGeom prst="rect">
            <a:avLst/>
          </a:prstGeom>
          <a:noFill/>
        </p:spPr>
        <p:txBody>
          <a:bodyPr wrap="square" anchor="t"/>
          <a:lstStyle/>
          <a:p>
            <a:pPr algn="l"/>
            <a:r>
              <a:rPr sz="1600" b="0">
                <a:solidFill>
                  <a:srgbClr val="3D4A57"/>
                </a:solidFill>
                <a:latin typeface="Calibri"/>
              </a:rPr>
              <a:t>Confirm the lesion, laterality, and that surgery is indicated.</a:t>
            </a:r>
          </a:p>
        </p:txBody>
      </p:sp>
      <p:sp>
        <p:nvSpPr>
          <p:cNvPr id="13" name="Rounded Rectangle 12"/>
          <p:cNvSpPr/>
          <p:nvPr/>
        </p:nvSpPr>
        <p:spPr>
          <a:xfrm>
            <a:off x="630936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024128"/>
            <a:ext cx="640080" cy="1298448"/>
          </a:xfrm>
          <a:prstGeom prst="rect">
            <a:avLst/>
          </a:prstGeom>
          <a:noFill/>
        </p:spPr>
        <p:txBody>
          <a:bodyPr wrap="square" anchor="ctr"/>
          <a:lstStyle/>
          <a:p>
            <a:pPr algn="ctr"/>
            <a:r>
              <a:rPr sz="1800" b="1">
                <a:solidFill>
                  <a:srgbClr val="C5A35A"/>
                </a:solidFill>
                <a:latin typeface="Calibri"/>
              </a:rPr>
              <a:t>02</a:t>
            </a:r>
          </a:p>
        </p:txBody>
      </p:sp>
      <p:sp>
        <p:nvSpPr>
          <p:cNvPr id="16" name="TextBox 15"/>
          <p:cNvSpPr txBox="1"/>
          <p:nvPr/>
        </p:nvSpPr>
        <p:spPr>
          <a:xfrm>
            <a:off x="7132320" y="1133856"/>
            <a:ext cx="470916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7132320" y="1527048"/>
            <a:ext cx="4709160" cy="685800"/>
          </a:xfrm>
          <a:prstGeom prst="rect">
            <a:avLst/>
          </a:prstGeom>
          <a:noFill/>
        </p:spPr>
        <p:txBody>
          <a:bodyPr wrap="square" anchor="t"/>
          <a:lstStyle/>
          <a:p>
            <a:pPr algn="l"/>
            <a:r>
              <a:rPr sz="1600" b="0">
                <a:solidFill>
                  <a:srgbClr val="3D4A57"/>
                </a:solidFill>
                <a:latin typeface="Calibri"/>
              </a:rPr>
              <a:t>Assign ASA after today’s examination and labs. Write that number on the record.</a:t>
            </a:r>
          </a:p>
        </p:txBody>
      </p:sp>
      <p:sp>
        <p:nvSpPr>
          <p:cNvPr id="18" name="Rounded Rectangle 17"/>
          <p:cNvSpPr/>
          <p:nvPr/>
        </p:nvSpPr>
        <p:spPr>
          <a:xfrm>
            <a:off x="41148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441448"/>
            <a:ext cx="640080" cy="1298448"/>
          </a:xfrm>
          <a:prstGeom prst="rect">
            <a:avLst/>
          </a:prstGeom>
          <a:noFill/>
        </p:spPr>
        <p:txBody>
          <a:bodyPr wrap="square" anchor="ctr"/>
          <a:lstStyle/>
          <a:p>
            <a:pPr algn="ctr"/>
            <a:r>
              <a:rPr sz="1800" b="1">
                <a:solidFill>
                  <a:srgbClr val="C5A35A"/>
                </a:solidFill>
                <a:latin typeface="Calibri"/>
              </a:rPr>
              <a:t>03</a:t>
            </a:r>
          </a:p>
        </p:txBody>
      </p:sp>
      <p:sp>
        <p:nvSpPr>
          <p:cNvPr id="21" name="TextBox 20"/>
          <p:cNvSpPr txBox="1"/>
          <p:nvPr/>
        </p:nvSpPr>
        <p:spPr>
          <a:xfrm>
            <a:off x="1234440" y="2551176"/>
            <a:ext cx="4709160" cy="365760"/>
          </a:xfrm>
          <a:prstGeom prst="rect">
            <a:avLst/>
          </a:prstGeom>
          <a:noFill/>
        </p:spPr>
        <p:txBody>
          <a:bodyPr wrap="square" anchor="t"/>
          <a:lstStyle/>
          <a:p>
            <a:pPr algn="l"/>
            <a:r>
              <a:rPr sz="1800" b="1">
                <a:solidFill>
                  <a:srgbClr val="0B2C4A"/>
                </a:solidFill>
                <a:latin typeface="Calibri"/>
              </a:rPr>
              <a:t>Fix what you can first</a:t>
            </a:r>
          </a:p>
        </p:txBody>
      </p:sp>
      <p:sp>
        <p:nvSpPr>
          <p:cNvPr id="22" name="TextBox 21"/>
          <p:cNvSpPr txBox="1"/>
          <p:nvPr/>
        </p:nvSpPr>
        <p:spPr>
          <a:xfrm>
            <a:off x="1234440" y="2944368"/>
            <a:ext cx="4709160" cy="685800"/>
          </a:xfrm>
          <a:prstGeom prst="rect">
            <a:avLst/>
          </a:prstGeom>
          <a:noFill/>
        </p:spPr>
        <p:txBody>
          <a:bodyPr wrap="square" anchor="t"/>
          <a:lstStyle/>
          <a:p>
            <a:pPr algn="l"/>
            <a:r>
              <a:rPr sz="1600" b="0">
                <a:solidFill>
                  <a:srgbClr val="3D4A57"/>
                </a:solidFill>
                <a:latin typeface="Calibri"/>
              </a:rPr>
              <a:t>Dehydration, anemia, electrolyte crises, uncontrolled diabetes, full bladder, pyoderma over the site.</a:t>
            </a:r>
          </a:p>
        </p:txBody>
      </p:sp>
      <p:sp>
        <p:nvSpPr>
          <p:cNvPr id="23" name="Rounded Rectangle 22"/>
          <p:cNvSpPr/>
          <p:nvPr/>
        </p:nvSpPr>
        <p:spPr>
          <a:xfrm>
            <a:off x="630936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2441448"/>
            <a:ext cx="640080" cy="1298448"/>
          </a:xfrm>
          <a:prstGeom prst="rect">
            <a:avLst/>
          </a:prstGeom>
          <a:noFill/>
        </p:spPr>
        <p:txBody>
          <a:bodyPr wrap="square" anchor="ctr"/>
          <a:lstStyle/>
          <a:p>
            <a:pPr algn="ctr"/>
            <a:r>
              <a:rPr sz="1800" b="1">
                <a:solidFill>
                  <a:srgbClr val="C5A35A"/>
                </a:solidFill>
                <a:latin typeface="Calibri"/>
              </a:rPr>
              <a:t>04</a:t>
            </a:r>
          </a:p>
        </p:txBody>
      </p:sp>
      <p:sp>
        <p:nvSpPr>
          <p:cNvPr id="26" name="TextBox 25"/>
          <p:cNvSpPr txBox="1"/>
          <p:nvPr/>
        </p:nvSpPr>
        <p:spPr>
          <a:xfrm>
            <a:off x="7132320" y="2551176"/>
            <a:ext cx="470916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7132320" y="2944368"/>
            <a:ext cx="4709160" cy="685800"/>
          </a:xfrm>
          <a:prstGeom prst="rect">
            <a:avLst/>
          </a:prstGeom>
          <a:noFill/>
        </p:spPr>
        <p:txBody>
          <a:bodyPr wrap="square" anchor="t"/>
          <a:lstStyle/>
          <a:p>
            <a:pPr algn="l"/>
            <a:r>
              <a:rPr sz="1600" b="0">
                <a:solidFill>
                  <a:srgbClr val="3D4A57"/>
                </a:solidFill>
                <a:latin typeface="Calibri"/>
              </a:rPr>
              <a:t>Approach, positioning, implants, blood products, ICU bed, who calls the client.</a:t>
            </a:r>
          </a:p>
        </p:txBody>
      </p:sp>
      <p:sp>
        <p:nvSpPr>
          <p:cNvPr id="28" name="Rounded Rectangle 27"/>
          <p:cNvSpPr/>
          <p:nvPr/>
        </p:nvSpPr>
        <p:spPr>
          <a:xfrm>
            <a:off x="411480" y="3950208"/>
            <a:ext cx="7452360" cy="24231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041648"/>
            <a:ext cx="7040880" cy="292608"/>
          </a:xfrm>
          <a:prstGeom prst="rect">
            <a:avLst/>
          </a:prstGeom>
          <a:noFill/>
        </p:spPr>
        <p:txBody>
          <a:bodyPr wrap="square" anchor="t"/>
          <a:lstStyle/>
          <a:p>
            <a:pPr algn="l"/>
            <a:r>
              <a:rPr sz="1600" b="1">
                <a:solidFill>
                  <a:srgbClr val="1B6B7A"/>
                </a:solidFill>
                <a:latin typeface="Calibri"/>
              </a:rPr>
              <a:t>History and PE, then any drug</a:t>
            </a:r>
          </a:p>
        </p:txBody>
      </p:sp>
      <p:sp>
        <p:nvSpPr>
          <p:cNvPr id="30" name="TextBox 29"/>
          <p:cNvSpPr txBox="1"/>
          <p:nvPr/>
        </p:nvSpPr>
        <p:spPr>
          <a:xfrm>
            <a:off x="594360" y="4370832"/>
            <a:ext cx="7086600" cy="1874519"/>
          </a:xfrm>
          <a:prstGeom prst="rect">
            <a:avLst/>
          </a:prstGeom>
          <a:noFill/>
        </p:spPr>
        <p:txBody>
          <a:bodyPr wrap="square">
            <a:spAutoFit/>
          </a:bodyPr>
          <a:lstStyle/>
          <a:p>
            <a:pPr algn="l">
              <a:spcAft>
                <a:spcPts val="500"/>
              </a:spcAft>
            </a:pPr>
            <a:r>
              <a:rPr sz="1600" b="0">
                <a:solidFill>
                  <a:srgbClr val="1C1C1C"/>
                </a:solidFill>
                <a:latin typeface="Calibri"/>
              </a:rPr>
              <a:t>▸  Signalment, last meal, medications, prior anesthesia, bleeding tendency.</a:t>
            </a:r>
          </a:p>
          <a:p>
            <a:pPr algn="l">
              <a:spcAft>
                <a:spcPts val="500"/>
              </a:spcAft>
            </a:pPr>
            <a:r>
              <a:rPr sz="1600" b="0">
                <a:solidFill>
                  <a:srgbClr val="1C1C1C"/>
                </a:solidFill>
                <a:latin typeface="Calibri"/>
              </a:rPr>
              <a:t>▸  TPR, mm, CRT, hydration, murmur, lungs, surgical site, abdomen, neuro if indicated.</a:t>
            </a:r>
          </a:p>
          <a:p>
            <a:pPr algn="l">
              <a:spcAft>
                <a:spcPts val="500"/>
              </a:spcAft>
            </a:pPr>
            <a:r>
              <a:rPr sz="1600" b="0">
                <a:solidFill>
                  <a:srgbClr val="1C1C1C"/>
                </a:solidFill>
                <a:latin typeface="Calibri"/>
              </a:rPr>
              <a:t>▸  Record the examination. The next clinician reads what you wrote.</a:t>
            </a:r>
          </a:p>
        </p:txBody>
      </p:sp>
      <p:sp>
        <p:nvSpPr>
          <p:cNvPr id="31" name="Rounded Rectangle 30"/>
          <p:cNvSpPr/>
          <p:nvPr/>
        </p:nvSpPr>
        <p:spPr>
          <a:xfrm>
            <a:off x="8046720" y="3950208"/>
            <a:ext cx="3611880" cy="242316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0" y="4069080"/>
            <a:ext cx="3291840" cy="365760"/>
          </a:xfrm>
          <a:prstGeom prst="rect">
            <a:avLst/>
          </a:prstGeom>
          <a:noFill/>
        </p:spPr>
        <p:txBody>
          <a:bodyPr wrap="square" anchor="t"/>
          <a:lstStyle/>
          <a:p>
            <a:pPr algn="l"/>
            <a:r>
              <a:rPr sz="1600" b="1">
                <a:solidFill>
                  <a:srgbClr val="C5A35A"/>
                </a:solidFill>
                <a:latin typeface="Calibri"/>
              </a:rPr>
              <a:t>Order of operations</a:t>
            </a:r>
          </a:p>
        </p:txBody>
      </p:sp>
      <p:sp>
        <p:nvSpPr>
          <p:cNvPr id="33" name="TextBox 32"/>
          <p:cNvSpPr txBox="1"/>
          <p:nvPr/>
        </p:nvSpPr>
        <p:spPr>
          <a:xfrm>
            <a:off x="8229600" y="4526280"/>
            <a:ext cx="3291840" cy="1691640"/>
          </a:xfrm>
          <a:prstGeom prst="rect">
            <a:avLst/>
          </a:prstGeom>
          <a:noFill/>
        </p:spPr>
        <p:txBody>
          <a:bodyPr wrap="square" anchor="t"/>
          <a:lstStyle/>
          <a:p>
            <a:pPr algn="l"/>
            <a:r>
              <a:rPr sz="1600" b="0">
                <a:solidFill>
                  <a:srgbClr val="FFFFFF"/>
                </a:solidFill>
                <a:latin typeface="Calibri"/>
              </a:rPr>
              <a:t>1. Examine the patient
2. Request indicated labs
3. Interpret the results
4. Assign ASA status
5. Adjust the drug plan
6. Premedicate IM or SQ</a:t>
            </a:r>
          </a:p>
        </p:txBody>
      </p:sp>
      <p:sp>
        <p:nvSpPr>
          <p:cNvPr id="34" name="Rectangle 3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6" name="TextBox 3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Willie = Status 3-E. MoMo = Status 4-E.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Willie: 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MoMo: vomiting cat. Looks like FB. T 98.0 °F, HR 200, tacky.</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Image and labs first. Became ASA Status 4-E.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 11 MO MN CAVALIER KING CHARLES SPANIEL, 13.7 KG, BCS 6/9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(acute vestibular plus severe AS otitis). Still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Plan: CBC WNL. Skip NSAID after DexSP 0.68 mL SQ. Alfaxalone sedation, deep left-ear clean, cytology/culture, 3-view films. Home: meclizine 25 mg PO BID × 5 d, Cerenia 60 mg PO SID × 4 d, confine. MRI recommended. TECA-LBO if culture-guided medical therapy fails.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sp>
        <p:nvSpPr>
          <p:cNvPr id="8" name="Rounded Rectangle 7"/>
          <p:cNvSpPr/>
          <p:nvPr/>
        </p:nvSpPr>
        <p:spPr>
          <a:xfrm>
            <a:off x="457200" y="1024128"/>
            <a:ext cx="11247120" cy="105156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vomiting and lethargy. Two vomits. Household construction. Possible FB. Vitals: T 98.0 °F, HR 200, RR 30, mm pink tacky, CRT &lt;2 s, QAR. ASA Status 4-E: severe systemic disease that is a constant threat to life (rising azotemia; non-functional kidney). Cancelling the exploratory is a successful preoperative evaluation.</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What the PE showed</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Heart/lungs normal. Ambulatory ×4. Dehydrated. The PE did not prove a foreign body.</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Next: labs and imaging</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POCUS: abnormal kidneys, bladder intact. 3-view abdomen STAT. CBC/chem. Assign ASA after those results.</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Work-up: IVF 1.5×, Cerenia, ondansetron, Unasyn. Creatinine 3.0 → 4.71 on fluids. AUS: right kidney fluid-filled and non-functional. Skip NSAIDs. Cancel the exploratory. Record the decision. Owner elected humane euthanasia.</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TESTS INDICATED FOR THIS PATIENT AND THIS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diagnostics</a:t>
            </a:r>
          </a:p>
        </p:txBody>
      </p:sp>
      <p:sp>
        <p:nvSpPr>
          <p:cNvPr id="8" name="Rounded Rectangle 7"/>
          <p:cNvSpPr/>
          <p:nvPr/>
        </p:nvSpPr>
        <p:spPr>
          <a:xfrm>
            <a:off x="457200" y="1097280"/>
            <a:ext cx="557784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29184"/>
          </a:xfrm>
          <a:prstGeom prst="rect">
            <a:avLst/>
          </a:prstGeom>
          <a:noFill/>
        </p:spPr>
        <p:txBody>
          <a:bodyPr wrap="square" anchor="t"/>
          <a:lstStyle/>
          <a:p>
            <a:pPr algn="l"/>
            <a:r>
              <a:rPr sz="1800" b="1">
                <a:solidFill>
                  <a:srgbClr val="0B2C4A"/>
                </a:solidFill>
                <a:latin typeface="Calibri"/>
              </a:rPr>
              <a:t>Young, healthy, elective (ASA I)</a:t>
            </a:r>
          </a:p>
        </p:txBody>
      </p:sp>
      <p:sp>
        <p:nvSpPr>
          <p:cNvPr id="11" name="TextBox 10"/>
          <p:cNvSpPr txBox="1"/>
          <p:nvPr/>
        </p:nvSpPr>
        <p:spPr>
          <a:xfrm>
            <a:off x="713232" y="1554480"/>
            <a:ext cx="5212080" cy="1764792"/>
          </a:xfrm>
          <a:prstGeom prst="rect">
            <a:avLst/>
          </a:prstGeom>
          <a:noFill/>
        </p:spPr>
        <p:txBody>
          <a:bodyPr wrap="square" anchor="t"/>
          <a:lstStyle/>
          <a:p>
            <a:pPr algn="l"/>
            <a:r>
              <a:rPr sz="1600" b="0">
                <a:solidFill>
                  <a:srgbClr val="3D4A57"/>
                </a:solidFill>
                <a:latin typeface="Calibri"/>
              </a:rPr>
              <a:t>PCV/TS ± blood glucose and Azo stick is a defensible minimum. Many hospitals still run a preanesthetic chemistry/CBC. Know your hospital policy and be able to defend either choice.</a:t>
            </a:r>
          </a:p>
        </p:txBody>
      </p:sp>
      <p:sp>
        <p:nvSpPr>
          <p:cNvPr id="12" name="Rounded Rectangle 11"/>
          <p:cNvSpPr/>
          <p:nvPr/>
        </p:nvSpPr>
        <p:spPr>
          <a:xfrm>
            <a:off x="6217920" y="1097280"/>
            <a:ext cx="54864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29184"/>
          </a:xfrm>
          <a:prstGeom prst="rect">
            <a:avLst/>
          </a:prstGeom>
          <a:noFill/>
        </p:spPr>
        <p:txBody>
          <a:bodyPr wrap="square" anchor="t"/>
          <a:lstStyle/>
          <a:p>
            <a:pPr algn="l"/>
            <a:r>
              <a:rPr sz="1800" b="1">
                <a:solidFill>
                  <a:srgbClr val="0B2C4A"/>
                </a:solidFill>
                <a:latin typeface="Calibri"/>
              </a:rPr>
              <a:t>Age, disease, or invasive procedure</a:t>
            </a:r>
          </a:p>
        </p:txBody>
      </p:sp>
      <p:sp>
        <p:nvSpPr>
          <p:cNvPr id="15" name="TextBox 14"/>
          <p:cNvSpPr txBox="1"/>
          <p:nvPr/>
        </p:nvSpPr>
        <p:spPr>
          <a:xfrm>
            <a:off x="6473952" y="1554480"/>
            <a:ext cx="5120640" cy="1764792"/>
          </a:xfrm>
          <a:prstGeom prst="rect">
            <a:avLst/>
          </a:prstGeom>
          <a:noFill/>
        </p:spPr>
        <p:txBody>
          <a:bodyPr wrap="square" anchor="t"/>
          <a:lstStyle/>
          <a:p>
            <a:pPr algn="l"/>
            <a:r>
              <a:rPr sz="16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611880"/>
            <a:ext cx="11247120" cy="2743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749039"/>
            <a:ext cx="10789920" cy="320040"/>
          </a:xfrm>
          <a:prstGeom prst="rect">
            <a:avLst/>
          </a:prstGeom>
          <a:noFill/>
        </p:spPr>
        <p:txBody>
          <a:bodyPr wrap="square" anchor="t"/>
          <a:lstStyle/>
          <a:p>
            <a:pPr algn="l"/>
            <a:r>
              <a:rPr sz="1800" b="1">
                <a:solidFill>
                  <a:srgbClr val="0B2C4A"/>
                </a:solidFill>
                <a:latin typeface="Calibri"/>
              </a:rPr>
              <a:t>How to use the tests you order</a:t>
            </a:r>
          </a:p>
        </p:txBody>
      </p:sp>
      <p:sp>
        <p:nvSpPr>
          <p:cNvPr id="18" name="TextBox 17"/>
          <p:cNvSpPr txBox="1"/>
          <p:nvPr/>
        </p:nvSpPr>
        <p:spPr>
          <a:xfrm>
            <a:off x="685800" y="4160520"/>
            <a:ext cx="10789920" cy="2011680"/>
          </a:xfrm>
          <a:prstGeom prst="rect">
            <a:avLst/>
          </a:prstGeom>
          <a:noFill/>
        </p:spPr>
        <p:txBody>
          <a:bodyPr wrap="square">
            <a:spAutoFit/>
          </a:bodyPr>
          <a:lstStyle/>
          <a:p>
            <a:pPr algn="l">
              <a:spcAft>
                <a:spcPts val="700"/>
              </a:spcAft>
            </a:pPr>
            <a:r>
              <a:rPr sz="1800" b="0">
                <a:solidFill>
                  <a:srgbClr val="1C1C1C"/>
                </a:solidFill>
                <a:latin typeface="Calibri"/>
              </a:rPr>
              <a:t>▸  Anemia, hypoalbuminemia, azotemia, electrolyte storms, and thrombocytopenia change drugs, fluids, and whether you cut today.</a:t>
            </a:r>
          </a:p>
          <a:p>
            <a:pPr algn="l">
              <a:spcAft>
                <a:spcPts val="700"/>
              </a:spcAft>
            </a:pPr>
            <a:r>
              <a:rPr sz="1800" b="0">
                <a:solidFill>
                  <a:srgbClr val="1C1C1C"/>
                </a:solidFill>
                <a:latin typeface="Calibri"/>
              </a:rPr>
              <a:t>▸  Abdominal surgery: image first so you know whether you are cutting a pyometra, a mass that needs a different approach, or a medical abdomen. MoMo: POCUS/AUS cancelled the cut.</a:t>
            </a:r>
          </a:p>
          <a:p>
            <a:pPr algn="l">
              <a:spcAft>
                <a:spcPts val="700"/>
              </a:spcAft>
            </a:pPr>
            <a:r>
              <a:rPr sz="1800" b="0">
                <a:solidFill>
                  <a:srgbClr val="1C1C1C"/>
                </a:solidFill>
                <a:latin typeface="Calibri"/>
              </a:rPr>
              <a:t>▸  Repeat a value that changes the plan. MoMo: creatinine 3.0 then 4.71. Act on the rising creatinine.</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Teaching: &lt;20% dog / &lt;15% cat</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Platelets</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Teaching: &lt;50 K</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Creatinine</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Rising or severe + uremia (MoMo)</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WBC</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Severe change + systemic disease</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Willie: CBC does not assign Status 1. His 3-E is the vestibular exam. MoMo: PE + rising creatinine = 4-E.</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LABS INFORM RISK. THE PHYSICAL EXAMINATION ASSIGNS ASA (GRUBB ET AL. 2020).</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Applying the lab tables</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51560"/>
            <a:ext cx="91440" cy="5074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161288"/>
            <a:ext cx="5257800" cy="329184"/>
          </a:xfrm>
          <a:prstGeom prst="rect">
            <a:avLst/>
          </a:prstGeom>
          <a:noFill/>
        </p:spPr>
        <p:txBody>
          <a:bodyPr wrap="square" anchor="t"/>
          <a:lstStyle/>
          <a:p>
            <a:pPr algn="l"/>
            <a:r>
              <a:rPr sz="1800" b="1">
                <a:solidFill>
                  <a:srgbClr val="0B2C4A"/>
                </a:solidFill>
                <a:latin typeface="Calibri"/>
              </a:rPr>
              <a:t>Willie, laboratory results</a:t>
            </a:r>
          </a:p>
        </p:txBody>
      </p:sp>
      <p:sp>
        <p:nvSpPr>
          <p:cNvPr id="11" name="TextBox 10"/>
          <p:cNvSpPr txBox="1"/>
          <p:nvPr/>
        </p:nvSpPr>
        <p:spPr>
          <a:xfrm>
            <a:off x="667512" y="1508760"/>
            <a:ext cx="5257800" cy="4507992"/>
          </a:xfrm>
          <a:prstGeom prst="rect">
            <a:avLst/>
          </a:prstGeom>
          <a:noFill/>
        </p:spPr>
        <p:txBody>
          <a:bodyPr wrap="square" anchor="t"/>
          <a:lstStyle/>
          <a:p>
            <a:pPr algn="l"/>
            <a:r>
              <a:rPr sz="1600" b="0">
                <a:solidFill>
                  <a:srgbClr val="3D4A57"/>
                </a:solidFill>
                <a:latin typeface="Calibri"/>
              </a:rPr>
              <a:t>CBC WNL. That does not make him Status 1.
Phosphorus 6.0, mild increase.
Glucose 130, stress.
Kidneys, liver, electrolytes normal.
Skip the EPOC for this ear clean.
ASA Status 3-E from today’s PE: acute vestibular disease, severe AS otitis, murmur. An unremarkable chemistry leaves that Status 3 in place.</a:t>
            </a:r>
          </a:p>
        </p:txBody>
      </p:sp>
      <p:sp>
        <p:nvSpPr>
          <p:cNvPr id="12" name="Rounded Rectangle 11"/>
          <p:cNvSpPr/>
          <p:nvPr/>
        </p:nvSpPr>
        <p:spPr>
          <a:xfrm>
            <a:off x="617220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51560"/>
            <a:ext cx="91440" cy="50749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161288"/>
            <a:ext cx="5257800" cy="329184"/>
          </a:xfrm>
          <a:prstGeom prst="rect">
            <a:avLst/>
          </a:prstGeom>
          <a:noFill/>
        </p:spPr>
        <p:txBody>
          <a:bodyPr wrap="square" anchor="t"/>
          <a:lstStyle/>
          <a:p>
            <a:pPr algn="l"/>
            <a:r>
              <a:rPr sz="1800" b="1">
                <a:solidFill>
                  <a:srgbClr val="0B2C4A"/>
                </a:solidFill>
                <a:latin typeface="Calibri"/>
              </a:rPr>
              <a:t>MoMo, laboratory results and EPOC</a:t>
            </a:r>
          </a:p>
        </p:txBody>
      </p:sp>
      <p:sp>
        <p:nvSpPr>
          <p:cNvPr id="15" name="TextBox 14"/>
          <p:cNvSpPr txBox="1"/>
          <p:nvPr/>
        </p:nvSpPr>
        <p:spPr>
          <a:xfrm>
            <a:off x="6428232" y="1508760"/>
            <a:ext cx="5257800" cy="4507992"/>
          </a:xfrm>
          <a:prstGeom prst="rect">
            <a:avLst/>
          </a:prstGeom>
          <a:noFill/>
        </p:spPr>
        <p:txBody>
          <a:bodyPr wrap="square" anchor="t"/>
          <a:lstStyle/>
          <a:p>
            <a:pPr algn="l"/>
            <a:r>
              <a:rPr sz="1600" b="0">
                <a:solidFill>
                  <a:srgbClr val="3D4A57"/>
                </a:solidFill>
                <a:latin typeface="Calibri"/>
              </a:rPr>
              <a:t>WBC about 26K with neutrophilia.
Platelets 74 K.
Creatinine 3.0 to 4.71; BUN 49.7 to 100.
Phosphorus 8.0.
EPOC pH 7.255; BE −7.4; lactate 2.05.
Venous pO2 33 is a venous sample.
ASA Status 4-E: severe renal disease that is a constant threat to life. Cancel the exploratory.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WHEN TO DELAY, WHEN TO PROCEED URGENTLY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Stabilization before elective surgery</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8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800" b="0">
                <a:solidFill>
                  <a:srgbClr val="1C1C1C"/>
                </a:solidFill>
                <a:latin typeface="Calibri"/>
              </a:rPr>
              <a:t>Pyoderma over the site
Anestrus vs. heat if policy
Unstable endocrine disease
Active URI in cats
Recent live vaccines (clinic policy)
Client cannot confine / medicate
Full-stomach elective: suction or reschedule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8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pre-oxygenate. Fasting follows the healthy-adult or neonate row above.</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WRITE BOTH NUMBERS BEFORE INDUCTION. CPE MOA 2026: SELECT THE TUBE, THE CIRCUIT, AND THE BAG.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Endotracheal tube and reservoir bag</a:t>
            </a:r>
          </a:p>
        </p:txBody>
      </p:sp>
      <p:sp>
        <p:nvSpPr>
          <p:cNvPr id="8" name="Rounded Rectangle 7"/>
          <p:cNvSpPr/>
          <p:nvPr/>
        </p:nvSpPr>
        <p:spPr>
          <a:xfrm>
            <a:off x="411480" y="1024128"/>
            <a:ext cx="5623560"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562356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5623560" cy="438912"/>
          </a:xfrm>
          <a:prstGeom prst="rect">
            <a:avLst/>
          </a:prstGeom>
          <a:noFill/>
        </p:spPr>
        <p:txBody>
          <a:bodyPr wrap="square" anchor="ctr"/>
          <a:lstStyle/>
          <a:p>
            <a:pPr algn="ctr"/>
            <a:r>
              <a:rPr sz="1600" b="1">
                <a:solidFill>
                  <a:srgbClr val="0B2C4A"/>
                </a:solidFill>
                <a:latin typeface="Calibri"/>
              </a:rPr>
              <a:t>Endotracheal tube  ·  dog starting estimate</a:t>
            </a:r>
          </a:p>
        </p:txBody>
      </p:sp>
      <p:sp>
        <p:nvSpPr>
          <p:cNvPr id="11" name="TextBox 10"/>
          <p:cNvSpPr txBox="1"/>
          <p:nvPr/>
        </p:nvSpPr>
        <p:spPr>
          <a:xfrm>
            <a:off x="594360" y="1536192"/>
            <a:ext cx="5257800" cy="502920"/>
          </a:xfrm>
          <a:prstGeom prst="rect">
            <a:avLst/>
          </a:prstGeom>
          <a:noFill/>
        </p:spPr>
        <p:txBody>
          <a:bodyPr wrap="square" anchor="t"/>
          <a:lstStyle/>
          <a:p>
            <a:pPr algn="ctr"/>
            <a:r>
              <a:rPr sz="2400" b="1">
                <a:solidFill>
                  <a:srgbClr val="0B2C4A"/>
                </a:solidFill>
                <a:latin typeface="Calibri"/>
              </a:rPr>
              <a:t>ID mm  =  (kg / 4)  +  3.5</a:t>
            </a:r>
          </a:p>
        </p:txBody>
      </p:sp>
      <p:sp>
        <p:nvSpPr>
          <p:cNvPr id="12" name="TextBox 11"/>
          <p:cNvSpPr txBox="1"/>
          <p:nvPr/>
        </p:nvSpPr>
        <p:spPr>
          <a:xfrm>
            <a:off x="594360" y="2084831"/>
            <a:ext cx="5257800" cy="1572768"/>
          </a:xfrm>
          <a:prstGeom prst="rect">
            <a:avLst/>
          </a:prstGeom>
          <a:noFill/>
        </p:spPr>
        <p:txBody>
          <a:bodyPr wrap="square" anchor="t"/>
          <a:lstStyle/>
          <a:p>
            <a:pPr algn="l"/>
            <a:r>
              <a:rPr sz="1500" b="0">
                <a:solidFill>
                  <a:srgbClr val="1C1C1C"/>
                </a:solidFill>
                <a:latin typeface="Calibri"/>
              </a:rPr>
              <a:t>Have 0.5 mm larger and 0.5 mm smaller ready.
Confirm: largest ID that passes the arytenoids without trauma (Grubb 2020). Tip midway from larynx to thoracic inlet. Cuff holds to 20 cm H2O (CPE MOA).
Cat: typically 3.0–4.5 mm. Do not use the dog formula.</a:t>
            </a:r>
          </a:p>
        </p:txBody>
      </p:sp>
      <p:sp>
        <p:nvSpPr>
          <p:cNvPr id="13" name="Rounded Rectangle 12"/>
          <p:cNvSpPr/>
          <p:nvPr/>
        </p:nvSpPr>
        <p:spPr>
          <a:xfrm>
            <a:off x="6172200" y="1024128"/>
            <a:ext cx="5577840"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2200" y="1024128"/>
            <a:ext cx="557784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0" y="1024128"/>
            <a:ext cx="5577840" cy="438912"/>
          </a:xfrm>
          <a:prstGeom prst="rect">
            <a:avLst/>
          </a:prstGeom>
          <a:noFill/>
        </p:spPr>
        <p:txBody>
          <a:bodyPr wrap="square" anchor="ctr"/>
          <a:lstStyle/>
          <a:p>
            <a:pPr algn="ctr"/>
            <a:r>
              <a:rPr sz="1600" b="1">
                <a:solidFill>
                  <a:srgbClr val="C5A35A"/>
                </a:solidFill>
                <a:latin typeface="Calibri"/>
              </a:rPr>
              <a:t>Reservoir bag  ·  shortcut</a:t>
            </a:r>
          </a:p>
        </p:txBody>
      </p:sp>
      <p:sp>
        <p:nvSpPr>
          <p:cNvPr id="16" name="TextBox 15"/>
          <p:cNvSpPr txBox="1"/>
          <p:nvPr/>
        </p:nvSpPr>
        <p:spPr>
          <a:xfrm>
            <a:off x="6355080" y="1536192"/>
            <a:ext cx="5212080" cy="502920"/>
          </a:xfrm>
          <a:prstGeom prst="rect">
            <a:avLst/>
          </a:prstGeom>
          <a:noFill/>
        </p:spPr>
        <p:txBody>
          <a:bodyPr wrap="square" anchor="t"/>
          <a:lstStyle/>
          <a:p>
            <a:pPr algn="ctr"/>
            <a:r>
              <a:rPr sz="2200" b="1">
                <a:solidFill>
                  <a:srgbClr val="0B2C4A"/>
                </a:solidFill>
                <a:latin typeface="Calibri"/>
              </a:rPr>
              <a:t>mL  =  kg  ×  60     then round UP</a:t>
            </a:r>
          </a:p>
        </p:txBody>
      </p:sp>
      <p:sp>
        <p:nvSpPr>
          <p:cNvPr id="17" name="TextBox 16"/>
          <p:cNvSpPr txBox="1"/>
          <p:nvPr/>
        </p:nvSpPr>
        <p:spPr>
          <a:xfrm>
            <a:off x="6355080" y="2084831"/>
            <a:ext cx="5212080" cy="1572768"/>
          </a:xfrm>
          <a:prstGeom prst="rect">
            <a:avLst/>
          </a:prstGeom>
          <a:noFill/>
        </p:spPr>
        <p:txBody>
          <a:bodyPr wrap="square" anchor="t"/>
          <a:lstStyle/>
          <a:p>
            <a:pPr algn="l"/>
            <a:r>
              <a:rPr sz="1500" b="0">
                <a:solidFill>
                  <a:srgbClr val="1C1C1C"/>
                </a:solidFill>
                <a:latin typeface="Calibri"/>
              </a:rPr>
              <a:t>Tidal volume about 10–15 mL/kg. Bag = 5–6 × TV, so 60 mL/kg is the low end. Round up to 0.5, 1, 2, or 3 L.
NRC: cats and dogs &lt;3–5 kg. O2 200–400 mL/kg/min (Grubb 2020). Circle for larger patients. Leak-test, then OPEN the pop-off.</a:t>
            </a:r>
          </a:p>
        </p:txBody>
      </p:sp>
      <p:sp>
        <p:nvSpPr>
          <p:cNvPr id="18" name="Rectangle 17"/>
          <p:cNvSpPr/>
          <p:nvPr/>
        </p:nvSpPr>
        <p:spPr>
          <a:xfrm>
            <a:off x="411480" y="3931920"/>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931920"/>
            <a:ext cx="2743200" cy="384048"/>
          </a:xfrm>
          <a:prstGeom prst="rect">
            <a:avLst/>
          </a:prstGeom>
          <a:noFill/>
        </p:spPr>
        <p:txBody>
          <a:bodyPr wrap="square" anchor="ctr"/>
          <a:lstStyle/>
          <a:p>
            <a:pPr algn="l"/>
            <a:r>
              <a:rPr sz="1500" b="1">
                <a:solidFill>
                  <a:srgbClr val="C5A35A"/>
                </a:solidFill>
                <a:latin typeface="Calibri"/>
              </a:rPr>
              <a:t>Patient</a:t>
            </a:r>
          </a:p>
        </p:txBody>
      </p:sp>
      <p:sp>
        <p:nvSpPr>
          <p:cNvPr id="20" name="TextBox 19"/>
          <p:cNvSpPr txBox="1"/>
          <p:nvPr/>
        </p:nvSpPr>
        <p:spPr>
          <a:xfrm>
            <a:off x="3246120" y="3931920"/>
            <a:ext cx="1097280" cy="384048"/>
          </a:xfrm>
          <a:prstGeom prst="rect">
            <a:avLst/>
          </a:prstGeom>
          <a:noFill/>
        </p:spPr>
        <p:txBody>
          <a:bodyPr wrap="square" anchor="ctr"/>
          <a:lstStyle/>
          <a:p>
            <a:pPr algn="l"/>
            <a:r>
              <a:rPr sz="1500" b="1">
                <a:solidFill>
                  <a:srgbClr val="C5A35A"/>
                </a:solidFill>
                <a:latin typeface="Calibri"/>
              </a:rPr>
              <a:t>kg</a:t>
            </a:r>
          </a:p>
        </p:txBody>
      </p:sp>
      <p:sp>
        <p:nvSpPr>
          <p:cNvPr id="21" name="TextBox 20"/>
          <p:cNvSpPr txBox="1"/>
          <p:nvPr/>
        </p:nvSpPr>
        <p:spPr>
          <a:xfrm>
            <a:off x="4434840" y="3931920"/>
            <a:ext cx="2926080" cy="384048"/>
          </a:xfrm>
          <a:prstGeom prst="rect">
            <a:avLst/>
          </a:prstGeom>
          <a:noFill/>
        </p:spPr>
        <p:txBody>
          <a:bodyPr wrap="square" anchor="ctr"/>
          <a:lstStyle/>
          <a:p>
            <a:pPr algn="l"/>
            <a:r>
              <a:rPr sz="1500" b="1">
                <a:solidFill>
                  <a:srgbClr val="C5A35A"/>
                </a:solidFill>
                <a:latin typeface="Calibri"/>
              </a:rPr>
              <a:t>ETT start</a:t>
            </a:r>
          </a:p>
        </p:txBody>
      </p:sp>
      <p:sp>
        <p:nvSpPr>
          <p:cNvPr id="22" name="TextBox 21"/>
          <p:cNvSpPr txBox="1"/>
          <p:nvPr/>
        </p:nvSpPr>
        <p:spPr>
          <a:xfrm>
            <a:off x="7452360" y="3931920"/>
            <a:ext cx="2560320" cy="384048"/>
          </a:xfrm>
          <a:prstGeom prst="rect">
            <a:avLst/>
          </a:prstGeom>
          <a:noFill/>
        </p:spPr>
        <p:txBody>
          <a:bodyPr wrap="square" anchor="ctr"/>
          <a:lstStyle/>
          <a:p>
            <a:pPr algn="l"/>
            <a:r>
              <a:rPr sz="1500" b="1">
                <a:solidFill>
                  <a:srgbClr val="C5A35A"/>
                </a:solidFill>
                <a:latin typeface="Calibri"/>
              </a:rPr>
              <a:t>Bag</a:t>
            </a:r>
          </a:p>
        </p:txBody>
      </p:sp>
      <p:sp>
        <p:nvSpPr>
          <p:cNvPr id="23" name="TextBox 22"/>
          <p:cNvSpPr txBox="1"/>
          <p:nvPr/>
        </p:nvSpPr>
        <p:spPr>
          <a:xfrm>
            <a:off x="10104120" y="3931920"/>
            <a:ext cx="1554480" cy="384048"/>
          </a:xfrm>
          <a:prstGeom prst="rect">
            <a:avLst/>
          </a:prstGeom>
          <a:noFill/>
        </p:spPr>
        <p:txBody>
          <a:bodyPr wrap="square" anchor="ctr"/>
          <a:lstStyle/>
          <a:p>
            <a:pPr algn="l"/>
            <a:r>
              <a:rPr sz="1500" b="1">
                <a:solidFill>
                  <a:srgbClr val="C5A35A"/>
                </a:solidFill>
                <a:latin typeface="Calibri"/>
              </a:rPr>
              <a:t>Circuit</a:t>
            </a:r>
          </a:p>
        </p:txBody>
      </p:sp>
      <p:sp>
        <p:nvSpPr>
          <p:cNvPr id="24" name="Rounded Rectangle 23"/>
          <p:cNvSpPr/>
          <p:nvPr/>
        </p:nvSpPr>
        <p:spPr>
          <a:xfrm>
            <a:off x="411480" y="4352544"/>
            <a:ext cx="11338560" cy="438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352544"/>
            <a:ext cx="2743200" cy="438912"/>
          </a:xfrm>
          <a:prstGeom prst="rect">
            <a:avLst/>
          </a:prstGeom>
          <a:noFill/>
        </p:spPr>
        <p:txBody>
          <a:bodyPr wrap="square" anchor="ctr"/>
          <a:lstStyle/>
          <a:p>
            <a:pPr algn="l"/>
            <a:r>
              <a:rPr sz="1500" b="1">
                <a:solidFill>
                  <a:srgbClr val="0B2C4A"/>
                </a:solidFill>
                <a:latin typeface="Calibri"/>
              </a:rPr>
              <a:t>Willie (if intubated)</a:t>
            </a:r>
          </a:p>
        </p:txBody>
      </p:sp>
      <p:sp>
        <p:nvSpPr>
          <p:cNvPr id="26" name="TextBox 25"/>
          <p:cNvSpPr txBox="1"/>
          <p:nvPr/>
        </p:nvSpPr>
        <p:spPr>
          <a:xfrm>
            <a:off x="3246120" y="4352544"/>
            <a:ext cx="1097280" cy="438912"/>
          </a:xfrm>
          <a:prstGeom prst="rect">
            <a:avLst/>
          </a:prstGeom>
          <a:noFill/>
        </p:spPr>
        <p:txBody>
          <a:bodyPr wrap="square" anchor="ctr"/>
          <a:lstStyle/>
          <a:p>
            <a:pPr algn="l"/>
            <a:r>
              <a:rPr sz="1500" b="0">
                <a:solidFill>
                  <a:srgbClr val="1C1C1C"/>
                </a:solidFill>
                <a:latin typeface="Calibri"/>
              </a:rPr>
              <a:t>13.7</a:t>
            </a:r>
          </a:p>
        </p:txBody>
      </p:sp>
      <p:sp>
        <p:nvSpPr>
          <p:cNvPr id="27" name="TextBox 26"/>
          <p:cNvSpPr txBox="1"/>
          <p:nvPr/>
        </p:nvSpPr>
        <p:spPr>
          <a:xfrm>
            <a:off x="4434840" y="4352544"/>
            <a:ext cx="2926080" cy="438912"/>
          </a:xfrm>
          <a:prstGeom prst="rect">
            <a:avLst/>
          </a:prstGeom>
          <a:noFill/>
        </p:spPr>
        <p:txBody>
          <a:bodyPr wrap="square" anchor="ctr"/>
          <a:lstStyle/>
          <a:p>
            <a:pPr algn="l"/>
            <a:r>
              <a:rPr sz="1500" b="1">
                <a:solidFill>
                  <a:srgbClr val="1B6B7A"/>
                </a:solidFill>
                <a:latin typeface="Calibri"/>
              </a:rPr>
              <a:t>7.0 mm  (6.5 / 7.5)</a:t>
            </a:r>
          </a:p>
        </p:txBody>
      </p:sp>
      <p:sp>
        <p:nvSpPr>
          <p:cNvPr id="28" name="TextBox 27"/>
          <p:cNvSpPr txBox="1"/>
          <p:nvPr/>
        </p:nvSpPr>
        <p:spPr>
          <a:xfrm>
            <a:off x="7452360" y="4352544"/>
            <a:ext cx="2560320" cy="438912"/>
          </a:xfrm>
          <a:prstGeom prst="rect">
            <a:avLst/>
          </a:prstGeom>
          <a:noFill/>
        </p:spPr>
        <p:txBody>
          <a:bodyPr wrap="square" anchor="ctr"/>
          <a:lstStyle/>
          <a:p>
            <a:pPr algn="l"/>
            <a:r>
              <a:rPr sz="1500" b="1">
                <a:solidFill>
                  <a:srgbClr val="1B6B7A"/>
                </a:solidFill>
                <a:latin typeface="Calibri"/>
              </a:rPr>
              <a:t>822 mL → 1 L</a:t>
            </a:r>
          </a:p>
        </p:txBody>
      </p:sp>
      <p:sp>
        <p:nvSpPr>
          <p:cNvPr id="29" name="TextBox 28"/>
          <p:cNvSpPr txBox="1"/>
          <p:nvPr/>
        </p:nvSpPr>
        <p:spPr>
          <a:xfrm>
            <a:off x="10104120" y="4352544"/>
            <a:ext cx="1554480" cy="438912"/>
          </a:xfrm>
          <a:prstGeom prst="rect">
            <a:avLst/>
          </a:prstGeom>
          <a:noFill/>
        </p:spPr>
        <p:txBody>
          <a:bodyPr wrap="square" anchor="ctr"/>
          <a:lstStyle/>
          <a:p>
            <a:pPr algn="l"/>
            <a:r>
              <a:rPr sz="1500" b="0">
                <a:solidFill>
                  <a:srgbClr val="1C1C1C"/>
                </a:solidFill>
                <a:latin typeface="Calibri"/>
              </a:rPr>
              <a:t>Circle</a:t>
            </a:r>
          </a:p>
        </p:txBody>
      </p:sp>
      <p:sp>
        <p:nvSpPr>
          <p:cNvPr id="30" name="Rounded Rectangle 29"/>
          <p:cNvSpPr/>
          <p:nvPr/>
        </p:nvSpPr>
        <p:spPr>
          <a:xfrm>
            <a:off x="411480" y="4828032"/>
            <a:ext cx="11338560" cy="438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828032"/>
            <a:ext cx="2743200" cy="438912"/>
          </a:xfrm>
          <a:prstGeom prst="rect">
            <a:avLst/>
          </a:prstGeom>
          <a:noFill/>
        </p:spPr>
        <p:txBody>
          <a:bodyPr wrap="square" anchor="ctr"/>
          <a:lstStyle/>
          <a:p>
            <a:pPr algn="l"/>
            <a:r>
              <a:rPr sz="1500" b="1">
                <a:solidFill>
                  <a:srgbClr val="0B2C4A"/>
                </a:solidFill>
                <a:latin typeface="Calibri"/>
              </a:rPr>
              <a:t>Healthy Lab, elective OHE</a:t>
            </a:r>
          </a:p>
        </p:txBody>
      </p:sp>
      <p:sp>
        <p:nvSpPr>
          <p:cNvPr id="32" name="TextBox 31"/>
          <p:cNvSpPr txBox="1"/>
          <p:nvPr/>
        </p:nvSpPr>
        <p:spPr>
          <a:xfrm>
            <a:off x="3246120" y="4828032"/>
            <a:ext cx="1097280" cy="438912"/>
          </a:xfrm>
          <a:prstGeom prst="rect">
            <a:avLst/>
          </a:prstGeom>
          <a:noFill/>
        </p:spPr>
        <p:txBody>
          <a:bodyPr wrap="square" anchor="ctr"/>
          <a:lstStyle/>
          <a:p>
            <a:pPr algn="l"/>
            <a:r>
              <a:rPr sz="1500" b="0">
                <a:solidFill>
                  <a:srgbClr val="1C1C1C"/>
                </a:solidFill>
                <a:latin typeface="Calibri"/>
              </a:rPr>
              <a:t>25</a:t>
            </a:r>
          </a:p>
        </p:txBody>
      </p:sp>
      <p:sp>
        <p:nvSpPr>
          <p:cNvPr id="33" name="TextBox 32"/>
          <p:cNvSpPr txBox="1"/>
          <p:nvPr/>
        </p:nvSpPr>
        <p:spPr>
          <a:xfrm>
            <a:off x="4434840" y="4828032"/>
            <a:ext cx="2926080" cy="438912"/>
          </a:xfrm>
          <a:prstGeom prst="rect">
            <a:avLst/>
          </a:prstGeom>
          <a:noFill/>
        </p:spPr>
        <p:txBody>
          <a:bodyPr wrap="square" anchor="ctr"/>
          <a:lstStyle/>
          <a:p>
            <a:pPr algn="l"/>
            <a:r>
              <a:rPr sz="1500" b="1">
                <a:solidFill>
                  <a:srgbClr val="1B6B7A"/>
                </a:solidFill>
                <a:latin typeface="Calibri"/>
              </a:rPr>
              <a:t>9.75 → 10 mm</a:t>
            </a:r>
          </a:p>
        </p:txBody>
      </p:sp>
      <p:sp>
        <p:nvSpPr>
          <p:cNvPr id="34" name="TextBox 33"/>
          <p:cNvSpPr txBox="1"/>
          <p:nvPr/>
        </p:nvSpPr>
        <p:spPr>
          <a:xfrm>
            <a:off x="7452360" y="4828032"/>
            <a:ext cx="2560320" cy="438912"/>
          </a:xfrm>
          <a:prstGeom prst="rect">
            <a:avLst/>
          </a:prstGeom>
          <a:noFill/>
        </p:spPr>
        <p:txBody>
          <a:bodyPr wrap="square" anchor="ctr"/>
          <a:lstStyle/>
          <a:p>
            <a:pPr algn="l"/>
            <a:r>
              <a:rPr sz="1500" b="1">
                <a:solidFill>
                  <a:srgbClr val="1B6B7A"/>
                </a:solidFill>
                <a:latin typeface="Calibri"/>
              </a:rPr>
              <a:t>1.5 L → 2 L</a:t>
            </a:r>
          </a:p>
        </p:txBody>
      </p:sp>
      <p:sp>
        <p:nvSpPr>
          <p:cNvPr id="35" name="TextBox 34"/>
          <p:cNvSpPr txBox="1"/>
          <p:nvPr/>
        </p:nvSpPr>
        <p:spPr>
          <a:xfrm>
            <a:off x="10104120" y="4828032"/>
            <a:ext cx="1554480" cy="438912"/>
          </a:xfrm>
          <a:prstGeom prst="rect">
            <a:avLst/>
          </a:prstGeom>
          <a:noFill/>
        </p:spPr>
        <p:txBody>
          <a:bodyPr wrap="square" anchor="ctr"/>
          <a:lstStyle/>
          <a:p>
            <a:pPr algn="l"/>
            <a:r>
              <a:rPr sz="1500" b="0">
                <a:solidFill>
                  <a:srgbClr val="1C1C1C"/>
                </a:solidFill>
                <a:latin typeface="Calibri"/>
              </a:rPr>
              <a:t>Circle</a:t>
            </a:r>
          </a:p>
        </p:txBody>
      </p:sp>
      <p:sp>
        <p:nvSpPr>
          <p:cNvPr id="36" name="Rounded Rectangle 35"/>
          <p:cNvSpPr/>
          <p:nvPr/>
        </p:nvSpPr>
        <p:spPr>
          <a:xfrm>
            <a:off x="411480" y="5303520"/>
            <a:ext cx="11338560" cy="4389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5303520"/>
            <a:ext cx="2743200" cy="438912"/>
          </a:xfrm>
          <a:prstGeom prst="rect">
            <a:avLst/>
          </a:prstGeom>
          <a:noFill/>
        </p:spPr>
        <p:txBody>
          <a:bodyPr wrap="square" anchor="ctr"/>
          <a:lstStyle/>
          <a:p>
            <a:pPr algn="l"/>
            <a:r>
              <a:rPr sz="1500" b="1">
                <a:solidFill>
                  <a:srgbClr val="0B2C4A"/>
                </a:solidFill>
                <a:latin typeface="Calibri"/>
              </a:rPr>
              <a:t>MoMo, teaching only</a:t>
            </a:r>
          </a:p>
        </p:txBody>
      </p:sp>
      <p:sp>
        <p:nvSpPr>
          <p:cNvPr id="38" name="TextBox 37"/>
          <p:cNvSpPr txBox="1"/>
          <p:nvPr/>
        </p:nvSpPr>
        <p:spPr>
          <a:xfrm>
            <a:off x="3246120" y="5303520"/>
            <a:ext cx="1097280" cy="438912"/>
          </a:xfrm>
          <a:prstGeom prst="rect">
            <a:avLst/>
          </a:prstGeom>
          <a:noFill/>
        </p:spPr>
        <p:txBody>
          <a:bodyPr wrap="square" anchor="ctr"/>
          <a:lstStyle/>
          <a:p>
            <a:pPr algn="l"/>
            <a:r>
              <a:rPr sz="1500" b="0">
                <a:solidFill>
                  <a:srgbClr val="1C1C1C"/>
                </a:solidFill>
                <a:latin typeface="Calibri"/>
              </a:rPr>
              <a:t>4.25</a:t>
            </a:r>
          </a:p>
        </p:txBody>
      </p:sp>
      <p:sp>
        <p:nvSpPr>
          <p:cNvPr id="39" name="TextBox 38"/>
          <p:cNvSpPr txBox="1"/>
          <p:nvPr/>
        </p:nvSpPr>
        <p:spPr>
          <a:xfrm>
            <a:off x="4434840" y="5303520"/>
            <a:ext cx="2926080" cy="438912"/>
          </a:xfrm>
          <a:prstGeom prst="rect">
            <a:avLst/>
          </a:prstGeom>
          <a:noFill/>
        </p:spPr>
        <p:txBody>
          <a:bodyPr wrap="square" anchor="ctr"/>
          <a:lstStyle/>
          <a:p>
            <a:pPr algn="l"/>
            <a:r>
              <a:rPr sz="1500" b="1">
                <a:solidFill>
                  <a:srgbClr val="1B6B7A"/>
                </a:solidFill>
                <a:latin typeface="Calibri"/>
              </a:rPr>
              <a:t>3.5–4.0 mm (cat)</a:t>
            </a:r>
          </a:p>
        </p:txBody>
      </p:sp>
      <p:sp>
        <p:nvSpPr>
          <p:cNvPr id="40" name="TextBox 39"/>
          <p:cNvSpPr txBox="1"/>
          <p:nvPr/>
        </p:nvSpPr>
        <p:spPr>
          <a:xfrm>
            <a:off x="7452360" y="5303520"/>
            <a:ext cx="2560320" cy="438912"/>
          </a:xfrm>
          <a:prstGeom prst="rect">
            <a:avLst/>
          </a:prstGeom>
          <a:noFill/>
        </p:spPr>
        <p:txBody>
          <a:bodyPr wrap="square" anchor="ctr"/>
          <a:lstStyle/>
          <a:p>
            <a:pPr algn="l"/>
            <a:r>
              <a:rPr sz="1500" b="1">
                <a:solidFill>
                  <a:srgbClr val="1B6B7A"/>
                </a:solidFill>
                <a:latin typeface="Calibri"/>
              </a:rPr>
              <a:t>255 mL → 0.5 L</a:t>
            </a:r>
          </a:p>
        </p:txBody>
      </p:sp>
      <p:sp>
        <p:nvSpPr>
          <p:cNvPr id="41" name="TextBox 40"/>
          <p:cNvSpPr txBox="1"/>
          <p:nvPr/>
        </p:nvSpPr>
        <p:spPr>
          <a:xfrm>
            <a:off x="10104120" y="5303520"/>
            <a:ext cx="1554480" cy="438912"/>
          </a:xfrm>
          <a:prstGeom prst="rect">
            <a:avLst/>
          </a:prstGeom>
          <a:noFill/>
        </p:spPr>
        <p:txBody>
          <a:bodyPr wrap="square" anchor="ctr"/>
          <a:lstStyle/>
          <a:p>
            <a:pPr algn="l"/>
            <a:r>
              <a:rPr sz="1500" b="0">
                <a:solidFill>
                  <a:srgbClr val="1C1C1C"/>
                </a:solidFill>
                <a:latin typeface="Calibri"/>
              </a:rPr>
              <a:t>NRC</a:t>
            </a:r>
          </a:p>
        </p:txBody>
      </p:sp>
      <p:sp>
        <p:nvSpPr>
          <p:cNvPr id="42" name="Rounded Rectangle 41"/>
          <p:cNvSpPr/>
          <p:nvPr/>
        </p:nvSpPr>
        <p:spPr>
          <a:xfrm>
            <a:off x="411480" y="5833872"/>
            <a:ext cx="11338560" cy="6217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94360" y="5833872"/>
            <a:ext cx="11018520" cy="621792"/>
          </a:xfrm>
          <a:prstGeom prst="rect">
            <a:avLst/>
          </a:prstGeom>
          <a:noFill/>
        </p:spPr>
        <p:txBody>
          <a:bodyPr wrap="square" anchor="ctr"/>
          <a:lstStyle/>
          <a:p>
            <a:pPr algn="l"/>
            <a:r>
              <a:rPr sz="1500" b="0">
                <a:solidFill>
                  <a:srgbClr val="0B2C4A"/>
                </a:solidFill>
                <a:latin typeface="Calibri"/>
              </a:rPr>
              <a:t>Premed stays in this hour: exam first, then IM/SQ. DKT or BAA if healthy ASA 1–2. Heart / murmur: opioid + alfaxalone (Willie). Premed lowers MAC.</a:t>
            </a:r>
          </a:p>
        </p:txBody>
      </p:sp>
      <p:sp>
        <p:nvSpPr>
          <p:cNvPr id="44" name="Rectangle 4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6" name="TextBox 4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PREOP HEADER AND RECOVERY.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FREY ET AL. 2022: WHEN. GONZALEZ 2017: 22 MG/KG IV. WHITTEM 1999: REDOSE IF &gt;90 MIN.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Perioperative cefazolin</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34440"/>
            <a:ext cx="5120640" cy="457200"/>
          </a:xfrm>
          <a:prstGeom prst="rect">
            <a:avLst/>
          </a:prstGeom>
          <a:noFill/>
        </p:spPr>
        <p:txBody>
          <a:bodyPr wrap="square" anchor="t"/>
          <a:lstStyle/>
          <a:p>
            <a:pPr algn="l"/>
            <a:r>
              <a:rPr sz="1800" b="1">
                <a:solidFill>
                  <a:srgbClr val="2E6B4F"/>
                </a:solidFill>
                <a:latin typeface="Calibri"/>
              </a:rPr>
              <a:t>Clean elective: skip prophylaxis</a:t>
            </a:r>
          </a:p>
        </p:txBody>
      </p:sp>
      <p:sp>
        <p:nvSpPr>
          <p:cNvPr id="10" name="TextBox 9"/>
          <p:cNvSpPr txBox="1"/>
          <p:nvPr/>
        </p:nvSpPr>
        <p:spPr>
          <a:xfrm>
            <a:off x="685800" y="1783080"/>
            <a:ext cx="5120640" cy="4114800"/>
          </a:xfrm>
          <a:prstGeom prst="rect">
            <a:avLst/>
          </a:prstGeom>
          <a:noFill/>
        </p:spPr>
        <p:txBody>
          <a:bodyPr wrap="square" anchor="t"/>
          <a:lstStyle/>
          <a:p>
            <a:pPr algn="l"/>
            <a:r>
              <a:rPr sz="1600" b="0">
                <a:solidFill>
                  <a:srgbClr val="1C1C1C"/>
                </a:solidFill>
                <a:latin typeface="Calibri"/>
              </a:rPr>
              <a:t>2022 AAFP/AAHA (Frey et al.)
Start 30–60 min before incision.
Not usually needed for clean procedures.
Skip OHE, orchiectomy, most sterile cases.
Postop antimicrobials are rarely required.
Hold asepsis. Stop at closure.
A postoperative antibiotic injection is treatment, not a gift after every spay.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34440"/>
            <a:ext cx="5029200" cy="411480"/>
          </a:xfrm>
          <a:prstGeom prst="rect">
            <a:avLst/>
          </a:prstGeom>
          <a:noFill/>
        </p:spPr>
        <p:txBody>
          <a:bodyPr wrap="square" anchor="t"/>
          <a:lstStyle/>
          <a:p>
            <a:pPr algn="l"/>
            <a:r>
              <a:rPr sz="1800" b="1">
                <a:solidFill>
                  <a:srgbClr val="8B2E2E"/>
                </a:solidFill>
                <a:latin typeface="Calibri"/>
              </a:rPr>
              <a:t>When indicated</a:t>
            </a:r>
          </a:p>
        </p:txBody>
      </p:sp>
      <p:sp>
        <p:nvSpPr>
          <p:cNvPr id="13" name="TextBox 12"/>
          <p:cNvSpPr txBox="1"/>
          <p:nvPr/>
        </p:nvSpPr>
        <p:spPr>
          <a:xfrm>
            <a:off x="6492240" y="1691640"/>
            <a:ext cx="5029200" cy="777240"/>
          </a:xfrm>
          <a:prstGeom prst="rect">
            <a:avLst/>
          </a:prstGeom>
          <a:noFill/>
        </p:spPr>
        <p:txBody>
          <a:bodyPr wrap="square" anchor="t"/>
          <a:lstStyle/>
          <a:p>
            <a:pPr algn="l"/>
            <a:r>
              <a:rPr sz="2800" b="1">
                <a:solidFill>
                  <a:srgbClr val="8B2E2E"/>
                </a:solidFill>
                <a:latin typeface="Calibri"/>
              </a:rPr>
              <a:t>Cefazolin 22 mg/kg IV</a:t>
            </a:r>
          </a:p>
        </p:txBody>
      </p:sp>
      <p:sp>
        <p:nvSpPr>
          <p:cNvPr id="14" name="TextBox 13"/>
          <p:cNvSpPr txBox="1"/>
          <p:nvPr/>
        </p:nvSpPr>
        <p:spPr>
          <a:xfrm>
            <a:off x="6492240" y="2468880"/>
            <a:ext cx="5029200" cy="3383280"/>
          </a:xfrm>
          <a:prstGeom prst="rect">
            <a:avLst/>
          </a:prstGeom>
          <a:noFill/>
        </p:spPr>
        <p:txBody>
          <a:bodyPr wrap="square" anchor="t"/>
          <a:lstStyle/>
          <a:p>
            <a:pPr algn="l"/>
            <a:r>
              <a:rPr sz="1600" b="0">
                <a:solidFill>
                  <a:srgbClr val="1C1C1C"/>
                </a:solidFill>
                <a:latin typeface="Calibri"/>
              </a:rPr>
              <a:t>Gonzalez 2017: extra-label 22 mg/kg IV in dogs.
1. Give 30–60 min before incision (Frey 2022).
2. Second dose if surgery lasts &gt;90 min (Whittem 1999).
3. Stop at closure unless you are treating infection.
AAFP/AAHA 2022 has no cefazolin mg/kg.
Willie’s infected ear: treatment, not prophylaxis.</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Roberts 1986: 1 mL of 10% + 49 mL saline = 1:50.   5% bottle: 1 mL + 24 mL (1:25).</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10% stock, dilute 1:50
MIN contact: 2 min + 2 min
1:2: corneal edema (1/15)
5% bottle: use 1:25
Not full strength on cornea</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1:50 of 10% stock, 2-min scrub + 2-min soak. If the bottle is 5% veterinary solution, 1:25 matches 0.2%.</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stock 1:50. 2 min + 2 min.</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ECG/SpO2/ETCO2, circle system, IV fluids, airway. The vaporizer delivers inhalant; MAC is how we talk about that dose. Monitoring is on before the first drug. Willie: alfaxalone sedation. MoMo: the record stopped at preoperative evaluation.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ONE UNRECOGNIZED BREAK BEFORE INCISION. NONE AFTER.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One unrecognized break gets a warning. A second unrecognized break stops the case.
After the incision: notice, announce, and fully correct. There is no warning.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The operation is not over at the last skin suture. CPE MOA 2026 Surgery still scores the first 24 hours: intra-abdominal hemorrhage from a weak ligature, or herniation from a weak linea, is still the operation.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the patient is ready for prep: tube in, IV running, surgical plane.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MIN contact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Willie is 13.7 kg. Tube and bag?</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Start 7.0 mm ID. 13.7 × 60 mL = 822 mL → 1 L bag. Circle. Confirm on the larynx.</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CHG runs into the eye. Next three steps?</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Stop. Irrigate with saline. Finish the field with dilute PVP-I.</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injection if kidneys and GI allow. Willie: skip after DexSP.</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AIRWAY, PERFUSION, HEAT, PAIN, INCISION. STAY WITH THE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Postoperative flowsheet, first 2 hours</a:t>
            </a:r>
          </a:p>
        </p:txBody>
      </p:sp>
      <p:pic>
        <p:nvPicPr>
          <p:cNvPr id="8" name="Picture 7" descr="recovery_flowsheet.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INJECTIONS AT RECOVERY.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Analgesia injection at recovery</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500"/>
              </a:spcAft>
            </a:pPr>
            <a:r>
              <a:rPr sz="1500" b="0">
                <a:solidFill>
                  <a:srgbClr val="1C1C1C"/>
                </a:solidFill>
                <a:latin typeface="Calibri"/>
              </a:rPr>
              <a:t>▸  Score pain. Dogs: Glasgow CMPS-SF. Cats: Feline Grimace Scale.</a:t>
            </a:r>
          </a:p>
          <a:p>
            <a:pPr algn="l">
              <a:spcAft>
                <a:spcPts val="500"/>
              </a:spcAft>
            </a:pPr>
            <a:r>
              <a:rPr sz="1500" b="0">
                <a:solidFill>
                  <a:srgbClr val="1C1C1C"/>
                </a:solidFill>
                <a:latin typeface="Calibri"/>
              </a:rPr>
              <a:t>▸  Opioid injection as planned. Re-score after you give it.</a:t>
            </a:r>
          </a:p>
          <a:p>
            <a:pPr algn="l">
              <a:spcAft>
                <a:spcPts val="500"/>
              </a:spcAft>
            </a:pPr>
            <a:r>
              <a:rPr sz="1500" b="0">
                <a:solidFill>
                  <a:srgbClr val="1C1C1C"/>
                </a:solidFill>
                <a:latin typeface="Calibri"/>
              </a:rPr>
              <a:t>▸  NSAID if perfusion, kidneys, and GI allow. Do not stack with a steroid.</a:t>
            </a:r>
          </a:p>
          <a:p>
            <a:pPr algn="l">
              <a:spcAft>
                <a:spcPts val="500"/>
              </a:spcAft>
            </a:pPr>
            <a:r>
              <a:rPr sz="1500" b="0">
                <a:solidFill>
                  <a:srgbClr val="1C1C1C"/>
                </a:solidFill>
                <a:latin typeface="Calibri"/>
              </a:rPr>
              <a:t>▸  Carprofen: dog. Onsior (robenacoxib) 2 mg/kg SQ: dog or cat, labeled up to 3 days.</a:t>
            </a:r>
          </a:p>
          <a:p>
            <a:pPr algn="l">
              <a:spcAft>
                <a:spcPts val="500"/>
              </a:spcAft>
            </a:pPr>
            <a:r>
              <a:rPr sz="1500" b="0">
                <a:solidFill>
                  <a:srgbClr val="1C1C1C"/>
                </a:solidFill>
                <a:latin typeface="Calibri"/>
              </a:rPr>
              <a:t>▸  Onsior first dose: about 45 min before incision in dogs, 30 min in cats (label). Later doses at recovery or SQ/PO.</a:t>
            </a:r>
          </a:p>
          <a:p>
            <a:pPr algn="l">
              <a:spcAft>
                <a:spcPts val="500"/>
              </a:spcAft>
            </a:pPr>
            <a:r>
              <a:rPr sz="1500" b="0">
                <a:solidFill>
                  <a:srgbClr val="1C1C1C"/>
                </a:solidFill>
                <a:latin typeface="Calibri"/>
              </a:rPr>
              <a:t>▸  Willie already received DexSP: skip NSAID. MoMo: azotemic,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500"/>
              </a:spcAft>
            </a:pPr>
            <a:r>
              <a:rPr sz="1500" b="0">
                <a:solidFill>
                  <a:srgbClr val="1C1C1C"/>
                </a:solidFill>
                <a:latin typeface="Calibri"/>
              </a:rPr>
              <a:t>▸  A postoperative antibiotic injection is treatment. Write the drug, dose, and why.</a:t>
            </a:r>
          </a:p>
          <a:p>
            <a:pPr algn="l">
              <a:spcAft>
                <a:spcPts val="500"/>
              </a:spcAft>
            </a:pPr>
            <a:r>
              <a:rPr sz="1500" b="0">
                <a:solidFill>
                  <a:srgbClr val="1C1C1C"/>
                </a:solidFill>
                <a:latin typeface="Calibri"/>
              </a:rPr>
              <a:t>▸  Clean elective OHE: skip (Frey 2022). Do not send home 14 days of cephalexin.</a:t>
            </a:r>
          </a:p>
          <a:p>
            <a:pPr algn="l">
              <a:spcAft>
                <a:spcPts val="500"/>
              </a:spcAft>
            </a:pPr>
            <a:r>
              <a:rPr sz="1500" b="0">
                <a:solidFill>
                  <a:srgbClr val="1C1C1C"/>
                </a:solidFill>
                <a:latin typeface="Calibri"/>
              </a:rPr>
              <a:t>▸  Dirty or infected: continue as therapy. Willie’s ear is treatment, not prophylaxis.</a:t>
            </a:r>
          </a:p>
          <a:p>
            <a:pPr algn="l">
              <a:spcAft>
                <a:spcPts val="500"/>
              </a:spcAft>
            </a:pPr>
            <a:r>
              <a:rPr sz="1500" b="0">
                <a:solidFill>
                  <a:srgbClr val="1C1C1C"/>
                </a:solidFill>
                <a:latin typeface="Calibri"/>
              </a:rPr>
              <a:t>▸  Look twice daily: swelling, discharge, gapping, smell, heat.</a:t>
            </a:r>
          </a:p>
          <a:p>
            <a:pPr algn="l">
              <a:spcAft>
                <a:spcPts val="500"/>
              </a:spcAft>
            </a:pPr>
            <a:r>
              <a:rPr sz="1500" b="0">
                <a:solidFill>
                  <a:srgbClr val="1C1C1C"/>
                </a:solidFill>
                <a:latin typeface="Calibri"/>
              </a:rPr>
              <a:t>▸  E-collar that stays on. Leash walks 14 days.</a:t>
            </a:r>
          </a:p>
          <a:p>
            <a:pPr algn="l">
              <a:spcAft>
                <a:spcPts val="500"/>
              </a:spcAft>
            </a:pPr>
            <a:r>
              <a:rPr sz="1500" b="0">
                <a:solidFill>
                  <a:srgbClr val="1C1C1C"/>
                </a:solidFill>
                <a:latin typeface="Calibri"/>
              </a:rPr>
              <a:t>▸  Skin sutures typically 10–14 days. Cats: start a meal the night of surgery.</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STILL SCORES THIS WINDOW. HEMORRHAGE, HERNIA, DEHISCENCE.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STATUS 3-E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III-E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Culture the ear. Radiographs are not MRI. Central until proven otherwise. Exam before any drug.</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Prep</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If intubated: 7.0 mm ETT, 1 L bag, circle. Canal and eye: dilute PVP-I, 1:50 of 10%.</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next. TECA-LBO only if medical therapy fails.</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BOTH RECEIVED A PREOPERATIVE EVALUATION. ONLY WILLIE WAS ANESTHETIZED.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 Proceed with sedation.</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 AS otitis + murmur. Compensated. Fill the anesthesia record. Alfaxalone, monitoring, ear clean, skip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 Cancel the exploratory.</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DSH, 4.25 kg. Vomiting that looked like FB. Labs + POCUS + AUS: structural renal disease, creatinine 3.0 → 4.71 on fluids. Exploratory cancelled. NSAIDs contraindicated. Record the decision. Offer supportive care, referral, or euthanasia. That conversation is still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Willie is ASA Status 3-E: sedate with a plan. MoMo is Status 4-E: image first, then cancel.</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Examine, request labs, assign ASA, then premedicate. Never the other way around.</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Dog ETT start: (kg / 4) + 3.5 mm. Bag: kg × 60 mL, round up. Willie: 7.0 mm and 1 L.</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When prophylaxis is indicated: cefazolin 22 mg/kg IV 30–60 min before incision. Clean OHE: skip.</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Clock minimum contact time. Skin: 7.5% ~5 min, then 5% paint. Eye: 10% 1:50, 2 min + 2 min.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Pale + tachycardic after celiotomy: hemorrhage until proven otherwise. Return to OR.</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Why was Willie ASA Status 3-E and MoMo ASA Status 4-E?
Willie is 13.7 kg. What ETT and reservoir bag do you start with?</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Wash 2 to 4 min. Avoid eyes and mucous membranes.
12. ECFVG. Clinical Proficiency Examination Manual of Administration. 2026 ed. AVMA. Anesthesia; Surgery.</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