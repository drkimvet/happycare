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We will carry one real patient through all three: a Cocker Spaniel with severe otitis who is now circling, with nystagmus and knuckling. Decide if that dog is a surgical candidate today, how you would prep, and what the next 24 hours look 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Tell them the Cocker is the patient we will keep coming back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and the Cocker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ASA I and III slowly. The emergency E modifier is used clinically (ASA IV-E for GDV). An elective procedure on an ASA IV patient is a decision, not a schedule slot. Next slides: a real ASA III Cocker Spaniel.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the real ASA III we will unpack. D is the trap: do not induce a hyperkalemic blocked cat because surgery is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peri-operative patient, not a cartoon. Spend 90 seconds. Cockers plus dirty ears plus new circling is otitis media/interna until proven otherwise. Intact TM is good news for topical safety only if you are sure the middle ear is not involved — you are not sure. Knuckling vs drunk vestibular ataxia: have a student demonstrate paw placing. If placing is truly delayed, do not call this ‘just an ear’ and induce for a TECA tonight.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Punchline: vestibular plus severe otitis is compensated moderate-to-severe disease — ASA III. You may still anesthetize for CT, flush, or TECA, but you do not treat this dog like a healthy spay. No aminoglycoside ointment in a suspect inner ear. No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Know your hospital policy and be able to defend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If you give cefazolin, it is IV around induction, not a souvenir bottle home. Contrast with the vestibular Cocker: that ear is infected, so antimicrobials are therapy.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hands on your own abdomen if no model. Missed hair at the drape edge fails the prep.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evidence-supported choice for trunk skin when not contraindicated. Hammer ocular and middle-ear toxicity — this Cocker’s ear is exactly where CHG and aminoglycosides do harm.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mime the spiral on the lectern. Mention hanging-limb prep: start at incision, work distally toward the dirty foot, then the wrapped foot is handed off.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Four-quadrant is not optional style. Demonstrate air-cuffing the drape. Hair at the edge means re-clip or re-drape.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gloving after gowning is preferred. Talking through a contaminated glove replacement: both gloves off if you are unsure, then start 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ABC plus temperature plus pain. Hemorrhage speech: do not send a pale recovering OHE to the kennel because ‘she’s just groggy.’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the Cocker already got DexSP.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Grade completeness. For the Cocker: neuro exam, ASA III, TM status, DexSP already given, no NSAID, imaging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the Cocker.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without questions until the end. Contrast in one sentence: a healthy Lab OHE is ASA I and gets no routine antibiotics. This Cocker is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 Cocker is the ASA III they should be able to defend.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what would you do differently for the Cocker than for a healthy Labrador spay?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Lecture  |  60 minutes</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Running case: Cocker Spaniel with severe otitis and vestibular disease.</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We will apply every section to the vestibular Cocker.</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3–22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&amp; peri-op plan</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22–42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42–57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complications,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Cocker walk-through,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labs · stabilize · fasting · consent · analgesia · antimicrobials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~19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SCALE, AS USED IN VETERINARY ANESTHESIA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57200" y="1078992"/>
            <a:ext cx="11247120" cy="411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78992"/>
            <a:ext cx="1097280" cy="411480"/>
          </a:xfrm>
          <a:prstGeom prst="rect">
            <a:avLst/>
          </a:prstGeom>
          <a:noFill/>
        </p:spPr>
        <p:txBody>
          <a:bodyPr wrap="square" anchor="ctr"/>
          <a:lstStyle/>
          <a:p>
            <a:pPr algn="l"/>
            <a:r>
              <a:rPr sz="1400" b="1">
                <a:solidFill>
                  <a:srgbClr val="C5A35A"/>
                </a:solidFill>
                <a:latin typeface="Calibri"/>
              </a:rPr>
              <a:t>ASA</a:t>
            </a:r>
          </a:p>
        </p:txBody>
      </p:sp>
      <p:sp>
        <p:nvSpPr>
          <p:cNvPr id="10" name="TextBox 9"/>
          <p:cNvSpPr txBox="1"/>
          <p:nvPr/>
        </p:nvSpPr>
        <p:spPr>
          <a:xfrm>
            <a:off x="1737360" y="1078992"/>
            <a:ext cx="5120640" cy="411480"/>
          </a:xfrm>
          <a:prstGeom prst="rect">
            <a:avLst/>
          </a:prstGeom>
          <a:noFill/>
        </p:spPr>
        <p:txBody>
          <a:bodyPr wrap="square" anchor="ctr"/>
          <a:lstStyle/>
          <a:p>
            <a:pPr algn="l"/>
            <a:r>
              <a:rPr sz="1400" b="1">
                <a:solidFill>
                  <a:srgbClr val="FFFFFF"/>
                </a:solidFill>
                <a:latin typeface="Calibri"/>
              </a:rPr>
              <a:t>Definition</a:t>
            </a:r>
          </a:p>
        </p:txBody>
      </p:sp>
      <p:sp>
        <p:nvSpPr>
          <p:cNvPr id="11" name="TextBox 10"/>
          <p:cNvSpPr txBox="1"/>
          <p:nvPr/>
        </p:nvSpPr>
        <p:spPr>
          <a:xfrm>
            <a:off x="6949440" y="1078992"/>
            <a:ext cx="4572000" cy="411480"/>
          </a:xfrm>
          <a:prstGeom prst="rect">
            <a:avLst/>
          </a:prstGeom>
          <a:noFill/>
        </p:spPr>
        <p:txBody>
          <a:bodyPr wrap="square" anchor="ctr"/>
          <a:lstStyle/>
          <a:p>
            <a:pPr algn="l"/>
            <a:r>
              <a:rPr sz="1400" b="1">
                <a:solidFill>
                  <a:srgbClr val="FFFFFF"/>
                </a:solidFill>
                <a:latin typeface="Calibri"/>
              </a:rPr>
              <a:t>Typical example</a:t>
            </a:r>
          </a:p>
        </p:txBody>
      </p:sp>
      <p:sp>
        <p:nvSpPr>
          <p:cNvPr id="12" name="Rounded Rectangle 11"/>
          <p:cNvSpPr/>
          <p:nvPr/>
        </p:nvSpPr>
        <p:spPr>
          <a:xfrm>
            <a:off x="457200" y="149047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90472"/>
            <a:ext cx="109728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90472"/>
            <a:ext cx="1097280" cy="804672"/>
          </a:xfrm>
          <a:prstGeom prst="rect">
            <a:avLst/>
          </a:prstGeom>
          <a:noFill/>
        </p:spPr>
        <p:txBody>
          <a:bodyPr wrap="square" anchor="ctr"/>
          <a:lstStyle/>
          <a:p>
            <a:pPr algn="ctr"/>
            <a:r>
              <a:rPr sz="2200" b="1">
                <a:solidFill>
                  <a:srgbClr val="FFFFFF"/>
                </a:solidFill>
                <a:latin typeface="Calibri"/>
              </a:rPr>
              <a:t>I</a:t>
            </a:r>
          </a:p>
        </p:txBody>
      </p:sp>
      <p:sp>
        <p:nvSpPr>
          <p:cNvPr id="15" name="TextBox 14"/>
          <p:cNvSpPr txBox="1"/>
          <p:nvPr/>
        </p:nvSpPr>
        <p:spPr>
          <a:xfrm>
            <a:off x="1737360" y="1563624"/>
            <a:ext cx="502920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6949440" y="1563624"/>
            <a:ext cx="4572000" cy="658368"/>
          </a:xfrm>
          <a:prstGeom prst="rect">
            <a:avLst/>
          </a:prstGeom>
          <a:noFill/>
        </p:spPr>
        <p:txBody>
          <a:bodyPr wrap="square" anchor="ctr"/>
          <a:lstStyle/>
          <a:p>
            <a:pPr algn="l"/>
            <a:r>
              <a:rPr sz="1300" b="0">
                <a:solidFill>
                  <a:srgbClr val="3D4A57"/>
                </a:solidFill>
                <a:latin typeface="Calibri"/>
              </a:rPr>
              <a:t>Elective OHE in a well 1-year-old</a:t>
            </a:r>
          </a:p>
        </p:txBody>
      </p:sp>
      <p:sp>
        <p:nvSpPr>
          <p:cNvPr id="17" name="Rounded Rectangle 16"/>
          <p:cNvSpPr/>
          <p:nvPr/>
        </p:nvSpPr>
        <p:spPr>
          <a:xfrm>
            <a:off x="457200" y="235915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359152"/>
            <a:ext cx="109728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359152"/>
            <a:ext cx="1097280" cy="804672"/>
          </a:xfrm>
          <a:prstGeom prst="rect">
            <a:avLst/>
          </a:prstGeom>
          <a:noFill/>
        </p:spPr>
        <p:txBody>
          <a:bodyPr wrap="square" anchor="ctr"/>
          <a:lstStyle/>
          <a:p>
            <a:pPr algn="ctr"/>
            <a:r>
              <a:rPr sz="2200" b="1">
                <a:solidFill>
                  <a:srgbClr val="FFFFFF"/>
                </a:solidFill>
                <a:latin typeface="Calibri"/>
              </a:rPr>
              <a:t>II</a:t>
            </a:r>
          </a:p>
        </p:txBody>
      </p:sp>
      <p:sp>
        <p:nvSpPr>
          <p:cNvPr id="20" name="TextBox 19"/>
          <p:cNvSpPr txBox="1"/>
          <p:nvPr/>
        </p:nvSpPr>
        <p:spPr>
          <a:xfrm>
            <a:off x="1737360" y="2432304"/>
            <a:ext cx="502920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6949440" y="2432304"/>
            <a:ext cx="4572000" cy="658368"/>
          </a:xfrm>
          <a:prstGeom prst="rect">
            <a:avLst/>
          </a:prstGeom>
          <a:noFill/>
        </p:spPr>
        <p:txBody>
          <a:bodyPr wrap="square" anchor="ctr"/>
          <a:lstStyle/>
          <a:p>
            <a:pPr algn="l"/>
            <a:r>
              <a:rPr sz="1300" b="0">
                <a:solidFill>
                  <a:srgbClr val="3D4A57"/>
                </a:solidFill>
                <a:latin typeface="Calibri"/>
              </a:rPr>
              <a:t>Controlled diabetes; obese but stable; asymptomatic murmur</a:t>
            </a:r>
          </a:p>
        </p:txBody>
      </p:sp>
      <p:sp>
        <p:nvSpPr>
          <p:cNvPr id="22" name="Rounded Rectangle 21"/>
          <p:cNvSpPr/>
          <p:nvPr/>
        </p:nvSpPr>
        <p:spPr>
          <a:xfrm>
            <a:off x="457200" y="322783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227832"/>
            <a:ext cx="109728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27832"/>
            <a:ext cx="1097280" cy="804672"/>
          </a:xfrm>
          <a:prstGeom prst="rect">
            <a:avLst/>
          </a:prstGeom>
          <a:noFill/>
        </p:spPr>
        <p:txBody>
          <a:bodyPr wrap="square" anchor="ctr"/>
          <a:lstStyle/>
          <a:p>
            <a:pPr algn="ctr"/>
            <a:r>
              <a:rPr sz="2200" b="1">
                <a:solidFill>
                  <a:srgbClr val="FFFFFF"/>
                </a:solidFill>
                <a:latin typeface="Calibri"/>
              </a:rPr>
              <a:t>III</a:t>
            </a:r>
          </a:p>
        </p:txBody>
      </p:sp>
      <p:sp>
        <p:nvSpPr>
          <p:cNvPr id="25" name="TextBox 24"/>
          <p:cNvSpPr txBox="1"/>
          <p:nvPr/>
        </p:nvSpPr>
        <p:spPr>
          <a:xfrm>
            <a:off x="1737360" y="3300984"/>
            <a:ext cx="5029200" cy="658368"/>
          </a:xfrm>
          <a:prstGeom prst="rect">
            <a:avLst/>
          </a:prstGeom>
          <a:noFill/>
        </p:spPr>
        <p:txBody>
          <a:bodyPr wrap="square" anchor="ctr"/>
          <a:lstStyle/>
          <a:p>
            <a:pPr algn="l"/>
            <a:r>
              <a:rPr sz="1300" b="0">
                <a:solidFill>
                  <a:srgbClr val="1C1C1C"/>
                </a:solidFill>
                <a:latin typeface="Calibri"/>
              </a:rPr>
              <a:t>Moderate to severe systemic disease, ongoing but compensated; functional limitation and higher anesthetic risk</a:t>
            </a:r>
          </a:p>
        </p:txBody>
      </p:sp>
      <p:sp>
        <p:nvSpPr>
          <p:cNvPr id="26" name="TextBox 25"/>
          <p:cNvSpPr txBox="1"/>
          <p:nvPr/>
        </p:nvSpPr>
        <p:spPr>
          <a:xfrm>
            <a:off x="6949440" y="3300984"/>
            <a:ext cx="4572000" cy="658368"/>
          </a:xfrm>
          <a:prstGeom prst="rect">
            <a:avLst/>
          </a:prstGeom>
          <a:noFill/>
        </p:spPr>
        <p:txBody>
          <a:bodyPr wrap="square" anchor="ctr"/>
          <a:lstStyle/>
          <a:p>
            <a:pPr algn="l"/>
            <a:r>
              <a:rPr sz="1300" b="0">
                <a:solidFill>
                  <a:srgbClr val="3D4A57"/>
                </a:solidFill>
                <a:latin typeface="Calibri"/>
              </a:rPr>
              <a:t>Stable CKD; compensated heart disease; vestibular Cocker with otitis media/interna</a:t>
            </a:r>
          </a:p>
        </p:txBody>
      </p:sp>
      <p:sp>
        <p:nvSpPr>
          <p:cNvPr id="27" name="Rounded Rectangle 26"/>
          <p:cNvSpPr/>
          <p:nvPr/>
        </p:nvSpPr>
        <p:spPr>
          <a:xfrm>
            <a:off x="457200" y="4096511"/>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096511"/>
            <a:ext cx="109728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096511"/>
            <a:ext cx="1097280" cy="804672"/>
          </a:xfrm>
          <a:prstGeom prst="rect">
            <a:avLst/>
          </a:prstGeom>
          <a:noFill/>
        </p:spPr>
        <p:txBody>
          <a:bodyPr wrap="square" anchor="ctr"/>
          <a:lstStyle/>
          <a:p>
            <a:pPr algn="ctr"/>
            <a:r>
              <a:rPr sz="2200" b="1">
                <a:solidFill>
                  <a:srgbClr val="FFFFFF"/>
                </a:solidFill>
                <a:latin typeface="Calibri"/>
              </a:rPr>
              <a:t>IV</a:t>
            </a:r>
          </a:p>
        </p:txBody>
      </p:sp>
      <p:sp>
        <p:nvSpPr>
          <p:cNvPr id="30" name="TextBox 29"/>
          <p:cNvSpPr txBox="1"/>
          <p:nvPr/>
        </p:nvSpPr>
        <p:spPr>
          <a:xfrm>
            <a:off x="1737360" y="4169663"/>
            <a:ext cx="502920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a:t>
            </a:r>
          </a:p>
        </p:txBody>
      </p:sp>
      <p:sp>
        <p:nvSpPr>
          <p:cNvPr id="31" name="TextBox 30"/>
          <p:cNvSpPr txBox="1"/>
          <p:nvPr/>
        </p:nvSpPr>
        <p:spPr>
          <a:xfrm>
            <a:off x="6949440" y="4169663"/>
            <a:ext cx="4572000" cy="658368"/>
          </a:xfrm>
          <a:prstGeom prst="rect">
            <a:avLst/>
          </a:prstGeom>
          <a:noFill/>
        </p:spPr>
        <p:txBody>
          <a:bodyPr wrap="square" anchor="ctr"/>
          <a:lstStyle/>
          <a:p>
            <a:pPr algn="l"/>
            <a:r>
              <a:rPr sz="1300" b="0">
                <a:solidFill>
                  <a:srgbClr val="3D4A57"/>
                </a:solidFill>
                <a:latin typeface="Calibri"/>
              </a:rPr>
              <a:t>GDV, septic abdomen, decompensated CHF, uncontrolled hemorrhage</a:t>
            </a:r>
          </a:p>
        </p:txBody>
      </p:sp>
      <p:sp>
        <p:nvSpPr>
          <p:cNvPr id="32" name="Rounded Rectangle 31"/>
          <p:cNvSpPr/>
          <p:nvPr/>
        </p:nvSpPr>
        <p:spPr>
          <a:xfrm>
            <a:off x="457200" y="496519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65192"/>
            <a:ext cx="109728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4965192"/>
            <a:ext cx="1097280" cy="804672"/>
          </a:xfrm>
          <a:prstGeom prst="rect">
            <a:avLst/>
          </a:prstGeom>
          <a:noFill/>
        </p:spPr>
        <p:txBody>
          <a:bodyPr wrap="square" anchor="ctr"/>
          <a:lstStyle/>
          <a:p>
            <a:pPr algn="ctr"/>
            <a:r>
              <a:rPr sz="2200" b="1">
                <a:solidFill>
                  <a:srgbClr val="FFFFFF"/>
                </a:solidFill>
                <a:latin typeface="Calibri"/>
              </a:rPr>
              <a:t>V</a:t>
            </a:r>
          </a:p>
        </p:txBody>
      </p:sp>
      <p:sp>
        <p:nvSpPr>
          <p:cNvPr id="35" name="TextBox 34"/>
          <p:cNvSpPr txBox="1"/>
          <p:nvPr/>
        </p:nvSpPr>
        <p:spPr>
          <a:xfrm>
            <a:off x="1737360" y="5038344"/>
            <a:ext cx="5029200" cy="658368"/>
          </a:xfrm>
          <a:prstGeom prst="rect">
            <a:avLst/>
          </a:prstGeom>
          <a:noFill/>
        </p:spPr>
        <p:txBody>
          <a:bodyPr wrap="square" anchor="ctr"/>
          <a:lstStyle/>
          <a:p>
            <a:pPr algn="l"/>
            <a:r>
              <a:rPr sz="1300" b="0">
                <a:solidFill>
                  <a:srgbClr val="1C1C1C"/>
                </a:solidFill>
                <a:latin typeface="Calibri"/>
              </a:rPr>
              <a:t>Moribund; not expected to live &gt;24 h with or without surgery</a:t>
            </a:r>
          </a:p>
        </p:txBody>
      </p:sp>
      <p:sp>
        <p:nvSpPr>
          <p:cNvPr id="36" name="TextBox 35"/>
          <p:cNvSpPr txBox="1"/>
          <p:nvPr/>
        </p:nvSpPr>
        <p:spPr>
          <a:xfrm>
            <a:off x="6949440" y="5038344"/>
            <a:ext cx="4572000" cy="658368"/>
          </a:xfrm>
          <a:prstGeom prst="rect">
            <a:avLst/>
          </a:prstGeom>
          <a:noFill/>
        </p:spPr>
        <p:txBody>
          <a:bodyPr wrap="square" anchor="ctr"/>
          <a:lstStyle/>
          <a:p>
            <a:pPr algn="l"/>
            <a:r>
              <a:rPr sz="1300" b="0">
                <a:solidFill>
                  <a:srgbClr val="3D4A57"/>
                </a:solidFill>
                <a:latin typeface="Calibri"/>
              </a:rPr>
              <a:t>Gastric rupture, catastrophic trauma, end-stage disease</a:t>
            </a:r>
          </a:p>
        </p:txBody>
      </p:sp>
      <p:sp>
        <p:nvSpPr>
          <p:cNvPr id="37" name="Rectangle 3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9" name="TextBox 3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I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II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Cocker Spaniel, severe otitis, circling left, nystagmus, knuckling right, TM intact, DexSP given,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III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Cat, urethral obstruction, K+ 8.2, bladder huge, arrhythmia.</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ASA IV-E  ·  stabilize first, then surgery</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SEVERE OTITIS EXTERNA PLUS INNER-EAR SIGNS  ·  NOT AN ASA I ‘EAR CLEAN’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Cocker Spaniel with vestibular disease</a:t>
            </a:r>
          </a:p>
        </p:txBody>
      </p:sp>
      <p:sp>
        <p:nvSpPr>
          <p:cNvPr id="8" name="Rounded Rectangle 7"/>
          <p:cNvSpPr/>
          <p:nvPr/>
        </p:nvSpPr>
        <p:spPr>
          <a:xfrm>
            <a:off x="457200" y="105156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70432"/>
            <a:ext cx="10789920" cy="1005840"/>
          </a:xfrm>
          <a:prstGeom prst="rect">
            <a:avLst/>
          </a:prstGeom>
          <a:noFill/>
        </p:spPr>
        <p:txBody>
          <a:bodyPr wrap="square" anchor="t"/>
          <a:lstStyle/>
          <a:p>
            <a:pPr algn="l"/>
            <a:r>
              <a:rPr sz="1500" b="0">
                <a:solidFill>
                  <a:srgbClr val="0B2C4A"/>
                </a:solidFill>
                <a:latin typeface="Calibri"/>
              </a:rPr>
              <a:t>Adult Cocker Spaniel. Severe external ear infection. Canal patent. Tympanic membrane intact on otoscopy. Dexamethasone SP already given to open the canal. Now circling to the left, fast nystagmus (reported toward the left), knuckling on the right.</a:t>
            </a:r>
          </a:p>
        </p:txBody>
      </p:sp>
      <p:sp>
        <p:nvSpPr>
          <p:cNvPr id="10" name="Rounded Rectangle 9"/>
          <p:cNvSpPr/>
          <p:nvPr/>
        </p:nvSpPr>
        <p:spPr>
          <a:xfrm>
            <a:off x="457200" y="2423160"/>
            <a:ext cx="365760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23160"/>
            <a:ext cx="91440" cy="37033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32888"/>
            <a:ext cx="3291840" cy="347472"/>
          </a:xfrm>
          <a:prstGeom prst="rect">
            <a:avLst/>
          </a:prstGeom>
          <a:noFill/>
        </p:spPr>
        <p:txBody>
          <a:bodyPr wrap="square" anchor="t"/>
          <a:lstStyle/>
          <a:p>
            <a:pPr algn="l"/>
            <a:r>
              <a:rPr sz="1500" b="1">
                <a:solidFill>
                  <a:srgbClr val="0B2C4A"/>
                </a:solidFill>
                <a:latin typeface="Calibri"/>
              </a:rPr>
              <a:t>Why Cockers get this</a:t>
            </a:r>
          </a:p>
        </p:txBody>
      </p:sp>
      <p:sp>
        <p:nvSpPr>
          <p:cNvPr id="13" name="TextBox 12"/>
          <p:cNvSpPr txBox="1"/>
          <p:nvPr/>
        </p:nvSpPr>
        <p:spPr>
          <a:xfrm>
            <a:off x="713232" y="2862072"/>
            <a:ext cx="3291840" cy="3172968"/>
          </a:xfrm>
          <a:prstGeom prst="rect">
            <a:avLst/>
          </a:prstGeom>
          <a:noFill/>
        </p:spPr>
        <p:txBody>
          <a:bodyPr wrap="square" anchor="t"/>
          <a:lstStyle/>
          <a:p>
            <a:pPr algn="l"/>
            <a:r>
              <a:rPr sz="1300" b="0">
                <a:solidFill>
                  <a:srgbClr val="3D4A57"/>
                </a:solidFill>
                <a:latin typeface="Calibri"/>
              </a:rPr>
              <a:t>Pendulous, hairy canals and allergic skin disease drive chronic otitis. Stenosis hides the drum. Infection commonly extends to the middle ear even when the tympanic membrane still looks intact.</a:t>
            </a:r>
          </a:p>
        </p:txBody>
      </p:sp>
      <p:sp>
        <p:nvSpPr>
          <p:cNvPr id="14" name="Rounded Rectangle 13"/>
          <p:cNvSpPr/>
          <p:nvPr/>
        </p:nvSpPr>
        <p:spPr>
          <a:xfrm>
            <a:off x="4297680" y="2423160"/>
            <a:ext cx="365760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23160"/>
            <a:ext cx="91440" cy="37033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32888"/>
            <a:ext cx="3291840" cy="347472"/>
          </a:xfrm>
          <a:prstGeom prst="rect">
            <a:avLst/>
          </a:prstGeom>
          <a:noFill/>
        </p:spPr>
        <p:txBody>
          <a:bodyPr wrap="square" anchor="t"/>
          <a:lstStyle/>
          <a:p>
            <a:pPr algn="l"/>
            <a:r>
              <a:rPr sz="1500" b="1">
                <a:solidFill>
                  <a:srgbClr val="0B2C4A"/>
                </a:solidFill>
                <a:latin typeface="Calibri"/>
              </a:rPr>
              <a:t>What the signs mean</a:t>
            </a:r>
          </a:p>
        </p:txBody>
      </p:sp>
      <p:sp>
        <p:nvSpPr>
          <p:cNvPr id="17" name="TextBox 16"/>
          <p:cNvSpPr txBox="1"/>
          <p:nvPr/>
        </p:nvSpPr>
        <p:spPr>
          <a:xfrm>
            <a:off x="4553712" y="2862072"/>
            <a:ext cx="3291840" cy="3172968"/>
          </a:xfrm>
          <a:prstGeom prst="rect">
            <a:avLst/>
          </a:prstGeom>
          <a:noFill/>
        </p:spPr>
        <p:txBody>
          <a:bodyPr wrap="square" anchor="t"/>
          <a:lstStyle/>
          <a:p>
            <a:pPr algn="l"/>
            <a:r>
              <a:rPr sz="1300" b="0">
                <a:solidFill>
                  <a:srgbClr val="3D4A57"/>
                </a:solidFill>
                <a:latin typeface="Calibri"/>
              </a:rPr>
              <a:t>Circling left = left-sided vestibular. Intact drum does not rule out otitis media/interna. True knuckling is not typical of simple peripheral vestibular disease — recheck placing; if real, think central involvement and image.</a:t>
            </a:r>
          </a:p>
        </p:txBody>
      </p:sp>
      <p:sp>
        <p:nvSpPr>
          <p:cNvPr id="18" name="Rounded Rectangle 17"/>
          <p:cNvSpPr/>
          <p:nvPr/>
        </p:nvSpPr>
        <p:spPr>
          <a:xfrm>
            <a:off x="8138160" y="2423160"/>
            <a:ext cx="356616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23160"/>
            <a:ext cx="91440" cy="37033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32888"/>
            <a:ext cx="3200400" cy="347472"/>
          </a:xfrm>
          <a:prstGeom prst="rect">
            <a:avLst/>
          </a:prstGeom>
          <a:noFill/>
        </p:spPr>
        <p:txBody>
          <a:bodyPr wrap="square" anchor="t"/>
          <a:lstStyle/>
          <a:p>
            <a:pPr algn="l"/>
            <a:r>
              <a:rPr sz="1500" b="1">
                <a:solidFill>
                  <a:srgbClr val="0B2C4A"/>
                </a:solidFill>
                <a:latin typeface="Calibri"/>
              </a:rPr>
              <a:t>Already on board</a:t>
            </a:r>
          </a:p>
        </p:txBody>
      </p:sp>
      <p:sp>
        <p:nvSpPr>
          <p:cNvPr id="21" name="TextBox 20"/>
          <p:cNvSpPr txBox="1"/>
          <p:nvPr/>
        </p:nvSpPr>
        <p:spPr>
          <a:xfrm>
            <a:off x="8394192" y="2862072"/>
            <a:ext cx="3200400" cy="3172968"/>
          </a:xfrm>
          <a:prstGeom prst="rect">
            <a:avLst/>
          </a:prstGeom>
          <a:noFill/>
        </p:spPr>
        <p:txBody>
          <a:bodyPr wrap="square" anchor="t"/>
          <a:lstStyle/>
          <a:p>
            <a:pPr algn="l"/>
            <a:r>
              <a:rPr sz="1300" b="0">
                <a:solidFill>
                  <a:srgbClr val="3D4A57"/>
                </a:solidFill>
                <a:latin typeface="Calibri"/>
              </a:rPr>
              <a:t>DexSP reduces canal swelling so you can see the drum. Do not add an NSAID on top of a glucocorticoid. Do not put aminoglycoside ointment (e.g. neomycin) in an ear if middle/inner ear disease is possible.</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NEUROLOGIC + INFECTIOUS DISEASE  ·  HIGHER ANESTHETIC RISK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dog is ASA III — and what changes today</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600" b="1">
                <a:solidFill>
                  <a:srgbClr val="2E6B4F"/>
                </a:solidFill>
                <a:latin typeface="Calibri"/>
              </a:rPr>
              <a:t>ASA III, not II or IV</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would be dirty ears without neurologic signs.
III: ongoing infection plus vestibular dysfunction, still cardiovascularly stable and walking.
IV if recumbent, dull, septic, or in respiratory distress.
Add E only if this is a true emergency cut tonight — most of these dogs need imaging and medical control first.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Preoperative plan for this patient</a:t>
            </a:r>
          </a:p>
        </p:txBody>
      </p:sp>
      <p:sp>
        <p:nvSpPr>
          <p:cNvPr id="13" name="TextBox 12"/>
          <p:cNvSpPr txBox="1"/>
          <p:nvPr/>
        </p:nvSpPr>
        <p:spPr>
          <a:xfrm>
            <a:off x="4480560" y="1691640"/>
            <a:ext cx="6949440" cy="4114800"/>
          </a:xfrm>
          <a:prstGeom prst="rect">
            <a:avLst/>
          </a:prstGeom>
          <a:noFill/>
        </p:spPr>
        <p:txBody>
          <a:bodyPr wrap="square">
            <a:spAutoFit/>
          </a:bodyPr>
          <a:lstStyle/>
          <a:p>
            <a:pPr algn="l">
              <a:spcAft>
                <a:spcPts val="600"/>
              </a:spcAft>
            </a:pPr>
            <a:r>
              <a:rPr sz="1400" b="0">
                <a:solidFill>
                  <a:srgbClr val="1C1C1C"/>
                </a:solidFill>
                <a:latin typeface="Calibri"/>
              </a:rPr>
              <a:t>▸  Full neuro exam: mentation, head tilt, nystagmus (fast phase), facial nerve, Horner’s, paw placing on all four limbs.</a:t>
            </a:r>
          </a:p>
          <a:p>
            <a:pPr algn="l">
              <a:spcAft>
                <a:spcPts val="600"/>
              </a:spcAft>
            </a:pPr>
            <a:r>
              <a:rPr sz="1400" b="0">
                <a:solidFill>
                  <a:srgbClr val="1C1C1C"/>
                </a:solidFill>
                <a:latin typeface="Calibri"/>
              </a:rPr>
              <a:t>▸  CBC/chemistry ± culture of the canal. CT of the bullae (or MRI if knuckling is real) before TECA or deep flush under anesthesia.</a:t>
            </a:r>
          </a:p>
          <a:p>
            <a:pPr algn="l">
              <a:spcAft>
                <a:spcPts val="600"/>
              </a:spcAft>
            </a:pPr>
            <a:r>
              <a:rPr sz="1400" b="0">
                <a:solidFill>
                  <a:srgbClr val="1C1C1C"/>
                </a:solidFill>
                <a:latin typeface="Calibri"/>
              </a:rPr>
              <a:t>▸  This is infected tissue — antimicrobials are treatment, not clean-surgery prophylaxis.</a:t>
            </a:r>
          </a:p>
          <a:p>
            <a:pPr algn="l">
              <a:spcAft>
                <a:spcPts val="600"/>
              </a:spcAft>
            </a:pPr>
            <a:r>
              <a:rPr sz="1400" b="0">
                <a:solidFill>
                  <a:srgbClr val="1C1C1C"/>
                </a:solidFill>
                <a:latin typeface="Calibri"/>
              </a:rPr>
              <a:t>▸  Protect the airway; vestibular dogs regurgitate. Fast as for any anesthetic. Pad well; they fall.</a:t>
            </a:r>
          </a:p>
          <a:p>
            <a:pPr algn="l">
              <a:spcAft>
                <a:spcPts val="600"/>
              </a:spcAft>
            </a:pPr>
            <a:r>
              <a:rPr sz="1400" b="0">
                <a:solidFill>
                  <a:srgbClr val="1C1C1C"/>
                </a:solidFill>
                <a:latin typeface="Calibri"/>
              </a:rPr>
              <a:t>▸  Consent: persistent head tilt, deafness, facial paralysis, Horner’s, need for TECA if medical therapy fails.</a:t>
            </a:r>
          </a:p>
          <a:p>
            <a:pPr algn="l">
              <a:spcAft>
                <a:spcPts val="600"/>
              </a:spcAft>
            </a:pPr>
            <a:r>
              <a:rPr sz="1400" b="0">
                <a:solidFill>
                  <a:srgbClr val="1C1C1C"/>
                </a:solidFill>
                <a:latin typeface="Calibri"/>
              </a:rPr>
              <a:t>▸  Delay any unrelated elective procedure until the dog can walk a straight line and eat.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22–42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22  /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AFTER INDUCTION, IMMEDIATELY BEFORE SURGERY — NOT LAST 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TextBox 7"/>
          <p:cNvSpPr txBox="1"/>
          <p:nvPr/>
        </p:nvSpPr>
        <p:spPr>
          <a:xfrm>
            <a:off x="457200" y="1097280"/>
            <a:ext cx="6949440" cy="5029200"/>
          </a:xfrm>
          <a:prstGeom prst="rect">
            <a:avLst/>
          </a:prstGeom>
          <a:noFill/>
        </p:spPr>
        <p:txBody>
          <a:bodyPr wrap="square">
            <a:spAutoFit/>
          </a:bodyPr>
          <a:lstStyle/>
          <a:p>
            <a:pPr algn="l">
              <a:spcAft>
                <a:spcPts val="900"/>
              </a:spcAft>
            </a:pPr>
            <a:r>
              <a:rPr sz="1600" b="0">
                <a:solidFill>
                  <a:srgbClr val="1C1C1C"/>
                </a:solidFill>
                <a:latin typeface="Calibri"/>
              </a:rPr>
              <a:t>▸  Electric clippers, clean #40 blade, teeth intact. Razors create micro-nicks and raise SSI risk.</a:t>
            </a:r>
          </a:p>
          <a:p>
            <a:pPr algn="l">
              <a:spcAft>
                <a:spcPts val="900"/>
              </a:spcAft>
            </a:pPr>
            <a:r>
              <a:rPr sz="1600" b="0">
                <a:solidFill>
                  <a:srgbClr val="1C1C1C"/>
                </a:solidFill>
                <a:latin typeface="Calibri"/>
              </a:rPr>
              <a:t>▸  Clip with the grain, then against, to the skin. Tense the skin in folds, mammary chain, inguinal region.</a:t>
            </a:r>
          </a:p>
          <a:p>
            <a:pPr algn="l">
              <a:spcAft>
                <a:spcPts val="900"/>
              </a:spcAft>
            </a:pPr>
            <a:r>
              <a:rPr sz="1600" b="0">
                <a:solidFill>
                  <a:srgbClr val="1C1C1C"/>
                </a:solidFill>
                <a:latin typeface="Calibri"/>
              </a:rPr>
              <a:t>▸  Field large enough to extend the incision, place a drain, and keep drape edges off hair (~20 cm beyond planned incision is a Fossum-style working rule).</a:t>
            </a:r>
          </a:p>
          <a:p>
            <a:pPr algn="l">
              <a:spcAft>
                <a:spcPts val="900"/>
              </a:spcAft>
            </a:pPr>
            <a:r>
              <a:rPr sz="1600" b="0">
                <a:solidFill>
                  <a:srgbClr val="1C1C1C"/>
                </a:solidFill>
                <a:latin typeface="Calibri"/>
              </a:rPr>
              <a:t>▸  Vacuum. Loose hair is a mobile contaminant.</a:t>
            </a:r>
          </a:p>
          <a:p>
            <a:pPr algn="l">
              <a:spcAft>
                <a:spcPts val="900"/>
              </a:spcAft>
            </a:pPr>
            <a:r>
              <a:rPr sz="1600" b="0">
                <a:solidFill>
                  <a:srgbClr val="1C1C1C"/>
                </a:solidFill>
                <a:latin typeface="Calibri"/>
              </a:rPr>
              <a:t>▸  Do not clip the night before: bacterial load at the site rises as the skin is injured.</a:t>
            </a:r>
          </a:p>
          <a:p>
            <a:pPr algn="l">
              <a:spcAft>
                <a:spcPts val="900"/>
              </a:spcAft>
            </a:pPr>
            <a:r>
              <a:rPr sz="1600" b="0">
                <a:solidFill>
                  <a:srgbClr val="1C1C1C"/>
                </a:solidFill>
                <a:latin typeface="Calibri"/>
              </a:rPr>
              <a:t>▸  Clipper burn is a wound. Overheated blades and too much pressure = postop pain and infection.</a:t>
            </a:r>
          </a:p>
        </p:txBody>
      </p:sp>
      <p:sp>
        <p:nvSpPr>
          <p:cNvPr id="9" name="Rounded Rectangle 8"/>
          <p:cNvSpPr/>
          <p:nvPr/>
        </p:nvSpPr>
        <p:spPr>
          <a:xfrm>
            <a:off x="7589520" y="1097280"/>
            <a:ext cx="411480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280160"/>
            <a:ext cx="3703320" cy="365760"/>
          </a:xfrm>
          <a:prstGeom prst="rect">
            <a:avLst/>
          </a:prstGeom>
          <a:noFill/>
        </p:spPr>
        <p:txBody>
          <a:bodyPr wrap="square" anchor="t"/>
          <a:lstStyle/>
          <a:p>
            <a:pPr algn="l"/>
            <a:r>
              <a:rPr sz="1600" b="1">
                <a:solidFill>
                  <a:srgbClr val="0B2C4A"/>
                </a:solidFill>
                <a:latin typeface="Calibri"/>
              </a:rPr>
              <a:t>OHE clip field</a:t>
            </a:r>
          </a:p>
        </p:txBody>
      </p:sp>
      <p:sp>
        <p:nvSpPr>
          <p:cNvPr id="11" name="TextBox 10"/>
          <p:cNvSpPr txBox="1"/>
          <p:nvPr/>
        </p:nvSpPr>
        <p:spPr>
          <a:xfrm>
            <a:off x="7818120" y="1783080"/>
            <a:ext cx="3703320" cy="4023360"/>
          </a:xfrm>
          <a:prstGeom prst="rect">
            <a:avLst/>
          </a:prstGeom>
          <a:noFill/>
        </p:spPr>
        <p:txBody>
          <a:bodyPr wrap="square" anchor="t"/>
          <a:lstStyle/>
          <a:p>
            <a:pPr algn="l"/>
            <a:r>
              <a:rPr sz="1500" b="0">
                <a:solidFill>
                  <a:srgbClr val="1C1C1C"/>
                </a:solidFill>
                <a:latin typeface="Calibri"/>
              </a:rPr>
              <a:t>From xiphoid (or a few cm cranial) to pubis, and widely lateral to the nipples.
Include enough caudal abdomen that you can extend if the uterus is unexpected.
Pluck or carefully clip preputial hair if a male abdominal surgery (not OHE) — tuck/flush prepuce as indicated.</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CONTACT TIME AND DIRECTION MATTER MORE THAN THE NUMBER OF ‘PASSES’ YOU BRAG ABOUT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sp>
        <p:nvSpPr>
          <p:cNvPr id="8" name="TextBox 7"/>
          <p:cNvSpPr txBox="1"/>
          <p:nvPr/>
        </p:nvSpPr>
        <p:spPr>
          <a:xfrm>
            <a:off x="457200" y="1051560"/>
            <a:ext cx="7315200" cy="4297680"/>
          </a:xfrm>
          <a:prstGeom prst="rect">
            <a:avLst/>
          </a:prstGeom>
          <a:noFill/>
        </p:spPr>
        <p:txBody>
          <a:bodyPr wrap="square">
            <a:spAutoFit/>
          </a:bodyPr>
          <a:lstStyle/>
          <a:p>
            <a:pPr algn="l">
              <a:spcAft>
                <a:spcPts val="800"/>
              </a:spcAft>
            </a:pPr>
            <a:r>
              <a:rPr sz="1600" b="0">
                <a:solidFill>
                  <a:srgbClr val="1C1C1C"/>
                </a:solidFill>
                <a:latin typeface="Calibri"/>
              </a:rPr>
              <a:t>▸  Dirty prep (prep room): remove grease and gross contamination. Wear clean exam gloves. Discard gauze when it leaves the center.</a:t>
            </a:r>
          </a:p>
          <a:p>
            <a:pPr algn="l">
              <a:spcAft>
                <a:spcPts val="800"/>
              </a:spcAft>
            </a:pPr>
            <a:r>
              <a:rPr sz="1600" b="0">
                <a:solidFill>
                  <a:srgbClr val="1C1C1C"/>
                </a:solidFill>
                <a:latin typeface="Calibri"/>
              </a:rPr>
              <a:t>▸  Sterile prep (OR): sterile gloves, sterile gauze or applicator. New sponge every time you leave the incision line.</a:t>
            </a:r>
          </a:p>
          <a:p>
            <a:pPr algn="l">
              <a:spcAft>
                <a:spcPts val="800"/>
              </a:spcAft>
            </a:pPr>
            <a:r>
              <a:rPr sz="1600" b="0">
                <a:solidFill>
                  <a:srgbClr val="1C1C1C"/>
                </a:solidFill>
                <a:latin typeface="Calibri"/>
              </a:rPr>
              <a:t>▸  Start at the planned incision and spiral / wipe outward. Never bring a dirty sponge back to the center.</a:t>
            </a:r>
          </a:p>
          <a:p>
            <a:pPr algn="l">
              <a:spcAft>
                <a:spcPts val="800"/>
              </a:spcAft>
            </a:pPr>
            <a:r>
              <a:rPr sz="1600" b="0">
                <a:solidFill>
                  <a:srgbClr val="1C1C1C"/>
                </a:solidFill>
                <a:latin typeface="Calibri"/>
              </a:rPr>
              <a:t>▸  Honor manufacturer contact time. Typical working teaching: at least 3 cycles or a timed 3–5 minute contact, then a final paint. Follow the product in your lab.</a:t>
            </a:r>
          </a:p>
          <a:p>
            <a:pPr algn="l">
              <a:spcAft>
                <a:spcPts val="800"/>
              </a:spcAft>
            </a:pPr>
            <a:r>
              <a:rPr sz="1600" b="0">
                <a:solidFill>
                  <a:srgbClr val="1C1C1C"/>
                </a:solidFill>
                <a:latin typeface="Calibri"/>
              </a:rPr>
              <a:t>▸  The site should be damp-to-dry, not a lake. Puddles wick bacteria under drapes and soak the patient (hypothermia).</a:t>
            </a:r>
          </a:p>
        </p:txBody>
      </p:sp>
      <p:sp>
        <p:nvSpPr>
          <p:cNvPr id="9" name="Rounded Rectangle 8"/>
          <p:cNvSpPr/>
          <p:nvPr/>
        </p:nvSpPr>
        <p:spPr>
          <a:xfrm>
            <a:off x="7955279" y="1097280"/>
            <a:ext cx="3749039"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325880"/>
            <a:ext cx="3383280" cy="457200"/>
          </a:xfrm>
          <a:prstGeom prst="rect">
            <a:avLst/>
          </a:prstGeom>
          <a:noFill/>
        </p:spPr>
        <p:txBody>
          <a:bodyPr wrap="square" anchor="t"/>
          <a:lstStyle/>
          <a:p>
            <a:pPr algn="l"/>
            <a:r>
              <a:rPr sz="1600" b="1">
                <a:solidFill>
                  <a:srgbClr val="C5A35A"/>
                </a:solidFill>
                <a:latin typeface="Calibri"/>
              </a:rPr>
              <a:t>High-risk mistakes</a:t>
            </a:r>
          </a:p>
        </p:txBody>
      </p:sp>
      <p:sp>
        <p:nvSpPr>
          <p:cNvPr id="11" name="TextBox 10"/>
          <p:cNvSpPr txBox="1"/>
          <p:nvPr/>
        </p:nvSpPr>
        <p:spPr>
          <a:xfrm>
            <a:off x="8183879" y="1920240"/>
            <a:ext cx="3383280" cy="3931920"/>
          </a:xfrm>
          <a:prstGeom prst="rect">
            <a:avLst/>
          </a:prstGeom>
          <a:noFill/>
        </p:spPr>
        <p:txBody>
          <a:bodyPr wrap="square" anchor="t"/>
          <a:lstStyle/>
          <a:p>
            <a:pPr algn="l"/>
            <a:r>
              <a:rPr sz="1500" b="0">
                <a:solidFill>
                  <a:srgbClr val="FFFFFF"/>
                </a:solidFill>
                <a:latin typeface="Calibri"/>
              </a:rPr>
              <a:t>• Scrubbing back and forth like washing a car
• Using the same gauze on anus and incision
• CHG in the eye or ear canal
• Alcohol pooling + electrocautery
• ‘One quick wipe’ and draping wet
• Contaminating the site while moving the dog</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GOWN, GLOVE, BOX THE FIELD, THEN THE LARGE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a:t>
            </a:r>
          </a:p>
        </p:txBody>
      </p:sp>
      <p:sp>
        <p:nvSpPr>
          <p:cNvPr id="8" name="TextBox 7"/>
          <p:cNvSpPr txBox="1"/>
          <p:nvPr/>
        </p:nvSpPr>
        <p:spPr>
          <a:xfrm>
            <a:off x="457200" y="1051560"/>
            <a:ext cx="7040880" cy="5120640"/>
          </a:xfrm>
          <a:prstGeom prst="rect">
            <a:avLst/>
          </a:prstGeom>
          <a:noFill/>
        </p:spPr>
        <p:txBody>
          <a:bodyPr wrap="square">
            <a:spAutoFit/>
          </a:bodyPr>
          <a:lstStyle/>
          <a:p>
            <a:pPr algn="l">
              <a:spcAft>
                <a:spcPts val="800"/>
              </a:spcAft>
            </a:pPr>
            <a:r>
              <a:rPr sz="1500" b="0">
                <a:solidFill>
                  <a:srgbClr val="1C1C1C"/>
                </a:solidFill>
                <a:latin typeface="Calibri"/>
              </a:rPr>
              <a:t>▸  Four sterile towels (or equivalent) placed to box the field: cranial, caudal, left, right. Place the near towel first so you do not reach across the dog.</a:t>
            </a:r>
          </a:p>
          <a:p>
            <a:pPr algn="l">
              <a:spcAft>
                <a:spcPts val="800"/>
              </a:spcAft>
            </a:pPr>
            <a:r>
              <a:rPr sz="1500" b="0">
                <a:solidFill>
                  <a:srgbClr val="1C1C1C"/>
                </a:solidFill>
                <a:latin typeface="Calibri"/>
              </a:rPr>
              <a:t>▸  Towel edges cover all hair. If hair is visible, the drape is wrong — re-clip or re-drape, do not ‘tuck and hope.’</a:t>
            </a:r>
          </a:p>
          <a:p>
            <a:pPr algn="l">
              <a:spcAft>
                <a:spcPts val="800"/>
              </a:spcAft>
            </a:pPr>
            <a:r>
              <a:rPr sz="1500" b="0">
                <a:solidFill>
                  <a:srgbClr val="1C1C1C"/>
                </a:solidFill>
                <a:latin typeface="Calibri"/>
              </a:rPr>
              <a:t>▸  Secure (Backhaus clamps or atraumatic alternatives). Do not tent the skin into the incision. Do not puncture the patient’s skin carelessly with clamps.</a:t>
            </a:r>
          </a:p>
          <a:p>
            <a:pPr algn="l">
              <a:spcAft>
                <a:spcPts val="800"/>
              </a:spcAft>
            </a:pPr>
            <a:r>
              <a:rPr sz="1500" b="0">
                <a:solidFill>
                  <a:srgbClr val="1C1C1C"/>
                </a:solidFill>
                <a:latin typeface="Calibri"/>
              </a:rPr>
              <a:t>▸  Large fenestrated or four-corner large drape over the towels. Cuff your hands. Never shake drapes over the field.</a:t>
            </a:r>
          </a:p>
          <a:p>
            <a:pPr algn="l">
              <a:spcAft>
                <a:spcPts val="800"/>
              </a:spcAft>
            </a:pPr>
            <a:r>
              <a:rPr sz="1500" b="0">
                <a:solidFill>
                  <a:srgbClr val="1C1C1C"/>
                </a:solidFill>
                <a:latin typeface="Calibri"/>
              </a:rPr>
              <a:t>▸  Once down, the top surface is sterile; table edges and below table height are not. Hands stay on the field.</a:t>
            </a:r>
          </a:p>
          <a:p>
            <a:pPr algn="l">
              <a:spcAft>
                <a:spcPts val="800"/>
              </a:spcAft>
            </a:pPr>
            <a:r>
              <a:rPr sz="1500" b="0">
                <a:solidFill>
                  <a:srgbClr val="1C1C1C"/>
                </a:solidFill>
                <a:latin typeface="Calibri"/>
              </a:rPr>
              <a:t>▸  If a drape is wet through (strikethrough), it is contaminated. Cover or replace.</a:t>
            </a:r>
          </a:p>
        </p:txBody>
      </p:sp>
      <p:sp>
        <p:nvSpPr>
          <p:cNvPr id="9" name="Rounded Rectangle 8"/>
          <p:cNvSpPr/>
          <p:nvPr/>
        </p:nvSpPr>
        <p:spPr>
          <a:xfrm>
            <a:off x="7680960" y="1097280"/>
            <a:ext cx="402336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280160"/>
            <a:ext cx="3657600" cy="457200"/>
          </a:xfrm>
          <a:prstGeom prst="rect">
            <a:avLst/>
          </a:prstGeom>
          <a:noFill/>
        </p:spPr>
        <p:txBody>
          <a:bodyPr wrap="square" anchor="t"/>
          <a:lstStyle/>
          <a:p>
            <a:pPr algn="l"/>
            <a:r>
              <a:rPr sz="1600" b="1">
                <a:solidFill>
                  <a:srgbClr val="0B2C4A"/>
                </a:solidFill>
                <a:latin typeface="Calibri"/>
              </a:rPr>
              <a:t>Order of operations</a:t>
            </a:r>
          </a:p>
        </p:txBody>
      </p:sp>
      <p:sp>
        <p:nvSpPr>
          <p:cNvPr id="11" name="TextBox 10"/>
          <p:cNvSpPr txBox="1"/>
          <p:nvPr/>
        </p:nvSpPr>
        <p:spPr>
          <a:xfrm>
            <a:off x="7909560" y="1874519"/>
            <a:ext cx="3657600" cy="3931920"/>
          </a:xfrm>
          <a:prstGeom prst="rect">
            <a:avLst/>
          </a:prstGeom>
          <a:noFill/>
        </p:spPr>
        <p:txBody>
          <a:bodyPr wrap="square" anchor="t"/>
          <a:lstStyle/>
          <a:p>
            <a:pPr algn="l"/>
            <a:r>
              <a:rPr sz="1500" b="0">
                <a:solidFill>
                  <a:srgbClr val="1C1C1C"/>
                </a:solidFill>
                <a:latin typeface="Calibri"/>
              </a:rPr>
              <a:t>1. You are gowned/gloved
   (or a sterile assistant drapes)
2. Towels — four quadrants
3. Clamps
4. Large drape
5. Organize instruments on a sterile table
6. Timeout
7. Announce: ready to incise
Tell your assistant before the incision.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Surgeon preparation</a:t>
            </a:r>
          </a:p>
        </p:txBody>
      </p:sp>
      <p:sp>
        <p:nvSpPr>
          <p:cNvPr id="8" name="Rounded Rectangle 7"/>
          <p:cNvSpPr/>
          <p:nvPr/>
        </p:nvSpPr>
        <p:spPr>
          <a:xfrm>
            <a:off x="457200" y="109728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10789920" cy="868680"/>
          </a:xfrm>
          <a:prstGeom prst="rect">
            <a:avLst/>
          </a:prstGeom>
          <a:noFill/>
        </p:spPr>
        <p:txBody>
          <a:bodyPr wrap="square" anchor="t"/>
          <a:lstStyle/>
          <a:p>
            <a:pPr algn="l"/>
            <a:r>
              <a:rPr sz="1600" b="0">
                <a:solidFill>
                  <a:srgbClr val="1C1C1C"/>
                </a:solidFill>
                <a:latin typeface="Calibri"/>
              </a:rPr>
              <a:t>Clean scrubs, cap covering all hair, mask over nose and mouth, no jewelry, nails short, no polish/gels in most ORs. Shoes closed-toe. Eat/drink/bathroom before you scrub — leaving the field is a bigger sin than a slightly longer scrub.</a:t>
            </a:r>
          </a:p>
        </p:txBody>
      </p:sp>
      <p:sp>
        <p:nvSpPr>
          <p:cNvPr id="10" name="Rounded Rectangle 9"/>
          <p:cNvSpPr/>
          <p:nvPr/>
        </p:nvSpPr>
        <p:spPr>
          <a:xfrm>
            <a:off x="45720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78608"/>
            <a:ext cx="3291840" cy="347472"/>
          </a:xfrm>
          <a:prstGeom prst="rect">
            <a:avLst/>
          </a:prstGeom>
          <a:noFill/>
        </p:spPr>
        <p:txBody>
          <a:bodyPr wrap="square" anchor="t"/>
          <a:lstStyle/>
          <a:p>
            <a:pPr algn="l"/>
            <a:r>
              <a:rPr sz="1500" b="1">
                <a:solidFill>
                  <a:srgbClr val="0B2C4A"/>
                </a:solidFill>
                <a:latin typeface="Calibri"/>
              </a:rPr>
              <a:t>Surgical scrub</a:t>
            </a:r>
          </a:p>
        </p:txBody>
      </p:sp>
      <p:sp>
        <p:nvSpPr>
          <p:cNvPr id="13" name="TextBox 12"/>
          <p:cNvSpPr txBox="1"/>
          <p:nvPr/>
        </p:nvSpPr>
        <p:spPr>
          <a:xfrm>
            <a:off x="713232" y="2907792"/>
            <a:ext cx="3291840" cy="3127248"/>
          </a:xfrm>
          <a:prstGeom prst="rect">
            <a:avLst/>
          </a:prstGeom>
          <a:noFill/>
        </p:spPr>
        <p:txBody>
          <a:bodyPr wrap="square" anchor="t"/>
          <a:lstStyle/>
          <a:p>
            <a:pPr algn="l"/>
            <a:r>
              <a:rPr sz="1300" b="0">
                <a:solidFill>
                  <a:srgbClr val="3D4A57"/>
                </a:solidFill>
                <a:latin typeface="Calibri"/>
              </a:rPr>
              <a:t>Timed ~3–5 min or counted brushless CHG/alcohol per product. Fingers → hands → wrists → elbows. Rinse fingertips-up. Hands above elbows walking to the OR.</a:t>
            </a:r>
          </a:p>
        </p:txBody>
      </p:sp>
      <p:sp>
        <p:nvSpPr>
          <p:cNvPr id="14" name="Rounded Rectangle 13"/>
          <p:cNvSpPr/>
          <p:nvPr/>
        </p:nvSpPr>
        <p:spPr>
          <a:xfrm>
            <a:off x="429768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78608"/>
            <a:ext cx="3291840" cy="347472"/>
          </a:xfrm>
          <a:prstGeom prst="rect">
            <a:avLst/>
          </a:prstGeom>
          <a:noFill/>
        </p:spPr>
        <p:txBody>
          <a:bodyPr wrap="square" anchor="t"/>
          <a:lstStyle/>
          <a:p>
            <a:pPr algn="l"/>
            <a:r>
              <a:rPr sz="1500" b="1">
                <a:solidFill>
                  <a:srgbClr val="0B2C4A"/>
                </a:solidFill>
                <a:latin typeface="Calibri"/>
              </a:rPr>
              <a:t>Gowning</a:t>
            </a:r>
          </a:p>
        </p:txBody>
      </p:sp>
      <p:sp>
        <p:nvSpPr>
          <p:cNvPr id="17" name="TextBox 16"/>
          <p:cNvSpPr txBox="1"/>
          <p:nvPr/>
        </p:nvSpPr>
        <p:spPr>
          <a:xfrm>
            <a:off x="4553712" y="2907792"/>
            <a:ext cx="3291840" cy="3127248"/>
          </a:xfrm>
          <a:prstGeom prst="rect">
            <a:avLst/>
          </a:prstGeom>
          <a:noFill/>
        </p:spPr>
        <p:txBody>
          <a:bodyPr wrap="square" anchor="t"/>
          <a:lstStyle/>
          <a:p>
            <a:pPr algn="l"/>
            <a:r>
              <a:rPr sz="1300" b="0">
                <a:solidFill>
                  <a:srgbClr val="3D4A57"/>
                </a:solidFill>
                <a:latin typeface="Calibri"/>
              </a:rPr>
              <a:t>Dry with sterile towel without contaminating. Gown without touching the outer surface. Assistant ties. Keep hands in cuffs for closed gloving.</a:t>
            </a:r>
          </a:p>
        </p:txBody>
      </p:sp>
      <p:sp>
        <p:nvSpPr>
          <p:cNvPr id="18" name="Rounded Rectangle 17"/>
          <p:cNvSpPr/>
          <p:nvPr/>
        </p:nvSpPr>
        <p:spPr>
          <a:xfrm>
            <a:off x="813816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78608"/>
            <a:ext cx="3291840" cy="347472"/>
          </a:xfrm>
          <a:prstGeom prst="rect">
            <a:avLst/>
          </a:prstGeom>
          <a:noFill/>
        </p:spPr>
        <p:txBody>
          <a:bodyPr wrap="square" anchor="t"/>
          <a:lstStyle/>
          <a:p>
            <a:pPr algn="l"/>
            <a:r>
              <a:rPr sz="1500" b="1">
                <a:solidFill>
                  <a:srgbClr val="0B2C4A"/>
                </a:solidFill>
                <a:latin typeface="Calibri"/>
              </a:rPr>
              <a:t>Gloving</a:t>
            </a:r>
          </a:p>
        </p:txBody>
      </p:sp>
      <p:sp>
        <p:nvSpPr>
          <p:cNvPr id="21" name="TextBox 20"/>
          <p:cNvSpPr txBox="1"/>
          <p:nvPr/>
        </p:nvSpPr>
        <p:spPr>
          <a:xfrm>
            <a:off x="8394192" y="2907792"/>
            <a:ext cx="3291840" cy="3127248"/>
          </a:xfrm>
          <a:prstGeom prst="rect">
            <a:avLst/>
          </a:prstGeom>
          <a:noFill/>
        </p:spPr>
        <p:txBody>
          <a:bodyPr wrap="square" anchor="t"/>
          <a:lstStyle/>
          <a:p>
            <a:pPr algn="l"/>
            <a:r>
              <a:rPr sz="1300" b="0">
                <a:solidFill>
                  <a:srgbClr val="3D4A57"/>
                </a:solidFill>
                <a:latin typeface="Calibri"/>
              </a:rPr>
              <a:t>Closed gloving after gowning is preferred. Open gloving to replace a contaminated glove. If in doubt, both gloves come off and you start over.</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42–57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~15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35  /  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the surgery is not over</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Airway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Extubate when swallow/gag returns (species-specific). Brachycephalics: later, oxygen-ready, watch stertor. Never leave a recovering patient.</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Breathing</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SpO2, mucus membranes, effort. Reverse residual drugs if appropriate. Aspiration risk if regurg occurred.</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Circulation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HR, pulse, mm, CRT, BP if indicated. Pale + tachycardia after celiotomy is hemorrhage until proven otherwise.</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Temperature</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Most surgical patients are hypothermic. Rewarm actively but do not burn. Hypothermia → delayed recovery, coagulopathy, SSI.</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Pain &amp; nausea</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Score pain. Give the analgesic you planned. Antiemetic if indicated. A ‘quiet’ animal may be cold, hypotensive, or painful — look.</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Incision &amp; pee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Spot-check for bleed-through. Know when they last urinated. E-collar before they are awake enough to lick.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CLIENT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the Cocker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Adult Cocker Spaniel. Severe otitis externa. Canal patent. TM intact. DexSP already given. Circling left, nystagmus, knuckling right. Cardiovascularly stable, walking. This is ASA III. Client-owned. Going home after recovery — if you decide recovery is in the hospital tonight.</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 Neuro exam. No NSAID (DexSP on board). No aminoglycoside in the ear. Culture. CT/MRI before TECA. Antibiotics are treatment, not clean prophylaxis. Consent: head tilt, deafness, facial nerve.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Only after a surgical plane. Clip the intended field (ear/bulla vs TECA). Dirty then sterile prep. CHG off the canal/ear and off the eye. Position padded — this dog falls. Four-quadrant drape. Closed glove.</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Timeout. Maintain asepsis. If you contaminate, say it and fix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Airway, temp, pain score. No NSAID tonight. Watch for worsening vestibular signs, aspiration, incision. Written discharge + ER list. You still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Vestibular Cocker + severe otitis = ASA III, not a healthy ear flush.</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Clip after induction, #40, not razor, not the night before; spiral prep center → out.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CHG off the cornea and out of the middle ear.</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Four-quadrant drape + closed glove; announce contamination; after incision there is no free warning.</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fascia failure is an emergency;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refer.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914400"/>
          </a:xfrm>
          <a:prstGeom prst="rect">
            <a:avLst/>
          </a:prstGeom>
          <a:noFill/>
        </p:spPr>
        <p:txBody>
          <a:bodyPr wrap="square" anchor="t"/>
          <a:lstStyle/>
          <a:p>
            <a:pPr algn="l"/>
            <a:r>
              <a:rPr sz="1800" b="0">
                <a:solidFill>
                  <a:srgbClr val="F4EBD3"/>
                </a:solidFill>
                <a:latin typeface="Calibri"/>
              </a:rPr>
              <a:t>If there are no questions: what would you do differently for the Cocker
than for a healthy Labrador spay?</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49  /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