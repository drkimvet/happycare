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 we sedated him. MoMo, a 6-year SF DSH, 4.25 kg, vomiting that looked like a foreign-body surgery — imaging cancelled the cut. Assign both ASA statuses. Owner identifiers stay off these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Willie is the running surgical/sedation case. MoMo is the ASA IV-E cat whose preoperative evaluation cancelled an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a visible timer. If discussion runs, protect Part II (prep pictures) and both cases. Skip the large-animal slide if you are behind.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DVM 612 will hold you to this: a beautiful closure that bleeds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more than 2 minutes. Point: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thread: you do not hand off responsibility at the OR door. Anesthesia gets the dog ready for surgical prep; surgery owns prep through the last skin suture; both own recovery.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Ask: who has watched an elective surgery get cancelled at induction? That is a successful preop exam.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#3 and #4. Elective surgery on an unstable patient is not bravery.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2 minutes. Highlight Doberman/vWD, brachycephalics, and last meal as exam favorites. Never premedicate before you have examined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Never skip PE because the technician already did vitals. DVM 612 students share patients with anesthesia. The surgeon still owns the decision to proceed.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Status 1, then 3, then 4 slowly. This is the wording to memorize. E means emergency. Next: four 60-second cases, then Willie (3-E, we sedated) and MoMo (4-E, we did not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 we will unpack the sedation. D is MoMo — the preoperative evaluation cancelled the exploratory. The hyperkalemic blocked cat still appears in the knowledge check; do not lose that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Willie. Do not skip the murmur. Right-sided knuckling with left circling is why you cannot call this just an ear flush. Mentation was quiet/dull.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drum was seen, then ointment was infused. Aminoglycosides are a risk if the middle or inner ear is involved even when the drum looks present and swollen. Cavaliers also bring mitral valve disease and Chiari-like malformation to the vestibular list. Mention both, then return to the ear as the leading infectious cause. No NSAID after DexSP. Next patient: MoMo, the cat we did not take to surgery.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 identifiers stay off the slide. MoMo is the cat whose films looked like ‘maybe GI’ and were kidneys. Cold-call: who would have clipped her for an exploratory on history alone? That is the mistake this hour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NSAIDs are contraindicated. Diuresis will not fix a destroyed kidney. If someone still wants to ‘just look inside,’ that is not surgery — that is harm. Be respectful; this cat died. The teaching point is judgment, not spectacle.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dogma. Requesting nothing in a geriatric patient is as wrong as a $800 panel on every puppy. MoMo’s rising creatinine is the example of not ignoring a test you ordered. Next two slides: CBC/chem and EPOC numbers mapped onto ASA Status. They inform the number; they do not replace the 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PCV, platelets, creatinine, potassium. Willie: CBC essentially Status 1, phosphorus mild up. His Status 3-E is the vestibular exam, not the chemistry. MoMo: WBC ~26 and creatinine 3.0 then 4.71 push the lab picture into Status 3–4.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MoMo’s EPOC: pH 7.255 is Status 3; base excess −7.4 is Status 2; lactate 2.05 is Status 1. Do not call a venous pO2 of 33 an arterial Status 4. Whole-patient Status was still 4-E from the kidneys. Willie did not need an EPOC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slide. Students want to average the columns. Teach: the worst compensated vital-system problem that is a constant threat sets the floor.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sentence: resuscitation is not delayed for clipping. Elective OHE is delayed for pyoderma. GDV is not delayed for a dental cleaning that was also booked. MoMo is the other direction: do not take a medical kidney cat to an exploratory because FB was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AAHA-style 4–6 h for healthy small animals as best practice. Older sources still say overnight NPO — explain aspiration vs hypoglycemia. Ruminants are a different physiology, not a different lecture.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under-consent electives. A 2-minute risk talk prevents a 2-hour complaint. Mention DNR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Checklist takes 90 seconds and prevents wrong-site and forgotten cefazolin. Analgesia: locals are underused by students. Next slides: the kit, then the anesthesia record you actually fill.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Ninety seconds. Point at Pre-op, then Prep, then Post-op. Ask: what is missing in your teaching lab today? MoMo never needed the clippers. Willie needed monitoring even for an ear clean.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header: ASA III-E is written before alfaxalone. DexSP means no NSAID. Grid every 5 minutes while sedated. Recovery boxes are part of the same page. Blank template lives with this lecture if they want to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point of the hour. The form is not only for patients who get clipped. Recording the decision not to operate is a surgical document. NSAIDs contraindicated. Rising creatinine. Owner elected euthanasia — say it once, respectfully, then move.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Elective canine OHE is a clean procedure — do not invent a 14-day cephalexin prescription. Willie’s left ear is infected, so antimicrobials are treatment, not clean prophylaxis.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2 minutes. Then move. Do not let this become a 10-minute debate.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skill cluster for this hour: hair removal, skin prep, positioning, scrubbing/attire, gowning/gloving, draping. Lost asepsis that nobody names is how patients get SSI.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six boxes. Students should be able to name them without mixing in the cutting steps.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fail: clipping in the OR, or sterile prep in the prep room then dragging a wet dog across a dirty corridor without a clean transfer. Another fail: starting the clip before a surgical plane — patient wakes, contaminates, gets clipper lacerations.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yellow box is the field. If the drape later shows hair, the clip failed. Willie: if you only flush an ear you still clip what you will contaminate; a TECA field is the whole pinna and lateral skull, not this abdomen. MoMo never reached this slide.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Orthopedic hang-prep is the concept they need: the foot is dirty, wrapped, and you prep from incision toward the foot, never reverse.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CHG–alcohol is a common choice for trunk skin when not contraindicated. Willie’s left ear is exactly where CHG and aminoglycosides can harm a swollen drum and middle ear.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The picture is abdomen; the rule is the same on an ear or a limb. CHG in Willie’s ear is a real harm.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Canine OHE is dorsal recumbency. Over-splitting femurs of a large dog is a student habit. Mention GDV: even positioning can worsen caval compression — communicate with anesthesia.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90 seconds on the two pictures. Students remember the hairy window. Then: gown/glove before you drape,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inset as the correct closed-glove mechanic. The workstation picture is the minimum monitoring set. Students should name SpO2, ETCO2, ECG, temp, fluids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Culture in lab: we praise people who say I just contaminated my sleeve. We do not praise silent heroics.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hemorrhage, closure, and asepsis to this hour. Ureter injury is a calm, well-prepped, well-exposed patient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safety slide. D is the nuanced yes.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Shift energy. Students think postop is ‘the techs’ job.’ It is not.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picture is a Cavalier in recovery — that is Willie. Pulse ox on the tongue is correct in recovery. Do not send a pale OHE to the kennel because she looks groggy.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Call-the-surgeon line at the bottom is the discharge talk they will repeat to clients. Photograph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 pain. NSAIDs: not in hypovolemia, kidney injury, GI ulcer, or concurrent steroids — Willie already received DexSP.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Licking and basketball-with-the-dog are the two discharge failures. Be concrete: ‘no off-leash for 14 days.’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hemorrhage vs. seroma (students confuse them) and skin vs.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Willie: neuro exam, ASA III-E, TM visible but swollen, DexSP given, no NSAID, murmur, films, MRI plan.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one sentence: ‘If the incision opens and you see fat or intestine, cover with a clean wet towel and come now.’ Students write too much physiology and too few phone numbers.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is never ‘wait until morning.’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Cats and food. Diabetics and insulin. Short.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Halsted travels to the barn. Then get back to Willie.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decided not to clip her. A healthy Lab OHE is ASA I and gets no routine antibiotics. Willie is III-E. MoMo is IV-E and not a surgical abdomen.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to slide 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Fossum is the text behind this hour.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vs MoMo ASA and why only Willie was anesthetized.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051560"/>
            <a:ext cx="10972800" cy="320040"/>
          </a:xfrm>
          <a:prstGeom prst="rect">
            <a:avLst/>
          </a:prstGeom>
          <a:noFill/>
        </p:spPr>
        <p:txBody>
          <a:bodyPr wrap="square" anchor="t"/>
          <a:lstStyle/>
          <a:p>
            <a:pPr algn="l"/>
            <a:r>
              <a:rPr sz="1300" b="1">
                <a:solidFill>
                  <a:srgbClr val="C5A35A"/>
                </a:solidFill>
                <a:latin typeface="Calibri"/>
              </a:rPr>
              <a:t>LONG ISLAND UNIVERSITY  ·  LEWYT COLLEGE OF VETERINARY MEDICINE</a:t>
            </a:r>
          </a:p>
        </p:txBody>
      </p:sp>
      <p:sp>
        <p:nvSpPr>
          <p:cNvPr id="6" name="TextBox 5"/>
          <p:cNvSpPr txBox="1"/>
          <p:nvPr/>
        </p:nvSpPr>
        <p:spPr>
          <a:xfrm>
            <a:off x="685800" y="1554480"/>
            <a:ext cx="10972800" cy="365760"/>
          </a:xfrm>
          <a:prstGeom prst="rect">
            <a:avLst/>
          </a:prstGeom>
          <a:noFill/>
        </p:spPr>
        <p:txBody>
          <a:bodyPr wrap="square" anchor="t"/>
          <a:lstStyle/>
          <a:p>
            <a:pPr algn="l"/>
            <a:r>
              <a:rPr sz="1600" b="1">
                <a:solidFill>
                  <a:srgbClr val="F4EBD3"/>
                </a:solidFill>
                <a:latin typeface="Calibri"/>
              </a:rPr>
              <a:t>DVM 612  ·  PRINCIPLES OF SURGERY</a:t>
            </a:r>
          </a:p>
        </p:txBody>
      </p:sp>
      <p:sp>
        <p:nvSpPr>
          <p:cNvPr id="7" name="TextBox 6"/>
          <p:cNvSpPr txBox="1"/>
          <p:nvPr/>
        </p:nvSpPr>
        <p:spPr>
          <a:xfrm>
            <a:off x="685800" y="2057400"/>
            <a:ext cx="10972800" cy="146304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4709160"/>
            <a:ext cx="10972800" cy="365760"/>
          </a:xfrm>
          <a:prstGeom prst="rect">
            <a:avLst/>
          </a:prstGeom>
          <a:noFill/>
        </p:spPr>
        <p:txBody>
          <a:bodyPr wrap="square" anchor="t"/>
          <a:lstStyle/>
          <a:p>
            <a:pPr algn="l"/>
            <a:r>
              <a:rPr sz="1600" b="0">
                <a:solidFill>
                  <a:srgbClr val="F4EBD3"/>
                </a:solidFill>
                <a:latin typeface="Calibri"/>
              </a:rPr>
              <a:t>Dr. Yujin Kim, D.V.M., Ph.D., FFCP  ·  Lecture  |  60 minutes</a:t>
            </a:r>
          </a:p>
        </p:txBody>
      </p:sp>
      <p:sp>
        <p:nvSpPr>
          <p:cNvPr id="9" name="TextBox 8"/>
          <p:cNvSpPr txBox="1"/>
          <p:nvPr/>
        </p:nvSpPr>
        <p:spPr>
          <a:xfrm>
            <a:off x="685800" y="5120640"/>
            <a:ext cx="10972800" cy="640080"/>
          </a:xfrm>
          <a:prstGeom prst="rect">
            <a:avLst/>
          </a:prstGeom>
          <a:noFill/>
        </p:spPr>
        <p:txBody>
          <a:bodyPr wrap="square" anchor="t"/>
          <a:lstStyle/>
          <a:p>
            <a:pPr algn="l"/>
            <a:r>
              <a:rPr sz="1400" b="0">
                <a:solidFill>
                  <a:srgbClr val="FFFFFF"/>
                </a:solidFill>
                <a:latin typeface="Calibri"/>
              </a:rPr>
              <a:t>Preoperative evaluation · patient and surgeon preparation · postoperative care.
Two real hospital cases: Willie (Cavalier, ASA III-E) and MoMo (cat, ASA IV-E — surgery cancelled).</a:t>
            </a:r>
          </a:p>
        </p:txBody>
      </p:sp>
      <p:sp>
        <p:nvSpPr>
          <p:cNvPr id="10" name="TextBox 9"/>
          <p:cNvSpPr txBox="1"/>
          <p:nvPr/>
        </p:nvSpPr>
        <p:spPr>
          <a:xfrm>
            <a:off x="685800" y="5989320"/>
            <a:ext cx="10972800" cy="320040"/>
          </a:xfrm>
          <a:prstGeom prst="rect">
            <a:avLst/>
          </a:prstGeom>
          <a:noFill/>
        </p:spPr>
        <p:txBody>
          <a:bodyPr wrap="square" anchor="t"/>
          <a:lstStyle/>
          <a:p>
            <a:pPr algn="l"/>
            <a:r>
              <a:rPr sz="1200" b="0">
                <a:solidFill>
                  <a:srgbClr val="C5A35A"/>
                </a:solidFill>
                <a:latin typeface="Calibri"/>
              </a:rPr>
              <a:t>Required reading: Fossum, Small Animal Surgery, 5th ed. (2018)  ·  Hendrickson &amp; Baird (2013)</a:t>
            </a:r>
          </a:p>
        </p:txBody>
      </p:sp>
      <p:sp>
        <p:nvSpPr>
          <p:cNvPr id="11" name="TextBox 10"/>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1  /  59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LEARNING OBJECTIVES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By the end of this hour you will be able to</a:t>
            </a:r>
          </a:p>
        </p:txBody>
      </p:sp>
      <p:sp>
        <p:nvSpPr>
          <p:cNvPr id="8" name="TextBox 7"/>
          <p:cNvSpPr txBox="1"/>
          <p:nvPr/>
        </p:nvSpPr>
        <p:spPr>
          <a:xfrm>
            <a:off x="502920" y="1097280"/>
            <a:ext cx="11155680" cy="4206240"/>
          </a:xfrm>
          <a:prstGeom prst="rect">
            <a:avLst/>
          </a:prstGeom>
          <a:noFill/>
        </p:spPr>
        <p:txBody>
          <a:bodyPr wrap="square">
            <a:spAutoFit/>
          </a:bodyPr>
          <a:lstStyle/>
          <a:p>
            <a:pPr algn="l">
              <a:spcAft>
                <a:spcPts val="1200"/>
              </a:spcAft>
            </a:pPr>
            <a:r>
              <a:rPr sz="1800" b="0">
                <a:solidFill>
                  <a:srgbClr val="1C1C1C"/>
                </a:solidFill>
                <a:latin typeface="Calibri"/>
              </a:rPr>
              <a:t>▸  Perform a preoperative evaluation, assign an ASA status, and decide whether to proceed, delay, or stabilize.</a:t>
            </a:r>
          </a:p>
          <a:p>
            <a:pPr algn="l">
              <a:spcAft>
                <a:spcPts val="1200"/>
              </a:spcAft>
            </a:pPr>
            <a:r>
              <a:rPr sz="1800" b="0">
                <a:solidFill>
                  <a:srgbClr val="1C1C1C"/>
                </a:solidFill>
                <a:latin typeface="Calibri"/>
              </a:rPr>
              <a:t>▸  Build a peri-operative plan: fasting, analgesia, antimicrobial prophylaxis, consent, and checklist.</a:t>
            </a:r>
          </a:p>
          <a:p>
            <a:pPr algn="l">
              <a:spcAft>
                <a:spcPts val="1200"/>
              </a:spcAft>
            </a:pPr>
            <a:r>
              <a:rPr sz="1800" b="0">
                <a:solidFill>
                  <a:srgbClr val="1C1C1C"/>
                </a:solidFill>
                <a:latin typeface="Calibri"/>
              </a:rPr>
              <a:t>▸  Prepare the patient and surgeon for aseptic surgery (clip, antiseptic prep, four-quadrant drape, gown, closed glove).</a:t>
            </a:r>
          </a:p>
          <a:p>
            <a:pPr algn="l">
              <a:spcAft>
                <a:spcPts val="1200"/>
              </a:spcAft>
            </a:pPr>
            <a:r>
              <a:rPr sz="1800" b="0">
                <a:solidFill>
                  <a:srgbClr val="1C1C1C"/>
                </a:solidFill>
                <a:latin typeface="Calibri"/>
              </a:rPr>
              <a:t>▸  Recognize and correct a break in asepsis before and after the incision is made.</a:t>
            </a:r>
          </a:p>
          <a:p>
            <a:pPr algn="l">
              <a:spcAft>
                <a:spcPts val="1200"/>
              </a:spcAft>
            </a:pPr>
            <a:r>
              <a:rPr sz="1800" b="0">
                <a:solidFill>
                  <a:srgbClr val="1C1C1C"/>
                </a:solidFill>
                <a:latin typeface="Calibri"/>
              </a:rPr>
              <a:t>▸  Write a postoperative plan, surgical report elements, and client discharge instructions — including 24-hour emergency criteria.</a:t>
            </a:r>
          </a:p>
        </p:txBody>
      </p:sp>
      <p:sp>
        <p:nvSpPr>
          <p:cNvPr id="9" name="Rounded Rectangle 8"/>
          <p:cNvSpPr/>
          <p:nvPr/>
        </p:nvSpPr>
        <p:spPr>
          <a:xfrm>
            <a:off x="457200" y="562356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715000"/>
            <a:ext cx="10881360" cy="594360"/>
          </a:xfrm>
          <a:prstGeom prst="rect">
            <a:avLst/>
          </a:prstGeom>
          <a:noFill/>
        </p:spPr>
        <p:txBody>
          <a:bodyPr wrap="square" anchor="t"/>
          <a:lstStyle/>
          <a:p>
            <a:pPr algn="l"/>
            <a:r>
              <a:rPr sz="1400" b="0">
                <a:solidFill>
                  <a:srgbClr val="0B2C4A"/>
                </a:solidFill>
                <a:latin typeface="Calibri"/>
              </a:rPr>
              <a:t>Today is judgment, asepsis, and aftercare. Poor prep cannot be rescued by elegant suture. Willie is the patient we prepare. MoMo is the patient we do not cut.</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  /  59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HOW WE WILL SPEND THE HOUR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Sixty-minute plan</a:t>
            </a:r>
          </a:p>
        </p:txBody>
      </p:sp>
      <p:sp>
        <p:nvSpPr>
          <p:cNvPr id="8" name="Rounded Rectangle 7"/>
          <p:cNvSpPr/>
          <p:nvPr/>
        </p:nvSpPr>
        <p:spPr>
          <a:xfrm>
            <a:off x="502920" y="114300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143000"/>
            <a:ext cx="128016" cy="8412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252728"/>
            <a:ext cx="2103120" cy="621792"/>
          </a:xfrm>
          <a:prstGeom prst="rect">
            <a:avLst/>
          </a:prstGeom>
          <a:noFill/>
        </p:spPr>
        <p:txBody>
          <a:bodyPr wrap="square" anchor="ctr"/>
          <a:lstStyle/>
          <a:p>
            <a:pPr algn="l"/>
            <a:r>
              <a:rPr sz="1800" b="1">
                <a:solidFill>
                  <a:srgbClr val="0B2C4A"/>
                </a:solidFill>
                <a:latin typeface="Calibri"/>
              </a:rPr>
              <a:t>0–3 min</a:t>
            </a:r>
          </a:p>
        </p:txBody>
      </p:sp>
      <p:sp>
        <p:nvSpPr>
          <p:cNvPr id="11" name="TextBox 10"/>
          <p:cNvSpPr txBox="1"/>
          <p:nvPr/>
        </p:nvSpPr>
        <p:spPr>
          <a:xfrm>
            <a:off x="3108960" y="1252728"/>
            <a:ext cx="8229600" cy="621792"/>
          </a:xfrm>
          <a:prstGeom prst="rect">
            <a:avLst/>
          </a:prstGeom>
          <a:noFill/>
        </p:spPr>
        <p:txBody>
          <a:bodyPr wrap="square" anchor="ctr"/>
          <a:lstStyle/>
          <a:p>
            <a:pPr algn="l"/>
            <a:r>
              <a:rPr sz="1800" b="0">
                <a:solidFill>
                  <a:srgbClr val="1C1C1C"/>
                </a:solidFill>
                <a:latin typeface="Calibri"/>
              </a:rPr>
              <a:t>Frame + Halsted as the through-line</a:t>
            </a:r>
          </a:p>
        </p:txBody>
      </p:sp>
      <p:sp>
        <p:nvSpPr>
          <p:cNvPr id="12" name="Rounded Rectangle 11"/>
          <p:cNvSpPr/>
          <p:nvPr/>
        </p:nvSpPr>
        <p:spPr>
          <a:xfrm>
            <a:off x="502920" y="210312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103120"/>
            <a:ext cx="128016" cy="84124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212848"/>
            <a:ext cx="2103120" cy="621792"/>
          </a:xfrm>
          <a:prstGeom prst="rect">
            <a:avLst/>
          </a:prstGeom>
          <a:noFill/>
        </p:spPr>
        <p:txBody>
          <a:bodyPr wrap="square" anchor="ctr"/>
          <a:lstStyle/>
          <a:p>
            <a:pPr algn="l"/>
            <a:r>
              <a:rPr sz="1800" b="1">
                <a:solidFill>
                  <a:srgbClr val="1B6B7A"/>
                </a:solidFill>
                <a:latin typeface="Calibri"/>
              </a:rPr>
              <a:t>3–24 min</a:t>
            </a:r>
          </a:p>
        </p:txBody>
      </p:sp>
      <p:sp>
        <p:nvSpPr>
          <p:cNvPr id="15" name="TextBox 14"/>
          <p:cNvSpPr txBox="1"/>
          <p:nvPr/>
        </p:nvSpPr>
        <p:spPr>
          <a:xfrm>
            <a:off x="3108960" y="2212848"/>
            <a:ext cx="8229600" cy="621792"/>
          </a:xfrm>
          <a:prstGeom prst="rect">
            <a:avLst/>
          </a:prstGeom>
          <a:noFill/>
        </p:spPr>
        <p:txBody>
          <a:bodyPr wrap="square" anchor="ctr"/>
          <a:lstStyle/>
          <a:p>
            <a:pPr algn="l"/>
            <a:r>
              <a:rPr sz="1800" b="0">
                <a:solidFill>
                  <a:srgbClr val="1C1C1C"/>
                </a:solidFill>
                <a:latin typeface="Calibri"/>
              </a:rPr>
              <a:t>I. Preoperative evaluation, ASA, both cases, the record</a:t>
            </a:r>
          </a:p>
        </p:txBody>
      </p:sp>
      <p:sp>
        <p:nvSpPr>
          <p:cNvPr id="16" name="Rounded Rectangle 15"/>
          <p:cNvSpPr/>
          <p:nvPr/>
        </p:nvSpPr>
        <p:spPr>
          <a:xfrm>
            <a:off x="502920" y="306324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063240"/>
            <a:ext cx="128016" cy="84124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3172968"/>
            <a:ext cx="2103120" cy="621792"/>
          </a:xfrm>
          <a:prstGeom prst="rect">
            <a:avLst/>
          </a:prstGeom>
          <a:noFill/>
        </p:spPr>
        <p:txBody>
          <a:bodyPr wrap="square" anchor="ctr"/>
          <a:lstStyle/>
          <a:p>
            <a:pPr algn="l"/>
            <a:r>
              <a:rPr sz="1800" b="1">
                <a:solidFill>
                  <a:srgbClr val="C5A35A"/>
                </a:solidFill>
                <a:latin typeface="Calibri"/>
              </a:rPr>
              <a:t>24–44 min</a:t>
            </a:r>
          </a:p>
        </p:txBody>
      </p:sp>
      <p:sp>
        <p:nvSpPr>
          <p:cNvPr id="19" name="TextBox 18"/>
          <p:cNvSpPr txBox="1"/>
          <p:nvPr/>
        </p:nvSpPr>
        <p:spPr>
          <a:xfrm>
            <a:off x="3108960" y="3172968"/>
            <a:ext cx="8229600" cy="621792"/>
          </a:xfrm>
          <a:prstGeom prst="rect">
            <a:avLst/>
          </a:prstGeom>
          <a:noFill/>
        </p:spPr>
        <p:txBody>
          <a:bodyPr wrap="square" anchor="ctr"/>
          <a:lstStyle/>
          <a:p>
            <a:pPr algn="l"/>
            <a:r>
              <a:rPr sz="1800" b="0">
                <a:solidFill>
                  <a:srgbClr val="1C1C1C"/>
                </a:solidFill>
                <a:latin typeface="Calibri"/>
              </a:rPr>
              <a:t>II. Patient and surgeon preparation — with pictures</a:t>
            </a:r>
          </a:p>
        </p:txBody>
      </p:sp>
      <p:sp>
        <p:nvSpPr>
          <p:cNvPr id="20" name="Rounded Rectangle 19"/>
          <p:cNvSpPr/>
          <p:nvPr/>
        </p:nvSpPr>
        <p:spPr>
          <a:xfrm>
            <a:off x="502920" y="402336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23360"/>
            <a:ext cx="128016" cy="84124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133088"/>
            <a:ext cx="2103120" cy="621792"/>
          </a:xfrm>
          <a:prstGeom prst="rect">
            <a:avLst/>
          </a:prstGeom>
          <a:noFill/>
        </p:spPr>
        <p:txBody>
          <a:bodyPr wrap="square" anchor="ctr"/>
          <a:lstStyle/>
          <a:p>
            <a:pPr algn="l"/>
            <a:r>
              <a:rPr sz="1800" b="1">
                <a:solidFill>
                  <a:srgbClr val="2E6B4F"/>
                </a:solidFill>
                <a:latin typeface="Calibri"/>
              </a:rPr>
              <a:t>44–57 min</a:t>
            </a:r>
          </a:p>
        </p:txBody>
      </p:sp>
      <p:sp>
        <p:nvSpPr>
          <p:cNvPr id="23" name="TextBox 22"/>
          <p:cNvSpPr txBox="1"/>
          <p:nvPr/>
        </p:nvSpPr>
        <p:spPr>
          <a:xfrm>
            <a:off x="3108960" y="4133088"/>
            <a:ext cx="8229600" cy="621792"/>
          </a:xfrm>
          <a:prstGeom prst="rect">
            <a:avLst/>
          </a:prstGeom>
          <a:noFill/>
        </p:spPr>
        <p:txBody>
          <a:bodyPr wrap="square" anchor="ctr"/>
          <a:lstStyle/>
          <a:p>
            <a:pPr algn="l"/>
            <a:r>
              <a:rPr sz="1800" b="0">
                <a:solidFill>
                  <a:srgbClr val="1C1C1C"/>
                </a:solidFill>
                <a:latin typeface="Calibri"/>
              </a:rPr>
              <a:t>III. Postoperative care, flowsheet, discharge</a:t>
            </a:r>
          </a:p>
        </p:txBody>
      </p:sp>
      <p:sp>
        <p:nvSpPr>
          <p:cNvPr id="24" name="Rounded Rectangle 23"/>
          <p:cNvSpPr/>
          <p:nvPr/>
        </p:nvSpPr>
        <p:spPr>
          <a:xfrm>
            <a:off x="502920" y="4983480"/>
            <a:ext cx="11155680" cy="8412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983480"/>
            <a:ext cx="128016" cy="84124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5093208"/>
            <a:ext cx="2103120" cy="621792"/>
          </a:xfrm>
          <a:prstGeom prst="rect">
            <a:avLst/>
          </a:prstGeom>
          <a:noFill/>
        </p:spPr>
        <p:txBody>
          <a:bodyPr wrap="square" anchor="ctr"/>
          <a:lstStyle/>
          <a:p>
            <a:pPr algn="l"/>
            <a:r>
              <a:rPr sz="1800" b="1">
                <a:solidFill>
                  <a:srgbClr val="8B2E2E"/>
                </a:solidFill>
                <a:latin typeface="Calibri"/>
              </a:rPr>
              <a:t>57–60 min</a:t>
            </a:r>
          </a:p>
        </p:txBody>
      </p:sp>
      <p:sp>
        <p:nvSpPr>
          <p:cNvPr id="27" name="TextBox 26"/>
          <p:cNvSpPr txBox="1"/>
          <p:nvPr/>
        </p:nvSpPr>
        <p:spPr>
          <a:xfrm>
            <a:off x="3108960" y="5093208"/>
            <a:ext cx="8229600" cy="621792"/>
          </a:xfrm>
          <a:prstGeom prst="rect">
            <a:avLst/>
          </a:prstGeom>
          <a:noFill/>
        </p:spPr>
        <p:txBody>
          <a:bodyPr wrap="square" anchor="ctr"/>
          <a:lstStyle/>
          <a:p>
            <a:pPr algn="l"/>
            <a:r>
              <a:rPr sz="1800" b="0">
                <a:solidFill>
                  <a:srgbClr val="1C1C1C"/>
                </a:solidFill>
                <a:latin typeface="Calibri"/>
              </a:rPr>
              <a:t>Willie vs MoMo, key points, questions</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  /  59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SURGICAL SITE INFECTION, HARM, AND PROFESSIONAL STANDARD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this hour is not optional</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Most SSIs are preventable</a:t>
            </a:r>
          </a:p>
        </p:txBody>
      </p:sp>
      <p:sp>
        <p:nvSpPr>
          <p:cNvPr id="11" name="TextBox 10"/>
          <p:cNvSpPr txBox="1"/>
          <p:nvPr/>
        </p:nvSpPr>
        <p:spPr>
          <a:xfrm>
            <a:off x="713232" y="1536192"/>
            <a:ext cx="3291840" cy="1618488"/>
          </a:xfrm>
          <a:prstGeom prst="rect">
            <a:avLst/>
          </a:prstGeom>
          <a:noFill/>
        </p:spPr>
        <p:txBody>
          <a:bodyPr wrap="square" anchor="t"/>
          <a:lstStyle/>
          <a:p>
            <a:pPr algn="l"/>
            <a:r>
              <a:rPr sz="1300" b="0">
                <a:solidFill>
                  <a:srgbClr val="3D4A57"/>
                </a:solidFill>
                <a:latin typeface="Calibri"/>
              </a:rPr>
              <a:t>Hair, skin flora, hypothermia, poor hemostasis, dead space, and broken asepsis — not ‘bad luck’ — drive surgical site infection.</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The incision is a contract</a:t>
            </a:r>
          </a:p>
        </p:txBody>
      </p:sp>
      <p:sp>
        <p:nvSpPr>
          <p:cNvPr id="15" name="TextBox 14"/>
          <p:cNvSpPr txBox="1"/>
          <p:nvPr/>
        </p:nvSpPr>
        <p:spPr>
          <a:xfrm>
            <a:off x="4553712" y="1536192"/>
            <a:ext cx="3291840" cy="1618488"/>
          </a:xfrm>
          <a:prstGeom prst="rect">
            <a:avLst/>
          </a:prstGeom>
          <a:noFill/>
        </p:spPr>
        <p:txBody>
          <a:bodyPr wrap="square" anchor="t"/>
          <a:lstStyle/>
          <a:p>
            <a:pPr algn="l"/>
            <a:r>
              <a:rPr sz="1300" b="0">
                <a:solidFill>
                  <a:srgbClr val="3D4A57"/>
                </a:solidFill>
                <a:latin typeface="Calibri"/>
              </a:rPr>
              <a:t>The client trusts you with a living animal (often an elective OHE) that is going home. Operate, document, and speak as if that client is waiting in reception.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Postop starts in preop</a:t>
            </a:r>
          </a:p>
        </p:txBody>
      </p:sp>
      <p:sp>
        <p:nvSpPr>
          <p:cNvPr id="19" name="TextBox 18"/>
          <p:cNvSpPr txBox="1"/>
          <p:nvPr/>
        </p:nvSpPr>
        <p:spPr>
          <a:xfrm>
            <a:off x="8394192" y="1536192"/>
            <a:ext cx="3200400" cy="1618488"/>
          </a:xfrm>
          <a:prstGeom prst="rect">
            <a:avLst/>
          </a:prstGeom>
          <a:noFill/>
        </p:spPr>
        <p:txBody>
          <a:bodyPr wrap="square" anchor="t"/>
          <a:lstStyle/>
          <a:p>
            <a:pPr algn="l"/>
            <a:r>
              <a:rPr sz="1300" b="0">
                <a:solidFill>
                  <a:srgbClr val="3D4A57"/>
                </a:solidFill>
                <a:latin typeface="Calibri"/>
              </a:rPr>
              <a:t>Analgesia, antibiotics, temperature, and client expectations are decided before the scalpel, not at discharge.</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600" b="1">
                <a:solidFill>
                  <a:srgbClr val="0B2C4A"/>
                </a:solidFill>
                <a:latin typeface="Calibri"/>
              </a:rPr>
              <a:t>Three verbs for this hour — and they are all yours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700" b="0">
                <a:solidFill>
                  <a:srgbClr val="1C1C1C"/>
                </a:solidFill>
                <a:latin typeface="Calibri"/>
              </a:rPr>
              <a:t>▸  Prepare the patient for a surgical procedure.</a:t>
            </a:r>
          </a:p>
          <a:p>
            <a:pPr algn="l">
              <a:spcAft>
                <a:spcPts val="800"/>
              </a:spcAft>
            </a:pPr>
            <a:r>
              <a:rPr sz="1700" b="0">
                <a:solidFill>
                  <a:srgbClr val="1C1C1C"/>
                </a:solidFill>
                <a:latin typeface="Calibri"/>
              </a:rPr>
              <a:t>▸  Prepare yourself for a surgical procedure.</a:t>
            </a:r>
          </a:p>
          <a:p>
            <a:pPr algn="l">
              <a:spcAft>
                <a:spcPts val="800"/>
              </a:spcAft>
            </a:pPr>
            <a:r>
              <a:rPr sz="1700" b="0">
                <a:solidFill>
                  <a:srgbClr val="1C1C1C"/>
                </a:solidFill>
                <a:latin typeface="Calibri"/>
              </a:rPr>
              <a:t>▸  Perform the surgical procedure — and a beautiful closure that bleeds or herniates in recovery is still a failed surgery. The first 24 hours count.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  /  59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EVERY PRINCIPLE HAS A PREOP OR POSTOP ACTION, NOT ONLY AN INTRAOPERATIVE ONE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Halsted’s principles — the through-line for today</a:t>
            </a:r>
          </a:p>
        </p:txBody>
      </p:sp>
      <p:sp>
        <p:nvSpPr>
          <p:cNvPr id="8" name="Rounded Rectangle 7"/>
          <p:cNvSpPr/>
          <p:nvPr/>
        </p:nvSpPr>
        <p:spPr>
          <a:xfrm>
            <a:off x="45720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303520" cy="347472"/>
          </a:xfrm>
          <a:prstGeom prst="rect">
            <a:avLst/>
          </a:prstGeom>
          <a:noFill/>
        </p:spPr>
        <p:txBody>
          <a:bodyPr wrap="square" anchor="t"/>
          <a:lstStyle/>
          <a:p>
            <a:pPr algn="l"/>
            <a:r>
              <a:rPr sz="1500" b="1">
                <a:solidFill>
                  <a:srgbClr val="0B2C4A"/>
                </a:solidFill>
                <a:latin typeface="Calibri"/>
              </a:rPr>
              <a:t>1.  Gentle tissue handling</a:t>
            </a:r>
          </a:p>
        </p:txBody>
      </p:sp>
      <p:sp>
        <p:nvSpPr>
          <p:cNvPr id="11" name="TextBox 10"/>
          <p:cNvSpPr txBox="1"/>
          <p:nvPr/>
        </p:nvSpPr>
        <p:spPr>
          <a:xfrm>
            <a:off x="713232" y="1572768"/>
            <a:ext cx="5303520" cy="530352"/>
          </a:xfrm>
          <a:prstGeom prst="rect">
            <a:avLst/>
          </a:prstGeom>
          <a:noFill/>
        </p:spPr>
        <p:txBody>
          <a:bodyPr wrap="square" anchor="t"/>
          <a:lstStyle/>
          <a:p>
            <a:pPr algn="l"/>
            <a:r>
              <a:rPr sz="1300" b="0">
                <a:solidFill>
                  <a:srgbClr val="3D4A57"/>
                </a:solidFill>
                <a:latin typeface="Calibri"/>
              </a:rPr>
              <a:t>Prep trauma, clipper burn, and crushing towel clamps are tissue handling.</a:t>
            </a:r>
          </a:p>
        </p:txBody>
      </p:sp>
      <p:sp>
        <p:nvSpPr>
          <p:cNvPr id="12" name="Rounded Rectangle 11"/>
          <p:cNvSpPr/>
          <p:nvPr/>
        </p:nvSpPr>
        <p:spPr>
          <a:xfrm>
            <a:off x="6309360" y="109728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03520" cy="347472"/>
          </a:xfrm>
          <a:prstGeom prst="rect">
            <a:avLst/>
          </a:prstGeom>
          <a:noFill/>
        </p:spPr>
        <p:txBody>
          <a:bodyPr wrap="square" anchor="t"/>
          <a:lstStyle/>
          <a:p>
            <a:pPr algn="l"/>
            <a:r>
              <a:rPr sz="1500" b="1">
                <a:solidFill>
                  <a:srgbClr val="0B2C4A"/>
                </a:solidFill>
                <a:latin typeface="Calibri"/>
              </a:rPr>
              <a:t>2.  Meticulous hemostasis</a:t>
            </a:r>
          </a:p>
        </p:txBody>
      </p:sp>
      <p:sp>
        <p:nvSpPr>
          <p:cNvPr id="15" name="TextBox 14"/>
          <p:cNvSpPr txBox="1"/>
          <p:nvPr/>
        </p:nvSpPr>
        <p:spPr>
          <a:xfrm>
            <a:off x="6565392" y="1572768"/>
            <a:ext cx="5303520" cy="530352"/>
          </a:xfrm>
          <a:prstGeom prst="rect">
            <a:avLst/>
          </a:prstGeom>
          <a:noFill/>
        </p:spPr>
        <p:txBody>
          <a:bodyPr wrap="square" anchor="t"/>
          <a:lstStyle/>
          <a:p>
            <a:pPr algn="l"/>
            <a:r>
              <a:rPr sz="1300" b="0">
                <a:solidFill>
                  <a:srgbClr val="3D4A57"/>
                </a:solidFill>
                <a:latin typeface="Calibri"/>
              </a:rPr>
              <a:t>Preop coagulopathy; postop hemorrhage is a 24-hour emergency.</a:t>
            </a:r>
          </a:p>
        </p:txBody>
      </p:sp>
      <p:sp>
        <p:nvSpPr>
          <p:cNvPr id="16" name="Rounded Rectangle 15"/>
          <p:cNvSpPr/>
          <p:nvPr/>
        </p:nvSpPr>
        <p:spPr>
          <a:xfrm>
            <a:off x="45720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41448"/>
            <a:ext cx="5303520" cy="347472"/>
          </a:xfrm>
          <a:prstGeom prst="rect">
            <a:avLst/>
          </a:prstGeom>
          <a:noFill/>
        </p:spPr>
        <p:txBody>
          <a:bodyPr wrap="square" anchor="t"/>
          <a:lstStyle/>
          <a:p>
            <a:pPr algn="l"/>
            <a:r>
              <a:rPr sz="1500" b="1">
                <a:solidFill>
                  <a:srgbClr val="0B2C4A"/>
                </a:solidFill>
                <a:latin typeface="Calibri"/>
              </a:rPr>
              <a:t>3.  Preserve blood supply</a:t>
            </a:r>
          </a:p>
        </p:txBody>
      </p:sp>
      <p:sp>
        <p:nvSpPr>
          <p:cNvPr id="19" name="TextBox 18"/>
          <p:cNvSpPr txBox="1"/>
          <p:nvPr/>
        </p:nvSpPr>
        <p:spPr>
          <a:xfrm>
            <a:off x="713232" y="2807208"/>
            <a:ext cx="5303520" cy="530352"/>
          </a:xfrm>
          <a:prstGeom prst="rect">
            <a:avLst/>
          </a:prstGeom>
          <a:noFill/>
        </p:spPr>
        <p:txBody>
          <a:bodyPr wrap="square" anchor="t"/>
          <a:lstStyle/>
          <a:p>
            <a:pPr algn="l"/>
            <a:r>
              <a:rPr sz="1300" b="0">
                <a:solidFill>
                  <a:srgbClr val="3D4A57"/>
                </a:solidFill>
                <a:latin typeface="Calibri"/>
              </a:rPr>
              <a:t>Do not strangulate skin with tight bandages or poorly placed clamps.</a:t>
            </a:r>
          </a:p>
        </p:txBody>
      </p:sp>
      <p:sp>
        <p:nvSpPr>
          <p:cNvPr id="20" name="Rounded Rectangle 19"/>
          <p:cNvSpPr/>
          <p:nvPr/>
        </p:nvSpPr>
        <p:spPr>
          <a:xfrm>
            <a:off x="6309360" y="233172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3172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41448"/>
            <a:ext cx="5303520" cy="347472"/>
          </a:xfrm>
          <a:prstGeom prst="rect">
            <a:avLst/>
          </a:prstGeom>
          <a:noFill/>
        </p:spPr>
        <p:txBody>
          <a:bodyPr wrap="square" anchor="t"/>
          <a:lstStyle/>
          <a:p>
            <a:pPr algn="l"/>
            <a:r>
              <a:rPr sz="1500" b="1">
                <a:solidFill>
                  <a:srgbClr val="0B2C4A"/>
                </a:solidFill>
                <a:latin typeface="Calibri"/>
              </a:rPr>
              <a:t>4.  Strict asepsis</a:t>
            </a:r>
          </a:p>
        </p:txBody>
      </p:sp>
      <p:sp>
        <p:nvSpPr>
          <p:cNvPr id="23" name="TextBox 22"/>
          <p:cNvSpPr txBox="1"/>
          <p:nvPr/>
        </p:nvSpPr>
        <p:spPr>
          <a:xfrm>
            <a:off x="6565392" y="2807208"/>
            <a:ext cx="5303520" cy="530352"/>
          </a:xfrm>
          <a:prstGeom prst="rect">
            <a:avLst/>
          </a:prstGeom>
          <a:noFill/>
        </p:spPr>
        <p:txBody>
          <a:bodyPr wrap="square" anchor="t"/>
          <a:lstStyle/>
          <a:p>
            <a:pPr algn="l"/>
            <a:r>
              <a:rPr sz="1300" b="0">
                <a:solidFill>
                  <a:srgbClr val="3D4A57"/>
                </a:solidFill>
                <a:latin typeface="Calibri"/>
              </a:rPr>
              <a:t>Patient prep, surgeon prep, draping — today’s center of gravity.</a:t>
            </a:r>
          </a:p>
        </p:txBody>
      </p:sp>
      <p:sp>
        <p:nvSpPr>
          <p:cNvPr id="24" name="Rounded Rectangle 23"/>
          <p:cNvSpPr/>
          <p:nvPr/>
        </p:nvSpPr>
        <p:spPr>
          <a:xfrm>
            <a:off x="45720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675888"/>
            <a:ext cx="5303520" cy="347472"/>
          </a:xfrm>
          <a:prstGeom prst="rect">
            <a:avLst/>
          </a:prstGeom>
          <a:noFill/>
        </p:spPr>
        <p:txBody>
          <a:bodyPr wrap="square" anchor="t"/>
          <a:lstStyle/>
          <a:p>
            <a:pPr algn="l"/>
            <a:r>
              <a:rPr sz="1500" b="1">
                <a:solidFill>
                  <a:srgbClr val="0B2C4A"/>
                </a:solidFill>
                <a:latin typeface="Calibri"/>
              </a:rPr>
              <a:t>5.  No tension</a:t>
            </a:r>
          </a:p>
        </p:txBody>
      </p:sp>
      <p:sp>
        <p:nvSpPr>
          <p:cNvPr id="27" name="TextBox 26"/>
          <p:cNvSpPr txBox="1"/>
          <p:nvPr/>
        </p:nvSpPr>
        <p:spPr>
          <a:xfrm>
            <a:off x="713232" y="4041648"/>
            <a:ext cx="5303520" cy="530352"/>
          </a:xfrm>
          <a:prstGeom prst="rect">
            <a:avLst/>
          </a:prstGeom>
          <a:noFill/>
        </p:spPr>
        <p:txBody>
          <a:bodyPr wrap="square" anchor="t"/>
          <a:lstStyle/>
          <a:p>
            <a:pPr algn="l"/>
            <a:r>
              <a:rPr sz="1300" b="0">
                <a:solidFill>
                  <a:srgbClr val="3D4A57"/>
                </a:solidFill>
                <a:latin typeface="Calibri"/>
              </a:rPr>
              <a:t>Plan incision location and closure now, not after the fascia splits.</a:t>
            </a:r>
          </a:p>
        </p:txBody>
      </p:sp>
      <p:sp>
        <p:nvSpPr>
          <p:cNvPr id="28" name="Rounded Rectangle 27"/>
          <p:cNvSpPr/>
          <p:nvPr/>
        </p:nvSpPr>
        <p:spPr>
          <a:xfrm>
            <a:off x="6309360" y="3566160"/>
            <a:ext cx="566928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56616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675888"/>
            <a:ext cx="5303520" cy="347472"/>
          </a:xfrm>
          <a:prstGeom prst="rect">
            <a:avLst/>
          </a:prstGeom>
          <a:noFill/>
        </p:spPr>
        <p:txBody>
          <a:bodyPr wrap="square" anchor="t"/>
          <a:lstStyle/>
          <a:p>
            <a:pPr algn="l"/>
            <a:r>
              <a:rPr sz="1500" b="1">
                <a:solidFill>
                  <a:srgbClr val="0B2C4A"/>
                </a:solidFill>
                <a:latin typeface="Calibri"/>
              </a:rPr>
              <a:t>6.  Accurate apposition</a:t>
            </a:r>
          </a:p>
        </p:txBody>
      </p:sp>
      <p:sp>
        <p:nvSpPr>
          <p:cNvPr id="31" name="TextBox 30"/>
          <p:cNvSpPr txBox="1"/>
          <p:nvPr/>
        </p:nvSpPr>
        <p:spPr>
          <a:xfrm>
            <a:off x="6565392" y="4041648"/>
            <a:ext cx="5303520" cy="530352"/>
          </a:xfrm>
          <a:prstGeom prst="rect">
            <a:avLst/>
          </a:prstGeom>
          <a:noFill/>
        </p:spPr>
        <p:txBody>
          <a:bodyPr wrap="square" anchor="t"/>
          <a:lstStyle/>
          <a:p>
            <a:pPr algn="l"/>
            <a:r>
              <a:rPr sz="1300" b="0">
                <a:solidFill>
                  <a:srgbClr val="3D4A57"/>
                </a:solidFill>
                <a:latin typeface="Calibri"/>
              </a:rPr>
              <a:t>Postop incision care protects the apposition you create.</a:t>
            </a:r>
          </a:p>
        </p:txBody>
      </p:sp>
      <p:sp>
        <p:nvSpPr>
          <p:cNvPr id="32" name="Rounded Rectangle 31"/>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800600"/>
            <a:ext cx="9144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910328"/>
            <a:ext cx="10881360" cy="347472"/>
          </a:xfrm>
          <a:prstGeom prst="rect">
            <a:avLst/>
          </a:prstGeom>
          <a:noFill/>
        </p:spPr>
        <p:txBody>
          <a:bodyPr wrap="square" anchor="t"/>
          <a:lstStyle/>
          <a:p>
            <a:pPr algn="l"/>
            <a:r>
              <a:rPr sz="1500" b="1">
                <a:solidFill>
                  <a:srgbClr val="0B2C4A"/>
                </a:solidFill>
                <a:latin typeface="Calibri"/>
              </a:rPr>
              <a:t>7.  Obliterate dead space</a:t>
            </a:r>
          </a:p>
        </p:txBody>
      </p:sp>
      <p:sp>
        <p:nvSpPr>
          <p:cNvPr id="35" name="TextBox 34"/>
          <p:cNvSpPr txBox="1"/>
          <p:nvPr/>
        </p:nvSpPr>
        <p:spPr>
          <a:xfrm>
            <a:off x="713232" y="5276088"/>
            <a:ext cx="10881360" cy="530352"/>
          </a:xfrm>
          <a:prstGeom prst="rect">
            <a:avLst/>
          </a:prstGeom>
          <a:noFill/>
        </p:spPr>
        <p:txBody>
          <a:bodyPr wrap="square" anchor="t"/>
          <a:lstStyle/>
          <a:p>
            <a:pPr algn="l"/>
            <a:r>
              <a:rPr sz="1300" b="0">
                <a:solidFill>
                  <a:srgbClr val="3D4A57"/>
                </a:solidFill>
                <a:latin typeface="Calibri"/>
              </a:rPr>
              <a:t>Plan dead space now: sutures, bandage, or a drain with a written pull plan.</a:t>
            </a:r>
          </a:p>
        </p:txBody>
      </p:sp>
      <p:sp>
        <p:nvSpPr>
          <p:cNvPr id="36" name="Rectangle 3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8" name="TextBox 3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  /  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ONE PATIENT, THREE ROOMS, ONE SURGEON’S RESPONSIBILITY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perioperative continuum</a:t>
            </a:r>
          </a:p>
        </p:txBody>
      </p:sp>
      <p:sp>
        <p:nvSpPr>
          <p:cNvPr id="8" name="Rounded Rectangle 7"/>
          <p:cNvSpPr/>
          <p:nvPr/>
        </p:nvSpPr>
        <p:spPr>
          <a:xfrm>
            <a:off x="41148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234440"/>
            <a:ext cx="274320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234440"/>
            <a:ext cx="2743200" cy="640080"/>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94360" y="2011680"/>
            <a:ext cx="2377440" cy="2926080"/>
          </a:xfrm>
          <a:prstGeom prst="rect">
            <a:avLst/>
          </a:prstGeom>
          <a:noFill/>
        </p:spPr>
        <p:txBody>
          <a:bodyPr wrap="square" anchor="t"/>
          <a:lstStyle/>
          <a:p>
            <a:pPr algn="ctr"/>
            <a:r>
              <a:rPr sz="1600" b="0">
                <a:solidFill>
                  <a:srgbClr val="1C1C1C"/>
                </a:solidFill>
                <a:latin typeface="Calibri"/>
              </a:rPr>
              <a:t>History, PE, ASA
Labs, stabilize
Consent, plan
Analgesia, Abx</a:t>
            </a:r>
          </a:p>
        </p:txBody>
      </p:sp>
      <p:sp>
        <p:nvSpPr>
          <p:cNvPr id="12" name="TextBox 11"/>
          <p:cNvSpPr txBox="1"/>
          <p:nvPr/>
        </p:nvSpPr>
        <p:spPr>
          <a:xfrm>
            <a:off x="288036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3" name="Rounded Rectangle 12"/>
          <p:cNvSpPr/>
          <p:nvPr/>
        </p:nvSpPr>
        <p:spPr>
          <a:xfrm>
            <a:off x="333756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234440"/>
            <a:ext cx="274320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234440"/>
            <a:ext cx="2743200" cy="640080"/>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520440" y="2011680"/>
            <a:ext cx="2377440" cy="2926080"/>
          </a:xfrm>
          <a:prstGeom prst="rect">
            <a:avLst/>
          </a:prstGeom>
          <a:noFill/>
        </p:spPr>
        <p:txBody>
          <a:bodyPr wrap="square" anchor="t"/>
          <a:lstStyle/>
          <a:p>
            <a:pPr algn="ctr"/>
            <a:r>
              <a:rPr sz="1600" b="0">
                <a:solidFill>
                  <a:srgbClr val="1C1C1C"/>
                </a:solidFill>
                <a:latin typeface="Calibri"/>
              </a:rPr>
              <a:t>Clip after induction
Dirty then sterile prep
Position, drape
Gown, closed glove</a:t>
            </a:r>
          </a:p>
        </p:txBody>
      </p:sp>
      <p:sp>
        <p:nvSpPr>
          <p:cNvPr id="17" name="TextBox 16"/>
          <p:cNvSpPr txBox="1"/>
          <p:nvPr/>
        </p:nvSpPr>
        <p:spPr>
          <a:xfrm>
            <a:off x="580644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18" name="Rounded Rectangle 17"/>
          <p:cNvSpPr/>
          <p:nvPr/>
        </p:nvSpPr>
        <p:spPr>
          <a:xfrm>
            <a:off x="626364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234440"/>
            <a:ext cx="27432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234440"/>
            <a:ext cx="2743200" cy="640080"/>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46520" y="2011680"/>
            <a:ext cx="2377440" cy="2926080"/>
          </a:xfrm>
          <a:prstGeom prst="rect">
            <a:avLst/>
          </a:prstGeom>
          <a:noFill/>
        </p:spPr>
        <p:txBody>
          <a:bodyPr wrap="square" anchor="t"/>
          <a:lstStyle/>
          <a:p>
            <a:pPr algn="ctr"/>
            <a:r>
              <a:rPr sz="1600" b="0">
                <a:solidFill>
                  <a:srgbClr val="1C1C1C"/>
                </a:solidFill>
                <a:latin typeface="Calibri"/>
              </a:rPr>
              <a:t>Asepsis held
Halsted applied
Time, temp, pain</a:t>
            </a:r>
          </a:p>
        </p:txBody>
      </p:sp>
      <p:sp>
        <p:nvSpPr>
          <p:cNvPr id="22" name="TextBox 21"/>
          <p:cNvSpPr txBox="1"/>
          <p:nvPr/>
        </p:nvSpPr>
        <p:spPr>
          <a:xfrm>
            <a:off x="8732520" y="2926080"/>
            <a:ext cx="502920" cy="365760"/>
          </a:xfrm>
          <a:prstGeom prst="rect">
            <a:avLst/>
          </a:prstGeom>
          <a:noFill/>
        </p:spPr>
        <p:txBody>
          <a:bodyPr wrap="square" anchor="t"/>
          <a:lstStyle/>
          <a:p>
            <a:pPr algn="ctr"/>
            <a:r>
              <a:rPr sz="2200" b="1">
                <a:solidFill>
                  <a:srgbClr val="C5A35A"/>
                </a:solidFill>
                <a:latin typeface="Calibri"/>
              </a:rPr>
              <a:t>→</a:t>
            </a:r>
          </a:p>
        </p:txBody>
      </p:sp>
      <p:sp>
        <p:nvSpPr>
          <p:cNvPr id="23" name="Rounded Rectangle 22"/>
          <p:cNvSpPr/>
          <p:nvPr/>
        </p:nvSpPr>
        <p:spPr>
          <a:xfrm>
            <a:off x="9189720" y="1234440"/>
            <a:ext cx="2743200" cy="3977639"/>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234440"/>
            <a:ext cx="274320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234440"/>
            <a:ext cx="2743200" cy="640080"/>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72600" y="2011680"/>
            <a:ext cx="2377440" cy="292608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ectangle 26"/>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9" name="TextBox 28"/>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6  /  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  ·  3–24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Preoperative evaluation
and the peri-operative plan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History · PE · ASA · two real cases · labs · stabilize · the anesthesia record</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~21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7  /  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DECIDE: PROCEED  ·  DELAY  ·  STABILIZE  ·  REFER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Goals of the preoperative evaluation</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822960" cy="1115568"/>
          </a:xfrm>
          <a:prstGeom prst="rect">
            <a:avLst/>
          </a:prstGeom>
          <a:noFill/>
        </p:spPr>
        <p:txBody>
          <a:bodyPr wrap="square" anchor="ctr"/>
          <a:lstStyle/>
          <a:p>
            <a:pPr algn="ctr"/>
            <a:r>
              <a:rPr sz="2000" b="1">
                <a:solidFill>
                  <a:srgbClr val="C5A35A"/>
                </a:solidFill>
                <a:latin typeface="Calibri"/>
              </a:rPr>
              <a:t>01</a:t>
            </a:r>
          </a:p>
        </p:txBody>
      </p:sp>
      <p:sp>
        <p:nvSpPr>
          <p:cNvPr id="11" name="TextBox 10"/>
          <p:cNvSpPr txBox="1"/>
          <p:nvPr/>
        </p:nvSpPr>
        <p:spPr>
          <a:xfrm>
            <a:off x="1508760" y="1261872"/>
            <a:ext cx="987552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508760" y="1627632"/>
            <a:ext cx="9875520" cy="457200"/>
          </a:xfrm>
          <a:prstGeom prst="rect">
            <a:avLst/>
          </a:prstGeom>
          <a:noFill/>
        </p:spPr>
        <p:txBody>
          <a:bodyPr wrap="square" anchor="t"/>
          <a:lstStyle/>
          <a:p>
            <a:pPr algn="l"/>
            <a:r>
              <a:rPr sz="1500" b="0">
                <a:solidFill>
                  <a:srgbClr val="3D4A57"/>
                </a:solidFill>
                <a:latin typeface="Calibri"/>
              </a:rPr>
              <a:t>Confirm the lesion, laterality, and that surgery is the right tool — not just ‘the next appointment.’</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822960" cy="1115568"/>
          </a:xfrm>
          <a:prstGeom prst="rect">
            <a:avLst/>
          </a:prstGeom>
          <a:noFill/>
        </p:spPr>
        <p:txBody>
          <a:bodyPr wrap="square" anchor="ctr"/>
          <a:lstStyle/>
          <a:p>
            <a:pPr algn="ctr"/>
            <a:r>
              <a:rPr sz="2000" b="1">
                <a:solidFill>
                  <a:srgbClr val="C5A35A"/>
                </a:solidFill>
                <a:latin typeface="Calibri"/>
              </a:rPr>
              <a:t>02</a:t>
            </a:r>
          </a:p>
        </p:txBody>
      </p:sp>
      <p:sp>
        <p:nvSpPr>
          <p:cNvPr id="16" name="TextBox 15"/>
          <p:cNvSpPr txBox="1"/>
          <p:nvPr/>
        </p:nvSpPr>
        <p:spPr>
          <a:xfrm>
            <a:off x="1508760" y="2496312"/>
            <a:ext cx="987552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1508760" y="2862072"/>
            <a:ext cx="9875520" cy="457200"/>
          </a:xfrm>
          <a:prstGeom prst="rect">
            <a:avLst/>
          </a:prstGeom>
          <a:noFill/>
        </p:spPr>
        <p:txBody>
          <a:bodyPr wrap="square" anchor="t"/>
          <a:lstStyle/>
          <a:p>
            <a:pPr algn="l"/>
            <a:r>
              <a:rPr sz="1500" b="0">
                <a:solidFill>
                  <a:srgbClr val="3D4A57"/>
                </a:solidFill>
                <a:latin typeface="Calibri"/>
              </a:rPr>
              <a:t>Assign ASA status yourself after today’s exam and labs. Do not inherit it from the appointment book.</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822960" cy="1115568"/>
          </a:xfrm>
          <a:prstGeom prst="rect">
            <a:avLst/>
          </a:prstGeom>
          <a:noFill/>
        </p:spPr>
        <p:txBody>
          <a:bodyPr wrap="square" anchor="ctr"/>
          <a:lstStyle/>
          <a:p>
            <a:pPr algn="ctr"/>
            <a:r>
              <a:rPr sz="2000" b="1">
                <a:solidFill>
                  <a:srgbClr val="C5A35A"/>
                </a:solidFill>
                <a:latin typeface="Calibri"/>
              </a:rPr>
              <a:t>03</a:t>
            </a:r>
          </a:p>
        </p:txBody>
      </p:sp>
      <p:sp>
        <p:nvSpPr>
          <p:cNvPr id="21" name="TextBox 20"/>
          <p:cNvSpPr txBox="1"/>
          <p:nvPr/>
        </p:nvSpPr>
        <p:spPr>
          <a:xfrm>
            <a:off x="1508760" y="3730752"/>
            <a:ext cx="9875520" cy="365760"/>
          </a:xfrm>
          <a:prstGeom prst="rect">
            <a:avLst/>
          </a:prstGeom>
          <a:noFill/>
        </p:spPr>
        <p:txBody>
          <a:bodyPr wrap="square" anchor="t"/>
          <a:lstStyle/>
          <a:p>
            <a:pPr algn="l"/>
            <a:r>
              <a:rPr sz="1800" b="1">
                <a:solidFill>
                  <a:srgbClr val="0B2C4A"/>
                </a:solidFill>
                <a:latin typeface="Calibri"/>
              </a:rPr>
              <a:t>Find problems you can fix first</a:t>
            </a:r>
          </a:p>
        </p:txBody>
      </p:sp>
      <p:sp>
        <p:nvSpPr>
          <p:cNvPr id="22" name="TextBox 21"/>
          <p:cNvSpPr txBox="1"/>
          <p:nvPr/>
        </p:nvSpPr>
        <p:spPr>
          <a:xfrm>
            <a:off x="1508760" y="4096512"/>
            <a:ext cx="9875520" cy="457200"/>
          </a:xfrm>
          <a:prstGeom prst="rect">
            <a:avLst/>
          </a:prstGeom>
          <a:noFill/>
        </p:spPr>
        <p:txBody>
          <a:bodyPr wrap="square" anchor="t"/>
          <a:lstStyle/>
          <a:p>
            <a:pPr algn="l"/>
            <a:r>
              <a:rPr sz="1500" b="0">
                <a:solidFill>
                  <a:srgbClr val="3D4A57"/>
                </a:solidFill>
                <a:latin typeface="Calibri"/>
              </a:rPr>
              <a:t>Dehydration, anemia, electrolyte disasters, uncontrolled diabetes, full bladder, pyoderma over the site.</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822960" cy="111556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822960" cy="1115568"/>
          </a:xfrm>
          <a:prstGeom prst="rect">
            <a:avLst/>
          </a:prstGeom>
          <a:noFill/>
        </p:spPr>
        <p:txBody>
          <a:bodyPr wrap="square" anchor="ctr"/>
          <a:lstStyle/>
          <a:p>
            <a:pPr algn="ctr"/>
            <a:r>
              <a:rPr sz="2000" b="1">
                <a:solidFill>
                  <a:srgbClr val="C5A35A"/>
                </a:solidFill>
                <a:latin typeface="Calibri"/>
              </a:rPr>
              <a:t>04</a:t>
            </a:r>
          </a:p>
        </p:txBody>
      </p:sp>
      <p:sp>
        <p:nvSpPr>
          <p:cNvPr id="26" name="TextBox 25"/>
          <p:cNvSpPr txBox="1"/>
          <p:nvPr/>
        </p:nvSpPr>
        <p:spPr>
          <a:xfrm>
            <a:off x="1508760" y="4965192"/>
            <a:ext cx="987552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1508760" y="5330952"/>
            <a:ext cx="9875520" cy="457200"/>
          </a:xfrm>
          <a:prstGeom prst="rect">
            <a:avLst/>
          </a:prstGeom>
          <a:noFill/>
        </p:spPr>
        <p:txBody>
          <a:bodyPr wrap="square" anchor="t"/>
          <a:lstStyle/>
          <a:p>
            <a:pPr algn="l"/>
            <a:r>
              <a:rPr sz="1500" b="0">
                <a:solidFill>
                  <a:srgbClr val="3D4A57"/>
                </a:solidFill>
                <a:latin typeface="Calibri"/>
              </a:rPr>
              <a:t>Approach, positioning, implants, blood products, ICU bed, who calls the client.</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8  /  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ASK, YOU WILL DISCOVER IT UNDER THE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History that actually changes the plan</a:t>
            </a:r>
          </a:p>
        </p:txBody>
      </p:sp>
      <p:sp>
        <p:nvSpPr>
          <p:cNvPr id="8" name="Rounded Rectangle 7"/>
          <p:cNvSpPr/>
          <p:nvPr/>
        </p:nvSpPr>
        <p:spPr>
          <a:xfrm>
            <a:off x="41148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097280"/>
            <a:ext cx="5577840" cy="4572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234440"/>
            <a:ext cx="5120640" cy="365760"/>
          </a:xfrm>
          <a:prstGeom prst="rect">
            <a:avLst/>
          </a:prstGeom>
          <a:noFill/>
        </p:spPr>
        <p:txBody>
          <a:bodyPr wrap="square" anchor="t"/>
          <a:lstStyle/>
          <a:p>
            <a:pPr algn="l"/>
            <a:r>
              <a:rPr sz="1600" b="1">
                <a:solidFill>
                  <a:srgbClr val="1B6B7A"/>
                </a:solidFill>
                <a:latin typeface="Calibri"/>
              </a:rPr>
              <a:t>Patient &amp; medical</a:t>
            </a:r>
          </a:p>
        </p:txBody>
      </p:sp>
      <p:sp>
        <p:nvSpPr>
          <p:cNvPr id="11" name="TextBox 10"/>
          <p:cNvSpPr txBox="1"/>
          <p:nvPr/>
        </p:nvSpPr>
        <p:spPr>
          <a:xfrm>
            <a:off x="6400800" y="1234440"/>
            <a:ext cx="5120640" cy="365760"/>
          </a:xfrm>
          <a:prstGeom prst="rect">
            <a:avLst/>
          </a:prstGeom>
          <a:noFill/>
        </p:spPr>
        <p:txBody>
          <a:bodyPr wrap="square" anchor="t"/>
          <a:lstStyle/>
          <a:p>
            <a:pPr algn="l"/>
            <a:r>
              <a:rPr sz="1600" b="1">
                <a:solidFill>
                  <a:srgbClr val="C5A35A"/>
                </a:solidFill>
                <a:latin typeface="Calibri"/>
              </a:rPr>
              <a:t>Risk, drugs, home</a:t>
            </a:r>
          </a:p>
        </p:txBody>
      </p:sp>
      <p:sp>
        <p:nvSpPr>
          <p:cNvPr id="12" name="TextBox 11"/>
          <p:cNvSpPr txBox="1"/>
          <p:nvPr/>
        </p:nvSpPr>
        <p:spPr>
          <a:xfrm>
            <a:off x="64008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Signalment: species, breed, age, BCS, sex/neuter — brachycephalic, sighthound, Doberman (vWD), miniature schnauzer (hyperlipidemia).</a:t>
            </a:r>
          </a:p>
          <a:p>
            <a:pPr algn="l">
              <a:spcAft>
                <a:spcPts val="1000"/>
              </a:spcAft>
            </a:pPr>
            <a:r>
              <a:rPr sz="1400" b="0">
                <a:solidFill>
                  <a:srgbClr val="1C1C1C"/>
                </a:solidFill>
                <a:latin typeface="Calibri"/>
              </a:rPr>
              <a:t>▸  Presenting complaint vs. elective wellness: ‘just a spay’ still needs a real history.</a:t>
            </a:r>
          </a:p>
          <a:p>
            <a:pPr algn="l">
              <a:spcAft>
                <a:spcPts val="1000"/>
              </a:spcAft>
            </a:pPr>
            <a:r>
              <a:rPr sz="1400" b="0">
                <a:solidFill>
                  <a:srgbClr val="1C1C1C"/>
                </a:solidFill>
                <a:latin typeface="Calibri"/>
              </a:rPr>
              <a:t>▸  Prior anesthesia/surgery: difficult intubation, delayed recovery, bleeding, drug reactions.</a:t>
            </a:r>
          </a:p>
          <a:p>
            <a:pPr algn="l">
              <a:spcAft>
                <a:spcPts val="1000"/>
              </a:spcAft>
            </a:pPr>
            <a:r>
              <a:rPr sz="1400" b="0">
                <a:solidFill>
                  <a:srgbClr val="1C1C1C"/>
                </a:solidFill>
                <a:latin typeface="Calibri"/>
              </a:rPr>
              <a:t>▸  Medications: NSAIDs, steroids, Apoquel/Cytopoint (skin), insulin, anticonvulsants, heartworm, supplements.</a:t>
            </a:r>
          </a:p>
        </p:txBody>
      </p:sp>
      <p:sp>
        <p:nvSpPr>
          <p:cNvPr id="13" name="TextBox 12"/>
          <p:cNvSpPr txBox="1"/>
          <p:nvPr/>
        </p:nvSpPr>
        <p:spPr>
          <a:xfrm>
            <a:off x="6400800" y="1691640"/>
            <a:ext cx="5120640" cy="3749039"/>
          </a:xfrm>
          <a:prstGeom prst="rect">
            <a:avLst/>
          </a:prstGeom>
          <a:noFill/>
        </p:spPr>
        <p:txBody>
          <a:bodyPr wrap="square">
            <a:spAutoFit/>
          </a:bodyPr>
          <a:lstStyle/>
          <a:p>
            <a:pPr algn="l">
              <a:spcAft>
                <a:spcPts val="1000"/>
              </a:spcAft>
            </a:pPr>
            <a:r>
              <a:rPr sz="1400" b="0">
                <a:solidFill>
                  <a:srgbClr val="1C1C1C"/>
                </a:solidFill>
                <a:latin typeface="Calibri"/>
              </a:rPr>
              <a:t>▸  When last ate or drank — and what (including garbage, treats, coprophagia).</a:t>
            </a:r>
          </a:p>
          <a:p>
            <a:pPr algn="l">
              <a:spcAft>
                <a:spcPts val="1000"/>
              </a:spcAft>
            </a:pPr>
            <a:r>
              <a:rPr sz="1400" b="0">
                <a:solidFill>
                  <a:srgbClr val="1C1C1C"/>
                </a:solidFill>
                <a:latin typeface="Calibri"/>
              </a:rPr>
              <a:t>▸  Cough, collapse, polyuria/polydipsia, vomiting, diarrhea, heat cycle, last whelping.</a:t>
            </a:r>
          </a:p>
          <a:p>
            <a:pPr algn="l">
              <a:spcAft>
                <a:spcPts val="1000"/>
              </a:spcAft>
            </a:pPr>
            <a:r>
              <a:rPr sz="1400" b="0">
                <a:solidFill>
                  <a:srgbClr val="1C1C1C"/>
                </a:solidFill>
                <a:latin typeface="Calibri"/>
              </a:rPr>
              <a:t>▸  Bleeding tendency: petechiae, cavity bleeds, prolonged oozing from venipuncture.</a:t>
            </a:r>
          </a:p>
          <a:p>
            <a:pPr algn="l">
              <a:spcAft>
                <a:spcPts val="1000"/>
              </a:spcAft>
            </a:pPr>
            <a:r>
              <a:rPr sz="1400" b="0">
                <a:solidFill>
                  <a:srgbClr val="1C1C1C"/>
                </a:solidFill>
                <a:latin typeface="Calibri"/>
              </a:rPr>
              <a:t>▸  Environment: indoor/outdoor, other animals, zoonoses, client ability to confine postop.</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9  /  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PREANESTHETIC PE, INDICATED LABS, INTERPRET, THEN ASSIGN ASA</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Physical examination — do it yourself</a:t>
            </a:r>
          </a:p>
        </p:txBody>
      </p:sp>
      <p:sp>
        <p:nvSpPr>
          <p:cNvPr id="8" name="TextBox 7"/>
          <p:cNvSpPr txBox="1"/>
          <p:nvPr/>
        </p:nvSpPr>
        <p:spPr>
          <a:xfrm>
            <a:off x="457200" y="1097280"/>
            <a:ext cx="6766560" cy="5029200"/>
          </a:xfrm>
          <a:prstGeom prst="rect">
            <a:avLst/>
          </a:prstGeom>
          <a:noFill/>
        </p:spPr>
        <p:txBody>
          <a:bodyPr wrap="square">
            <a:spAutoFit/>
          </a:bodyPr>
          <a:lstStyle/>
          <a:p>
            <a:pPr algn="l">
              <a:spcAft>
                <a:spcPts val="1000"/>
              </a:spcAft>
            </a:pPr>
            <a:r>
              <a:rPr sz="1600" b="0">
                <a:solidFill>
                  <a:srgbClr val="1C1C1C"/>
                </a:solidFill>
                <a:latin typeface="Calibri"/>
              </a:rPr>
              <a:t>▸  Hands-on, systematic: TPR, mm, CRT, hydration, BCS, pain, mentation.</a:t>
            </a:r>
          </a:p>
          <a:p>
            <a:pPr algn="l">
              <a:spcAft>
                <a:spcPts val="1000"/>
              </a:spcAft>
            </a:pPr>
            <a:r>
              <a:rPr sz="1600" b="0">
                <a:solidFill>
                  <a:srgbClr val="1C1C1C"/>
                </a:solidFill>
                <a:latin typeface="Calibri"/>
              </a:rPr>
              <a:t>▸  Cardiopulmonary: murmurs, arrhythmias, pulse quality, lung sounds, upper airway.</a:t>
            </a:r>
          </a:p>
          <a:p>
            <a:pPr algn="l">
              <a:spcAft>
                <a:spcPts val="1000"/>
              </a:spcAft>
            </a:pPr>
            <a:r>
              <a:rPr sz="1600" b="0">
                <a:solidFill>
                  <a:srgbClr val="1C1C1C"/>
                </a:solidFill>
                <a:latin typeface="Calibri"/>
              </a:rPr>
              <a:t>▸  Surgical site: pyoderma, fleas, otitis, mammary chain, heat, pregnancy, cryptorchid.</a:t>
            </a:r>
          </a:p>
          <a:p>
            <a:pPr algn="l">
              <a:spcAft>
                <a:spcPts val="1000"/>
              </a:spcAft>
            </a:pPr>
            <a:r>
              <a:rPr sz="1600" b="0">
                <a:solidFill>
                  <a:srgbClr val="1C1C1C"/>
                </a:solidFill>
                <a:latin typeface="Calibri"/>
              </a:rPr>
              <a:t>▸  Abdomen: pain, distension, organomegaly, fluid wave — and empty the bladder if possible.</a:t>
            </a:r>
          </a:p>
          <a:p>
            <a:pPr algn="l">
              <a:spcAft>
                <a:spcPts val="1000"/>
              </a:spcAft>
            </a:pPr>
            <a:r>
              <a:rPr sz="1600" b="0">
                <a:solidFill>
                  <a:srgbClr val="1C1C1C"/>
                </a:solidFill>
                <a:latin typeface="Calibri"/>
              </a:rPr>
              <a:t>▸  Neuro/ortho if relevant: knuckling, neck pain, lameness that changes positioning.</a:t>
            </a:r>
          </a:p>
          <a:p>
            <a:pPr algn="l">
              <a:spcAft>
                <a:spcPts val="1000"/>
              </a:spcAft>
            </a:pPr>
            <a:r>
              <a:rPr sz="1600" b="0">
                <a:solidFill>
                  <a:srgbClr val="1C1C1C"/>
                </a:solidFill>
                <a:latin typeface="Calibri"/>
              </a:rPr>
              <a:t>▸  Record it. If it is not written, the next person (and the exam) will assume you skipped it.</a:t>
            </a:r>
          </a:p>
        </p:txBody>
      </p:sp>
      <p:sp>
        <p:nvSpPr>
          <p:cNvPr id="9" name="Rounded Rectangle 8"/>
          <p:cNvSpPr/>
          <p:nvPr/>
        </p:nvSpPr>
        <p:spPr>
          <a:xfrm>
            <a:off x="7452360" y="1097280"/>
            <a:ext cx="425196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0" y="1325880"/>
            <a:ext cx="3840480" cy="640080"/>
          </a:xfrm>
          <a:prstGeom prst="rect">
            <a:avLst/>
          </a:prstGeom>
          <a:noFill/>
        </p:spPr>
        <p:txBody>
          <a:bodyPr wrap="square" anchor="t"/>
          <a:lstStyle/>
          <a:p>
            <a:pPr algn="l"/>
            <a:r>
              <a:rPr sz="1600" b="1">
                <a:solidFill>
                  <a:srgbClr val="C5A35A"/>
                </a:solidFill>
                <a:latin typeface="Calibri"/>
              </a:rPr>
              <a:t>Order of operations
before any drug</a:t>
            </a:r>
          </a:p>
        </p:txBody>
      </p:sp>
      <p:sp>
        <p:nvSpPr>
          <p:cNvPr id="11" name="TextBox 10"/>
          <p:cNvSpPr txBox="1"/>
          <p:nvPr/>
        </p:nvSpPr>
        <p:spPr>
          <a:xfrm>
            <a:off x="7680960" y="2103120"/>
            <a:ext cx="3840480" cy="3657600"/>
          </a:xfrm>
          <a:prstGeom prst="rect">
            <a:avLst/>
          </a:prstGeom>
          <a:noFill/>
        </p:spPr>
        <p:txBody>
          <a:bodyPr wrap="square" anchor="t"/>
          <a:lstStyle/>
          <a:p>
            <a:pPr algn="l"/>
            <a:r>
              <a:rPr sz="1500" b="0">
                <a:solidFill>
                  <a:srgbClr val="FFFFFF"/>
                </a:solidFill>
                <a:latin typeface="Calibri"/>
              </a:rPr>
              <a:t>1. Examine the patient
2. Request indicated labs
3. Interpret the results
4. Assign ASA status
5. Adjust the drug plan
6. Then premedicate
Premedicating before the exam is a never-event.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10  /  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AMERICAN SOCIETY OF ANESTHESIOLOGISTS (ASA) CLASSIFICATION SYSTEM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ASA physical status — memorize this wording</a:t>
            </a:r>
          </a:p>
        </p:txBody>
      </p:sp>
      <p:sp>
        <p:nvSpPr>
          <p:cNvPr id="8" name="Rectangle 7"/>
          <p:cNvSpPr/>
          <p:nvPr/>
        </p:nvSpPr>
        <p:spPr>
          <a:xfrm>
            <a:off x="411480" y="1024128"/>
            <a:ext cx="11338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2194560" cy="365760"/>
          </a:xfrm>
          <a:prstGeom prst="rect">
            <a:avLst/>
          </a:prstGeom>
          <a:noFill/>
        </p:spPr>
        <p:txBody>
          <a:bodyPr wrap="square" anchor="ctr"/>
          <a:lstStyle/>
          <a:p>
            <a:pPr algn="l"/>
            <a:r>
              <a:rPr sz="1300" b="1">
                <a:solidFill>
                  <a:srgbClr val="C5A35A"/>
                </a:solidFill>
                <a:latin typeface="Calibri"/>
              </a:rPr>
              <a:t>ASA status</a:t>
            </a:r>
          </a:p>
        </p:txBody>
      </p:sp>
      <p:sp>
        <p:nvSpPr>
          <p:cNvPr id="10" name="TextBox 9"/>
          <p:cNvSpPr txBox="1"/>
          <p:nvPr/>
        </p:nvSpPr>
        <p:spPr>
          <a:xfrm>
            <a:off x="2743200" y="1024128"/>
            <a:ext cx="5852160" cy="365760"/>
          </a:xfrm>
          <a:prstGeom prst="rect">
            <a:avLst/>
          </a:prstGeom>
          <a:noFill/>
        </p:spPr>
        <p:txBody>
          <a:bodyPr wrap="square" anchor="ctr"/>
          <a:lstStyle/>
          <a:p>
            <a:pPr algn="l"/>
            <a:r>
              <a:rPr sz="1300" b="1">
                <a:solidFill>
                  <a:srgbClr val="FFFFFF"/>
                </a:solidFill>
                <a:latin typeface="Calibri"/>
              </a:rPr>
              <a:t>Definition — this is the wording to memorize</a:t>
            </a:r>
          </a:p>
        </p:txBody>
      </p:sp>
      <p:sp>
        <p:nvSpPr>
          <p:cNvPr id="11" name="TextBox 10"/>
          <p:cNvSpPr txBox="1"/>
          <p:nvPr/>
        </p:nvSpPr>
        <p:spPr>
          <a:xfrm>
            <a:off x="8595360" y="1024128"/>
            <a:ext cx="3017520" cy="365760"/>
          </a:xfrm>
          <a:prstGeom prst="rect">
            <a:avLst/>
          </a:prstGeom>
          <a:noFill/>
        </p:spPr>
        <p:txBody>
          <a:bodyPr wrap="square" anchor="ctr"/>
          <a:lstStyle/>
          <a:p>
            <a:pPr algn="l"/>
            <a:r>
              <a:rPr sz="1300" b="1">
                <a:solidFill>
                  <a:srgbClr val="FFFFFF"/>
                </a:solidFill>
                <a:latin typeface="Calibri"/>
              </a:rPr>
              <a:t>Example</a:t>
            </a:r>
          </a:p>
        </p:txBody>
      </p:sp>
      <p:sp>
        <p:nvSpPr>
          <p:cNvPr id="12" name="Rounded Rectangle 11"/>
          <p:cNvSpPr/>
          <p:nvPr/>
        </p:nvSpPr>
        <p:spPr>
          <a:xfrm>
            <a:off x="411480" y="14264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426464"/>
            <a:ext cx="2148840" cy="768096"/>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426464"/>
            <a:ext cx="2148840" cy="768096"/>
          </a:xfrm>
          <a:prstGeom prst="rect">
            <a:avLst/>
          </a:prstGeom>
          <a:noFill/>
        </p:spPr>
        <p:txBody>
          <a:bodyPr wrap="square" anchor="ctr"/>
          <a:lstStyle/>
          <a:p>
            <a:pPr algn="ctr"/>
            <a:r>
              <a:rPr sz="1800" b="1">
                <a:solidFill>
                  <a:srgbClr val="FFFFFF"/>
                </a:solidFill>
                <a:latin typeface="Calibri"/>
              </a:rPr>
              <a:t>Status 1</a:t>
            </a:r>
          </a:p>
        </p:txBody>
      </p:sp>
      <p:sp>
        <p:nvSpPr>
          <p:cNvPr id="15" name="TextBox 14"/>
          <p:cNvSpPr txBox="1"/>
          <p:nvPr/>
        </p:nvSpPr>
        <p:spPr>
          <a:xfrm>
            <a:off x="2697480" y="1481328"/>
            <a:ext cx="5806440" cy="658368"/>
          </a:xfrm>
          <a:prstGeom prst="rect">
            <a:avLst/>
          </a:prstGeom>
          <a:noFill/>
        </p:spPr>
        <p:txBody>
          <a:bodyPr wrap="square" anchor="ctr"/>
          <a:lstStyle/>
          <a:p>
            <a:pPr algn="l"/>
            <a:r>
              <a:rPr sz="1300" b="0">
                <a:solidFill>
                  <a:srgbClr val="1C1C1C"/>
                </a:solidFill>
                <a:latin typeface="Calibri"/>
              </a:rPr>
              <a:t>Normal, healthy patient</a:t>
            </a:r>
          </a:p>
        </p:txBody>
      </p:sp>
      <p:sp>
        <p:nvSpPr>
          <p:cNvPr id="16" name="TextBox 15"/>
          <p:cNvSpPr txBox="1"/>
          <p:nvPr/>
        </p:nvSpPr>
        <p:spPr>
          <a:xfrm>
            <a:off x="8595360" y="1481328"/>
            <a:ext cx="2971800" cy="658368"/>
          </a:xfrm>
          <a:prstGeom prst="rect">
            <a:avLst/>
          </a:prstGeom>
          <a:noFill/>
        </p:spPr>
        <p:txBody>
          <a:bodyPr wrap="square" anchor="ctr"/>
          <a:lstStyle/>
          <a:p>
            <a:pPr algn="l"/>
            <a:r>
              <a:rPr sz="1200" b="0">
                <a:solidFill>
                  <a:srgbClr val="3D4A57"/>
                </a:solidFill>
                <a:latin typeface="Calibri"/>
              </a:rPr>
              <a:t>Healthy 1-year-old OHE</a:t>
            </a:r>
          </a:p>
        </p:txBody>
      </p:sp>
      <p:sp>
        <p:nvSpPr>
          <p:cNvPr id="17" name="Rounded Rectangle 16"/>
          <p:cNvSpPr/>
          <p:nvPr/>
        </p:nvSpPr>
        <p:spPr>
          <a:xfrm>
            <a:off x="411480" y="224942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249424"/>
            <a:ext cx="2148840" cy="7680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249424"/>
            <a:ext cx="2148840" cy="768096"/>
          </a:xfrm>
          <a:prstGeom prst="rect">
            <a:avLst/>
          </a:prstGeom>
          <a:noFill/>
        </p:spPr>
        <p:txBody>
          <a:bodyPr wrap="square" anchor="ctr"/>
          <a:lstStyle/>
          <a:p>
            <a:pPr algn="ctr"/>
            <a:r>
              <a:rPr sz="1800" b="1">
                <a:solidFill>
                  <a:srgbClr val="FFFFFF"/>
                </a:solidFill>
                <a:latin typeface="Calibri"/>
              </a:rPr>
              <a:t>Status 2</a:t>
            </a:r>
          </a:p>
        </p:txBody>
      </p:sp>
      <p:sp>
        <p:nvSpPr>
          <p:cNvPr id="20" name="TextBox 19"/>
          <p:cNvSpPr txBox="1"/>
          <p:nvPr/>
        </p:nvSpPr>
        <p:spPr>
          <a:xfrm>
            <a:off x="2697480" y="2304288"/>
            <a:ext cx="5806440" cy="658368"/>
          </a:xfrm>
          <a:prstGeom prst="rect">
            <a:avLst/>
          </a:prstGeom>
          <a:noFill/>
        </p:spPr>
        <p:txBody>
          <a:bodyPr wrap="square" anchor="ctr"/>
          <a:lstStyle/>
          <a:p>
            <a:pPr algn="l"/>
            <a:r>
              <a:rPr sz="1300" b="0">
                <a:solidFill>
                  <a:srgbClr val="1C1C1C"/>
                </a:solidFill>
                <a:latin typeface="Calibri"/>
              </a:rPr>
              <a:t>Mild systemic disease, well compensated</a:t>
            </a:r>
          </a:p>
        </p:txBody>
      </p:sp>
      <p:sp>
        <p:nvSpPr>
          <p:cNvPr id="21" name="TextBox 20"/>
          <p:cNvSpPr txBox="1"/>
          <p:nvPr/>
        </p:nvSpPr>
        <p:spPr>
          <a:xfrm>
            <a:off x="8595360" y="2304288"/>
            <a:ext cx="2971800" cy="658368"/>
          </a:xfrm>
          <a:prstGeom prst="rect">
            <a:avLst/>
          </a:prstGeom>
          <a:noFill/>
        </p:spPr>
        <p:txBody>
          <a:bodyPr wrap="square" anchor="ctr"/>
          <a:lstStyle/>
          <a:p>
            <a:pPr algn="l"/>
            <a:r>
              <a:rPr sz="1200" b="0">
                <a:solidFill>
                  <a:srgbClr val="3D4A57"/>
                </a:solidFill>
                <a:latin typeface="Calibri"/>
              </a:rPr>
              <a:t>Obesity; asymptomatic murmur; controlled diabetes</a:t>
            </a:r>
          </a:p>
        </p:txBody>
      </p:sp>
      <p:sp>
        <p:nvSpPr>
          <p:cNvPr id="22" name="Rounded Rectangle 21"/>
          <p:cNvSpPr/>
          <p:nvPr/>
        </p:nvSpPr>
        <p:spPr>
          <a:xfrm>
            <a:off x="411480" y="307238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072384"/>
            <a:ext cx="21488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072384"/>
            <a:ext cx="2148840" cy="768096"/>
          </a:xfrm>
          <a:prstGeom prst="rect">
            <a:avLst/>
          </a:prstGeom>
          <a:noFill/>
        </p:spPr>
        <p:txBody>
          <a:bodyPr wrap="square" anchor="ctr"/>
          <a:lstStyle/>
          <a:p>
            <a:pPr algn="ctr"/>
            <a:r>
              <a:rPr sz="1800" b="1">
                <a:solidFill>
                  <a:srgbClr val="FFFFFF"/>
                </a:solidFill>
                <a:latin typeface="Calibri"/>
              </a:rPr>
              <a:t>Status 3</a:t>
            </a:r>
          </a:p>
        </p:txBody>
      </p:sp>
      <p:sp>
        <p:nvSpPr>
          <p:cNvPr id="25" name="TextBox 24"/>
          <p:cNvSpPr txBox="1"/>
          <p:nvPr/>
        </p:nvSpPr>
        <p:spPr>
          <a:xfrm>
            <a:off x="2697480" y="3127248"/>
            <a:ext cx="5806440" cy="658368"/>
          </a:xfrm>
          <a:prstGeom prst="rect">
            <a:avLst/>
          </a:prstGeom>
          <a:noFill/>
        </p:spPr>
        <p:txBody>
          <a:bodyPr wrap="square" anchor="ctr"/>
          <a:lstStyle/>
          <a:p>
            <a:pPr algn="l"/>
            <a:r>
              <a:rPr sz="1300" b="0">
                <a:solidFill>
                  <a:srgbClr val="1C1C1C"/>
                </a:solidFill>
                <a:latin typeface="Calibri"/>
              </a:rPr>
              <a:t>Moderate systemic disease that is ongoing but compensated; some functional limitations exist that increase the risk of anesthesia</a:t>
            </a:r>
          </a:p>
        </p:txBody>
      </p:sp>
      <p:sp>
        <p:nvSpPr>
          <p:cNvPr id="26" name="TextBox 25"/>
          <p:cNvSpPr txBox="1"/>
          <p:nvPr/>
        </p:nvSpPr>
        <p:spPr>
          <a:xfrm>
            <a:off x="8595360" y="3127248"/>
            <a:ext cx="2971800" cy="658368"/>
          </a:xfrm>
          <a:prstGeom prst="rect">
            <a:avLst/>
          </a:prstGeom>
          <a:noFill/>
        </p:spPr>
        <p:txBody>
          <a:bodyPr wrap="square" anchor="ctr"/>
          <a:lstStyle/>
          <a:p>
            <a:pPr algn="l"/>
            <a:r>
              <a:rPr sz="1200" b="0">
                <a:solidFill>
                  <a:srgbClr val="3D4A57"/>
                </a:solidFill>
                <a:latin typeface="Calibri"/>
              </a:rPr>
              <a:t>Willie — vestibular + otitis, walking, compensated murmur</a:t>
            </a:r>
          </a:p>
        </p:txBody>
      </p:sp>
      <p:sp>
        <p:nvSpPr>
          <p:cNvPr id="27" name="Rounded Rectangle 26"/>
          <p:cNvSpPr/>
          <p:nvPr/>
        </p:nvSpPr>
        <p:spPr>
          <a:xfrm>
            <a:off x="411480" y="389534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895344"/>
            <a:ext cx="2148840" cy="76809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3895344"/>
            <a:ext cx="2148840" cy="768096"/>
          </a:xfrm>
          <a:prstGeom prst="rect">
            <a:avLst/>
          </a:prstGeom>
          <a:noFill/>
        </p:spPr>
        <p:txBody>
          <a:bodyPr wrap="square" anchor="ctr"/>
          <a:lstStyle/>
          <a:p>
            <a:pPr algn="ctr"/>
            <a:r>
              <a:rPr sz="1800" b="1">
                <a:solidFill>
                  <a:srgbClr val="FFFFFF"/>
                </a:solidFill>
                <a:latin typeface="Calibri"/>
              </a:rPr>
              <a:t>Status 4</a:t>
            </a:r>
          </a:p>
        </p:txBody>
      </p:sp>
      <p:sp>
        <p:nvSpPr>
          <p:cNvPr id="30" name="TextBox 29"/>
          <p:cNvSpPr txBox="1"/>
          <p:nvPr/>
        </p:nvSpPr>
        <p:spPr>
          <a:xfrm>
            <a:off x="2697480" y="3950208"/>
            <a:ext cx="5806440" cy="658368"/>
          </a:xfrm>
          <a:prstGeom prst="rect">
            <a:avLst/>
          </a:prstGeom>
          <a:noFill/>
        </p:spPr>
        <p:txBody>
          <a:bodyPr wrap="square" anchor="ctr"/>
          <a:lstStyle/>
          <a:p>
            <a:pPr algn="l"/>
            <a:r>
              <a:rPr sz="1300" b="0">
                <a:solidFill>
                  <a:srgbClr val="1C1C1C"/>
                </a:solidFill>
                <a:latin typeface="Calibri"/>
              </a:rPr>
              <a:t>Severe systemic disease that is a constant threat to life, uncompensated disease, high anesthetic risk because vital body systems involved</a:t>
            </a:r>
          </a:p>
        </p:txBody>
      </p:sp>
      <p:sp>
        <p:nvSpPr>
          <p:cNvPr id="31" name="TextBox 30"/>
          <p:cNvSpPr txBox="1"/>
          <p:nvPr/>
        </p:nvSpPr>
        <p:spPr>
          <a:xfrm>
            <a:off x="8595360" y="3950208"/>
            <a:ext cx="2971800" cy="658368"/>
          </a:xfrm>
          <a:prstGeom prst="rect">
            <a:avLst/>
          </a:prstGeom>
          <a:noFill/>
        </p:spPr>
        <p:txBody>
          <a:bodyPr wrap="square" anchor="ctr"/>
          <a:lstStyle/>
          <a:p>
            <a:pPr algn="l"/>
            <a:r>
              <a:rPr sz="1200" b="0">
                <a:solidFill>
                  <a:srgbClr val="3D4A57"/>
                </a:solidFill>
                <a:latin typeface="Calibri"/>
              </a:rPr>
              <a:t>MoMo — rising azotemia, non-functional kidney; GDV; septic abdomen</a:t>
            </a:r>
          </a:p>
        </p:txBody>
      </p:sp>
      <p:sp>
        <p:nvSpPr>
          <p:cNvPr id="32" name="Rounded Rectangle 31"/>
          <p:cNvSpPr/>
          <p:nvPr/>
        </p:nvSpPr>
        <p:spPr>
          <a:xfrm>
            <a:off x="411480" y="471830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4718304"/>
            <a:ext cx="2148840" cy="7680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4718304"/>
            <a:ext cx="2148840" cy="768096"/>
          </a:xfrm>
          <a:prstGeom prst="rect">
            <a:avLst/>
          </a:prstGeom>
          <a:noFill/>
        </p:spPr>
        <p:txBody>
          <a:bodyPr wrap="square" anchor="ctr"/>
          <a:lstStyle/>
          <a:p>
            <a:pPr algn="ctr"/>
            <a:r>
              <a:rPr sz="1800" b="1">
                <a:solidFill>
                  <a:srgbClr val="FFFFFF"/>
                </a:solidFill>
                <a:latin typeface="Calibri"/>
              </a:rPr>
              <a:t>Status 5</a:t>
            </a:r>
          </a:p>
        </p:txBody>
      </p:sp>
      <p:sp>
        <p:nvSpPr>
          <p:cNvPr id="35" name="TextBox 34"/>
          <p:cNvSpPr txBox="1"/>
          <p:nvPr/>
        </p:nvSpPr>
        <p:spPr>
          <a:xfrm>
            <a:off x="2697480" y="4773168"/>
            <a:ext cx="5806440" cy="658368"/>
          </a:xfrm>
          <a:prstGeom prst="rect">
            <a:avLst/>
          </a:prstGeom>
          <a:noFill/>
        </p:spPr>
        <p:txBody>
          <a:bodyPr wrap="square" anchor="ctr"/>
          <a:lstStyle/>
          <a:p>
            <a:pPr algn="l"/>
            <a:r>
              <a:rPr sz="1300" b="0">
                <a:solidFill>
                  <a:srgbClr val="1C1C1C"/>
                </a:solidFill>
                <a:latin typeface="Calibri"/>
              </a:rPr>
              <a:t>Moribund patient not expected to live more than 24 hours with or without surgery</a:t>
            </a:r>
          </a:p>
        </p:txBody>
      </p:sp>
      <p:sp>
        <p:nvSpPr>
          <p:cNvPr id="36" name="TextBox 35"/>
          <p:cNvSpPr txBox="1"/>
          <p:nvPr/>
        </p:nvSpPr>
        <p:spPr>
          <a:xfrm>
            <a:off x="8595360" y="4773168"/>
            <a:ext cx="2971800" cy="658368"/>
          </a:xfrm>
          <a:prstGeom prst="rect">
            <a:avLst/>
          </a:prstGeom>
          <a:noFill/>
        </p:spPr>
        <p:txBody>
          <a:bodyPr wrap="square" anchor="ctr"/>
          <a:lstStyle/>
          <a:p>
            <a:pPr algn="l"/>
            <a:r>
              <a:rPr sz="1200" b="0">
                <a:solidFill>
                  <a:srgbClr val="3D4A57"/>
                </a:solidFill>
                <a:latin typeface="Calibri"/>
              </a:rPr>
              <a:t>Gastric rupture; catastrophic trauma; end-stage disease</a:t>
            </a:r>
          </a:p>
        </p:txBody>
      </p:sp>
      <p:sp>
        <p:nvSpPr>
          <p:cNvPr id="37" name="Rounded Rectangle 36"/>
          <p:cNvSpPr/>
          <p:nvPr/>
        </p:nvSpPr>
        <p:spPr>
          <a:xfrm>
            <a:off x="411480" y="5596128"/>
            <a:ext cx="11338560" cy="8686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687568"/>
            <a:ext cx="11018520" cy="685800"/>
          </a:xfrm>
          <a:prstGeom prst="rect">
            <a:avLst/>
          </a:prstGeom>
          <a:noFill/>
        </p:spPr>
        <p:txBody>
          <a:bodyPr wrap="square" anchor="t"/>
          <a:lstStyle/>
          <a:p>
            <a:pPr algn="l"/>
            <a:r>
              <a:rPr sz="1400" b="0">
                <a:solidFill>
                  <a:srgbClr val="0B2C4A"/>
                </a:solidFill>
                <a:latin typeface="Calibri"/>
              </a:rPr>
              <a:t>E = emergency (written Status 3-E or 4-E). Willie is Status 3-E: acute, still compensated. MoMo is Status 4-E: acute, uncompensated, vital systems involved. Assign the number after today’s PE and labs, not from the appointment book.</a:t>
            </a:r>
          </a:p>
        </p:txBody>
      </p:sp>
      <p:sp>
        <p:nvSpPr>
          <p:cNvPr id="39" name="Rectangle 3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1" name="TextBox 4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11  /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SAY THE NUMBER, THEN WHETHER YOU PROCEED TODAY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Assign the ASA — 60-second cases</a:t>
            </a:r>
          </a:p>
        </p:txBody>
      </p:sp>
      <p:sp>
        <p:nvSpPr>
          <p:cNvPr id="8" name="Rounded Rectangle 7"/>
          <p:cNvSpPr/>
          <p:nvPr/>
        </p:nvSpPr>
        <p:spPr>
          <a:xfrm>
            <a:off x="457200" y="109728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11556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115568"/>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325880" y="1207008"/>
            <a:ext cx="10058400" cy="457200"/>
          </a:xfrm>
          <a:prstGeom prst="rect">
            <a:avLst/>
          </a:prstGeom>
          <a:noFill/>
        </p:spPr>
        <p:txBody>
          <a:bodyPr wrap="square" anchor="t"/>
          <a:lstStyle/>
          <a:p>
            <a:pPr algn="l"/>
            <a:r>
              <a:rPr sz="1500" b="0">
                <a:solidFill>
                  <a:srgbClr val="1C1C1C"/>
                </a:solidFill>
                <a:latin typeface="Calibri"/>
              </a:rPr>
              <a:t>Healthy 8-month Labrador for elective OHE. Normal PE, PCV/TS normal.</a:t>
            </a:r>
          </a:p>
        </p:txBody>
      </p:sp>
      <p:sp>
        <p:nvSpPr>
          <p:cNvPr id="12" name="TextBox 11"/>
          <p:cNvSpPr txBox="1"/>
          <p:nvPr/>
        </p:nvSpPr>
        <p:spPr>
          <a:xfrm>
            <a:off x="1325880" y="1719072"/>
            <a:ext cx="10058400" cy="365760"/>
          </a:xfrm>
          <a:prstGeom prst="rect">
            <a:avLst/>
          </a:prstGeom>
          <a:noFill/>
        </p:spPr>
        <p:txBody>
          <a:bodyPr wrap="square" anchor="t"/>
          <a:lstStyle/>
          <a:p>
            <a:pPr algn="l"/>
            <a:r>
              <a:rPr sz="1400" b="1">
                <a:solidFill>
                  <a:srgbClr val="2E6B4F"/>
                </a:solidFill>
                <a:latin typeface="Calibri"/>
              </a:rPr>
              <a:t>ASA Status 1  ·  proceed</a:t>
            </a:r>
          </a:p>
        </p:txBody>
      </p:sp>
      <p:sp>
        <p:nvSpPr>
          <p:cNvPr id="13" name="Rounded Rectangle 12"/>
          <p:cNvSpPr/>
          <p:nvPr/>
        </p:nvSpPr>
        <p:spPr>
          <a:xfrm>
            <a:off x="457200" y="233172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1556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15568"/>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325880" y="2441448"/>
            <a:ext cx="10058400" cy="457200"/>
          </a:xfrm>
          <a:prstGeom prst="rect">
            <a:avLst/>
          </a:prstGeom>
          <a:noFill/>
        </p:spPr>
        <p:txBody>
          <a:bodyPr wrap="square" anchor="t"/>
          <a:lstStyle/>
          <a:p>
            <a:pPr algn="l"/>
            <a:r>
              <a:rPr sz="1500" b="0">
                <a:solidFill>
                  <a:srgbClr val="1C1C1C"/>
                </a:solidFill>
                <a:latin typeface="Calibri"/>
              </a:rPr>
              <a:t>10-year MN Beagle, BCS 8/9, grade 2/6 murmur, no CHF, dental + mass removal.</a:t>
            </a:r>
          </a:p>
        </p:txBody>
      </p:sp>
      <p:sp>
        <p:nvSpPr>
          <p:cNvPr id="17" name="TextBox 16"/>
          <p:cNvSpPr txBox="1"/>
          <p:nvPr/>
        </p:nvSpPr>
        <p:spPr>
          <a:xfrm>
            <a:off x="1325880" y="2953512"/>
            <a:ext cx="10058400" cy="365760"/>
          </a:xfrm>
          <a:prstGeom prst="rect">
            <a:avLst/>
          </a:prstGeom>
          <a:noFill/>
        </p:spPr>
        <p:txBody>
          <a:bodyPr wrap="square" anchor="t"/>
          <a:lstStyle/>
          <a:p>
            <a:pPr algn="l"/>
            <a:r>
              <a:rPr sz="1400" b="1">
                <a:solidFill>
                  <a:srgbClr val="1B6B7A"/>
                </a:solidFill>
                <a:latin typeface="Calibri"/>
              </a:rPr>
              <a:t>ASA Status 2  ·  proceed with monitoring plan</a:t>
            </a:r>
          </a:p>
        </p:txBody>
      </p:sp>
      <p:sp>
        <p:nvSpPr>
          <p:cNvPr id="18" name="Rounded Rectangle 17"/>
          <p:cNvSpPr/>
          <p:nvPr/>
        </p:nvSpPr>
        <p:spPr>
          <a:xfrm>
            <a:off x="457200" y="356616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566160"/>
            <a:ext cx="640080"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566160"/>
            <a:ext cx="640080" cy="1115568"/>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325880" y="3675888"/>
            <a:ext cx="10058400" cy="457200"/>
          </a:xfrm>
          <a:prstGeom prst="rect">
            <a:avLst/>
          </a:prstGeom>
          <a:noFill/>
        </p:spPr>
        <p:txBody>
          <a:bodyPr wrap="square" anchor="t"/>
          <a:lstStyle/>
          <a:p>
            <a:pPr algn="l"/>
            <a:r>
              <a:rPr sz="1500" b="0">
                <a:solidFill>
                  <a:srgbClr val="1C1C1C"/>
                </a:solidFill>
                <a:latin typeface="Calibri"/>
              </a:rPr>
              <a:t>Willie: 6 y 11 mo MN Cavalier, 13.7 kg. Acute ataxia 1 h. AS otitis, TM visible/swollen. Circling left, nystagmus fast-left, right knuckling. Grade II murmur. CV stable.</a:t>
            </a:r>
          </a:p>
        </p:txBody>
      </p:sp>
      <p:sp>
        <p:nvSpPr>
          <p:cNvPr id="22" name="TextBox 21"/>
          <p:cNvSpPr txBox="1"/>
          <p:nvPr/>
        </p:nvSpPr>
        <p:spPr>
          <a:xfrm>
            <a:off x="1325880" y="4187952"/>
            <a:ext cx="10058400" cy="365760"/>
          </a:xfrm>
          <a:prstGeom prst="rect">
            <a:avLst/>
          </a:prstGeom>
          <a:noFill/>
        </p:spPr>
        <p:txBody>
          <a:bodyPr wrap="square" anchor="t"/>
          <a:lstStyle/>
          <a:p>
            <a:pPr algn="l"/>
            <a:r>
              <a:rPr sz="1400" b="1">
                <a:solidFill>
                  <a:srgbClr val="C5A35A"/>
                </a:solidFill>
                <a:latin typeface="Calibri"/>
              </a:rPr>
              <a:t>ASA Status 3-E  ·  not ‘just dirty ears’ — next slides</a:t>
            </a:r>
          </a:p>
        </p:txBody>
      </p:sp>
      <p:sp>
        <p:nvSpPr>
          <p:cNvPr id="23" name="Rounded Rectangle 22"/>
          <p:cNvSpPr/>
          <p:nvPr/>
        </p:nvSpPr>
        <p:spPr>
          <a:xfrm>
            <a:off x="457200" y="4800600"/>
            <a:ext cx="1124712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00600"/>
            <a:ext cx="640080" cy="111556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00600"/>
            <a:ext cx="640080" cy="1115568"/>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325880" y="4910328"/>
            <a:ext cx="10058400" cy="457200"/>
          </a:xfrm>
          <a:prstGeom prst="rect">
            <a:avLst/>
          </a:prstGeom>
          <a:noFill/>
        </p:spPr>
        <p:txBody>
          <a:bodyPr wrap="square" anchor="t"/>
          <a:lstStyle/>
          <a:p>
            <a:pPr algn="l"/>
            <a:r>
              <a:rPr sz="1500" b="0">
                <a:solidFill>
                  <a:srgbClr val="1C1C1C"/>
                </a:solidFill>
                <a:latin typeface="Calibri"/>
              </a:rPr>
              <a:t>MoMo: 6 yo SF DSH, 4.25 kg. Acute vomiting ×2, lethargy, construction at home — possible FB. T 98.0 °F, HR 200, mm pink tacky. Mildly enlarged abdomen.</a:t>
            </a:r>
          </a:p>
        </p:txBody>
      </p:sp>
      <p:sp>
        <p:nvSpPr>
          <p:cNvPr id="27" name="TextBox 26"/>
          <p:cNvSpPr txBox="1"/>
          <p:nvPr/>
        </p:nvSpPr>
        <p:spPr>
          <a:xfrm>
            <a:off x="1325880" y="5422392"/>
            <a:ext cx="10058400" cy="365760"/>
          </a:xfrm>
          <a:prstGeom prst="rect">
            <a:avLst/>
          </a:prstGeom>
          <a:noFill/>
        </p:spPr>
        <p:txBody>
          <a:bodyPr wrap="square" anchor="t"/>
          <a:lstStyle/>
          <a:p>
            <a:pPr algn="l"/>
            <a:r>
              <a:rPr sz="1400" b="1">
                <a:solidFill>
                  <a:srgbClr val="8B2E2E"/>
                </a:solidFill>
                <a:latin typeface="Calibri"/>
              </a:rPr>
              <a:t>Do not cut yet. Imaging + labs first  ·  this became ASA Status 4-E, not a surgical abdomen</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12  /  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 11 MO MN CAVALIER KING CHARLES SPANIEL  ·  13.7 KG  ·  BCS 6/9</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III case — Willie</a:t>
            </a:r>
          </a:p>
        </p:txBody>
      </p:sp>
      <p:sp>
        <p:nvSpPr>
          <p:cNvPr id="8" name="Rounded Rectangle 7"/>
          <p:cNvSpPr/>
          <p:nvPr/>
        </p:nvSpPr>
        <p:spPr>
          <a:xfrm>
            <a:off x="457200" y="1051560"/>
            <a:ext cx="11247120" cy="13258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ataxia ~1 hour. Fell off the couch twice. Abnormal paw placement. Appetite/thirst normal. Cytopoint for allergies. No prior vestibular signs. Vitals: T 100.8 °F, HR 132, RR 52, mm pink, CRT 2 s, quiet/dull.</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Left ear (AS)</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Neuro exam</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Circling left. Horizontal nystagmus — fast left, slow right. Right knuckling and delayed proprioception. Wheelbarrow absent on the right. That is not a simple peripheral ear.</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Also on PE</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Grade II/VI left systolic murmur (Cavaliers). Heavy tartar. Nasal crusts. Soft non-painful abdomen. Compensated tonight.</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13  /  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COMPENSATED  ·  FUNCTIONAL LIMITATION  ·  ACUTE  ·  NOT A CONSTANT THREAT TO LIFE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Willie is ASA III-E — and what we actually did</a:t>
            </a:r>
          </a:p>
        </p:txBody>
      </p:sp>
      <p:sp>
        <p:nvSpPr>
          <p:cNvPr id="8" name="Rounded Rectangle 7"/>
          <p:cNvSpPr/>
          <p:nvPr/>
        </p:nvSpPr>
        <p:spPr>
          <a:xfrm>
            <a:off x="411480" y="1078992"/>
            <a:ext cx="370332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2E6B4F"/>
                </a:solidFill>
                <a:latin typeface="Calibri"/>
              </a:rPr>
              <a:t>ASA III-E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 = murmur alone, or dirty ears without neuro signs.
III = acute vestibular disease plus severe AS otitis, still pink, walking, kidneys normal.
E = started an hour ago; sedation tonight.
IV = recumbent, seizing, septic, or in heart failure. He was not.</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and peri-op plan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CBC WNL. Phosphorus 6.0 (high), glucose 130 (stress). Kidneys, liver, electrolytes normal.</a:t>
            </a:r>
          </a:p>
          <a:p>
            <a:pPr algn="l">
              <a:spcAft>
                <a:spcPts val="500"/>
              </a:spcAft>
            </a:pPr>
            <a:r>
              <a:rPr sz="1300" b="0">
                <a:solidFill>
                  <a:srgbClr val="1C1C1C"/>
                </a:solidFill>
                <a:latin typeface="Calibri"/>
              </a:rPr>
              <a:t>▸  IV fluids, Cerenia IV, DexSP 0.68 mL SQ. No NSAID after the steroid.</a:t>
            </a:r>
          </a:p>
          <a:p>
            <a:pPr algn="l">
              <a:spcAft>
                <a:spcPts val="500"/>
              </a:spcAft>
            </a:pPr>
            <a:r>
              <a:rPr sz="1300" b="0">
                <a:solidFill>
                  <a:srgbClr val="1C1C1C"/>
                </a:solidFill>
                <a:latin typeface="Calibri"/>
              </a:rPr>
              <a:t>▸  Alfaxalone sedation: deep left-ear clean, cytology/culture, 3-view skull/spine films.</a:t>
            </a:r>
          </a:p>
          <a:p>
            <a:pPr algn="l">
              <a:spcAft>
                <a:spcPts val="500"/>
              </a:spcAft>
            </a:pPr>
            <a:r>
              <a:rPr sz="1300" b="0">
                <a:solidFill>
                  <a:srgbClr val="1C1C1C"/>
                </a:solidFill>
                <a:latin typeface="Calibri"/>
              </a:rPr>
              <a:t>▸  Films: bullae radiographically intact, skull intact, L7–S1 discospondylosis — that does not explain acute circling.</a:t>
            </a:r>
          </a:p>
          <a:p>
            <a:pPr algn="l">
              <a:spcAft>
                <a:spcPts val="500"/>
              </a:spcAft>
            </a:pPr>
            <a:r>
              <a:rPr sz="1300" b="0">
                <a:solidFill>
                  <a:srgbClr val="1C1C1C"/>
                </a:solidFill>
                <a:latin typeface="Calibri"/>
              </a:rPr>
              <a:t>▸  Left circling + left-fast nystagmus + right proprioceptive deficit → central until MRI says otherwise.</a:t>
            </a:r>
          </a:p>
          <a:p>
            <a:pPr algn="l">
              <a:spcAft>
                <a:spcPts val="500"/>
              </a:spcAft>
            </a:pPr>
            <a:r>
              <a:rPr sz="1300" b="0">
                <a:solidFill>
                  <a:srgbClr val="1C1C1C"/>
                </a:solidFill>
                <a:latin typeface="Calibri"/>
              </a:rPr>
              <a:t>▸  Home: meclizine 25 mg PO BID × 5 d, Cerenia 60 mg PO SID × 4 d, confine, no stairs. MRI recommended. TECA-LBO if culture-guided medical therapy fails.</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14  /  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6 YO SF DSH  ·  4.25 KG  ·  BCS 5/9  ·  SAME HOSPITAL, SAME WEEK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Real ASA IV-E case — MoMo</a:t>
            </a:r>
          </a:p>
        </p:txBody>
      </p:sp>
      <p:sp>
        <p:nvSpPr>
          <p:cNvPr id="8" name="Rounded Rectangle 7"/>
          <p:cNvSpPr/>
          <p:nvPr/>
        </p:nvSpPr>
        <p:spPr>
          <a:xfrm>
            <a:off x="457200" y="1051560"/>
            <a:ext cx="11247120" cy="132588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43000"/>
            <a:ext cx="10789920" cy="1143000"/>
          </a:xfrm>
          <a:prstGeom prst="rect">
            <a:avLst/>
          </a:prstGeom>
          <a:noFill/>
        </p:spPr>
        <p:txBody>
          <a:bodyPr wrap="square" anchor="t"/>
          <a:lstStyle/>
          <a:p>
            <a:pPr algn="l"/>
            <a:r>
              <a:rPr sz="1400" b="0">
                <a:solidFill>
                  <a:srgbClr val="0B2C4A"/>
                </a:solidFill>
                <a:latin typeface="Calibri"/>
              </a:rPr>
              <a:t>Acute vomiting and lethargy this morning. Two vomits (food, then liquid). Ate normally yesterday. Household construction — possible foreign material or toxin. Refused a favored treat. Vaccines uncertain; last wellness ~2 years. Vitals: T 98.0 °F, HR 200, RR 30, mm pink tacky, CRT &lt;2 s, QAR.</a:t>
            </a:r>
          </a:p>
        </p:txBody>
      </p:sp>
      <p:sp>
        <p:nvSpPr>
          <p:cNvPr id="10" name="Rounded Rectangle 9"/>
          <p:cNvSpPr/>
          <p:nvPr/>
        </p:nvSpPr>
        <p:spPr>
          <a:xfrm>
            <a:off x="45720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514600"/>
            <a:ext cx="91440" cy="3611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624328"/>
            <a:ext cx="3291840" cy="347472"/>
          </a:xfrm>
          <a:prstGeom prst="rect">
            <a:avLst/>
          </a:prstGeom>
          <a:noFill/>
        </p:spPr>
        <p:txBody>
          <a:bodyPr wrap="square" anchor="t"/>
          <a:lstStyle/>
          <a:p>
            <a:pPr algn="l"/>
            <a:r>
              <a:rPr sz="1500" b="1">
                <a:solidFill>
                  <a:srgbClr val="0B2C4A"/>
                </a:solidFill>
                <a:latin typeface="Calibri"/>
              </a:rPr>
              <a:t>Why this looked surgical</a:t>
            </a:r>
          </a:p>
        </p:txBody>
      </p:sp>
      <p:sp>
        <p:nvSpPr>
          <p:cNvPr id="13" name="TextBox 12"/>
          <p:cNvSpPr txBox="1"/>
          <p:nvPr/>
        </p:nvSpPr>
        <p:spPr>
          <a:xfrm>
            <a:off x="713232" y="2953512"/>
            <a:ext cx="3291840" cy="3081528"/>
          </a:xfrm>
          <a:prstGeom prst="rect">
            <a:avLst/>
          </a:prstGeom>
          <a:noFill/>
        </p:spPr>
        <p:txBody>
          <a:bodyPr wrap="square" anchor="t"/>
          <a:lstStyle/>
          <a:p>
            <a:pPr algn="l"/>
            <a:r>
              <a:rPr sz="1300" b="0">
                <a:solidFill>
                  <a:srgbClr val="3D4A57"/>
                </a:solidFill>
                <a:latin typeface="Calibri"/>
              </a:rPr>
              <a:t>FB obstruction was on the list. Discussed IV fluids, serial imaging, and surgery if indicated. Mildly enlarged abdomen. That is how cats get booked for an exploratory.</a:t>
            </a:r>
          </a:p>
        </p:txBody>
      </p:sp>
      <p:sp>
        <p:nvSpPr>
          <p:cNvPr id="14" name="Rounded Rectangle 13"/>
          <p:cNvSpPr/>
          <p:nvPr/>
        </p:nvSpPr>
        <p:spPr>
          <a:xfrm>
            <a:off x="4297680" y="2514600"/>
            <a:ext cx="36576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514600"/>
            <a:ext cx="91440" cy="3611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624328"/>
            <a:ext cx="3291840" cy="347472"/>
          </a:xfrm>
          <a:prstGeom prst="rect">
            <a:avLst/>
          </a:prstGeom>
          <a:noFill/>
        </p:spPr>
        <p:txBody>
          <a:bodyPr wrap="square" anchor="t"/>
          <a:lstStyle/>
          <a:p>
            <a:pPr algn="l"/>
            <a:r>
              <a:rPr sz="1500" b="1">
                <a:solidFill>
                  <a:srgbClr val="0B2C4A"/>
                </a:solidFill>
                <a:latin typeface="Calibri"/>
              </a:rPr>
              <a:t>What the PE actually showed</a:t>
            </a:r>
          </a:p>
        </p:txBody>
      </p:sp>
      <p:sp>
        <p:nvSpPr>
          <p:cNvPr id="17" name="TextBox 16"/>
          <p:cNvSpPr txBox="1"/>
          <p:nvPr/>
        </p:nvSpPr>
        <p:spPr>
          <a:xfrm>
            <a:off x="4553712" y="2953512"/>
            <a:ext cx="3291840" cy="3081528"/>
          </a:xfrm>
          <a:prstGeom prst="rect">
            <a:avLst/>
          </a:prstGeom>
          <a:noFill/>
        </p:spPr>
        <p:txBody>
          <a:bodyPr wrap="square" anchor="t"/>
          <a:lstStyle/>
          <a:p>
            <a:pPr algn="l"/>
            <a:r>
              <a:rPr sz="1300" b="0">
                <a:solidFill>
                  <a:srgbClr val="3D4A57"/>
                </a:solidFill>
                <a:latin typeface="Calibri"/>
              </a:rPr>
              <a:t>Heart/lungs normal. No murmur. Abdomen mildly enlarged. Ambulatory ×4. No oral, ear, or neuro deficits. Dehydrated. Generalized small stature. The PE did not prove a foreign body.</a:t>
            </a:r>
          </a:p>
        </p:txBody>
      </p:sp>
      <p:sp>
        <p:nvSpPr>
          <p:cNvPr id="18" name="Rounded Rectangle 17"/>
          <p:cNvSpPr/>
          <p:nvPr/>
        </p:nvSpPr>
        <p:spPr>
          <a:xfrm>
            <a:off x="8138160" y="2514600"/>
            <a:ext cx="356616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514600"/>
            <a:ext cx="91440" cy="3611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624328"/>
            <a:ext cx="3200400" cy="347472"/>
          </a:xfrm>
          <a:prstGeom prst="rect">
            <a:avLst/>
          </a:prstGeom>
          <a:noFill/>
        </p:spPr>
        <p:txBody>
          <a:bodyPr wrap="square" anchor="t"/>
          <a:lstStyle/>
          <a:p>
            <a:pPr algn="l"/>
            <a:r>
              <a:rPr sz="1500" b="1">
                <a:solidFill>
                  <a:srgbClr val="0B2C4A"/>
                </a:solidFill>
                <a:latin typeface="Calibri"/>
              </a:rPr>
              <a:t>Do not skip labs/imaging</a:t>
            </a:r>
          </a:p>
        </p:txBody>
      </p:sp>
      <p:sp>
        <p:nvSpPr>
          <p:cNvPr id="21" name="TextBox 20"/>
          <p:cNvSpPr txBox="1"/>
          <p:nvPr/>
        </p:nvSpPr>
        <p:spPr>
          <a:xfrm>
            <a:off x="8394192" y="2953512"/>
            <a:ext cx="3200400" cy="3081528"/>
          </a:xfrm>
          <a:prstGeom prst="rect">
            <a:avLst/>
          </a:prstGeom>
          <a:noFill/>
        </p:spPr>
        <p:txBody>
          <a:bodyPr wrap="square" anchor="t"/>
          <a:lstStyle/>
          <a:p>
            <a:pPr algn="l"/>
            <a:r>
              <a:rPr sz="1300" b="0">
                <a:solidFill>
                  <a:srgbClr val="3D4A57"/>
                </a:solidFill>
                <a:latin typeface="Calibri"/>
              </a:rPr>
              <a:t>POCUS: abnormal right kidney, left kidney enlarged, bladder intact. 3-view abdomen STAT. CBC/chem. This is why ‘booked for surgery’ is not an ASA.</a:t>
            </a:r>
          </a:p>
        </p:txBody>
      </p:sp>
      <p:sp>
        <p:nvSpPr>
          <p:cNvPr id="22" name="Rectangle 2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4" name="TextBox 2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15  /  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UNCOMPENSATED  ·  CONSTANT THREAT  ·  ACUTE  ·  NOT A SURGICAL ABDOMEN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Why MoMo is ASA IV-E — and why we did not cut</a:t>
            </a:r>
          </a:p>
        </p:txBody>
      </p:sp>
      <p:sp>
        <p:nvSpPr>
          <p:cNvPr id="8" name="Rounded Rectangle 7"/>
          <p:cNvSpPr/>
          <p:nvPr/>
        </p:nvSpPr>
        <p:spPr>
          <a:xfrm>
            <a:off x="411480" y="1078992"/>
            <a:ext cx="370332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234440"/>
            <a:ext cx="3383280" cy="411480"/>
          </a:xfrm>
          <a:prstGeom prst="rect">
            <a:avLst/>
          </a:prstGeom>
          <a:noFill/>
        </p:spPr>
        <p:txBody>
          <a:bodyPr wrap="square" anchor="t"/>
          <a:lstStyle/>
          <a:p>
            <a:pPr algn="l"/>
            <a:r>
              <a:rPr sz="1800" b="1">
                <a:solidFill>
                  <a:srgbClr val="8B2E2E"/>
                </a:solidFill>
                <a:latin typeface="Calibri"/>
              </a:rPr>
              <a:t>ASA IV-E</a:t>
            </a:r>
          </a:p>
        </p:txBody>
      </p:sp>
      <p:sp>
        <p:nvSpPr>
          <p:cNvPr id="10" name="TextBox 9"/>
          <p:cNvSpPr txBox="1"/>
          <p:nvPr/>
        </p:nvSpPr>
        <p:spPr>
          <a:xfrm>
            <a:off x="594360" y="1691640"/>
            <a:ext cx="3383280" cy="4114800"/>
          </a:xfrm>
          <a:prstGeom prst="rect">
            <a:avLst/>
          </a:prstGeom>
          <a:noFill/>
        </p:spPr>
        <p:txBody>
          <a:bodyPr wrap="square" anchor="t"/>
          <a:lstStyle/>
          <a:p>
            <a:pPr algn="l"/>
            <a:r>
              <a:rPr sz="1400" b="0">
                <a:solidFill>
                  <a:srgbClr val="1C1C1C"/>
                </a:solidFill>
                <a:latin typeface="Calibri"/>
              </a:rPr>
              <a:t>III = compensated disease you can still anesthetize with a plan.
IV = severe systemic disease that is a constant threat — here, rising azotemia and a non-functional kidney.
She was QAR and walking, so not ASA V (moribund).
E = acute presentation.
A cancelled exploratory is a successful preoperative evaluation.</a:t>
            </a:r>
          </a:p>
        </p:txBody>
      </p:sp>
      <p:sp>
        <p:nvSpPr>
          <p:cNvPr id="11" name="Rounded Rectangle 10"/>
          <p:cNvSpPr/>
          <p:nvPr/>
        </p:nvSpPr>
        <p:spPr>
          <a:xfrm>
            <a:off x="4297680" y="1078992"/>
            <a:ext cx="74066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1234440"/>
            <a:ext cx="6949440" cy="365760"/>
          </a:xfrm>
          <a:prstGeom prst="rect">
            <a:avLst/>
          </a:prstGeom>
          <a:noFill/>
        </p:spPr>
        <p:txBody>
          <a:bodyPr wrap="square" anchor="t"/>
          <a:lstStyle/>
          <a:p>
            <a:pPr algn="l"/>
            <a:r>
              <a:rPr sz="1600" b="1">
                <a:solidFill>
                  <a:srgbClr val="0B2C4A"/>
                </a:solidFill>
                <a:latin typeface="Calibri"/>
              </a:rPr>
              <a:t>Work-up that cancelled surgery (this patient)</a:t>
            </a:r>
          </a:p>
        </p:txBody>
      </p:sp>
      <p:sp>
        <p:nvSpPr>
          <p:cNvPr id="13" name="TextBox 12"/>
          <p:cNvSpPr txBox="1"/>
          <p:nvPr/>
        </p:nvSpPr>
        <p:spPr>
          <a:xfrm>
            <a:off x="4480560" y="1645920"/>
            <a:ext cx="6949440" cy="4206240"/>
          </a:xfrm>
          <a:prstGeom prst="rect">
            <a:avLst/>
          </a:prstGeom>
          <a:noFill/>
        </p:spPr>
        <p:txBody>
          <a:bodyPr wrap="square">
            <a:spAutoFit/>
          </a:bodyPr>
          <a:lstStyle/>
          <a:p>
            <a:pPr algn="l">
              <a:spcAft>
                <a:spcPts val="500"/>
              </a:spcAft>
            </a:pPr>
            <a:r>
              <a:rPr sz="1300" b="0">
                <a:solidFill>
                  <a:srgbClr val="1C1C1C"/>
                </a:solidFill>
                <a:latin typeface="Calibri"/>
              </a:rPr>
              <a:t>▸  Admit: IVC, IVF 1.5× maintenance, Cerenia, ondansetron, Unasyn, aluminum hydroxide if eating.</a:t>
            </a:r>
          </a:p>
          <a:p>
            <a:pPr algn="l">
              <a:spcAft>
                <a:spcPts val="500"/>
              </a:spcAft>
            </a:pPr>
            <a:r>
              <a:rPr sz="1300" b="0">
                <a:solidFill>
                  <a:srgbClr val="1C1C1C"/>
                </a:solidFill>
                <a:latin typeface="Calibri"/>
              </a:rPr>
              <a:t>▸  CBC: WBC ~26K with neutrophilia. Platelets variable (74 then 123). Stress glucose.</a:t>
            </a:r>
          </a:p>
          <a:p>
            <a:pPr algn="l">
              <a:spcAft>
                <a:spcPts val="500"/>
              </a:spcAft>
            </a:pPr>
            <a:r>
              <a:rPr sz="1300" b="0">
                <a:solidFill>
                  <a:srgbClr val="1C1C1C"/>
                </a:solidFill>
                <a:latin typeface="Calibri"/>
              </a:rPr>
              <a:t>▸  Chem day 0: BUN 49.7, creatinine 3.0, phosphorus 8.0. USG 1.042 — concentrating, so this is not ‘end-stage CKD, ignore it.’</a:t>
            </a:r>
          </a:p>
          <a:p>
            <a:pPr algn="l">
              <a:spcAft>
                <a:spcPts val="500"/>
              </a:spcAft>
            </a:pPr>
            <a:r>
              <a:rPr sz="1300" b="0">
                <a:solidFill>
                  <a:srgbClr val="1C1C1C"/>
                </a:solidFill>
                <a:latin typeface="Calibri"/>
              </a:rPr>
              <a:t>▸  Repeat on fluids: BUN 100, creatinine 4.71. Do not ignore a rising value you ordered.</a:t>
            </a:r>
          </a:p>
          <a:p>
            <a:pPr algn="l">
              <a:spcAft>
                <a:spcPts val="500"/>
              </a:spcAft>
            </a:pPr>
            <a:r>
              <a:rPr sz="1300" b="0">
                <a:solidFill>
                  <a:srgbClr val="1C1C1C"/>
                </a:solidFill>
                <a:latin typeface="Calibri"/>
              </a:rPr>
              <a:t>▸  AUS: right kidney severely fluid-filled and non-functional; left kidney reduced corticomedullary architecture. Not an FNA target on the right.</a:t>
            </a:r>
          </a:p>
          <a:p>
            <a:pPr algn="l">
              <a:spcAft>
                <a:spcPts val="500"/>
              </a:spcAft>
            </a:pPr>
            <a:r>
              <a:rPr sz="1300" b="0">
                <a:solidFill>
                  <a:srgbClr val="1C1C1C"/>
                </a:solidFill>
                <a:latin typeface="Calibri"/>
              </a:rPr>
              <a:t>▸  Options: IM referral (FNA left kidney) vs palliative vs euthanasia. Prognosis guarded to poor. Owner elected humane euthanasia.</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16  /  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REQUEST THE MINIMUM TESTS THIS PATIENT AND THIS PROCEDURE ACTUALLY NEED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Preoperative diagnostics — indicated, not automatic</a:t>
            </a:r>
          </a:p>
        </p:txBody>
      </p:sp>
      <p:sp>
        <p:nvSpPr>
          <p:cNvPr id="8" name="Rounded Rectangle 7"/>
          <p:cNvSpPr/>
          <p:nvPr/>
        </p:nvSpPr>
        <p:spPr>
          <a:xfrm>
            <a:off x="457200" y="1097280"/>
            <a:ext cx="557784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4688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47472"/>
          </a:xfrm>
          <a:prstGeom prst="rect">
            <a:avLst/>
          </a:prstGeom>
          <a:noFill/>
        </p:spPr>
        <p:txBody>
          <a:bodyPr wrap="square" anchor="t"/>
          <a:lstStyle/>
          <a:p>
            <a:pPr algn="l"/>
            <a:r>
              <a:rPr sz="1500" b="1">
                <a:solidFill>
                  <a:srgbClr val="0B2C4A"/>
                </a:solidFill>
                <a:latin typeface="Calibri"/>
              </a:rPr>
              <a:t>Young, healthy, elective (ASA I)</a:t>
            </a:r>
          </a:p>
        </p:txBody>
      </p:sp>
      <p:sp>
        <p:nvSpPr>
          <p:cNvPr id="11" name="TextBox 10"/>
          <p:cNvSpPr txBox="1"/>
          <p:nvPr/>
        </p:nvSpPr>
        <p:spPr>
          <a:xfrm>
            <a:off x="713232" y="1536192"/>
            <a:ext cx="5212080" cy="1938528"/>
          </a:xfrm>
          <a:prstGeom prst="rect">
            <a:avLst/>
          </a:prstGeom>
          <a:noFill/>
        </p:spPr>
        <p:txBody>
          <a:bodyPr wrap="square" anchor="t"/>
          <a:lstStyle/>
          <a:p>
            <a:pPr algn="l"/>
            <a:r>
              <a:rPr sz="1300" b="0">
                <a:solidFill>
                  <a:srgbClr val="3D4A57"/>
                </a:solidFill>
                <a:latin typeface="Calibri"/>
              </a:rPr>
              <a:t>PCV/TS ± blood glucose and Azo stick is a defensible minimum. Many hospitals still run a preanesthetic chemistry/CBC — know your hospital policy and be able to defend either choice.</a:t>
            </a:r>
          </a:p>
        </p:txBody>
      </p:sp>
      <p:sp>
        <p:nvSpPr>
          <p:cNvPr id="12" name="Rounded Rectangle 11"/>
          <p:cNvSpPr/>
          <p:nvPr/>
        </p:nvSpPr>
        <p:spPr>
          <a:xfrm>
            <a:off x="6217920" y="1097280"/>
            <a:ext cx="548640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47472"/>
          </a:xfrm>
          <a:prstGeom prst="rect">
            <a:avLst/>
          </a:prstGeom>
          <a:noFill/>
        </p:spPr>
        <p:txBody>
          <a:bodyPr wrap="square" anchor="t"/>
          <a:lstStyle/>
          <a:p>
            <a:pPr algn="l"/>
            <a:r>
              <a:rPr sz="1500" b="1">
                <a:solidFill>
                  <a:srgbClr val="0B2C4A"/>
                </a:solidFill>
                <a:latin typeface="Calibri"/>
              </a:rPr>
              <a:t>Age, disease, or invasive procedure</a:t>
            </a:r>
          </a:p>
        </p:txBody>
      </p:sp>
      <p:sp>
        <p:nvSpPr>
          <p:cNvPr id="15" name="TextBox 14"/>
          <p:cNvSpPr txBox="1"/>
          <p:nvPr/>
        </p:nvSpPr>
        <p:spPr>
          <a:xfrm>
            <a:off x="6473952" y="1536192"/>
            <a:ext cx="5120640" cy="1938528"/>
          </a:xfrm>
          <a:prstGeom prst="rect">
            <a:avLst/>
          </a:prstGeom>
          <a:noFill/>
        </p:spPr>
        <p:txBody>
          <a:bodyPr wrap="square" anchor="t"/>
          <a:lstStyle/>
          <a:p>
            <a:pPr algn="l"/>
            <a:r>
              <a:rPr sz="13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749039"/>
            <a:ext cx="11247120" cy="2560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886200"/>
            <a:ext cx="10789920" cy="365760"/>
          </a:xfrm>
          <a:prstGeom prst="rect">
            <a:avLst/>
          </a:prstGeom>
          <a:noFill/>
        </p:spPr>
        <p:txBody>
          <a:bodyPr wrap="square" anchor="t"/>
          <a:lstStyle/>
          <a:p>
            <a:pPr algn="l"/>
            <a:r>
              <a:rPr sz="1600" b="1">
                <a:solidFill>
                  <a:srgbClr val="0B2C4A"/>
                </a:solidFill>
                <a:latin typeface="Calibri"/>
              </a:rPr>
              <a:t>Do not order tests you will ignore — and do not ignore tests you ordered</a:t>
            </a:r>
          </a:p>
        </p:txBody>
      </p:sp>
      <p:sp>
        <p:nvSpPr>
          <p:cNvPr id="18" name="TextBox 17"/>
          <p:cNvSpPr txBox="1"/>
          <p:nvPr/>
        </p:nvSpPr>
        <p:spPr>
          <a:xfrm>
            <a:off x="685800" y="4343400"/>
            <a:ext cx="10789920" cy="1783080"/>
          </a:xfrm>
          <a:prstGeom prst="rect">
            <a:avLst/>
          </a:prstGeom>
          <a:noFill/>
        </p:spPr>
        <p:txBody>
          <a:bodyPr wrap="square">
            <a:spAutoFit/>
          </a:bodyPr>
          <a:lstStyle/>
          <a:p>
            <a:pPr algn="l">
              <a:spcAft>
                <a:spcPts val="700"/>
              </a:spcAft>
            </a:pPr>
            <a:r>
              <a:rPr sz="1500" b="0">
                <a:solidFill>
                  <a:srgbClr val="1C1C1C"/>
                </a:solidFill>
                <a:latin typeface="Calibri"/>
              </a:rPr>
              <a:t>▸  Anemia, hypoalbuminemia, azotemia, electrolyte storms, and thrombocytopenia change drugs, fluids, and whether you cut today.</a:t>
            </a:r>
          </a:p>
          <a:p>
            <a:pPr algn="l">
              <a:spcAft>
                <a:spcPts val="700"/>
              </a:spcAft>
            </a:pPr>
            <a:r>
              <a:rPr sz="1500" b="0">
                <a:solidFill>
                  <a:srgbClr val="1C1C1C"/>
                </a:solidFill>
                <a:latin typeface="Calibri"/>
              </a:rPr>
              <a:t>▸  For abdominal surgery: consider imaging so you are not ‘exploring’ a pyometra you could have diagnosed, or a mass that needed a different approach. MoMo: POCUS/AUS cancelled the cut.</a:t>
            </a:r>
          </a:p>
          <a:p>
            <a:pPr algn="l">
              <a:spcAft>
                <a:spcPts val="700"/>
              </a:spcAft>
            </a:pPr>
            <a:r>
              <a:rPr sz="1500" b="0">
                <a:solidFill>
                  <a:srgbClr val="1C1C1C"/>
                </a:solidFill>
                <a:latin typeface="Calibri"/>
              </a:rPr>
              <a:t>▸  Large animal: stall-side PCV/TS, fibrinogen, and physical exam often outweigh a full chemistry in the field — still document the risk conversation.</a:t>
            </a:r>
          </a:p>
        </p:txBody>
      </p:sp>
      <p:sp>
        <p:nvSpPr>
          <p:cNvPr id="19" name="Rectangle 1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1" name="TextBox 2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17  /  59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WORKING TEACHING TABLE  ·  THESE BANDS INFORM STATUS; THEY DO NOT ASSIGN IT BY THEMSELVES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CBC and chemistry → ASA Status</a:t>
            </a:r>
          </a:p>
        </p:txBody>
      </p:sp>
      <p:pic>
        <p:nvPicPr>
          <p:cNvPr id="8" name="Picture 7" descr="asa_cbc_chem.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18  /  59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PH, LACTATE, GASES, BICARBONATE, BASE EXCESS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EPOC / blood gas → ASA Status</a:t>
            </a:r>
          </a:p>
        </p:txBody>
      </p:sp>
      <p:pic>
        <p:nvPicPr>
          <p:cNvPr id="8" name="Picture 7" descr="asa_epoc.png"/>
          <p:cNvPicPr>
            <a:picLocks noChangeAspect="1"/>
          </p:cNvPicPr>
          <p:nvPr/>
        </p:nvPicPr>
        <p:blipFill>
          <a:blip r:embed="rId2"/>
          <a:stretch>
            <a:fillRect/>
          </a:stretch>
        </p:blipFill>
        <p:spPr>
          <a:xfrm>
            <a:off x="201168" y="960120"/>
            <a:ext cx="11795760" cy="5596128"/>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19  /  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LABS INFORM ASA. THE PHYSICAL EXAM STILL OWNS THE NUMBER.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Put both patients on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47472"/>
          </a:xfrm>
          <a:prstGeom prst="rect">
            <a:avLst/>
          </a:prstGeom>
          <a:noFill/>
        </p:spPr>
        <p:txBody>
          <a:bodyPr wrap="square" anchor="t"/>
          <a:lstStyle/>
          <a:p>
            <a:pPr algn="l"/>
            <a:r>
              <a:rPr sz="1500" b="1">
                <a:solidFill>
                  <a:srgbClr val="0B2C4A"/>
                </a:solidFill>
                <a:latin typeface="Calibri"/>
              </a:rPr>
              <a:t>Willie — labs look quieter than the dog</a:t>
            </a:r>
          </a:p>
        </p:txBody>
      </p:sp>
      <p:sp>
        <p:nvSpPr>
          <p:cNvPr id="11" name="TextBox 10"/>
          <p:cNvSpPr txBox="1"/>
          <p:nvPr/>
        </p:nvSpPr>
        <p:spPr>
          <a:xfrm>
            <a:off x="667512" y="1490472"/>
            <a:ext cx="5257800" cy="4544568"/>
          </a:xfrm>
          <a:prstGeom prst="rect">
            <a:avLst/>
          </a:prstGeom>
          <a:noFill/>
        </p:spPr>
        <p:txBody>
          <a:bodyPr wrap="square" anchor="t"/>
          <a:lstStyle/>
          <a:p>
            <a:pPr algn="l"/>
            <a:r>
              <a:rPr sz="1300" b="0">
                <a:solidFill>
                  <a:srgbClr val="3D4A57"/>
                </a:solidFill>
                <a:latin typeface="Calibri"/>
              </a:rPr>
              <a:t>CBC WNL (Status 1 band).
Phosphorus 6.0 — mild ↑ (Status 2).
Glucose 130 — stress (Status 2 band).
Kidneys, liver, electrolytes normal.
No EPOC indicated for this ear clean.
ASA Status 3-E anyway: acute vestibular disease, severe AS otitis, murmur. Do not down-stage him because the chemistry is pretty.</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47472"/>
          </a:xfrm>
          <a:prstGeom prst="rect">
            <a:avLst/>
          </a:prstGeom>
          <a:noFill/>
        </p:spPr>
        <p:txBody>
          <a:bodyPr wrap="square" anchor="t"/>
          <a:lstStyle/>
          <a:p>
            <a:pPr algn="l"/>
            <a:r>
              <a:rPr sz="1500" b="1">
                <a:solidFill>
                  <a:srgbClr val="0B2C4A"/>
                </a:solidFill>
                <a:latin typeface="Calibri"/>
              </a:rPr>
              <a:t>MoMo — labs and EPOC support Status 4-E</a:t>
            </a:r>
          </a:p>
        </p:txBody>
      </p:sp>
      <p:sp>
        <p:nvSpPr>
          <p:cNvPr id="15" name="TextBox 14"/>
          <p:cNvSpPr txBox="1"/>
          <p:nvPr/>
        </p:nvSpPr>
        <p:spPr>
          <a:xfrm>
            <a:off x="6428232" y="1490472"/>
            <a:ext cx="5257800" cy="4544568"/>
          </a:xfrm>
          <a:prstGeom prst="rect">
            <a:avLst/>
          </a:prstGeom>
          <a:noFill/>
        </p:spPr>
        <p:txBody>
          <a:bodyPr wrap="square" anchor="t"/>
          <a:lstStyle/>
          <a:p>
            <a:pPr algn="l"/>
            <a:r>
              <a:rPr sz="1300" b="0">
                <a:solidFill>
                  <a:srgbClr val="3D4A57"/>
                </a:solidFill>
                <a:latin typeface="Calibri"/>
              </a:rPr>
              <a:t>WBC ~26K with neutrophilia — Status 3–4 inflammatory band.
Platelets 74 K — Status 3.
Creatinine 3.0 → 4.71; BUN 49.7 → 100 — Status 4 (severe ↑ + uremia).
Phosphorus 8.0 — Status 3–4.
EPOC pH 7.255 (Status 3); BE −7.4 (Status 2); lactate 2.05 (Status 1).
Venous pO2 33 is not arterial hypoxemia.
Whole patient = Status 4-E.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20  /  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ELECTIVE SURGERY IS CANCELLED MORE OFTEN BY GOOD JUDGMENT THAN BY BAD LUCK</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Stabilize before you sterilize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6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5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6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500" b="0">
                <a:solidFill>
                  <a:srgbClr val="1C1C1C"/>
                </a:solidFill>
                <a:latin typeface="Calibri"/>
              </a:rPr>
              <a:t>Pyoderma over the site
Anestrus vs. heat if policy
Unstable endocrine disease
Active URI in cats
Recent live vaccines (clinic policy)
Client cannot confine / medicate
No fasting in a full-stomach elective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6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5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21  /  59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KNOW BOTH: FOSSUM/TRADITIONAL LANGUAGE AND AAHA-STYLE SHORTER FASTS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Fasting — traditional teaching vs. current practice</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Working guidance (small animal)</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700"/>
              </a:spcAft>
            </a:pPr>
            <a:r>
              <a:rPr sz="1400" b="0">
                <a:solidFill>
                  <a:srgbClr val="1C1C1C"/>
                </a:solidFill>
                <a:latin typeface="Calibri"/>
              </a:rPr>
              <a:t>▸  Healthy adult dog/cat: food 4–6 h; water until premedication (AAHA-aligned).</a:t>
            </a:r>
          </a:p>
          <a:p>
            <a:pPr algn="l">
              <a:spcAft>
                <a:spcPts val="700"/>
              </a:spcAft>
            </a:pPr>
            <a:r>
              <a:rPr sz="1400" b="0">
                <a:solidFill>
                  <a:srgbClr val="1C1C1C"/>
                </a:solidFill>
                <a:latin typeface="Calibri"/>
              </a:rPr>
              <a:t>▸  Traditional/Fossum-era: often 8–12 h NPO — still appears on some exams; be able to discuss aspiration vs. hypoglycemia.</a:t>
            </a:r>
          </a:p>
          <a:p>
            <a:pPr algn="l">
              <a:spcAft>
                <a:spcPts val="700"/>
              </a:spcAft>
            </a:pPr>
            <a:r>
              <a:rPr sz="1400" b="0">
                <a:solidFill>
                  <a:srgbClr val="1C1C1C"/>
                </a:solidFill>
                <a:latin typeface="Calibri"/>
              </a:rPr>
              <a:t>▸  Neonates/pediatrics: much shorter fast; offer a small meal 1–2 h prior as directed.</a:t>
            </a:r>
          </a:p>
          <a:p>
            <a:pPr algn="l">
              <a:spcAft>
                <a:spcPts val="700"/>
              </a:spcAft>
            </a:pPr>
            <a:r>
              <a:rPr sz="1400" b="0">
                <a:solidFill>
                  <a:srgbClr val="1C1C1C"/>
                </a:solidFill>
                <a:latin typeface="Calibri"/>
              </a:rPr>
              <a:t>▸  Brachycephalics: shorter fast, careful pre-oxygenation; regurgitation risk is high either way.</a:t>
            </a:r>
          </a:p>
          <a:p>
            <a:pPr algn="l">
              <a:spcAft>
                <a:spcPts val="700"/>
              </a:spcAft>
            </a:pPr>
            <a:r>
              <a:rPr sz="1400" b="0">
                <a:solidFill>
                  <a:srgbClr val="1C1C1C"/>
                </a:solidFill>
                <a:latin typeface="Calibri"/>
              </a:rPr>
              <a:t>▸  Ruminants: longer food withhold (often 12–24 h+) to reduce rumen fill/pressure; water 6–12 h per species/protocol.</a:t>
            </a:r>
          </a:p>
          <a:p>
            <a:pPr algn="l">
              <a:spcAft>
                <a:spcPts val="700"/>
              </a:spcAft>
            </a:pPr>
            <a:r>
              <a:rPr sz="1400" b="0">
                <a:solidFill>
                  <a:srgbClr val="1C1C1C"/>
                </a:solidFill>
                <a:latin typeface="Calibri"/>
              </a:rPr>
              <a:t>▸  Horses: typically 8–12 h grain/hay protocols vary — follow hospital/field SOP.</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Why it matters</a:t>
            </a:r>
          </a:p>
        </p:txBody>
      </p:sp>
      <p:sp>
        <p:nvSpPr>
          <p:cNvPr id="13" name="TextBox 12"/>
          <p:cNvSpPr txBox="1"/>
          <p:nvPr/>
        </p:nvSpPr>
        <p:spPr>
          <a:xfrm>
            <a:off x="6492240" y="1783080"/>
            <a:ext cx="5029200" cy="4023360"/>
          </a:xfrm>
          <a:prstGeom prst="rect">
            <a:avLst/>
          </a:prstGeom>
          <a:noFill/>
        </p:spPr>
        <p:txBody>
          <a:bodyPr wrap="square">
            <a:spAutoFit/>
          </a:bodyPr>
          <a:lstStyle/>
          <a:p>
            <a:pPr algn="l">
              <a:spcAft>
                <a:spcPts val="800"/>
              </a:spcAft>
            </a:pPr>
            <a:r>
              <a:rPr sz="1400" b="0">
                <a:solidFill>
                  <a:srgbClr val="1C1C1C"/>
                </a:solidFill>
                <a:latin typeface="Calibri"/>
              </a:rPr>
              <a:t>▸  Goal: less gastric volume and acidity without starving a small patient into hypoglycemia.</a:t>
            </a:r>
          </a:p>
          <a:p>
            <a:pPr algn="l">
              <a:spcAft>
                <a:spcPts val="800"/>
              </a:spcAft>
            </a:pPr>
            <a:r>
              <a:rPr sz="1400" b="0">
                <a:solidFill>
                  <a:srgbClr val="1C1C1C"/>
                </a:solidFill>
                <a:latin typeface="Calibri"/>
              </a:rPr>
              <a:t>▸  A full stomach + recumbency + opioids = regurgitation and aspiration.</a:t>
            </a:r>
          </a:p>
          <a:p>
            <a:pPr algn="l">
              <a:spcAft>
                <a:spcPts val="800"/>
              </a:spcAft>
            </a:pPr>
            <a:r>
              <a:rPr sz="1400" b="0">
                <a:solidFill>
                  <a:srgbClr val="1C1C1C"/>
                </a:solidFill>
                <a:latin typeface="Calibri"/>
              </a:rPr>
              <a:t>▸  Prolonged fasting increases reflux in some dogs and stress in cats.</a:t>
            </a:r>
          </a:p>
          <a:p>
            <a:pPr algn="l">
              <a:spcAft>
                <a:spcPts val="800"/>
              </a:spcAft>
            </a:pPr>
            <a:r>
              <a:rPr sz="1400" b="0">
                <a:solidFill>
                  <a:srgbClr val="1C1C1C"/>
                </a:solidFill>
                <a:latin typeface="Calibri"/>
              </a:rPr>
              <a:t>▸  Always ask what was eaten this morning. Clients feed ‘just a biscuit.’</a:t>
            </a:r>
          </a:p>
          <a:p>
            <a:pPr algn="l">
              <a:spcAft>
                <a:spcPts val="800"/>
              </a:spcAft>
            </a:pPr>
            <a:r>
              <a:rPr sz="1400" b="0">
                <a:solidFill>
                  <a:srgbClr val="1C1C1C"/>
                </a:solidFill>
                <a:latin typeface="Calibri"/>
              </a:rPr>
              <a:t>▸  Diabetics: coordinate insulin and a small meal with anesthesia — do not improvise.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22  /  59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DID NOT SAY IT, YOU DID NOT CONSENT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Informed consent is a surgical skill</a:t>
            </a:r>
          </a:p>
        </p:txBody>
      </p:sp>
      <p:sp>
        <p:nvSpPr>
          <p:cNvPr id="8" name="TextBox 7"/>
          <p:cNvSpPr txBox="1"/>
          <p:nvPr/>
        </p:nvSpPr>
        <p:spPr>
          <a:xfrm>
            <a:off x="457200" y="1097280"/>
            <a:ext cx="6858000" cy="5029200"/>
          </a:xfrm>
          <a:prstGeom prst="rect">
            <a:avLst/>
          </a:prstGeom>
          <a:noFill/>
        </p:spPr>
        <p:txBody>
          <a:bodyPr wrap="square">
            <a:spAutoFit/>
          </a:bodyPr>
          <a:lstStyle/>
          <a:p>
            <a:pPr algn="l">
              <a:spcAft>
                <a:spcPts val="900"/>
              </a:spcAft>
            </a:pPr>
            <a:r>
              <a:rPr sz="1600" b="0">
                <a:solidFill>
                  <a:srgbClr val="1C1C1C"/>
                </a:solidFill>
                <a:latin typeface="Calibri"/>
              </a:rPr>
              <a:t>▸  Procedure name in plain language, and the reason.</a:t>
            </a:r>
          </a:p>
          <a:p>
            <a:pPr algn="l">
              <a:spcAft>
                <a:spcPts val="900"/>
              </a:spcAft>
            </a:pPr>
            <a:r>
              <a:rPr sz="1600" b="0">
                <a:solidFill>
                  <a:srgbClr val="1C1C1C"/>
                </a:solidFill>
                <a:latin typeface="Calibri"/>
              </a:rPr>
              <a:t>▸  Benefits, alternatives (including no surgery), and what happens if we wait.</a:t>
            </a:r>
          </a:p>
          <a:p>
            <a:pPr algn="l">
              <a:spcAft>
                <a:spcPts val="900"/>
              </a:spcAft>
            </a:pPr>
            <a:r>
              <a:rPr sz="1600" b="0">
                <a:solidFill>
                  <a:srgbClr val="1C1C1C"/>
                </a:solidFill>
                <a:latin typeface="Calibri"/>
              </a:rPr>
              <a:t>▸  Material risks: anesthesia death (rare but real), hemorrhage, infection, dehiscence, incomplete excision, recurrence, incontinence (OHE myth vs. data — be honest).</a:t>
            </a:r>
          </a:p>
          <a:p>
            <a:pPr algn="l">
              <a:spcAft>
                <a:spcPts val="900"/>
              </a:spcAft>
            </a:pPr>
            <a:r>
              <a:rPr sz="1600" b="0">
                <a:solidFill>
                  <a:srgbClr val="1C1C1C"/>
                </a:solidFill>
                <a:latin typeface="Calibri"/>
              </a:rPr>
              <a:t>▸  Estimate: professional fees vs. supplies; what is not included (histopathology, overnight, complications).</a:t>
            </a:r>
          </a:p>
          <a:p>
            <a:pPr algn="l">
              <a:spcAft>
                <a:spcPts val="900"/>
              </a:spcAft>
            </a:pPr>
            <a:r>
              <a:rPr sz="1600" b="0">
                <a:solidFill>
                  <a:srgbClr val="1C1C1C"/>
                </a:solidFill>
                <a:latin typeface="Calibri"/>
              </a:rPr>
              <a:t>▸  Resuscitation code / DNR. Do this before induction, not in recovery.</a:t>
            </a:r>
          </a:p>
          <a:p>
            <a:pPr algn="l">
              <a:spcAft>
                <a:spcPts val="900"/>
              </a:spcAft>
            </a:pPr>
            <a:r>
              <a:rPr sz="1600" b="0">
                <a:solidFill>
                  <a:srgbClr val="1C1C1C"/>
                </a:solidFill>
                <a:latin typeface="Calibri"/>
              </a:rPr>
              <a:t>▸  Who will call whom, and when. Write the client’s phone number on the board.</a:t>
            </a:r>
          </a:p>
        </p:txBody>
      </p:sp>
      <p:sp>
        <p:nvSpPr>
          <p:cNvPr id="9" name="Rounded Rectangle 8"/>
          <p:cNvSpPr/>
          <p:nvPr/>
        </p:nvSpPr>
        <p:spPr>
          <a:xfrm>
            <a:off x="7498079" y="1097280"/>
            <a:ext cx="420624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79" y="1325880"/>
            <a:ext cx="3794760" cy="457200"/>
          </a:xfrm>
          <a:prstGeom prst="rect">
            <a:avLst/>
          </a:prstGeom>
          <a:noFill/>
        </p:spPr>
        <p:txBody>
          <a:bodyPr wrap="square" anchor="t"/>
          <a:lstStyle/>
          <a:p>
            <a:pPr algn="l"/>
            <a:r>
              <a:rPr sz="1600" b="1">
                <a:solidFill>
                  <a:srgbClr val="C5A35A"/>
                </a:solidFill>
                <a:latin typeface="Calibri"/>
              </a:rPr>
              <a:t>Client in the lobby</a:t>
            </a:r>
          </a:p>
        </p:txBody>
      </p:sp>
      <p:sp>
        <p:nvSpPr>
          <p:cNvPr id="11" name="TextBox 10"/>
          <p:cNvSpPr txBox="1"/>
          <p:nvPr/>
        </p:nvSpPr>
        <p:spPr>
          <a:xfrm>
            <a:off x="7726679" y="1920240"/>
            <a:ext cx="3794760" cy="3840480"/>
          </a:xfrm>
          <a:prstGeom prst="rect">
            <a:avLst/>
          </a:prstGeom>
          <a:noFill/>
        </p:spPr>
        <p:txBody>
          <a:bodyPr wrap="square" anchor="t"/>
          <a:lstStyle/>
          <a:p>
            <a:pPr algn="l"/>
            <a:r>
              <a:rPr sz="1500" b="0">
                <a:solidFill>
                  <a:srgbClr val="FFFFFF"/>
                </a:solidFill>
                <a:latin typeface="Calibri"/>
              </a:rPr>
              <a:t>Assume every OHE is a client-owned animal going home after recovery in your hospital.
Operate, document, and speak as if that client is waiting in reception — because they are.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23  /  59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PAIN IS NOT A POSTOPERATIVE SURPRISE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Checklist and the analgesia plan belong in preop</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Pre-incision checklist (WHO-adapted)</a:t>
            </a:r>
          </a:p>
        </p:txBody>
      </p:sp>
      <p:sp>
        <p:nvSpPr>
          <p:cNvPr id="10" name="TextBox 9"/>
          <p:cNvSpPr txBox="1"/>
          <p:nvPr/>
        </p:nvSpPr>
        <p:spPr>
          <a:xfrm>
            <a:off x="640080" y="1737360"/>
            <a:ext cx="5212080" cy="4114800"/>
          </a:xfrm>
          <a:prstGeom prst="rect">
            <a:avLst/>
          </a:prstGeom>
          <a:noFill/>
        </p:spPr>
        <p:txBody>
          <a:bodyPr wrap="square">
            <a:spAutoFit/>
          </a:bodyPr>
          <a:lstStyle/>
          <a:p>
            <a:pPr algn="l">
              <a:spcAft>
                <a:spcPts val="600"/>
              </a:spcAft>
            </a:pPr>
            <a:r>
              <a:rPr sz="1400" b="0">
                <a:solidFill>
                  <a:srgbClr val="1C1C1C"/>
                </a:solidFill>
                <a:latin typeface="Calibri"/>
              </a:rPr>
              <a:t>▸  Identity, procedure, site/side confirmed.</a:t>
            </a:r>
          </a:p>
          <a:p>
            <a:pPr algn="l">
              <a:spcAft>
                <a:spcPts val="600"/>
              </a:spcAft>
            </a:pPr>
            <a:r>
              <a:rPr sz="1400" b="0">
                <a:solidFill>
                  <a:srgbClr val="1C1C1C"/>
                </a:solidFill>
                <a:latin typeface="Calibri"/>
              </a:rPr>
              <a:t>▸  Consent, estimate, DNR documented.</a:t>
            </a:r>
          </a:p>
          <a:p>
            <a:pPr algn="l">
              <a:spcAft>
                <a:spcPts val="600"/>
              </a:spcAft>
            </a:pPr>
            <a:r>
              <a:rPr sz="1400" b="0">
                <a:solidFill>
                  <a:srgbClr val="1C1C1C"/>
                </a:solidFill>
                <a:latin typeface="Calibri"/>
              </a:rPr>
              <a:t>▸  ASA, allergies, last meal.</a:t>
            </a:r>
          </a:p>
          <a:p>
            <a:pPr algn="l">
              <a:spcAft>
                <a:spcPts val="600"/>
              </a:spcAft>
            </a:pPr>
            <a:r>
              <a:rPr sz="1400" b="0">
                <a:solidFill>
                  <a:srgbClr val="1C1C1C"/>
                </a:solidFill>
                <a:latin typeface="Calibri"/>
              </a:rPr>
              <a:t>▸  IV catheter patent; fluids running.</a:t>
            </a:r>
          </a:p>
          <a:p>
            <a:pPr algn="l">
              <a:spcAft>
                <a:spcPts val="600"/>
              </a:spcAft>
            </a:pPr>
            <a:r>
              <a:rPr sz="1400" b="0">
                <a:solidFill>
                  <a:srgbClr val="1C1C1C"/>
                </a:solidFill>
                <a:latin typeface="Calibri"/>
              </a:rPr>
              <a:t>▸  Airway secured; monitoring on.</a:t>
            </a:r>
          </a:p>
          <a:p>
            <a:pPr algn="l">
              <a:spcAft>
                <a:spcPts val="600"/>
              </a:spcAft>
            </a:pPr>
            <a:r>
              <a:rPr sz="1400" b="0">
                <a:solidFill>
                  <a:srgbClr val="1C1C1C"/>
                </a:solidFill>
                <a:latin typeface="Calibri"/>
              </a:rPr>
              <a:t>▸  Antibiotics given (if indicated) 30–60 min before incision.</a:t>
            </a:r>
          </a:p>
          <a:p>
            <a:pPr algn="l">
              <a:spcAft>
                <a:spcPts val="600"/>
              </a:spcAft>
            </a:pPr>
            <a:r>
              <a:rPr sz="1400" b="0">
                <a:solidFill>
                  <a:srgbClr val="1C1C1C"/>
                </a:solidFill>
                <a:latin typeface="Calibri"/>
              </a:rPr>
              <a:t>▸  Local block planned (incisional, testicular, TAP, splash).</a:t>
            </a:r>
          </a:p>
          <a:p>
            <a:pPr algn="l">
              <a:spcAft>
                <a:spcPts val="600"/>
              </a:spcAft>
            </a:pPr>
            <a:r>
              <a:rPr sz="1400" b="0">
                <a:solidFill>
                  <a:srgbClr val="1C1C1C"/>
                </a:solidFill>
                <a:latin typeface="Calibri"/>
              </a:rPr>
              <a:t>▸  Instruments, suture, extra gloves, cautery, suction.</a:t>
            </a:r>
          </a:p>
          <a:p>
            <a:pPr algn="l">
              <a:spcAft>
                <a:spcPts val="600"/>
              </a:spcAft>
            </a:pPr>
            <a:r>
              <a:rPr sz="1400" b="0">
                <a:solidFill>
                  <a:srgbClr val="1C1C1C"/>
                </a:solidFill>
                <a:latin typeface="Calibri"/>
              </a:rPr>
              <a:t>▸  Image / implants in the room if needed.</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Multimodal analgesia — plan it now</a:t>
            </a:r>
          </a:p>
        </p:txBody>
      </p:sp>
      <p:sp>
        <p:nvSpPr>
          <p:cNvPr id="13" name="TextBox 12"/>
          <p:cNvSpPr txBox="1"/>
          <p:nvPr/>
        </p:nvSpPr>
        <p:spPr>
          <a:xfrm>
            <a:off x="6446520" y="1737360"/>
            <a:ext cx="5074920" cy="4114800"/>
          </a:xfrm>
          <a:prstGeom prst="rect">
            <a:avLst/>
          </a:prstGeom>
          <a:noFill/>
        </p:spPr>
        <p:txBody>
          <a:bodyPr wrap="square">
            <a:spAutoFit/>
          </a:bodyPr>
          <a:lstStyle/>
          <a:p>
            <a:pPr algn="l">
              <a:spcAft>
                <a:spcPts val="700"/>
              </a:spcAft>
            </a:pPr>
            <a:r>
              <a:rPr sz="1400" b="0">
                <a:solidFill>
                  <a:srgbClr val="1C1C1C"/>
                </a:solidFill>
                <a:latin typeface="Calibri"/>
              </a:rPr>
              <a:t>▸  Opioid (pure µ for most laparotomies) as part of premed or induction.</a:t>
            </a:r>
          </a:p>
          <a:p>
            <a:pPr algn="l">
              <a:spcAft>
                <a:spcPts val="700"/>
              </a:spcAft>
            </a:pPr>
            <a:r>
              <a:rPr sz="1400" b="0">
                <a:solidFill>
                  <a:srgbClr val="1C1C1C"/>
                </a:solidFill>
                <a:latin typeface="Calibri"/>
              </a:rPr>
              <a:t>▸  NSAID if perfusion and kidneys/GI allow — often at recovery, not in hypotensive shock.</a:t>
            </a:r>
          </a:p>
          <a:p>
            <a:pPr algn="l">
              <a:spcAft>
                <a:spcPts val="700"/>
              </a:spcAft>
            </a:pPr>
            <a:r>
              <a:rPr sz="1400" b="0">
                <a:solidFill>
                  <a:srgbClr val="1C1C1C"/>
                </a:solidFill>
                <a:latin typeface="Calibri"/>
              </a:rPr>
              <a:t>▸  Local/regional: the cheapest, safest MAC-sparing tool you have.</a:t>
            </a:r>
          </a:p>
          <a:p>
            <a:pPr algn="l">
              <a:spcAft>
                <a:spcPts val="700"/>
              </a:spcAft>
            </a:pPr>
            <a:r>
              <a:rPr sz="1400" b="0">
                <a:solidFill>
                  <a:srgbClr val="1C1C1C"/>
                </a:solidFill>
                <a:latin typeface="Calibri"/>
              </a:rPr>
              <a:t>▸  Adjuncts: ketamine CRI, dexmedetomidine CRI, gabapentin, acetaminophen (dog only).</a:t>
            </a:r>
          </a:p>
          <a:p>
            <a:pPr algn="l">
              <a:spcAft>
                <a:spcPts val="700"/>
              </a:spcAft>
            </a:pPr>
            <a:r>
              <a:rPr sz="1400" b="0">
                <a:solidFill>
                  <a:srgbClr val="1C1C1C"/>
                </a:solidFill>
                <a:latin typeface="Calibri"/>
              </a:rPr>
              <a:t>▸  Cats: no acetaminophen; careful NSAID choice and dose.</a:t>
            </a:r>
          </a:p>
          <a:p>
            <a:pPr algn="l">
              <a:spcAft>
                <a:spcPts val="700"/>
              </a:spcAft>
            </a:pPr>
            <a:r>
              <a:rPr sz="1400" b="0">
                <a:solidFill>
                  <a:srgbClr val="1C1C1C"/>
                </a:solidFill>
                <a:latin typeface="Calibri"/>
              </a:rPr>
              <a:t>▸  You must be able to discuss recovery and postoperative pain management before the dog leaves the table.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24  /  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HERE BEFORE INDUCTION, YOU ARE NOT READY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must be in the room</a:t>
            </a:r>
          </a:p>
        </p:txBody>
      </p:sp>
      <p:pic>
        <p:nvPicPr>
          <p:cNvPr id="8" name="Picture 7" descr="what_you_need.png"/>
          <p:cNvPicPr>
            <a:picLocks noChangeAspect="1"/>
          </p:cNvPicPr>
          <p:nvPr/>
        </p:nvPicPr>
        <p:blipFill>
          <a:blip r:embed="rId2"/>
          <a:stretch>
            <a:fillRect/>
          </a:stretch>
        </p:blipFill>
        <p:spPr>
          <a:xfrm>
            <a:off x="320040" y="1024128"/>
            <a:ext cx="11521440" cy="553212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25  /  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FILL IT BEFORE THE FIRST DRUG  ·  THIS IS A TEACHING FORM, NOT A HOSPITAL ORIGINAL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Anesthesia / sedation record — Willie</a:t>
            </a:r>
          </a:p>
        </p:txBody>
      </p:sp>
      <p:pic>
        <p:nvPicPr>
          <p:cNvPr id="8" name="Picture 7" descr="anesthesia_record_willie.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26  /  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 COMPLETED PREOPERATIVE EVALUATION CAN END WITH DO NOT INDUCE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same record — MoMo</a:t>
            </a:r>
          </a:p>
        </p:txBody>
      </p:sp>
      <p:pic>
        <p:nvPicPr>
          <p:cNvPr id="8" name="Picture 7" descr="anesthesia_record_momo.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27  /  59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AAHA/AAFP 2022</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antimicrobial prophylaxis — stewardship, not ritual</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411480"/>
          </a:xfrm>
          <a:prstGeom prst="rect">
            <a:avLst/>
          </a:prstGeom>
          <a:noFill/>
        </p:spPr>
        <p:txBody>
          <a:bodyPr wrap="square" anchor="t"/>
          <a:lstStyle/>
          <a:p>
            <a:pPr algn="l"/>
            <a:r>
              <a:rPr sz="1800" b="1">
                <a:solidFill>
                  <a:srgbClr val="2E6B4F"/>
                </a:solidFill>
                <a:latin typeface="Calibri"/>
              </a:rPr>
              <a:t>Usually NO prophylaxis</a:t>
            </a:r>
          </a:p>
        </p:txBody>
      </p:sp>
      <p:sp>
        <p:nvSpPr>
          <p:cNvPr id="10" name="TextBox 9"/>
          <p:cNvSpPr txBox="1"/>
          <p:nvPr/>
        </p:nvSpPr>
        <p:spPr>
          <a:xfrm>
            <a:off x="685800" y="1737360"/>
            <a:ext cx="5120640" cy="4023360"/>
          </a:xfrm>
          <a:prstGeom prst="rect">
            <a:avLst/>
          </a:prstGeom>
          <a:noFill/>
        </p:spPr>
        <p:txBody>
          <a:bodyPr wrap="square" anchor="t"/>
          <a:lstStyle/>
          <a:p>
            <a:pPr algn="l"/>
            <a:r>
              <a:rPr sz="1500" b="0">
                <a:solidFill>
                  <a:srgbClr val="1C1C1C"/>
                </a:solidFill>
                <a:latin typeface="Calibri"/>
              </a:rPr>
              <a:t>Clean procedures with excellent asepsis:
• Elective OHE / castration
• Most clean mass removals
• Many short soft-tissue surgeries
Antibiotics are not a substitute for sterile technique, Halsted, or a dry field.
Ongoing postoperative antibiotics are rarely required after an uncomplicated clean surgery.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411480"/>
          </a:xfrm>
          <a:prstGeom prst="rect">
            <a:avLst/>
          </a:prstGeom>
          <a:noFill/>
        </p:spPr>
        <p:txBody>
          <a:bodyPr wrap="square" anchor="t"/>
          <a:lstStyle/>
          <a:p>
            <a:pPr algn="l"/>
            <a:r>
              <a:rPr sz="1800" b="1">
                <a:solidFill>
                  <a:srgbClr val="8B2E2E"/>
                </a:solidFill>
                <a:latin typeface="Calibri"/>
              </a:rPr>
              <a:t>YES — timed IV, then stop</a:t>
            </a:r>
          </a:p>
        </p:txBody>
      </p:sp>
      <p:sp>
        <p:nvSpPr>
          <p:cNvPr id="13" name="TextBox 12"/>
          <p:cNvSpPr txBox="1"/>
          <p:nvPr/>
        </p:nvSpPr>
        <p:spPr>
          <a:xfrm>
            <a:off x="6492240" y="1737360"/>
            <a:ext cx="5029200" cy="4023360"/>
          </a:xfrm>
          <a:prstGeom prst="rect">
            <a:avLst/>
          </a:prstGeom>
          <a:noFill/>
        </p:spPr>
        <p:txBody>
          <a:bodyPr wrap="square" anchor="t"/>
          <a:lstStyle/>
          <a:p>
            <a:pPr algn="l"/>
            <a:r>
              <a:rPr sz="1500" b="0">
                <a:solidFill>
                  <a:srgbClr val="1C1C1C"/>
                </a:solidFill>
                <a:latin typeface="Calibri"/>
              </a:rPr>
              <a:t>Give 30–60 min before incision; redose (e.g. cefazolin ~q90 min) if surgery is long or blood loss is large.
Consider if:
• Clean-contaminated / contaminated / dirty
• Implant (orthopedic, mesh)
• Hollow viscus entry
• Prolonged surgery or known break in asepsis
• Patient immunocompromised
• Infection would be catastrophic (some neuro/implant cases — still think, don’t reflex)</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28  /  59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ANSWER BEFORE WE WALK TO THE PREP ROOM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preoperative</a:t>
            </a:r>
          </a:p>
        </p:txBody>
      </p:sp>
      <p:sp>
        <p:nvSpPr>
          <p:cNvPr id="8" name="Rounded Rectangle 7"/>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97280"/>
            <a:ext cx="640080" cy="1508760"/>
          </a:xfrm>
          <a:prstGeom prst="rect">
            <a:avLst/>
          </a:prstGeom>
          <a:noFill/>
        </p:spPr>
        <p:txBody>
          <a:bodyPr wrap="square" anchor="ctr"/>
          <a:lstStyle/>
          <a:p>
            <a:pPr algn="ctr"/>
            <a:r>
              <a:rPr sz="2200" b="1">
                <a:solidFill>
                  <a:srgbClr val="FFFFFF"/>
                </a:solidFill>
                <a:latin typeface="Calibri"/>
              </a:rPr>
              <a:t>1</a:t>
            </a:r>
          </a:p>
        </p:txBody>
      </p:sp>
      <p:sp>
        <p:nvSpPr>
          <p:cNvPr id="11" name="TextBox 10"/>
          <p:cNvSpPr txBox="1"/>
          <p:nvPr/>
        </p:nvSpPr>
        <p:spPr>
          <a:xfrm>
            <a:off x="1325880" y="1234440"/>
            <a:ext cx="10058400" cy="502920"/>
          </a:xfrm>
          <a:prstGeom prst="rect">
            <a:avLst/>
          </a:prstGeom>
          <a:noFill/>
        </p:spPr>
        <p:txBody>
          <a:bodyPr wrap="square" anchor="t"/>
          <a:lstStyle/>
          <a:p>
            <a:pPr algn="l"/>
            <a:r>
              <a:rPr sz="1600" b="1">
                <a:solidFill>
                  <a:srgbClr val="0B2C4A"/>
                </a:solidFill>
                <a:latin typeface="Calibri"/>
              </a:rPr>
              <a:t>A blocked cat with K+ 8.2 is booked for perineal urethrostomy this morning. First move?</a:t>
            </a:r>
          </a:p>
        </p:txBody>
      </p:sp>
      <p:sp>
        <p:nvSpPr>
          <p:cNvPr id="12" name="TextBox 11"/>
          <p:cNvSpPr txBox="1"/>
          <p:nvPr/>
        </p:nvSpPr>
        <p:spPr>
          <a:xfrm>
            <a:off x="1325880" y="1783080"/>
            <a:ext cx="10058400" cy="640080"/>
          </a:xfrm>
          <a:prstGeom prst="rect">
            <a:avLst/>
          </a:prstGeom>
          <a:noFill/>
        </p:spPr>
        <p:txBody>
          <a:bodyPr wrap="square" anchor="t"/>
          <a:lstStyle/>
          <a:p>
            <a:pPr algn="l"/>
            <a:r>
              <a:rPr sz="1400" b="0">
                <a:solidFill>
                  <a:srgbClr val="3D4A57"/>
                </a:solidFill>
                <a:latin typeface="Calibri"/>
              </a:rPr>
              <a:t>Stabilize (calcium, fluids, insulin/dextrose as indicated, decompress). Do not induce an ASA IV-E hyperkalemic cat ‘because surgery is on the board.’</a:t>
            </a:r>
          </a:p>
        </p:txBody>
      </p:sp>
      <p:sp>
        <p:nvSpPr>
          <p:cNvPr id="13" name="Rounded Rectangle 12"/>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74320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743200"/>
            <a:ext cx="640080" cy="1508760"/>
          </a:xfrm>
          <a:prstGeom prst="rect">
            <a:avLst/>
          </a:prstGeom>
          <a:noFill/>
        </p:spPr>
        <p:txBody>
          <a:bodyPr wrap="square" anchor="ctr"/>
          <a:lstStyle/>
          <a:p>
            <a:pPr algn="ctr"/>
            <a:r>
              <a:rPr sz="2200" b="1">
                <a:solidFill>
                  <a:srgbClr val="FFFFFF"/>
                </a:solidFill>
                <a:latin typeface="Calibri"/>
              </a:rPr>
              <a:t>2</a:t>
            </a:r>
          </a:p>
        </p:txBody>
      </p:sp>
      <p:sp>
        <p:nvSpPr>
          <p:cNvPr id="16" name="TextBox 15"/>
          <p:cNvSpPr txBox="1"/>
          <p:nvPr/>
        </p:nvSpPr>
        <p:spPr>
          <a:xfrm>
            <a:off x="1325880" y="2880360"/>
            <a:ext cx="10058400" cy="502920"/>
          </a:xfrm>
          <a:prstGeom prst="rect">
            <a:avLst/>
          </a:prstGeom>
          <a:noFill/>
        </p:spPr>
        <p:txBody>
          <a:bodyPr wrap="square" anchor="t"/>
          <a:lstStyle/>
          <a:p>
            <a:pPr algn="l"/>
            <a:r>
              <a:rPr sz="1600" b="1">
                <a:solidFill>
                  <a:srgbClr val="0B2C4A"/>
                </a:solidFill>
                <a:latin typeface="Calibri"/>
              </a:rPr>
              <a:t>Healthy 1-year-old OHE. Client asks for ‘antibiotics just in case.’</a:t>
            </a:r>
          </a:p>
        </p:txBody>
      </p:sp>
      <p:sp>
        <p:nvSpPr>
          <p:cNvPr id="17" name="TextBox 16"/>
          <p:cNvSpPr txBox="1"/>
          <p:nvPr/>
        </p:nvSpPr>
        <p:spPr>
          <a:xfrm>
            <a:off x="1325880" y="3429000"/>
            <a:ext cx="10058400" cy="640080"/>
          </a:xfrm>
          <a:prstGeom prst="rect">
            <a:avLst/>
          </a:prstGeom>
          <a:noFill/>
        </p:spPr>
        <p:txBody>
          <a:bodyPr wrap="square" anchor="t"/>
          <a:lstStyle/>
          <a:p>
            <a:pPr algn="l"/>
            <a:r>
              <a:rPr sz="1400" b="0">
                <a:solidFill>
                  <a:srgbClr val="3D4A57"/>
                </a:solidFill>
                <a:latin typeface="Calibri"/>
              </a:rPr>
              <a:t>Decline routine prophylaxis. Explain asepsis + short clean procedure. Offer a written SSI-watch list instead.</a:t>
            </a:r>
          </a:p>
        </p:txBody>
      </p:sp>
      <p:sp>
        <p:nvSpPr>
          <p:cNvPr id="18" name="Rounded Rectangle 17"/>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4389120"/>
            <a:ext cx="640080" cy="15087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389120"/>
            <a:ext cx="640080" cy="1508760"/>
          </a:xfrm>
          <a:prstGeom prst="rect">
            <a:avLst/>
          </a:prstGeom>
          <a:noFill/>
        </p:spPr>
        <p:txBody>
          <a:bodyPr wrap="square" anchor="ctr"/>
          <a:lstStyle/>
          <a:p>
            <a:pPr algn="ctr"/>
            <a:r>
              <a:rPr sz="2200" b="1">
                <a:solidFill>
                  <a:srgbClr val="FFFFFF"/>
                </a:solidFill>
                <a:latin typeface="Calibri"/>
              </a:rPr>
              <a:t>3</a:t>
            </a:r>
          </a:p>
        </p:txBody>
      </p:sp>
      <p:sp>
        <p:nvSpPr>
          <p:cNvPr id="21" name="TextBox 20"/>
          <p:cNvSpPr txBox="1"/>
          <p:nvPr/>
        </p:nvSpPr>
        <p:spPr>
          <a:xfrm>
            <a:off x="1325880" y="4526280"/>
            <a:ext cx="10058400" cy="502920"/>
          </a:xfrm>
          <a:prstGeom prst="rect">
            <a:avLst/>
          </a:prstGeom>
          <a:noFill/>
        </p:spPr>
        <p:txBody>
          <a:bodyPr wrap="square" anchor="t"/>
          <a:lstStyle/>
          <a:p>
            <a:pPr algn="l"/>
            <a:r>
              <a:rPr sz="1600" b="1">
                <a:solidFill>
                  <a:srgbClr val="0B2C4A"/>
                </a:solidFill>
                <a:latin typeface="Calibri"/>
              </a:rPr>
              <a:t>You assigned ASA I yesterday. Today the dog has a productive cough and fever.</a:t>
            </a:r>
          </a:p>
        </p:txBody>
      </p:sp>
      <p:sp>
        <p:nvSpPr>
          <p:cNvPr id="22" name="TextBox 21"/>
          <p:cNvSpPr txBox="1"/>
          <p:nvPr/>
        </p:nvSpPr>
        <p:spPr>
          <a:xfrm>
            <a:off x="1325880" y="5074920"/>
            <a:ext cx="10058400" cy="640080"/>
          </a:xfrm>
          <a:prstGeom prst="rect">
            <a:avLst/>
          </a:prstGeom>
          <a:noFill/>
        </p:spPr>
        <p:txBody>
          <a:bodyPr wrap="square" anchor="t"/>
          <a:lstStyle/>
          <a:p>
            <a:pPr algn="l"/>
            <a:r>
              <a:rPr sz="1400" b="0">
                <a:solidFill>
                  <a:srgbClr val="3D4A57"/>
                </a:solidFill>
                <a:latin typeface="Calibri"/>
              </a:rPr>
              <a:t>Reassign ASA, delay elective surgery, work up respiratory disease. ASA is a live assessment.</a:t>
            </a:r>
          </a:p>
        </p:txBody>
      </p:sp>
      <p:sp>
        <p:nvSpPr>
          <p:cNvPr id="23" name="Rectangle 22"/>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5" name="TextBox 24"/>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29  /  59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  ·  24–44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Patient and surgeon
preparation</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Clip · antiseptic · position · four-quadrant drape · scrub · gown · closed glove · asepsis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~20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30  /  59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SAME SIX BOXES EVERY TIME YOU TAKE A PATIENT TO SURGERY</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What we actually check in patient and surgeon prep</a:t>
            </a:r>
          </a:p>
        </p:txBody>
      </p:sp>
      <p:sp>
        <p:nvSpPr>
          <p:cNvPr id="8" name="TextBox 7"/>
          <p:cNvSpPr txBox="1"/>
          <p:nvPr/>
        </p:nvSpPr>
        <p:spPr>
          <a:xfrm>
            <a:off x="457200" y="1051560"/>
            <a:ext cx="11247120" cy="365760"/>
          </a:xfrm>
          <a:prstGeom prst="rect">
            <a:avLst/>
          </a:prstGeom>
          <a:noFill/>
        </p:spPr>
        <p:txBody>
          <a:bodyPr wrap="square" anchor="t"/>
          <a:lstStyle/>
          <a:p>
            <a:pPr algn="l"/>
            <a:r>
              <a:rPr sz="1600" b="1">
                <a:solidFill>
                  <a:srgbClr val="1B6B7A"/>
                </a:solidFill>
                <a:latin typeface="Calibri"/>
              </a:rPr>
              <a:t>Patient preparation</a:t>
            </a:r>
          </a:p>
        </p:txBody>
      </p:sp>
      <p:sp>
        <p:nvSpPr>
          <p:cNvPr id="9" name="Rounded Rectangle 8"/>
          <p:cNvSpPr/>
          <p:nvPr/>
        </p:nvSpPr>
        <p:spPr>
          <a:xfrm>
            <a:off x="45720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527048"/>
            <a:ext cx="3291840" cy="347472"/>
          </a:xfrm>
          <a:prstGeom prst="rect">
            <a:avLst/>
          </a:prstGeom>
          <a:noFill/>
        </p:spPr>
        <p:txBody>
          <a:bodyPr wrap="square" anchor="t"/>
          <a:lstStyle/>
          <a:p>
            <a:pPr algn="l"/>
            <a:r>
              <a:rPr sz="1500" b="1">
                <a:solidFill>
                  <a:srgbClr val="0B2C4A"/>
                </a:solidFill>
                <a:latin typeface="Calibri"/>
              </a:rPr>
              <a:t>Hair removal</a:t>
            </a:r>
          </a:p>
        </p:txBody>
      </p:sp>
      <p:sp>
        <p:nvSpPr>
          <p:cNvPr id="12" name="TextBox 11"/>
          <p:cNvSpPr txBox="1"/>
          <p:nvPr/>
        </p:nvSpPr>
        <p:spPr>
          <a:xfrm>
            <a:off x="713232" y="1856232"/>
            <a:ext cx="3291840" cy="1435608"/>
          </a:xfrm>
          <a:prstGeom prst="rect">
            <a:avLst/>
          </a:prstGeom>
          <a:noFill/>
        </p:spPr>
        <p:txBody>
          <a:bodyPr wrap="square" anchor="t"/>
          <a:lstStyle/>
          <a:p>
            <a:pPr algn="l"/>
            <a:r>
              <a:rPr sz="1300" b="0">
                <a:solidFill>
                  <a:srgbClr val="3D4A57"/>
                </a:solidFill>
                <a:latin typeface="Calibri"/>
              </a:rPr>
              <a:t>Clipper, not razor. Adequate field. No clipper burn / missed patches in the field.</a:t>
            </a:r>
          </a:p>
        </p:txBody>
      </p:sp>
      <p:sp>
        <p:nvSpPr>
          <p:cNvPr id="13" name="Rounded Rectangle 12"/>
          <p:cNvSpPr/>
          <p:nvPr/>
        </p:nvSpPr>
        <p:spPr>
          <a:xfrm>
            <a:off x="429768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1527048"/>
            <a:ext cx="3291840" cy="347472"/>
          </a:xfrm>
          <a:prstGeom prst="rect">
            <a:avLst/>
          </a:prstGeom>
          <a:noFill/>
        </p:spPr>
        <p:txBody>
          <a:bodyPr wrap="square" anchor="t"/>
          <a:lstStyle/>
          <a:p>
            <a:pPr algn="l"/>
            <a:r>
              <a:rPr sz="1500" b="1">
                <a:solidFill>
                  <a:srgbClr val="0B2C4A"/>
                </a:solidFill>
                <a:latin typeface="Calibri"/>
              </a:rPr>
              <a:t>Skin preparation</a:t>
            </a:r>
          </a:p>
        </p:txBody>
      </p:sp>
      <p:sp>
        <p:nvSpPr>
          <p:cNvPr id="16" name="TextBox 15"/>
          <p:cNvSpPr txBox="1"/>
          <p:nvPr/>
        </p:nvSpPr>
        <p:spPr>
          <a:xfrm>
            <a:off x="4553712" y="1856232"/>
            <a:ext cx="3291840" cy="1435608"/>
          </a:xfrm>
          <a:prstGeom prst="rect">
            <a:avLst/>
          </a:prstGeom>
          <a:noFill/>
        </p:spPr>
        <p:txBody>
          <a:bodyPr wrap="square" anchor="t"/>
          <a:lstStyle/>
          <a:p>
            <a:pPr algn="l"/>
            <a:r>
              <a:rPr sz="1300" b="0">
                <a:solidFill>
                  <a:srgbClr val="3D4A57"/>
                </a:solidFill>
                <a:latin typeface="Calibri"/>
              </a:rPr>
              <a:t>Dirty prep then sterile prep. Contact time. Center → periphery. No pooling / wicking.</a:t>
            </a:r>
          </a:p>
        </p:txBody>
      </p:sp>
      <p:sp>
        <p:nvSpPr>
          <p:cNvPr id="17" name="Rounded Rectangle 16"/>
          <p:cNvSpPr/>
          <p:nvPr/>
        </p:nvSpPr>
        <p:spPr>
          <a:xfrm>
            <a:off x="8138160" y="1417320"/>
            <a:ext cx="3657600" cy="1965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417320"/>
            <a:ext cx="91440" cy="196596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1527048"/>
            <a:ext cx="3291840" cy="347472"/>
          </a:xfrm>
          <a:prstGeom prst="rect">
            <a:avLst/>
          </a:prstGeom>
          <a:noFill/>
        </p:spPr>
        <p:txBody>
          <a:bodyPr wrap="square" anchor="t"/>
          <a:lstStyle/>
          <a:p>
            <a:pPr algn="l"/>
            <a:r>
              <a:rPr sz="1500" b="1">
                <a:solidFill>
                  <a:srgbClr val="0B2C4A"/>
                </a:solidFill>
                <a:latin typeface="Calibri"/>
              </a:rPr>
              <a:t>Patient positioning</a:t>
            </a:r>
          </a:p>
        </p:txBody>
      </p:sp>
      <p:sp>
        <p:nvSpPr>
          <p:cNvPr id="20" name="TextBox 19"/>
          <p:cNvSpPr txBox="1"/>
          <p:nvPr/>
        </p:nvSpPr>
        <p:spPr>
          <a:xfrm>
            <a:off x="8394192" y="1856232"/>
            <a:ext cx="3291840" cy="1435608"/>
          </a:xfrm>
          <a:prstGeom prst="rect">
            <a:avLst/>
          </a:prstGeom>
          <a:noFill/>
        </p:spPr>
        <p:txBody>
          <a:bodyPr wrap="square" anchor="t"/>
          <a:lstStyle/>
          <a:p>
            <a:pPr algn="l"/>
            <a:r>
              <a:rPr sz="1300" b="0">
                <a:solidFill>
                  <a:srgbClr val="3D4A57"/>
                </a:solidFill>
                <a:latin typeface="Calibri"/>
              </a:rPr>
              <a:t>Secure, padded, physiologically sensible. OHE: dorsal recumbency, straight.</a:t>
            </a:r>
          </a:p>
        </p:txBody>
      </p:sp>
      <p:sp>
        <p:nvSpPr>
          <p:cNvPr id="21" name="TextBox 20"/>
          <p:cNvSpPr txBox="1"/>
          <p:nvPr/>
        </p:nvSpPr>
        <p:spPr>
          <a:xfrm>
            <a:off x="457200" y="3520440"/>
            <a:ext cx="11247120" cy="320040"/>
          </a:xfrm>
          <a:prstGeom prst="rect">
            <a:avLst/>
          </a:prstGeom>
          <a:noFill/>
        </p:spPr>
        <p:txBody>
          <a:bodyPr wrap="square" anchor="t"/>
          <a:lstStyle/>
          <a:p>
            <a:pPr algn="l"/>
            <a:r>
              <a:rPr sz="1600" b="1">
                <a:solidFill>
                  <a:srgbClr val="C5A35A"/>
                </a:solidFill>
                <a:latin typeface="Calibri"/>
              </a:rPr>
              <a:t>Surgeon preparation</a:t>
            </a:r>
          </a:p>
        </p:txBody>
      </p:sp>
      <p:sp>
        <p:nvSpPr>
          <p:cNvPr id="22" name="Rounded Rectangle 21"/>
          <p:cNvSpPr/>
          <p:nvPr/>
        </p:nvSpPr>
        <p:spPr>
          <a:xfrm>
            <a:off x="45720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995928"/>
            <a:ext cx="3291840" cy="347472"/>
          </a:xfrm>
          <a:prstGeom prst="rect">
            <a:avLst/>
          </a:prstGeom>
          <a:noFill/>
        </p:spPr>
        <p:txBody>
          <a:bodyPr wrap="square" anchor="t"/>
          <a:lstStyle/>
          <a:p>
            <a:pPr algn="l"/>
            <a:r>
              <a:rPr sz="1500" b="1">
                <a:solidFill>
                  <a:srgbClr val="0B2C4A"/>
                </a:solidFill>
                <a:latin typeface="Calibri"/>
              </a:rPr>
              <a:t>Scrubbing &amp; attire</a:t>
            </a:r>
          </a:p>
        </p:txBody>
      </p:sp>
      <p:sp>
        <p:nvSpPr>
          <p:cNvPr id="25" name="TextBox 24"/>
          <p:cNvSpPr txBox="1"/>
          <p:nvPr/>
        </p:nvSpPr>
        <p:spPr>
          <a:xfrm>
            <a:off x="713232" y="4325112"/>
            <a:ext cx="3291840" cy="1755648"/>
          </a:xfrm>
          <a:prstGeom prst="rect">
            <a:avLst/>
          </a:prstGeom>
          <a:noFill/>
        </p:spPr>
        <p:txBody>
          <a:bodyPr wrap="square" anchor="t"/>
          <a:lstStyle/>
          <a:p>
            <a:pPr algn="l"/>
            <a:r>
              <a:rPr sz="1300" b="0">
                <a:solidFill>
                  <a:srgbClr val="3D4A57"/>
                </a:solidFill>
                <a:latin typeface="Calibri"/>
              </a:rPr>
              <a:t>Cap, mask, clean scrubs. Timed or brushless surgical scrub. Hands above elbows.</a:t>
            </a:r>
          </a:p>
        </p:txBody>
      </p:sp>
      <p:sp>
        <p:nvSpPr>
          <p:cNvPr id="26" name="Rounded Rectangle 25"/>
          <p:cNvSpPr/>
          <p:nvPr/>
        </p:nvSpPr>
        <p:spPr>
          <a:xfrm>
            <a:off x="429768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53712" y="3995928"/>
            <a:ext cx="3291840" cy="347472"/>
          </a:xfrm>
          <a:prstGeom prst="rect">
            <a:avLst/>
          </a:prstGeom>
          <a:noFill/>
        </p:spPr>
        <p:txBody>
          <a:bodyPr wrap="square" anchor="t"/>
          <a:lstStyle/>
          <a:p>
            <a:pPr algn="l"/>
            <a:r>
              <a:rPr sz="1500" b="1">
                <a:solidFill>
                  <a:srgbClr val="0B2C4A"/>
                </a:solidFill>
                <a:latin typeface="Calibri"/>
              </a:rPr>
              <a:t>Gowning / gloving</a:t>
            </a:r>
          </a:p>
        </p:txBody>
      </p:sp>
      <p:sp>
        <p:nvSpPr>
          <p:cNvPr id="29" name="TextBox 28"/>
          <p:cNvSpPr txBox="1"/>
          <p:nvPr/>
        </p:nvSpPr>
        <p:spPr>
          <a:xfrm>
            <a:off x="4553712" y="4325112"/>
            <a:ext cx="3291840" cy="1755648"/>
          </a:xfrm>
          <a:prstGeom prst="rect">
            <a:avLst/>
          </a:prstGeom>
          <a:noFill/>
        </p:spPr>
        <p:txBody>
          <a:bodyPr wrap="square" anchor="t"/>
          <a:lstStyle/>
          <a:p>
            <a:pPr algn="l"/>
            <a:r>
              <a:rPr sz="1300" b="0">
                <a:solidFill>
                  <a:srgbClr val="3D4A57"/>
                </a:solidFill>
                <a:latin typeface="Calibri"/>
              </a:rPr>
              <a:t>Sterile gown. Closed gloving preferred. Know open gloving for reglove.</a:t>
            </a:r>
          </a:p>
        </p:txBody>
      </p:sp>
      <p:sp>
        <p:nvSpPr>
          <p:cNvPr id="30" name="Rounded Rectangle 29"/>
          <p:cNvSpPr/>
          <p:nvPr/>
        </p:nvSpPr>
        <p:spPr>
          <a:xfrm>
            <a:off x="8138160" y="3886200"/>
            <a:ext cx="365760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38160" y="388620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94192" y="3995928"/>
            <a:ext cx="3291840" cy="347472"/>
          </a:xfrm>
          <a:prstGeom prst="rect">
            <a:avLst/>
          </a:prstGeom>
          <a:noFill/>
        </p:spPr>
        <p:txBody>
          <a:bodyPr wrap="square" anchor="t"/>
          <a:lstStyle/>
          <a:p>
            <a:pPr algn="l"/>
            <a:r>
              <a:rPr sz="1500" b="1">
                <a:solidFill>
                  <a:srgbClr val="0B2C4A"/>
                </a:solidFill>
                <a:latin typeface="Calibri"/>
              </a:rPr>
              <a:t>Draping</a:t>
            </a:r>
          </a:p>
        </p:txBody>
      </p:sp>
      <p:sp>
        <p:nvSpPr>
          <p:cNvPr id="33" name="TextBox 32"/>
          <p:cNvSpPr txBox="1"/>
          <p:nvPr/>
        </p:nvSpPr>
        <p:spPr>
          <a:xfrm>
            <a:off x="8394192" y="4325112"/>
            <a:ext cx="3291840" cy="1755648"/>
          </a:xfrm>
          <a:prstGeom prst="rect">
            <a:avLst/>
          </a:prstGeom>
          <a:noFill/>
        </p:spPr>
        <p:txBody>
          <a:bodyPr wrap="square" anchor="t"/>
          <a:lstStyle/>
          <a:p>
            <a:pPr algn="l"/>
            <a:r>
              <a:rPr sz="1300" b="0">
                <a:solidFill>
                  <a:srgbClr val="3D4A57"/>
                </a:solidFill>
                <a:latin typeface="Calibri"/>
              </a:rPr>
              <a:t>Four-quadrant draping is the standard. Hair must not show at the drape edge. Maintain the field.</a:t>
            </a:r>
          </a:p>
        </p:txBody>
      </p:sp>
      <p:sp>
        <p:nvSpPr>
          <p:cNvPr id="34" name="Rectangle 3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6" name="TextBox 3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31  /  59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 ROOM IS DIRTY. OR IS STERILE. THE DOG MOVES ONCE.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Sequence — do not invert the rooms</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4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500" b="0">
                <a:solidFill>
                  <a:srgbClr val="1C1C1C"/>
                </a:solidFill>
                <a:latin typeface="Calibri"/>
              </a:rPr>
              <a:t>Anesthetized, airway in, IV in, depth adequate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4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5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4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5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4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5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4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500" b="0">
                <a:solidFill>
                  <a:srgbClr val="1C1C1C"/>
                </a:solidFill>
                <a:latin typeface="Calibri"/>
              </a:rPr>
              <a:t>Sterile prep (gloved), contact time honored</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4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5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4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5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4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500" b="0">
                <a:solidFill>
                  <a:srgbClr val="1C1C1C"/>
                </a:solidFill>
                <a:latin typeface="Calibri"/>
              </a:rPr>
              <a:t>Timeout / checklist → announce incision</a:t>
            </a:r>
          </a:p>
        </p:txBody>
      </p:sp>
      <p:sp>
        <p:nvSpPr>
          <p:cNvPr id="40" name="Rectangle 3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42" name="TextBox 4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32  /  59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#40 BLADE  ·  CLIPPER, NOT RAZOR  ·  FIELD WIDE ENOUGH TO EXTEND THE INCISION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Hair removal — clip after induction, not last night</a:t>
            </a:r>
          </a:p>
        </p:txBody>
      </p:sp>
      <p:pic>
        <p:nvPicPr>
          <p:cNvPr id="8" name="Picture 7" descr="prep_ohe_clip_wide.png"/>
          <p:cNvPicPr>
            <a:picLocks noChangeAspect="1"/>
          </p:cNvPicPr>
          <p:nvPr/>
        </p:nvPicPr>
        <p:blipFill>
          <a:blip r:embed="rId2"/>
          <a:stretch>
            <a:fillRect/>
          </a:stretch>
        </p:blipFill>
        <p:spPr>
          <a:xfrm>
            <a:off x="365760" y="1051560"/>
            <a:ext cx="6675120" cy="5394960"/>
          </a:xfrm>
          <a:prstGeom prst="rect">
            <a:avLst/>
          </a:prstGeom>
        </p:spPr>
      </p:pic>
      <p:sp>
        <p:nvSpPr>
          <p:cNvPr id="9" name="Rounded Rectangle 8"/>
          <p:cNvSpPr/>
          <p:nvPr/>
        </p:nvSpPr>
        <p:spPr>
          <a:xfrm>
            <a:off x="7178040" y="1051560"/>
            <a:ext cx="457200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0" y="1188720"/>
            <a:ext cx="4160520" cy="365760"/>
          </a:xfrm>
          <a:prstGeom prst="rect">
            <a:avLst/>
          </a:prstGeom>
          <a:noFill/>
        </p:spPr>
        <p:txBody>
          <a:bodyPr wrap="square" anchor="t"/>
          <a:lstStyle/>
          <a:p>
            <a:pPr algn="l"/>
            <a:r>
              <a:rPr sz="1600" b="1">
                <a:solidFill>
                  <a:srgbClr val="0B2C4A"/>
                </a:solidFill>
                <a:latin typeface="Calibri"/>
              </a:rPr>
              <a:t>OHE / celiotomy field</a:t>
            </a:r>
          </a:p>
        </p:txBody>
      </p:sp>
      <p:sp>
        <p:nvSpPr>
          <p:cNvPr id="11" name="TextBox 10"/>
          <p:cNvSpPr txBox="1"/>
          <p:nvPr/>
        </p:nvSpPr>
        <p:spPr>
          <a:xfrm>
            <a:off x="7360920" y="1600200"/>
            <a:ext cx="4206240" cy="4572000"/>
          </a:xfrm>
          <a:prstGeom prst="rect">
            <a:avLst/>
          </a:prstGeom>
          <a:noFill/>
        </p:spPr>
        <p:txBody>
          <a:bodyPr wrap="square">
            <a:spAutoFit/>
          </a:bodyPr>
          <a:lstStyle/>
          <a:p>
            <a:pPr algn="l">
              <a:spcAft>
                <a:spcPts val="600"/>
              </a:spcAft>
            </a:pPr>
            <a:r>
              <a:rPr sz="1300" b="0">
                <a:solidFill>
                  <a:srgbClr val="1C1C1C"/>
                </a:solidFill>
                <a:latin typeface="Calibri"/>
              </a:rPr>
              <a:t>▸  Xiphoid (or slightly cranial) to pubis, widely lateral past the nipples — a rectangle, not a bikini strip.</a:t>
            </a:r>
          </a:p>
          <a:p>
            <a:pPr algn="l">
              <a:spcAft>
                <a:spcPts val="600"/>
              </a:spcAft>
            </a:pPr>
            <a:r>
              <a:rPr sz="1300" b="0">
                <a:solidFill>
                  <a:srgbClr val="1C1C1C"/>
                </a:solidFill>
                <a:latin typeface="Calibri"/>
              </a:rPr>
              <a:t>▸  Clip with the grain, then against, to the skin. Vacuum the hair.</a:t>
            </a:r>
          </a:p>
          <a:p>
            <a:pPr algn="l">
              <a:spcAft>
                <a:spcPts val="600"/>
              </a:spcAft>
            </a:pPr>
            <a:r>
              <a:rPr sz="1300" b="0">
                <a:solidFill>
                  <a:srgbClr val="1C1C1C"/>
                </a:solidFill>
                <a:latin typeface="Calibri"/>
              </a:rPr>
              <a:t>▸  ~20 cm beyond the planned incision is a Fossum-style working rule.</a:t>
            </a:r>
          </a:p>
          <a:p>
            <a:pPr algn="l">
              <a:spcAft>
                <a:spcPts val="600"/>
              </a:spcAft>
            </a:pPr>
            <a:r>
              <a:rPr sz="1300" b="0">
                <a:solidFill>
                  <a:srgbClr val="1C1C1C"/>
                </a:solidFill>
                <a:latin typeface="Calibri"/>
              </a:rPr>
              <a:t>▸  Do not clip the night before: bacterial load rises.</a:t>
            </a:r>
          </a:p>
          <a:p>
            <a:pPr algn="l">
              <a:spcAft>
                <a:spcPts val="600"/>
              </a:spcAft>
            </a:pPr>
            <a:r>
              <a:rPr sz="1300" b="0">
                <a:solidFill>
                  <a:srgbClr val="1C1C1C"/>
                </a:solidFill>
                <a:latin typeface="Calibri"/>
              </a:rPr>
              <a:t>▸  Razor = micro-nicks = higher SSI. Clipper burn is a wound.</a:t>
            </a:r>
          </a:p>
          <a:p>
            <a:pPr algn="l">
              <a:spcAft>
                <a:spcPts val="600"/>
              </a:spcAft>
            </a:pPr>
            <a:r>
              <a:rPr sz="1300" b="0">
                <a:solidFill>
                  <a:srgbClr val="1C1C1C"/>
                </a:solidFill>
                <a:latin typeface="Calibri"/>
              </a:rPr>
              <a:t>▸  Airway in and depth adequate BEFORE the clippers start.</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33  /  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CANNOT DESCRIBE THE FIELD, YOU ARE NOT READY TO CUT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 the field before you pick up the clippers</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Canine OHE / celiotomy</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Xiphoid → pubis, widely lateral past nipples. Dorsal recumbency.</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Canine castration (prescrotal)</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Scrotum ± prescrotal abdomen; some surgeons shave scrotum, some don’t — follow your hospital SOP. Clip wide enough for drape.</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Feline castration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Pluck or clip scrotum per SOP. Still aseptic skin prep.</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Canine castration (scrotal ablation)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Wider perineal/scrotal field; purse-string anus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Limb / orthopedic</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Joint above to joint below; hang limb; stirrup; circumferential prep (‘around the world’).</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Field LA surgery</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Clip still matters. Dirt and fecal contamination are the enemy; sterile-drape ideals are adapted, not abandoned.</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34  /  59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NO SINGLE AGENT IS PERFECT; TECHNIQUE AND CONTACT TIME BEAT BRAND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Skin antiseptics — choose with anatomy, not loyalty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Chlorhexidine</a:t>
            </a:r>
          </a:p>
        </p:txBody>
      </p:sp>
      <p:sp>
        <p:nvSpPr>
          <p:cNvPr id="11" name="TextBox 10"/>
          <p:cNvSpPr txBox="1"/>
          <p:nvPr/>
        </p:nvSpPr>
        <p:spPr>
          <a:xfrm>
            <a:off x="640080" y="1874519"/>
            <a:ext cx="3291840" cy="4023360"/>
          </a:xfrm>
          <a:prstGeom prst="rect">
            <a:avLst/>
          </a:prstGeom>
          <a:noFill/>
        </p:spPr>
        <p:txBody>
          <a:bodyPr wrap="square" anchor="t"/>
          <a:lstStyle/>
          <a:p>
            <a:pPr algn="l"/>
            <a:r>
              <a:rPr sz="1400" b="0">
                <a:solidFill>
                  <a:srgbClr val="1C1C1C"/>
                </a:solidFill>
                <a:latin typeface="Calibri"/>
              </a:rPr>
              <a:t>Broad Gram+ / Gram−, residual 24 h on skin.
Best with alcohol (CHG–alcohol).
Inactivated by organic debris if too dilute.
TOXIC to cornea. Ototoxic in the middle ear. Not for peritoneum, bladder, joints, meninges.
Do not store homemade dilute jugs.</a:t>
            </a:r>
          </a:p>
        </p:txBody>
      </p:sp>
      <p:sp>
        <p:nvSpPr>
          <p:cNvPr id="12" name="Rounded Rectangle 11"/>
          <p:cNvSpPr/>
          <p:nvPr/>
        </p:nvSpPr>
        <p:spPr>
          <a:xfrm>
            <a:off x="425196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5196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51960" y="1097280"/>
            <a:ext cx="3703320" cy="640080"/>
          </a:xfrm>
          <a:prstGeom prst="rect">
            <a:avLst/>
          </a:prstGeom>
          <a:noFill/>
        </p:spPr>
        <p:txBody>
          <a:bodyPr wrap="square" anchor="ctr"/>
          <a:lstStyle/>
          <a:p>
            <a:pPr algn="ctr"/>
            <a:r>
              <a:rPr sz="1800" b="1">
                <a:solidFill>
                  <a:srgbClr val="0B2C4A"/>
                </a:solidFill>
                <a:latin typeface="Calibri"/>
              </a:rPr>
              <a:t>Povidone-iodine</a:t>
            </a:r>
          </a:p>
        </p:txBody>
      </p:sp>
      <p:sp>
        <p:nvSpPr>
          <p:cNvPr id="15" name="TextBox 14"/>
          <p:cNvSpPr txBox="1"/>
          <p:nvPr/>
        </p:nvSpPr>
        <p:spPr>
          <a:xfrm>
            <a:off x="4480560" y="1874519"/>
            <a:ext cx="3291840" cy="4023360"/>
          </a:xfrm>
          <a:prstGeom prst="rect">
            <a:avLst/>
          </a:prstGeom>
          <a:noFill/>
        </p:spPr>
        <p:txBody>
          <a:bodyPr wrap="square" anchor="t"/>
          <a:lstStyle/>
          <a:p>
            <a:pPr algn="l"/>
            <a:r>
              <a:rPr sz="1400" b="0">
                <a:solidFill>
                  <a:srgbClr val="1C1C1C"/>
                </a:solidFill>
                <a:latin typeface="Calibri"/>
              </a:rPr>
              <a:t>Broad spectrum including spores at right conc./time.
Better near mucous membranes / some ocular protocols (dilute, veterinarian-directed).
Inactivated by organic matter and alcohol in some sequences.
Skin/thyroid/iodine sensitivity. Stains.
Must dry / contact time to work.</a:t>
            </a:r>
          </a:p>
        </p:txBody>
      </p:sp>
      <p:sp>
        <p:nvSpPr>
          <p:cNvPr id="16" name="Rounded Rectangle 15"/>
          <p:cNvSpPr/>
          <p:nvPr/>
        </p:nvSpPr>
        <p:spPr>
          <a:xfrm>
            <a:off x="809244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097280"/>
            <a:ext cx="365760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92440" y="1097280"/>
            <a:ext cx="3657600" cy="640080"/>
          </a:xfrm>
          <a:prstGeom prst="rect">
            <a:avLst/>
          </a:prstGeom>
          <a:noFill/>
        </p:spPr>
        <p:txBody>
          <a:bodyPr wrap="square" anchor="ctr"/>
          <a:lstStyle/>
          <a:p>
            <a:pPr algn="ctr"/>
            <a:r>
              <a:rPr sz="1800" b="1">
                <a:solidFill>
                  <a:srgbClr val="C5A35A"/>
                </a:solidFill>
                <a:latin typeface="Calibri"/>
              </a:rPr>
              <a:t>Alcohol &amp; others</a:t>
            </a:r>
          </a:p>
        </p:txBody>
      </p:sp>
      <p:sp>
        <p:nvSpPr>
          <p:cNvPr id="19" name="TextBox 18"/>
          <p:cNvSpPr txBox="1"/>
          <p:nvPr/>
        </p:nvSpPr>
        <p:spPr>
          <a:xfrm>
            <a:off x="8321040" y="1874519"/>
            <a:ext cx="3246120" cy="4023360"/>
          </a:xfrm>
          <a:prstGeom prst="rect">
            <a:avLst/>
          </a:prstGeom>
          <a:noFill/>
        </p:spPr>
        <p:txBody>
          <a:bodyPr wrap="square" anchor="t"/>
          <a:lstStyle/>
          <a:p>
            <a:pPr algn="l"/>
            <a:r>
              <a:rPr sz="1400" b="0">
                <a:solidFill>
                  <a:srgbClr val="1C1C1C"/>
                </a:solidFill>
                <a:latin typeface="Calibri"/>
              </a:rPr>
              <a:t>Isopropyl/ethyl alcohol: rapid, no residual, flammable — no pooling near cautery.
Often the ‘paint’ between CHG scrubs.
Do not use alcohol on open wounds, mucous membranes, or laser/cautery pools.
Hydrogen peroxide is not a surgical prep.</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35  /  59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CENTER → PERIPHERY  ·  NEW SPONGE EVERY TIME YOU LEAVE THE INCISION  ·  HONOR CONTACT TIME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How to scrub the patient</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6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600"/>
              </a:spcAft>
            </a:pPr>
            <a:r>
              <a:rPr sz="1300" b="0">
                <a:solidFill>
                  <a:srgbClr val="1C1C1C"/>
                </a:solidFill>
                <a:latin typeface="Calibri"/>
              </a:rPr>
              <a:t>▸  Dirty prep in the prep room; sterile prep in the OR.</a:t>
            </a:r>
          </a:p>
          <a:p>
            <a:pPr algn="l">
              <a:spcAft>
                <a:spcPts val="600"/>
              </a:spcAft>
            </a:pPr>
            <a:r>
              <a:rPr sz="1300" b="0">
                <a:solidFill>
                  <a:srgbClr val="1C1C1C"/>
                </a:solidFill>
                <a:latin typeface="Calibri"/>
              </a:rPr>
              <a:t>▸  Start at the planned incision. Spiral out. Never bring a dirty sponge back to the center.</a:t>
            </a:r>
          </a:p>
          <a:p>
            <a:pPr algn="l">
              <a:spcAft>
                <a:spcPts val="600"/>
              </a:spcAft>
            </a:pPr>
            <a:r>
              <a:rPr sz="1300" b="0">
                <a:solidFill>
                  <a:srgbClr val="1C1C1C"/>
                </a:solidFill>
                <a:latin typeface="Calibri"/>
              </a:rPr>
              <a:t>▸  Typical teaching: timed 3–5 min or product cycles, then a final paint. Follow the bottle in your lab.</a:t>
            </a:r>
          </a:p>
          <a:p>
            <a:pPr algn="l">
              <a:spcAft>
                <a:spcPts val="600"/>
              </a:spcAft>
            </a:pPr>
            <a:r>
              <a:rPr sz="1300" b="0">
                <a:solidFill>
                  <a:srgbClr val="1C1C1C"/>
                </a:solidFill>
                <a:latin typeface="Calibri"/>
              </a:rPr>
              <a:t>▸  Damp-to-dry, not a lake. Puddles wick bacteria and soak the patient cold.</a:t>
            </a:r>
          </a:p>
          <a:p>
            <a:pPr algn="l">
              <a:spcAft>
                <a:spcPts val="600"/>
              </a:spcAft>
            </a:pPr>
            <a:r>
              <a:rPr sz="1300" b="0">
                <a:solidFill>
                  <a:srgbClr val="1C1C1C"/>
                </a:solidFill>
                <a:latin typeface="Calibri"/>
              </a:rPr>
              <a:t>▸  CHG off the cornea and out of the middle ear — Willie’s swollen drum.</a:t>
            </a:r>
          </a:p>
          <a:p>
            <a:pPr algn="l">
              <a:spcAft>
                <a:spcPts val="600"/>
              </a:spcAft>
            </a:pPr>
            <a:r>
              <a:rPr sz="1300" b="0">
                <a:solidFill>
                  <a:srgbClr val="1C1C1C"/>
                </a:solidFill>
                <a:latin typeface="Calibri"/>
              </a:rPr>
              <a:t>▸  Hanging limb: prep from incision toward the dirty foot, never reverse.</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36  /  59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PRESSURE, STRETCH, AND ASPIRATION LIVE HERE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Positioning is physiology, not just ‘on its back’</a:t>
            </a:r>
          </a:p>
        </p:txBody>
      </p:sp>
      <p:sp>
        <p:nvSpPr>
          <p:cNvPr id="8" name="Rounded Rectangle 7"/>
          <p:cNvSpPr/>
          <p:nvPr/>
        </p:nvSpPr>
        <p:spPr>
          <a:xfrm>
            <a:off x="41148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349240" cy="347472"/>
          </a:xfrm>
          <a:prstGeom prst="rect">
            <a:avLst/>
          </a:prstGeom>
          <a:noFill/>
        </p:spPr>
        <p:txBody>
          <a:bodyPr wrap="square" anchor="t"/>
          <a:lstStyle/>
          <a:p>
            <a:pPr algn="l"/>
            <a:r>
              <a:rPr sz="1500" b="1">
                <a:solidFill>
                  <a:srgbClr val="0B2C4A"/>
                </a:solidFill>
                <a:latin typeface="Calibri"/>
              </a:rPr>
              <a:t>Dorsal recumbency</a:t>
            </a:r>
          </a:p>
        </p:txBody>
      </p:sp>
      <p:sp>
        <p:nvSpPr>
          <p:cNvPr id="11" name="TextBox 10"/>
          <p:cNvSpPr txBox="1"/>
          <p:nvPr/>
        </p:nvSpPr>
        <p:spPr>
          <a:xfrm>
            <a:off x="667512" y="1536192"/>
            <a:ext cx="5349240" cy="1801368"/>
          </a:xfrm>
          <a:prstGeom prst="rect">
            <a:avLst/>
          </a:prstGeom>
          <a:noFill/>
        </p:spPr>
        <p:txBody>
          <a:bodyPr wrap="square" anchor="t"/>
          <a:lstStyle/>
          <a:p>
            <a:pPr algn="l"/>
            <a:r>
              <a:rPr sz="1300" b="0">
                <a:solidFill>
                  <a:srgbClr val="3D4A57"/>
                </a:solidFill>
                <a:latin typeface="Calibri"/>
              </a:rPr>
              <a:t>OHE, most celiotomies. Straight spine, hind limbs caudal not forced into a split that strains the hips of a dysplastic dog. V-trough or sandbags. Head/neck neutral for the airway.</a:t>
            </a:r>
          </a:p>
        </p:txBody>
      </p:sp>
      <p:sp>
        <p:nvSpPr>
          <p:cNvPr id="12" name="Rounded Rectangle 11"/>
          <p:cNvSpPr/>
          <p:nvPr/>
        </p:nvSpPr>
        <p:spPr>
          <a:xfrm>
            <a:off x="6309360" y="10972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97280"/>
            <a:ext cx="91440" cy="2331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207008"/>
            <a:ext cx="5349240" cy="347472"/>
          </a:xfrm>
          <a:prstGeom prst="rect">
            <a:avLst/>
          </a:prstGeom>
          <a:noFill/>
        </p:spPr>
        <p:txBody>
          <a:bodyPr wrap="square" anchor="t"/>
          <a:lstStyle/>
          <a:p>
            <a:pPr algn="l"/>
            <a:r>
              <a:rPr sz="1500" b="1">
                <a:solidFill>
                  <a:srgbClr val="0B2C4A"/>
                </a:solidFill>
                <a:latin typeface="Calibri"/>
              </a:rPr>
              <a:t>Lateral</a:t>
            </a:r>
          </a:p>
        </p:txBody>
      </p:sp>
      <p:sp>
        <p:nvSpPr>
          <p:cNvPr id="15" name="TextBox 14"/>
          <p:cNvSpPr txBox="1"/>
          <p:nvPr/>
        </p:nvSpPr>
        <p:spPr>
          <a:xfrm>
            <a:off x="6565392" y="1536192"/>
            <a:ext cx="5349240" cy="1801368"/>
          </a:xfrm>
          <a:prstGeom prst="rect">
            <a:avLst/>
          </a:prstGeom>
          <a:noFill/>
        </p:spPr>
        <p:txBody>
          <a:bodyPr wrap="square" anchor="t"/>
          <a:lstStyle/>
          <a:p>
            <a:pPr algn="l"/>
            <a:r>
              <a:rPr sz="1300" b="0">
                <a:solidFill>
                  <a:srgbClr val="3D4A57"/>
                </a:solidFill>
                <a:latin typeface="Calibri"/>
              </a:rPr>
              <a:t>Thoracotomy, some mass removals, GDV sometimes after decompression. Down lung, down vessels, down muscles — pad the elbow, greater trochanter, acromion.</a:t>
            </a:r>
          </a:p>
        </p:txBody>
      </p:sp>
      <p:sp>
        <p:nvSpPr>
          <p:cNvPr id="16" name="Rounded Rectangle 15"/>
          <p:cNvSpPr/>
          <p:nvPr/>
        </p:nvSpPr>
        <p:spPr>
          <a:xfrm>
            <a:off x="41148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721608"/>
            <a:ext cx="5349240" cy="347472"/>
          </a:xfrm>
          <a:prstGeom prst="rect">
            <a:avLst/>
          </a:prstGeom>
          <a:noFill/>
        </p:spPr>
        <p:txBody>
          <a:bodyPr wrap="square" anchor="t"/>
          <a:lstStyle/>
          <a:p>
            <a:pPr algn="l"/>
            <a:r>
              <a:rPr sz="1500" b="1">
                <a:solidFill>
                  <a:srgbClr val="0B2C4A"/>
                </a:solidFill>
                <a:latin typeface="Calibri"/>
              </a:rPr>
              <a:t>Sternal / perineal</a:t>
            </a:r>
          </a:p>
        </p:txBody>
      </p:sp>
      <p:sp>
        <p:nvSpPr>
          <p:cNvPr id="19" name="TextBox 18"/>
          <p:cNvSpPr txBox="1"/>
          <p:nvPr/>
        </p:nvSpPr>
        <p:spPr>
          <a:xfrm>
            <a:off x="667512" y="4050792"/>
            <a:ext cx="5349240" cy="1801368"/>
          </a:xfrm>
          <a:prstGeom prst="rect">
            <a:avLst/>
          </a:prstGeom>
          <a:noFill/>
        </p:spPr>
        <p:txBody>
          <a:bodyPr wrap="square" anchor="t"/>
          <a:lstStyle/>
          <a:p>
            <a:pPr algn="l"/>
            <a:r>
              <a:rPr sz="1300" b="0">
                <a:solidFill>
                  <a:srgbClr val="3D4A57"/>
                </a:solidFill>
                <a:latin typeface="Calibri"/>
              </a:rPr>
              <a:t>Anal sac, some urinary, dorsal spinal. Do not over-flex the neck of brachycephalics. Purse-string the anus when indicated — and remove it at the end.</a:t>
            </a:r>
          </a:p>
        </p:txBody>
      </p:sp>
      <p:sp>
        <p:nvSpPr>
          <p:cNvPr id="20" name="Rounded Rectangle 19"/>
          <p:cNvSpPr/>
          <p:nvPr/>
        </p:nvSpPr>
        <p:spPr>
          <a:xfrm>
            <a:off x="6309360" y="3611880"/>
            <a:ext cx="57150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6118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3721608"/>
            <a:ext cx="5349240" cy="347472"/>
          </a:xfrm>
          <a:prstGeom prst="rect">
            <a:avLst/>
          </a:prstGeom>
          <a:noFill/>
        </p:spPr>
        <p:txBody>
          <a:bodyPr wrap="square" anchor="t"/>
          <a:lstStyle/>
          <a:p>
            <a:pPr algn="l"/>
            <a:r>
              <a:rPr sz="1500" b="1">
                <a:solidFill>
                  <a:srgbClr val="0B2C4A"/>
                </a:solidFill>
                <a:latin typeface="Calibri"/>
              </a:rPr>
              <a:t>Padding &amp; safety</a:t>
            </a:r>
          </a:p>
        </p:txBody>
      </p:sp>
      <p:sp>
        <p:nvSpPr>
          <p:cNvPr id="23" name="TextBox 22"/>
          <p:cNvSpPr txBox="1"/>
          <p:nvPr/>
        </p:nvSpPr>
        <p:spPr>
          <a:xfrm>
            <a:off x="6565392" y="4050792"/>
            <a:ext cx="5349240" cy="1801368"/>
          </a:xfrm>
          <a:prstGeom prst="rect">
            <a:avLst/>
          </a:prstGeom>
          <a:noFill/>
        </p:spPr>
        <p:txBody>
          <a:bodyPr wrap="square" anchor="t"/>
          <a:lstStyle/>
          <a:p>
            <a:pPr algn="l"/>
            <a:r>
              <a:rPr sz="1300" b="0">
                <a:solidFill>
                  <a:srgbClr val="3D4A57"/>
                </a:solidFill>
                <a:latin typeface="Calibri"/>
              </a:rPr>
              <a:t>Hypothermia: warming devices that cannot burn. Eyes lubricated. Endotracheal tube not kinked. Electrosurgery pad contact. Ties not tourniquets.</a:t>
            </a:r>
          </a:p>
        </p:txBody>
      </p:sp>
      <p:sp>
        <p:nvSpPr>
          <p:cNvPr id="24" name="Rectangle 2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6" name="TextBox 2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37  /  59</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LEFT PICTURE IS WRONG  ·  RIGHT PICTURE IS THE FIELD YOU ACTUALLY WANT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Four-quadrant draping — hair in the window fails the prep</a:t>
            </a:r>
          </a:p>
        </p:txBody>
      </p:sp>
      <p:sp>
        <p:nvSpPr>
          <p:cNvPr id="8" name="Rounded Rectangle 7"/>
          <p:cNvSpPr/>
          <p:nvPr/>
        </p:nvSpPr>
        <p:spPr>
          <a:xfrm>
            <a:off x="365760" y="1024128"/>
            <a:ext cx="5669280" cy="384048"/>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24128"/>
            <a:ext cx="5669280" cy="384048"/>
          </a:xfrm>
          <a:prstGeom prst="rect">
            <a:avLst/>
          </a:prstGeom>
          <a:noFill/>
        </p:spPr>
        <p:txBody>
          <a:bodyPr wrap="square" anchor="ctr"/>
          <a:lstStyle/>
          <a:p>
            <a:pPr algn="ctr"/>
            <a:r>
              <a:rPr sz="1400" b="1">
                <a:solidFill>
                  <a:srgbClr val="FFFFFF"/>
                </a:solidFill>
                <a:latin typeface="Calibri"/>
              </a:rPr>
              <a:t>WRONG — hair in the field</a:t>
            </a:r>
          </a:p>
        </p:txBody>
      </p:sp>
      <p:pic>
        <p:nvPicPr>
          <p:cNvPr id="10" name="Picture 9" descr="prep_four_quadrant_drape.png"/>
          <p:cNvPicPr>
            <a:picLocks noChangeAspect="1"/>
          </p:cNvPicPr>
          <p:nvPr/>
        </p:nvPicPr>
        <p:blipFill>
          <a:blip r:embed="rId2"/>
          <a:stretch>
            <a:fillRect/>
          </a:stretch>
        </p:blipFill>
        <p:spPr>
          <a:xfrm>
            <a:off x="365760" y="1444752"/>
            <a:ext cx="5669280" cy="3246120"/>
          </a:xfrm>
          <a:prstGeom prst="rect">
            <a:avLst/>
          </a:prstGeom>
        </p:spPr>
      </p:pic>
      <p:sp>
        <p:nvSpPr>
          <p:cNvPr id="11" name="Rounded Rectangle 10"/>
          <p:cNvSpPr/>
          <p:nvPr/>
        </p:nvSpPr>
        <p:spPr>
          <a:xfrm>
            <a:off x="6172200" y="1024128"/>
            <a:ext cx="5669280" cy="384048"/>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24128"/>
            <a:ext cx="5669280" cy="384048"/>
          </a:xfrm>
          <a:prstGeom prst="rect">
            <a:avLst/>
          </a:prstGeom>
          <a:noFill/>
        </p:spPr>
        <p:txBody>
          <a:bodyPr wrap="square" anchor="ctr"/>
          <a:lstStyle/>
          <a:p>
            <a:pPr algn="ctr"/>
            <a:r>
              <a:rPr sz="1400" b="1">
                <a:solidFill>
                  <a:srgbClr val="FFFFFF"/>
                </a:solidFill>
                <a:latin typeface="Calibri"/>
              </a:rPr>
              <a:t>CORRECT — clipped skin, hair covered</a:t>
            </a:r>
          </a:p>
        </p:txBody>
      </p:sp>
      <p:pic>
        <p:nvPicPr>
          <p:cNvPr id="13" name="Picture 12" descr="prep_four_quadrant_drape_correct.png"/>
          <p:cNvPicPr>
            <a:picLocks noChangeAspect="1"/>
          </p:cNvPicPr>
          <p:nvPr/>
        </p:nvPicPr>
        <p:blipFill>
          <a:blip r:embed="rId3"/>
          <a:stretch>
            <a:fillRect/>
          </a:stretch>
        </p:blipFill>
        <p:spPr>
          <a:xfrm>
            <a:off x="6172200" y="1444752"/>
            <a:ext cx="5669280" cy="3246120"/>
          </a:xfrm>
          <a:prstGeom prst="rect">
            <a:avLst/>
          </a:prstGeom>
        </p:spPr>
      </p:pic>
      <p:sp>
        <p:nvSpPr>
          <p:cNvPr id="14" name="Rounded Rectangle 13"/>
          <p:cNvSpPr/>
          <p:nvPr/>
        </p:nvSpPr>
        <p:spPr>
          <a:xfrm>
            <a:off x="365760" y="4828032"/>
            <a:ext cx="11475720"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956048"/>
            <a:ext cx="11155680" cy="1371600"/>
          </a:xfrm>
          <a:prstGeom prst="rect">
            <a:avLst/>
          </a:prstGeom>
          <a:noFill/>
        </p:spPr>
        <p:txBody>
          <a:bodyPr wrap="square" anchor="t"/>
          <a:lstStyle/>
          <a:p>
            <a:pPr algn="l"/>
            <a:r>
              <a:rPr sz="1500" b="0">
                <a:solidFill>
                  <a:srgbClr val="1C1C1C"/>
                </a:solidFill>
                <a:latin typeface="Calibri"/>
              </a:rPr>
              <a:t>Four towels box the field (near towel first). Hair must not show at any edge — re-clip or re-drape. Clamp without tenting skin. Large drape over towels; cuff your hands; never shake a drape over the field. Wet-through (strikethrough) is contaminated. Hands stay on the field; below table height is not sterile.</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38  /  59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A FOMITE UNTIL YOU ARE NOT  ·  MONITORING IS ON BEFORE THE FIRST DRUG</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prep_gown_glove_anesthesia.pn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400" b="0">
                <a:solidFill>
                  <a:srgbClr val="1C1C1C"/>
                </a:solidFill>
                <a:latin typeface="Calibri"/>
              </a:rPr>
              <a:t>Closed gloving: hands stay inside the gown cuffs while the glove is pulled on (use the inset, not a bare-hand pull). Open gloving is for replacing a contaminated glove. Cap, mask, short nails, no jewelry. Timed or brushless scrub, fingertips-up. Anesthesia: SpO2, capnograph, ECG, temperature, IV fluids, airway — on before induction. Willie needed this for an ear clean. MoMo never reached induction.</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39  /  59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CONTAMINATE AND STAY SILENT, THE PATIENT PAYS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Breaks in asepsis — recognize, announce, fix</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1B6B7A"/>
                </a:solidFill>
                <a:latin typeface="Calibri"/>
              </a:rPr>
              <a:t>Before the incision (prep / drape)</a:t>
            </a:r>
          </a:p>
        </p:txBody>
      </p:sp>
      <p:sp>
        <p:nvSpPr>
          <p:cNvPr id="10" name="TextBox 9"/>
          <p:cNvSpPr txBox="1"/>
          <p:nvPr/>
        </p:nvSpPr>
        <p:spPr>
          <a:xfrm>
            <a:off x="685800" y="1783080"/>
            <a:ext cx="5120640" cy="4023360"/>
          </a:xfrm>
          <a:prstGeom prst="rect">
            <a:avLst/>
          </a:prstGeom>
          <a:noFill/>
        </p:spPr>
        <p:txBody>
          <a:bodyPr wrap="square" anchor="t"/>
          <a:lstStyle/>
          <a:p>
            <a:pPr algn="l"/>
            <a:r>
              <a:rPr sz="1500" b="0">
                <a:solidFill>
                  <a:srgbClr val="1C1C1C"/>
                </a:solidFill>
                <a:latin typeface="Calibri"/>
              </a:rPr>
              <a:t>If YOU contaminate yourself or the field: say it immediately and correct (re-glove, re-gown, re-drape).
Name it once, fix it completely.
A second unrecognized break means you cannot maintain an aseptic field — stop.
This is how we protect a client-owned animal, not a game of gotcha.</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8B2E2E"/>
                </a:solidFill>
                <a:latin typeface="Calibri"/>
              </a:rPr>
              <a:t>After the incision is made</a:t>
            </a:r>
          </a:p>
        </p:txBody>
      </p:sp>
      <p:sp>
        <p:nvSpPr>
          <p:cNvPr id="13" name="TextBox 12"/>
          <p:cNvSpPr txBox="1"/>
          <p:nvPr/>
        </p:nvSpPr>
        <p:spPr>
          <a:xfrm>
            <a:off x="6492240" y="1783080"/>
            <a:ext cx="5029200" cy="4023360"/>
          </a:xfrm>
          <a:prstGeom prst="rect">
            <a:avLst/>
          </a:prstGeom>
          <a:noFill/>
        </p:spPr>
        <p:txBody>
          <a:bodyPr wrap="square" anchor="t"/>
          <a:lstStyle/>
          <a:p>
            <a:pPr algn="l"/>
            <a:r>
              <a:rPr sz="1500" b="0">
                <a:solidFill>
                  <a:srgbClr val="1C1C1C"/>
                </a:solidFill>
                <a:latin typeface="Calibri"/>
              </a:rPr>
              <a:t>Once the incision is made, there is no free pass.
You must notice, announce, and completely correct.
If you do not, or if you correct incompletely, you have put the animal at risk.
Examples: sleeve in the abdomen, instrument off the table used again, hole in glove ignored, dripping sweat onto the field.</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40  /  59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DVM 612 PROFESSIONAL STANDARD  ·  PATIENT SAFETY, NOT A TRIVIA LIST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Never-events — these stop the surgery</a:t>
            </a:r>
          </a:p>
        </p:txBody>
      </p:sp>
      <p:sp>
        <p:nvSpPr>
          <p:cNvPr id="8" name="TextBox 7"/>
          <p:cNvSpPr txBox="1"/>
          <p:nvPr/>
        </p:nvSpPr>
        <p:spPr>
          <a:xfrm>
            <a:off x="502920" y="1097280"/>
            <a:ext cx="11155680" cy="3840480"/>
          </a:xfrm>
          <a:prstGeom prst="rect">
            <a:avLst/>
          </a:prstGeom>
          <a:noFill/>
        </p:spPr>
        <p:txBody>
          <a:bodyPr wrap="square">
            <a:spAutoFit/>
          </a:bodyPr>
          <a:lstStyle/>
          <a:p>
            <a:pPr algn="l">
              <a:spcAft>
                <a:spcPts val="1200"/>
              </a:spcAft>
            </a:pPr>
            <a:r>
              <a:rPr sz="1800" b="0">
                <a:solidFill>
                  <a:srgbClr val="1C1C1C"/>
                </a:solidFill>
                <a:latin typeface="Calibri"/>
              </a:rPr>
              <a:t>▸  1. Fail to control significant hemorrhage.</a:t>
            </a:r>
          </a:p>
          <a:p>
            <a:pPr algn="l">
              <a:spcAft>
                <a:spcPts val="1200"/>
              </a:spcAft>
            </a:pPr>
            <a:r>
              <a:rPr sz="1800" b="0">
                <a:solidFill>
                  <a:srgbClr val="1C1C1C"/>
                </a:solidFill>
                <a:latin typeface="Calibri"/>
              </a:rPr>
              <a:t>▸  2. Fail to create a secure abdominal wall closure.</a:t>
            </a:r>
          </a:p>
          <a:p>
            <a:pPr algn="l">
              <a:spcAft>
                <a:spcPts val="1200"/>
              </a:spcAft>
            </a:pPr>
            <a:r>
              <a:rPr sz="1800" b="0">
                <a:solidFill>
                  <a:srgbClr val="1C1C1C"/>
                </a:solidFill>
                <a:latin typeface="Calibri"/>
              </a:rPr>
              <a:t>▸  3. Unable to achieve and maintain an aseptic field (patient and surgeon preparation included).</a:t>
            </a:r>
          </a:p>
          <a:p>
            <a:pPr algn="l">
              <a:spcAft>
                <a:spcPts val="1200"/>
              </a:spcAft>
            </a:pPr>
            <a:r>
              <a:rPr sz="1800" b="0">
                <a:solidFill>
                  <a:srgbClr val="1C1C1C"/>
                </a:solidFill>
                <a:latin typeface="Calibri"/>
              </a:rPr>
              <a:t>▸  4. Significant damage to other organs (e.g., ureter in a clamp or ligature; removing cervix inappropriately).</a:t>
            </a:r>
          </a:p>
          <a:p>
            <a:pPr algn="l">
              <a:spcAft>
                <a:spcPts val="1200"/>
              </a:spcAft>
            </a:pPr>
            <a:r>
              <a:rPr sz="1800" b="0">
                <a:solidFill>
                  <a:srgbClr val="1C1C1C"/>
                </a:solidFill>
                <a:latin typeface="Calibri"/>
              </a:rPr>
              <a:t>▸  5. Any other behavior that puts the animal’s life at risk (retained sponge/instrument is the classic example).</a:t>
            </a:r>
          </a:p>
        </p:txBody>
      </p:sp>
      <p:sp>
        <p:nvSpPr>
          <p:cNvPr id="9" name="Rounded Rectangle 8"/>
          <p:cNvSpPr/>
          <p:nvPr/>
        </p:nvSpPr>
        <p:spPr>
          <a:xfrm>
            <a:off x="457200" y="5120640"/>
            <a:ext cx="11247120" cy="12344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5257800"/>
            <a:ext cx="10789920" cy="960120"/>
          </a:xfrm>
          <a:prstGeom prst="rect">
            <a:avLst/>
          </a:prstGeom>
          <a:noFill/>
        </p:spPr>
        <p:txBody>
          <a:bodyPr wrap="square" anchor="t"/>
          <a:lstStyle/>
          <a:p>
            <a:pPr algn="l"/>
            <a:r>
              <a:rPr sz="1500" b="0">
                <a:solidFill>
                  <a:srgbClr val="0B2C4A"/>
                </a:solidFill>
                <a:latin typeface="Calibri"/>
              </a:rPr>
              <a:t>The operation is not over when the last skin suture is placed. Intra-abdominal hemorrhage from poor ligation, or herniation from a weak linea, can kill the patient after you have left the OR. That is why postoperative care is part of this lecture.</a:t>
            </a:r>
          </a:p>
        </p:txBody>
      </p:sp>
      <p:sp>
        <p:nvSpPr>
          <p:cNvPr id="11" name="Rectangle 10"/>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3" name="TextBox 12"/>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41  /  59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WHICH OF THESE IS ACCEPTABLE?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Knowledge check — preparation</a:t>
            </a:r>
          </a:p>
        </p:txBody>
      </p:sp>
      <p:sp>
        <p:nvSpPr>
          <p:cNvPr id="8" name="Rounded Rectangle 7"/>
          <p:cNvSpPr/>
          <p:nvPr/>
        </p:nvSpPr>
        <p:spPr>
          <a:xfrm>
            <a:off x="457200" y="105156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1170432"/>
          </a:xfrm>
          <a:prstGeom prst="rect">
            <a:avLst/>
          </a:prstGeom>
          <a:noFill/>
        </p:spPr>
        <p:txBody>
          <a:bodyPr wrap="square" anchor="ctr"/>
          <a:lstStyle/>
          <a:p>
            <a:pPr algn="ctr"/>
            <a:r>
              <a:rPr sz="2000" b="1">
                <a:solidFill>
                  <a:srgbClr val="C5A35A"/>
                </a:solidFill>
                <a:latin typeface="Calibri"/>
              </a:rPr>
              <a:t>A</a:t>
            </a:r>
          </a:p>
        </p:txBody>
      </p:sp>
      <p:sp>
        <p:nvSpPr>
          <p:cNvPr id="11" name="TextBox 10"/>
          <p:cNvSpPr txBox="1"/>
          <p:nvPr/>
        </p:nvSpPr>
        <p:spPr>
          <a:xfrm>
            <a:off x="1280160" y="1143000"/>
            <a:ext cx="10149840" cy="457200"/>
          </a:xfrm>
          <a:prstGeom prst="rect">
            <a:avLst/>
          </a:prstGeom>
          <a:noFill/>
        </p:spPr>
        <p:txBody>
          <a:bodyPr wrap="square" anchor="t"/>
          <a:lstStyle/>
          <a:p>
            <a:pPr algn="l"/>
            <a:r>
              <a:rPr sz="1500" b="1">
                <a:solidFill>
                  <a:srgbClr val="1C1C1C"/>
                </a:solidFill>
                <a:latin typeface="Calibri"/>
              </a:rPr>
              <a:t>Clip the OHE field the night before to save time at induction.</a:t>
            </a:r>
          </a:p>
        </p:txBody>
      </p:sp>
      <p:sp>
        <p:nvSpPr>
          <p:cNvPr id="12" name="TextBox 11"/>
          <p:cNvSpPr txBox="1"/>
          <p:nvPr/>
        </p:nvSpPr>
        <p:spPr>
          <a:xfrm>
            <a:off x="1280160" y="1645920"/>
            <a:ext cx="10149840" cy="457200"/>
          </a:xfrm>
          <a:prstGeom prst="rect">
            <a:avLst/>
          </a:prstGeom>
          <a:noFill/>
        </p:spPr>
        <p:txBody>
          <a:bodyPr wrap="square" anchor="t"/>
          <a:lstStyle/>
          <a:p>
            <a:pPr algn="l"/>
            <a:r>
              <a:rPr sz="1400" b="0">
                <a:solidFill>
                  <a:srgbClr val="1B6B7A"/>
                </a:solidFill>
                <a:latin typeface="Calibri"/>
              </a:rPr>
              <a:t>No. Increases bacterial load and clipper injury.</a:t>
            </a:r>
          </a:p>
        </p:txBody>
      </p:sp>
      <p:sp>
        <p:nvSpPr>
          <p:cNvPr id="13" name="Rounded Rectangle 12"/>
          <p:cNvSpPr/>
          <p:nvPr/>
        </p:nvSpPr>
        <p:spPr>
          <a:xfrm>
            <a:off x="457200" y="233172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3172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31720"/>
            <a:ext cx="640080" cy="1170432"/>
          </a:xfrm>
          <a:prstGeom prst="rect">
            <a:avLst/>
          </a:prstGeom>
          <a:noFill/>
        </p:spPr>
        <p:txBody>
          <a:bodyPr wrap="square" anchor="ctr"/>
          <a:lstStyle/>
          <a:p>
            <a:pPr algn="ctr"/>
            <a:r>
              <a:rPr sz="2000" b="1">
                <a:solidFill>
                  <a:srgbClr val="C5A35A"/>
                </a:solidFill>
                <a:latin typeface="Calibri"/>
              </a:rPr>
              <a:t>B</a:t>
            </a:r>
          </a:p>
        </p:txBody>
      </p:sp>
      <p:sp>
        <p:nvSpPr>
          <p:cNvPr id="16" name="TextBox 15"/>
          <p:cNvSpPr txBox="1"/>
          <p:nvPr/>
        </p:nvSpPr>
        <p:spPr>
          <a:xfrm>
            <a:off x="1280160" y="2423160"/>
            <a:ext cx="10149840" cy="457200"/>
          </a:xfrm>
          <a:prstGeom prst="rect">
            <a:avLst/>
          </a:prstGeom>
          <a:noFill/>
        </p:spPr>
        <p:txBody>
          <a:bodyPr wrap="square" anchor="t"/>
          <a:lstStyle/>
          <a:p>
            <a:pPr algn="l"/>
            <a:r>
              <a:rPr sz="1500" b="1">
                <a:solidFill>
                  <a:srgbClr val="1C1C1C"/>
                </a:solidFill>
                <a:latin typeface="Calibri"/>
              </a:rPr>
              <a:t>Razor the incision line for a ‘closer shave.’</a:t>
            </a:r>
          </a:p>
        </p:txBody>
      </p:sp>
      <p:sp>
        <p:nvSpPr>
          <p:cNvPr id="17" name="TextBox 16"/>
          <p:cNvSpPr txBox="1"/>
          <p:nvPr/>
        </p:nvSpPr>
        <p:spPr>
          <a:xfrm>
            <a:off x="1280160" y="2926080"/>
            <a:ext cx="10149840" cy="457200"/>
          </a:xfrm>
          <a:prstGeom prst="rect">
            <a:avLst/>
          </a:prstGeom>
          <a:noFill/>
        </p:spPr>
        <p:txBody>
          <a:bodyPr wrap="square" anchor="t"/>
          <a:lstStyle/>
          <a:p>
            <a:pPr algn="l"/>
            <a:r>
              <a:rPr sz="1400" b="0">
                <a:solidFill>
                  <a:srgbClr val="1B6B7A"/>
                </a:solidFill>
                <a:latin typeface="Calibri"/>
              </a:rPr>
              <a:t>No. Micro-nicks, higher SSI.</a:t>
            </a:r>
          </a:p>
        </p:txBody>
      </p:sp>
      <p:sp>
        <p:nvSpPr>
          <p:cNvPr id="18" name="Rounded Rectangle 17"/>
          <p:cNvSpPr/>
          <p:nvPr/>
        </p:nvSpPr>
        <p:spPr>
          <a:xfrm>
            <a:off x="457200" y="3611880"/>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11880"/>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11880"/>
            <a:ext cx="640080" cy="1170432"/>
          </a:xfrm>
          <a:prstGeom prst="rect">
            <a:avLst/>
          </a:prstGeom>
          <a:noFill/>
        </p:spPr>
        <p:txBody>
          <a:bodyPr wrap="square" anchor="ctr"/>
          <a:lstStyle/>
          <a:p>
            <a:pPr algn="ctr"/>
            <a:r>
              <a:rPr sz="2000" b="1">
                <a:solidFill>
                  <a:srgbClr val="C5A35A"/>
                </a:solidFill>
                <a:latin typeface="Calibri"/>
              </a:rPr>
              <a:t>C</a:t>
            </a:r>
          </a:p>
        </p:txBody>
      </p:sp>
      <p:sp>
        <p:nvSpPr>
          <p:cNvPr id="21" name="TextBox 20"/>
          <p:cNvSpPr txBox="1"/>
          <p:nvPr/>
        </p:nvSpPr>
        <p:spPr>
          <a:xfrm>
            <a:off x="1280160" y="3703320"/>
            <a:ext cx="10149840" cy="457200"/>
          </a:xfrm>
          <a:prstGeom prst="rect">
            <a:avLst/>
          </a:prstGeom>
          <a:noFill/>
        </p:spPr>
        <p:txBody>
          <a:bodyPr wrap="square" anchor="t"/>
          <a:lstStyle/>
          <a:p>
            <a:pPr algn="l"/>
            <a:r>
              <a:rPr sz="1500" b="1">
                <a:solidFill>
                  <a:srgbClr val="1C1C1C"/>
                </a:solidFill>
                <a:latin typeface="Calibri"/>
              </a:rPr>
              <a:t>CHG scrub, then a drop of CHG runs into the eye — rinse and continue.</a:t>
            </a:r>
          </a:p>
        </p:txBody>
      </p:sp>
      <p:sp>
        <p:nvSpPr>
          <p:cNvPr id="22" name="TextBox 21"/>
          <p:cNvSpPr txBox="1"/>
          <p:nvPr/>
        </p:nvSpPr>
        <p:spPr>
          <a:xfrm>
            <a:off x="1280160" y="4206240"/>
            <a:ext cx="10149840" cy="457200"/>
          </a:xfrm>
          <a:prstGeom prst="rect">
            <a:avLst/>
          </a:prstGeom>
          <a:noFill/>
        </p:spPr>
        <p:txBody>
          <a:bodyPr wrap="square" anchor="t"/>
          <a:lstStyle/>
          <a:p>
            <a:pPr algn="l"/>
            <a:r>
              <a:rPr sz="1400" b="0">
                <a:solidFill>
                  <a:srgbClr val="1B6B7A"/>
                </a:solidFill>
                <a:latin typeface="Calibri"/>
              </a:rPr>
              <a:t>Emergency for the eye. CHG is corneal-toxic. Irrigate immediately; do not ‘continue.’</a:t>
            </a:r>
          </a:p>
        </p:txBody>
      </p:sp>
      <p:sp>
        <p:nvSpPr>
          <p:cNvPr id="23" name="Rounded Rectangle 22"/>
          <p:cNvSpPr/>
          <p:nvPr/>
        </p:nvSpPr>
        <p:spPr>
          <a:xfrm>
            <a:off x="457200" y="4892039"/>
            <a:ext cx="1124712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892039"/>
            <a:ext cx="640080" cy="11704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92039"/>
            <a:ext cx="640080" cy="1170432"/>
          </a:xfrm>
          <a:prstGeom prst="rect">
            <a:avLst/>
          </a:prstGeom>
          <a:noFill/>
        </p:spPr>
        <p:txBody>
          <a:bodyPr wrap="square" anchor="ctr"/>
          <a:lstStyle/>
          <a:p>
            <a:pPr algn="ctr"/>
            <a:r>
              <a:rPr sz="2000" b="1">
                <a:solidFill>
                  <a:srgbClr val="C5A35A"/>
                </a:solidFill>
                <a:latin typeface="Calibri"/>
              </a:rPr>
              <a:t>D</a:t>
            </a:r>
          </a:p>
        </p:txBody>
      </p:sp>
      <p:sp>
        <p:nvSpPr>
          <p:cNvPr id="26" name="TextBox 25"/>
          <p:cNvSpPr txBox="1"/>
          <p:nvPr/>
        </p:nvSpPr>
        <p:spPr>
          <a:xfrm>
            <a:off x="1280160" y="4983479"/>
            <a:ext cx="10149840" cy="457200"/>
          </a:xfrm>
          <a:prstGeom prst="rect">
            <a:avLst/>
          </a:prstGeom>
          <a:noFill/>
        </p:spPr>
        <p:txBody>
          <a:bodyPr wrap="square" anchor="t"/>
          <a:lstStyle/>
          <a:p>
            <a:pPr algn="l"/>
            <a:r>
              <a:rPr sz="1500" b="1">
                <a:solidFill>
                  <a:srgbClr val="1C1C1C"/>
                </a:solidFill>
                <a:latin typeface="Calibri"/>
              </a:rPr>
              <a:t>Hair visible at the drape edge; you add another towel to cover it.</a:t>
            </a:r>
          </a:p>
        </p:txBody>
      </p:sp>
      <p:sp>
        <p:nvSpPr>
          <p:cNvPr id="27" name="TextBox 26"/>
          <p:cNvSpPr txBox="1"/>
          <p:nvPr/>
        </p:nvSpPr>
        <p:spPr>
          <a:xfrm>
            <a:off x="1280160" y="5486399"/>
            <a:ext cx="10149840" cy="457200"/>
          </a:xfrm>
          <a:prstGeom prst="rect">
            <a:avLst/>
          </a:prstGeom>
          <a:noFill/>
        </p:spPr>
        <p:txBody>
          <a:bodyPr wrap="square" anchor="t"/>
          <a:lstStyle/>
          <a:p>
            <a:pPr algn="l"/>
            <a:r>
              <a:rPr sz="1400" b="0">
                <a:solidFill>
                  <a:srgbClr val="1B6B7A"/>
                </a:solidFill>
                <a:latin typeface="Calibri"/>
              </a:rPr>
              <a:t>Yes — if the added drape is sterile and the field is truly covered. Best is an adequate clip.</a:t>
            </a:r>
          </a:p>
        </p:txBody>
      </p:sp>
      <p:sp>
        <p:nvSpPr>
          <p:cNvPr id="28" name="Rectangle 27"/>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0" name="TextBox 29"/>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42  /  59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600" b="1">
                <a:solidFill>
                  <a:srgbClr val="C5A35A"/>
                </a:solidFill>
                <a:latin typeface="Calibri"/>
              </a:rPr>
              <a:t>PART III  ·  44–57 MINUTES</a:t>
            </a:r>
          </a:p>
        </p:txBody>
      </p:sp>
      <p:sp>
        <p:nvSpPr>
          <p:cNvPr id="6" name="TextBox 5"/>
          <p:cNvSpPr txBox="1"/>
          <p:nvPr/>
        </p:nvSpPr>
        <p:spPr>
          <a:xfrm>
            <a:off x="640080" y="2331720"/>
            <a:ext cx="10972800" cy="1005840"/>
          </a:xfrm>
          <a:prstGeom prst="rect">
            <a:avLst/>
          </a:prstGeom>
          <a:noFill/>
        </p:spPr>
        <p:txBody>
          <a:bodyPr wrap="square" anchor="t"/>
          <a:lstStyle/>
          <a:p>
            <a:pPr algn="l"/>
            <a:r>
              <a:rPr sz="4000" b="1">
                <a:solidFill>
                  <a:srgbClr val="FFFFFF"/>
                </a:solidFill>
                <a:latin typeface="Calibri"/>
              </a:rPr>
              <a:t>Postoperative care</a:t>
            </a:r>
          </a:p>
        </p:txBody>
      </p:sp>
      <p:sp>
        <p:nvSpPr>
          <p:cNvPr id="7" name="TextBox 6"/>
          <p:cNvSpPr txBox="1"/>
          <p:nvPr/>
        </p:nvSpPr>
        <p:spPr>
          <a:xfrm>
            <a:off x="640080" y="3429000"/>
            <a:ext cx="10972800" cy="640080"/>
          </a:xfrm>
          <a:prstGeom prst="rect">
            <a:avLst/>
          </a:prstGeom>
          <a:noFill/>
        </p:spPr>
        <p:txBody>
          <a:bodyPr wrap="square" anchor="t"/>
          <a:lstStyle/>
          <a:p>
            <a:pPr algn="l"/>
            <a:r>
              <a:rPr sz="2000" b="0">
                <a:solidFill>
                  <a:srgbClr val="F4EBD3"/>
                </a:solidFill>
                <a:latin typeface="Calibri"/>
              </a:rPr>
              <a:t>Recovery · pain · warmth · wound · 24-hour complications · report · discharge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200" b="1">
                <a:solidFill>
                  <a:srgbClr val="0B2C4A"/>
                </a:solidFill>
                <a:latin typeface="Calibri"/>
              </a:rPr>
              <a:t>~13 minutes</a:t>
            </a:r>
          </a:p>
        </p:txBody>
      </p:sp>
      <p:sp>
        <p:nvSpPr>
          <p:cNvPr id="10" name="TextBox 9"/>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43  /  59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AIRWAY, BREATHING, CIRCULATION, TEMPERATURE, PAIN — THEN THE KENNEL</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Immediate recovery — stay with the patient</a:t>
            </a:r>
          </a:p>
        </p:txBody>
      </p:sp>
      <p:pic>
        <p:nvPicPr>
          <p:cNvPr id="8" name="Picture 7" descr="postop_recovery_monitoring.pn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600" b="1">
                <a:solidFill>
                  <a:srgbClr val="0B2C4A"/>
                </a:solidFill>
                <a:latin typeface="Calibri"/>
              </a:rPr>
              <a:t>Do not leave</a:t>
            </a:r>
          </a:p>
        </p:txBody>
      </p:sp>
      <p:sp>
        <p:nvSpPr>
          <p:cNvPr id="11" name="TextBox 10"/>
          <p:cNvSpPr txBox="1"/>
          <p:nvPr/>
        </p:nvSpPr>
        <p:spPr>
          <a:xfrm>
            <a:off x="8001000" y="1600200"/>
            <a:ext cx="3703320" cy="4617720"/>
          </a:xfrm>
          <a:prstGeom prst="rect">
            <a:avLst/>
          </a:prstGeom>
          <a:noFill/>
        </p:spPr>
        <p:txBody>
          <a:bodyPr wrap="square">
            <a:spAutoFit/>
          </a:bodyPr>
          <a:lstStyle/>
          <a:p>
            <a:pPr algn="l">
              <a:spcAft>
                <a:spcPts val="600"/>
              </a:spcAft>
            </a:pPr>
            <a:r>
              <a:rPr sz="1300" b="0">
                <a:solidFill>
                  <a:srgbClr val="1C1C1C"/>
                </a:solidFill>
                <a:latin typeface="Calibri"/>
              </a:rPr>
              <a:t>▸  Extubate when swallow/gag returns (later in brachycephalics).</a:t>
            </a:r>
          </a:p>
          <a:p>
            <a:pPr algn="l">
              <a:spcAft>
                <a:spcPts val="600"/>
              </a:spcAft>
            </a:pPr>
            <a:r>
              <a:rPr sz="1300" b="0">
                <a:solidFill>
                  <a:srgbClr val="1C1C1C"/>
                </a:solidFill>
                <a:latin typeface="Calibri"/>
              </a:rPr>
              <a:t>▸  SpO2, mm, CRT, pulse. Pale + tachycardia after celiotomy = hemorrhage until proven otherwise.</a:t>
            </a:r>
          </a:p>
          <a:p>
            <a:pPr algn="l">
              <a:spcAft>
                <a:spcPts val="600"/>
              </a:spcAft>
            </a:pPr>
            <a:r>
              <a:rPr sz="1300" b="0">
                <a:solidFill>
                  <a:srgbClr val="1C1C1C"/>
                </a:solidFill>
                <a:latin typeface="Calibri"/>
              </a:rPr>
              <a:t>▸  Rewarm; do not burn.</a:t>
            </a:r>
          </a:p>
          <a:p>
            <a:pPr algn="l">
              <a:spcAft>
                <a:spcPts val="600"/>
              </a:spcAft>
            </a:pPr>
            <a:r>
              <a:rPr sz="1300" b="0">
                <a:solidFill>
                  <a:srgbClr val="1C1C1C"/>
                </a:solidFill>
                <a:latin typeface="Calibri"/>
              </a:rPr>
              <a:t>▸  Score pain. Give the analgesic you planned. Willie: no NSAID after DexSP.</a:t>
            </a:r>
          </a:p>
          <a:p>
            <a:pPr algn="l">
              <a:spcAft>
                <a:spcPts val="600"/>
              </a:spcAft>
            </a:pPr>
            <a:r>
              <a:rPr sz="1300" b="0">
                <a:solidFill>
                  <a:srgbClr val="1C1C1C"/>
                </a:solidFill>
                <a:latin typeface="Calibri"/>
              </a:rPr>
              <a:t>▸  E-collar on before they can lick.</a:t>
            </a:r>
          </a:p>
          <a:p>
            <a:pPr algn="l">
              <a:spcAft>
                <a:spcPts val="600"/>
              </a:spcAft>
            </a:pPr>
            <a:r>
              <a:rPr sz="1300" b="0">
                <a:solidFill>
                  <a:srgbClr val="1C1C1C"/>
                </a:solidFill>
                <a:latin typeface="Calibri"/>
              </a:rPr>
              <a:t>▸  A ‘quiet’ animal may be cold, hypotensive, or painful.</a:t>
            </a:r>
          </a:p>
        </p:txBody>
      </p:sp>
      <p:sp>
        <p:nvSpPr>
          <p:cNvPr id="12" name="Rectangle 1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4" name="TextBox 1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44  /  59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IT IS NOT WRITTEN, IT WAS NOT DONE  ·  TEACHING FORM</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Postoperative flowsheet — first 2 hours</a:t>
            </a:r>
          </a:p>
        </p:txBody>
      </p:sp>
      <p:pic>
        <p:nvPicPr>
          <p:cNvPr id="8" name="Picture 7" descr="recovery_flowsheet.png"/>
          <p:cNvPicPr>
            <a:picLocks noChangeAspect="1"/>
          </p:cNvPicPr>
          <p:nvPr/>
        </p:nvPicPr>
        <p:blipFill>
          <a:blip r:embed="rId2"/>
          <a:stretch>
            <a:fillRect/>
          </a:stretch>
        </p:blipFill>
        <p:spPr>
          <a:xfrm>
            <a:off x="256032" y="987552"/>
            <a:ext cx="11658600" cy="5577840"/>
          </a:xfrm>
          <a:prstGeom prst="rect">
            <a:avLst/>
          </a:prstGeom>
        </p:spPr>
      </p:pic>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45  /  59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DO NOT SCORE IT, YOU WILL NOT TREAT IT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Pain assessment is a vital sign</a:t>
            </a:r>
          </a:p>
        </p:txBody>
      </p:sp>
      <p:sp>
        <p:nvSpPr>
          <p:cNvPr id="8" name="Rounded Rectangle 7"/>
          <p:cNvSpPr/>
          <p:nvPr/>
        </p:nvSpPr>
        <p:spPr>
          <a:xfrm>
            <a:off x="457200" y="1097280"/>
            <a:ext cx="557784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120640" cy="365760"/>
          </a:xfrm>
          <a:prstGeom prst="rect">
            <a:avLst/>
          </a:prstGeom>
          <a:noFill/>
        </p:spPr>
        <p:txBody>
          <a:bodyPr wrap="square" anchor="t"/>
          <a:lstStyle/>
          <a:p>
            <a:pPr algn="l"/>
            <a:r>
              <a:rPr sz="1600" b="1">
                <a:solidFill>
                  <a:srgbClr val="0B2C4A"/>
                </a:solidFill>
                <a:latin typeface="Calibri"/>
              </a:rPr>
              <a:t>Use a scale. Write the number.</a:t>
            </a:r>
          </a:p>
        </p:txBody>
      </p:sp>
      <p:sp>
        <p:nvSpPr>
          <p:cNvPr id="10" name="TextBox 9"/>
          <p:cNvSpPr txBox="1"/>
          <p:nvPr/>
        </p:nvSpPr>
        <p:spPr>
          <a:xfrm>
            <a:off x="640080" y="1783080"/>
            <a:ext cx="5212080" cy="4114800"/>
          </a:xfrm>
          <a:prstGeom prst="rect">
            <a:avLst/>
          </a:prstGeom>
          <a:noFill/>
        </p:spPr>
        <p:txBody>
          <a:bodyPr wrap="square">
            <a:spAutoFit/>
          </a:bodyPr>
          <a:lstStyle/>
          <a:p>
            <a:pPr algn="l">
              <a:spcAft>
                <a:spcPts val="800"/>
              </a:spcAft>
            </a:pPr>
            <a:r>
              <a:rPr sz="1500" b="0">
                <a:solidFill>
                  <a:srgbClr val="1C1C1C"/>
                </a:solidFill>
                <a:latin typeface="Calibri"/>
              </a:rPr>
              <a:t>▸  Dogs: Glasgow Composite Measure Pain Scale (short form) is a common teaching standard.</a:t>
            </a:r>
          </a:p>
          <a:p>
            <a:pPr algn="l">
              <a:spcAft>
                <a:spcPts val="800"/>
              </a:spcAft>
            </a:pPr>
            <a:r>
              <a:rPr sz="1500" b="0">
                <a:solidFill>
                  <a:srgbClr val="1C1C1C"/>
                </a:solidFill>
                <a:latin typeface="Calibri"/>
              </a:rPr>
              <a:t>▸  Cats: Feline Grimace Scale + behavior (hide, hunched, no groom).</a:t>
            </a:r>
          </a:p>
          <a:p>
            <a:pPr algn="l">
              <a:spcAft>
                <a:spcPts val="800"/>
              </a:spcAft>
            </a:pPr>
            <a:r>
              <a:rPr sz="1500" b="0">
                <a:solidFill>
                  <a:srgbClr val="1C1C1C"/>
                </a:solidFill>
                <a:latin typeface="Calibri"/>
              </a:rPr>
              <a:t>▸  Colorado State University scales are also widely used in teaching hospitals.</a:t>
            </a:r>
          </a:p>
          <a:p>
            <a:pPr algn="l">
              <a:spcAft>
                <a:spcPts val="800"/>
              </a:spcAft>
            </a:pPr>
            <a:r>
              <a:rPr sz="1500" b="0">
                <a:solidFill>
                  <a:srgbClr val="1C1C1C"/>
                </a:solidFill>
                <a:latin typeface="Calibri"/>
              </a:rPr>
              <a:t>▸  Re-score after intervention. A single ‘looks comfortable’ at 10 pm is not a plan.</a:t>
            </a:r>
          </a:p>
          <a:p>
            <a:pPr algn="l">
              <a:spcAft>
                <a:spcPts val="800"/>
              </a:spcAft>
            </a:pPr>
            <a:r>
              <a:rPr sz="1500" b="0">
                <a:solidFill>
                  <a:srgbClr val="1C1C1C"/>
                </a:solidFill>
                <a:latin typeface="Calibri"/>
              </a:rPr>
              <a:t>▸  Large animals: species-specific (horse: pawing, flank watching, reduced appetite; cattle: isolation, bruxism).</a:t>
            </a:r>
          </a:p>
        </p:txBody>
      </p:sp>
      <p:sp>
        <p:nvSpPr>
          <p:cNvPr id="11" name="Rounded Rectangle 10"/>
          <p:cNvSpPr/>
          <p:nvPr/>
        </p:nvSpPr>
        <p:spPr>
          <a:xfrm>
            <a:off x="6263640" y="1097280"/>
            <a:ext cx="544068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80160"/>
            <a:ext cx="5029200" cy="365760"/>
          </a:xfrm>
          <a:prstGeom prst="rect">
            <a:avLst/>
          </a:prstGeom>
          <a:noFill/>
        </p:spPr>
        <p:txBody>
          <a:bodyPr wrap="square" anchor="t"/>
          <a:lstStyle/>
          <a:p>
            <a:pPr algn="l"/>
            <a:r>
              <a:rPr sz="1600" b="1">
                <a:solidFill>
                  <a:srgbClr val="0B2C4A"/>
                </a:solidFill>
                <a:latin typeface="Calibri"/>
              </a:rPr>
              <a:t>Treat to the surgery you did</a:t>
            </a:r>
          </a:p>
        </p:txBody>
      </p:sp>
      <p:sp>
        <p:nvSpPr>
          <p:cNvPr id="13" name="TextBox 12"/>
          <p:cNvSpPr txBox="1"/>
          <p:nvPr/>
        </p:nvSpPr>
        <p:spPr>
          <a:xfrm>
            <a:off x="6446520" y="1783080"/>
            <a:ext cx="5074920" cy="4114800"/>
          </a:xfrm>
          <a:prstGeom prst="rect">
            <a:avLst/>
          </a:prstGeom>
          <a:noFill/>
        </p:spPr>
        <p:txBody>
          <a:bodyPr wrap="square">
            <a:spAutoFit/>
          </a:bodyPr>
          <a:lstStyle/>
          <a:p>
            <a:pPr algn="l">
              <a:spcAft>
                <a:spcPts val="800"/>
              </a:spcAft>
            </a:pPr>
            <a:r>
              <a:rPr sz="1500" b="0">
                <a:solidFill>
                  <a:srgbClr val="1C1C1C"/>
                </a:solidFill>
                <a:latin typeface="Calibri"/>
              </a:rPr>
              <a:t>▸  Soft tissue elective: opioid ± NSAID ± local is often enough.</a:t>
            </a:r>
          </a:p>
          <a:p>
            <a:pPr algn="l">
              <a:spcAft>
                <a:spcPts val="800"/>
              </a:spcAft>
            </a:pPr>
            <a:r>
              <a:rPr sz="1500" b="0">
                <a:solidFill>
                  <a:srgbClr val="1C1C1C"/>
                </a:solidFill>
                <a:latin typeface="Calibri"/>
              </a:rPr>
              <a:t>▸  Celiotomy / orthopedic: expect more — CRIs, additional locals, overnight monitoring.</a:t>
            </a:r>
          </a:p>
          <a:p>
            <a:pPr algn="l">
              <a:spcAft>
                <a:spcPts val="800"/>
              </a:spcAft>
            </a:pPr>
            <a:r>
              <a:rPr sz="1500" b="0">
                <a:solidFill>
                  <a:srgbClr val="1C1C1C"/>
                </a:solidFill>
                <a:latin typeface="Calibri"/>
              </a:rPr>
              <a:t>▸  Do not send home only tramadol and hope (dogs: weak evidence).</a:t>
            </a:r>
          </a:p>
          <a:p>
            <a:pPr algn="l">
              <a:spcAft>
                <a:spcPts val="800"/>
              </a:spcAft>
            </a:pPr>
            <a:r>
              <a:rPr sz="1500" b="0">
                <a:solidFill>
                  <a:srgbClr val="1C1C1C"/>
                </a:solidFill>
                <a:latin typeface="Calibri"/>
              </a:rPr>
              <a:t>▸  Client: how to give meds, what sedation vs. pain looks like, when to call.</a:t>
            </a:r>
          </a:p>
          <a:p>
            <a:pPr algn="l">
              <a:spcAft>
                <a:spcPts val="800"/>
              </a:spcAft>
            </a:pPr>
            <a:r>
              <a:rPr sz="1500" b="0">
                <a:solidFill>
                  <a:srgbClr val="1C1C1C"/>
                </a:solidFill>
                <a:latin typeface="Calibri"/>
              </a:rPr>
              <a:t>▸  Dysphoria ≠ pain, but treat pain first if unsure.</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46  /  59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PROTECT THE APPOSITION YOU JUST CREATED</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incision after you leave it</a:t>
            </a:r>
          </a:p>
        </p:txBody>
      </p:sp>
      <p:sp>
        <p:nvSpPr>
          <p:cNvPr id="8" name="Rounded Rectangle 7"/>
          <p:cNvSpPr/>
          <p:nvPr/>
        </p:nvSpPr>
        <p:spPr>
          <a:xfrm>
            <a:off x="4114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3337560" cy="347472"/>
          </a:xfrm>
          <a:prstGeom prst="rect">
            <a:avLst/>
          </a:prstGeom>
          <a:noFill/>
        </p:spPr>
        <p:txBody>
          <a:bodyPr wrap="square" anchor="t"/>
          <a:lstStyle/>
          <a:p>
            <a:pPr algn="l"/>
            <a:r>
              <a:rPr sz="1500" b="1">
                <a:solidFill>
                  <a:srgbClr val="0B2C4A"/>
                </a:solidFill>
                <a:latin typeface="Calibri"/>
              </a:rPr>
              <a:t>Look</a:t>
            </a:r>
          </a:p>
        </p:txBody>
      </p:sp>
      <p:sp>
        <p:nvSpPr>
          <p:cNvPr id="11" name="TextBox 10"/>
          <p:cNvSpPr txBox="1"/>
          <p:nvPr/>
        </p:nvSpPr>
        <p:spPr>
          <a:xfrm>
            <a:off x="667512" y="1536192"/>
            <a:ext cx="3337560" cy="1801368"/>
          </a:xfrm>
          <a:prstGeom prst="rect">
            <a:avLst/>
          </a:prstGeom>
          <a:noFill/>
        </p:spPr>
        <p:txBody>
          <a:bodyPr wrap="square" anchor="t"/>
          <a:lstStyle/>
          <a:p>
            <a:pPr algn="l"/>
            <a:r>
              <a:rPr sz="1300" b="0">
                <a:solidFill>
                  <a:srgbClr val="3D4A57"/>
                </a:solidFill>
                <a:latin typeface="Calibri"/>
              </a:rPr>
              <a:t>Twice daily: swelling, discharge, gapping, smell, heat, bruise vs. hematoma. Photograph if the client is anxious.</a:t>
            </a:r>
          </a:p>
        </p:txBody>
      </p:sp>
      <p:sp>
        <p:nvSpPr>
          <p:cNvPr id="12" name="Rounded Rectangle 11"/>
          <p:cNvSpPr/>
          <p:nvPr/>
        </p:nvSpPr>
        <p:spPr>
          <a:xfrm>
            <a:off x="42976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337560" cy="347472"/>
          </a:xfrm>
          <a:prstGeom prst="rect">
            <a:avLst/>
          </a:prstGeom>
          <a:noFill/>
        </p:spPr>
        <p:txBody>
          <a:bodyPr wrap="square" anchor="t"/>
          <a:lstStyle/>
          <a:p>
            <a:pPr algn="l"/>
            <a:r>
              <a:rPr sz="1500" b="1">
                <a:solidFill>
                  <a:srgbClr val="0B2C4A"/>
                </a:solidFill>
                <a:latin typeface="Calibri"/>
              </a:rPr>
              <a:t>Lick</a:t>
            </a:r>
          </a:p>
        </p:txBody>
      </p:sp>
      <p:sp>
        <p:nvSpPr>
          <p:cNvPr id="15" name="TextBox 14"/>
          <p:cNvSpPr txBox="1"/>
          <p:nvPr/>
        </p:nvSpPr>
        <p:spPr>
          <a:xfrm>
            <a:off x="4553712" y="1536192"/>
            <a:ext cx="3337560" cy="1801368"/>
          </a:xfrm>
          <a:prstGeom prst="rect">
            <a:avLst/>
          </a:prstGeom>
          <a:noFill/>
        </p:spPr>
        <p:txBody>
          <a:bodyPr wrap="square" anchor="t"/>
          <a:lstStyle/>
          <a:p>
            <a:pPr algn="l"/>
            <a:r>
              <a:rPr sz="1300" b="0">
                <a:solidFill>
                  <a:srgbClr val="3D4A57"/>
                </a:solidFill>
                <a:latin typeface="Calibri"/>
              </a:rPr>
              <a:t>E-collar, suit, or inflatable — whatever actually stays on. Licking is the leading cause of dehiscence in student surgeries.</a:t>
            </a:r>
          </a:p>
        </p:txBody>
      </p:sp>
      <p:sp>
        <p:nvSpPr>
          <p:cNvPr id="16" name="Rounded Rectangle 15"/>
          <p:cNvSpPr/>
          <p:nvPr/>
        </p:nvSpPr>
        <p:spPr>
          <a:xfrm>
            <a:off x="8183880" y="10972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9912" y="1207008"/>
            <a:ext cx="3337560" cy="347472"/>
          </a:xfrm>
          <a:prstGeom prst="rect">
            <a:avLst/>
          </a:prstGeom>
          <a:noFill/>
        </p:spPr>
        <p:txBody>
          <a:bodyPr wrap="square" anchor="t"/>
          <a:lstStyle/>
          <a:p>
            <a:pPr algn="l"/>
            <a:r>
              <a:rPr sz="1500" b="1">
                <a:solidFill>
                  <a:srgbClr val="0B2C4A"/>
                </a:solidFill>
                <a:latin typeface="Calibri"/>
              </a:rPr>
              <a:t>Motion</a:t>
            </a:r>
          </a:p>
        </p:txBody>
      </p:sp>
      <p:sp>
        <p:nvSpPr>
          <p:cNvPr id="19" name="TextBox 18"/>
          <p:cNvSpPr txBox="1"/>
          <p:nvPr/>
        </p:nvSpPr>
        <p:spPr>
          <a:xfrm>
            <a:off x="8439912" y="1536192"/>
            <a:ext cx="3337560" cy="1801368"/>
          </a:xfrm>
          <a:prstGeom prst="rect">
            <a:avLst/>
          </a:prstGeom>
          <a:noFill/>
        </p:spPr>
        <p:txBody>
          <a:bodyPr wrap="square" anchor="t"/>
          <a:lstStyle/>
          <a:p>
            <a:pPr algn="l"/>
            <a:r>
              <a:rPr sz="1300" b="0">
                <a:solidFill>
                  <a:srgbClr val="3D4A57"/>
                </a:solidFill>
                <a:latin typeface="Calibri"/>
              </a:rPr>
              <a:t>Leash only. No running, jumping, wrestling, stairs unsupervised. Exercise restriction is a prescription, not a suggestion.</a:t>
            </a:r>
          </a:p>
        </p:txBody>
      </p:sp>
      <p:sp>
        <p:nvSpPr>
          <p:cNvPr id="20" name="Rounded Rectangle 19"/>
          <p:cNvSpPr/>
          <p:nvPr/>
        </p:nvSpPr>
        <p:spPr>
          <a:xfrm>
            <a:off x="4114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21608"/>
            <a:ext cx="3337560" cy="347472"/>
          </a:xfrm>
          <a:prstGeom prst="rect">
            <a:avLst/>
          </a:prstGeom>
          <a:noFill/>
        </p:spPr>
        <p:txBody>
          <a:bodyPr wrap="square" anchor="t"/>
          <a:lstStyle/>
          <a:p>
            <a:pPr algn="l"/>
            <a:r>
              <a:rPr sz="1500" b="1">
                <a:solidFill>
                  <a:srgbClr val="0B2C4A"/>
                </a:solidFill>
                <a:latin typeface="Calibri"/>
              </a:rPr>
              <a:t>Clean</a:t>
            </a:r>
          </a:p>
        </p:txBody>
      </p:sp>
      <p:sp>
        <p:nvSpPr>
          <p:cNvPr id="23" name="TextBox 22"/>
          <p:cNvSpPr txBox="1"/>
          <p:nvPr/>
        </p:nvSpPr>
        <p:spPr>
          <a:xfrm>
            <a:off x="667512" y="4050792"/>
            <a:ext cx="3337560" cy="1801368"/>
          </a:xfrm>
          <a:prstGeom prst="rect">
            <a:avLst/>
          </a:prstGeom>
          <a:noFill/>
        </p:spPr>
        <p:txBody>
          <a:bodyPr wrap="square" anchor="t"/>
          <a:lstStyle/>
          <a:p>
            <a:pPr algn="l"/>
            <a:r>
              <a:rPr sz="1300" b="0">
                <a:solidFill>
                  <a:srgbClr val="3D4A57"/>
                </a:solidFill>
                <a:latin typeface="Calibri"/>
              </a:rPr>
              <a:t>Usually no topical ointment unless directed. Do not scrub with CHG daily. Clean dirt with saline if needed.</a:t>
            </a:r>
          </a:p>
        </p:txBody>
      </p:sp>
      <p:sp>
        <p:nvSpPr>
          <p:cNvPr id="24" name="Rounded Rectangle 23"/>
          <p:cNvSpPr/>
          <p:nvPr/>
        </p:nvSpPr>
        <p:spPr>
          <a:xfrm>
            <a:off x="42976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976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3721608"/>
            <a:ext cx="3337560" cy="347472"/>
          </a:xfrm>
          <a:prstGeom prst="rect">
            <a:avLst/>
          </a:prstGeom>
          <a:noFill/>
        </p:spPr>
        <p:txBody>
          <a:bodyPr wrap="square" anchor="t"/>
          <a:lstStyle/>
          <a:p>
            <a:pPr algn="l"/>
            <a:r>
              <a:rPr sz="1500" b="1">
                <a:solidFill>
                  <a:srgbClr val="0B2C4A"/>
                </a:solidFill>
                <a:latin typeface="Calibri"/>
              </a:rPr>
              <a:t>Drain</a:t>
            </a:r>
          </a:p>
        </p:txBody>
      </p:sp>
      <p:sp>
        <p:nvSpPr>
          <p:cNvPr id="27" name="TextBox 26"/>
          <p:cNvSpPr txBox="1"/>
          <p:nvPr/>
        </p:nvSpPr>
        <p:spPr>
          <a:xfrm>
            <a:off x="4553712" y="4050792"/>
            <a:ext cx="3337560" cy="1801368"/>
          </a:xfrm>
          <a:prstGeom prst="rect">
            <a:avLst/>
          </a:prstGeom>
          <a:noFill/>
        </p:spPr>
        <p:txBody>
          <a:bodyPr wrap="square" anchor="t"/>
          <a:lstStyle/>
          <a:p>
            <a:pPr algn="l"/>
            <a:r>
              <a:rPr sz="1300" b="0">
                <a:solidFill>
                  <a:srgbClr val="3D4A57"/>
                </a:solidFill>
                <a:latin typeface="Calibri"/>
              </a:rPr>
              <a:t>If placed: record output, site, and when to pull. Never send a drain without a written plan.</a:t>
            </a:r>
          </a:p>
        </p:txBody>
      </p:sp>
      <p:sp>
        <p:nvSpPr>
          <p:cNvPr id="28" name="Rounded Rectangle 27"/>
          <p:cNvSpPr/>
          <p:nvPr/>
        </p:nvSpPr>
        <p:spPr>
          <a:xfrm>
            <a:off x="8183880" y="3611880"/>
            <a:ext cx="370332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183880" y="3611880"/>
            <a:ext cx="91440" cy="2331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39912" y="3721608"/>
            <a:ext cx="3337560" cy="347472"/>
          </a:xfrm>
          <a:prstGeom prst="rect">
            <a:avLst/>
          </a:prstGeom>
          <a:noFill/>
        </p:spPr>
        <p:txBody>
          <a:bodyPr wrap="square" anchor="t"/>
          <a:lstStyle/>
          <a:p>
            <a:pPr algn="l"/>
            <a:r>
              <a:rPr sz="1500" b="1">
                <a:solidFill>
                  <a:srgbClr val="0B2C4A"/>
                </a:solidFill>
                <a:latin typeface="Calibri"/>
              </a:rPr>
              <a:t>Suture/staple</a:t>
            </a:r>
          </a:p>
        </p:txBody>
      </p:sp>
      <p:sp>
        <p:nvSpPr>
          <p:cNvPr id="31" name="TextBox 30"/>
          <p:cNvSpPr txBox="1"/>
          <p:nvPr/>
        </p:nvSpPr>
        <p:spPr>
          <a:xfrm>
            <a:off x="8439912" y="4050792"/>
            <a:ext cx="3337560" cy="1801368"/>
          </a:xfrm>
          <a:prstGeom prst="rect">
            <a:avLst/>
          </a:prstGeom>
          <a:noFill/>
        </p:spPr>
        <p:txBody>
          <a:bodyPr wrap="square" anchor="t"/>
          <a:lstStyle/>
          <a:p>
            <a:pPr algn="l"/>
            <a:r>
              <a:rPr sz="1300" b="0">
                <a:solidFill>
                  <a:srgbClr val="3D4A57"/>
                </a:solidFill>
                <a:latin typeface="Calibri"/>
              </a:rPr>
              <a:t>Typically 10–14 days for skin in small animals if healing is routine. Absorbable intradermal: still recheck.</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47  /  59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HEMORRHAGE, HERNIA, AND DEHISCENCE SHOW UP AFTER YOU HAVE GONE HOME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The first 24 hours — what fails a surgery after the OR</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6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300" b="0">
                <a:solidFill>
                  <a:srgbClr val="3D4A57"/>
                </a:solidFill>
                <a:latin typeface="Calibri"/>
              </a:rPr>
              <a:t>Pale mm, tachycardia, distending abdomen, drip from incision, collapsing. Return to OR. Do not ‘watch overnight’ if unstable.</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6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3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6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3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6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300" b="0">
                <a:solidFill>
                  <a:srgbClr val="3D4A57"/>
                </a:solidFill>
                <a:latin typeface="Calibri"/>
              </a:rPr>
              <a:t>Often day 3–5 as inflammation peaks and the patient licks. Skin vs. fascia — fascia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6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300" b="0">
                <a:solidFill>
                  <a:srgbClr val="3D4A57"/>
                </a:solidFill>
                <a:latin typeface="Calibri"/>
              </a:rPr>
              <a:t>Redness, pain, discharge, fever, usually after day 3. Culture if indicated. Open, lavage, do not just add a random antibiotic.</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6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300" b="0">
                <a:solidFill>
                  <a:srgbClr val="3D4A57"/>
                </a:solidFill>
                <a:latin typeface="Calibri"/>
              </a:rPr>
              <a:t>Dead space + motion. Usually not an emergency. Restrict, bandage sometimes. Do not drain casually.</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48  /  59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THE NEXT DOCTOR AT 2 A.M. IS YOUR AUDIENCE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Surgical report — if it is not written, it was not done</a:t>
            </a:r>
          </a:p>
        </p:txBody>
      </p:sp>
      <p:sp>
        <p:nvSpPr>
          <p:cNvPr id="8" name="Rounded Rectangle 7"/>
          <p:cNvSpPr/>
          <p:nvPr/>
        </p:nvSpPr>
        <p:spPr>
          <a:xfrm>
            <a:off x="457200" y="1097280"/>
            <a:ext cx="57607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80160"/>
            <a:ext cx="5303520" cy="365760"/>
          </a:xfrm>
          <a:prstGeom prst="rect">
            <a:avLst/>
          </a:prstGeom>
          <a:noFill/>
        </p:spPr>
        <p:txBody>
          <a:bodyPr wrap="square" anchor="t"/>
          <a:lstStyle/>
          <a:p>
            <a:pPr algn="l"/>
            <a:r>
              <a:rPr sz="1600" b="1">
                <a:solidFill>
                  <a:srgbClr val="0B2C4A"/>
                </a:solidFill>
                <a:latin typeface="Calibri"/>
              </a:rPr>
              <a:t>Minimum elements</a:t>
            </a:r>
          </a:p>
        </p:txBody>
      </p:sp>
      <p:sp>
        <p:nvSpPr>
          <p:cNvPr id="10" name="TextBox 9"/>
          <p:cNvSpPr txBox="1"/>
          <p:nvPr/>
        </p:nvSpPr>
        <p:spPr>
          <a:xfrm>
            <a:off x="640080" y="1737360"/>
            <a:ext cx="5394960" cy="4114800"/>
          </a:xfrm>
          <a:prstGeom prst="rect">
            <a:avLst/>
          </a:prstGeom>
          <a:noFill/>
        </p:spPr>
        <p:txBody>
          <a:bodyPr wrap="square">
            <a:spAutoFit/>
          </a:bodyPr>
          <a:lstStyle/>
          <a:p>
            <a:pPr algn="l">
              <a:spcAft>
                <a:spcPts val="500"/>
              </a:spcAft>
            </a:pPr>
            <a:r>
              <a:rPr sz="1500" b="0">
                <a:solidFill>
                  <a:srgbClr val="1C1C1C"/>
                </a:solidFill>
                <a:latin typeface="Calibri"/>
              </a:rPr>
              <a:t>▸  Date/time, patient ID, surgeon, assistant, anesthesia.</a:t>
            </a:r>
          </a:p>
          <a:p>
            <a:pPr algn="l">
              <a:spcAft>
                <a:spcPts val="500"/>
              </a:spcAft>
            </a:pPr>
            <a:r>
              <a:rPr sz="1500" b="0">
                <a:solidFill>
                  <a:srgbClr val="1C1C1C"/>
                </a:solidFill>
                <a:latin typeface="Calibri"/>
              </a:rPr>
              <a:t>▸  Preop diagnosis and ASA.</a:t>
            </a:r>
          </a:p>
          <a:p>
            <a:pPr algn="l">
              <a:spcAft>
                <a:spcPts val="500"/>
              </a:spcAft>
            </a:pPr>
            <a:r>
              <a:rPr sz="1500" b="0">
                <a:solidFill>
                  <a:srgbClr val="1C1C1C"/>
                </a:solidFill>
                <a:latin typeface="Calibri"/>
              </a:rPr>
              <a:t>▸  Procedure name (and side).</a:t>
            </a:r>
          </a:p>
          <a:p>
            <a:pPr algn="l">
              <a:spcAft>
                <a:spcPts val="500"/>
              </a:spcAft>
            </a:pPr>
            <a:r>
              <a:rPr sz="1500" b="0">
                <a:solidFill>
                  <a:srgbClr val="1C1C1C"/>
                </a:solidFill>
                <a:latin typeface="Calibri"/>
              </a:rPr>
              <a:t>▸  Position, clip/prep, approach.</a:t>
            </a:r>
          </a:p>
          <a:p>
            <a:pPr algn="l">
              <a:spcAft>
                <a:spcPts val="500"/>
              </a:spcAft>
            </a:pPr>
            <a:r>
              <a:rPr sz="1500" b="0">
                <a:solidFill>
                  <a:srgbClr val="1C1C1C"/>
                </a:solidFill>
                <a:latin typeface="Calibri"/>
              </a:rPr>
              <a:t>▸  Findings in order of encounter.</a:t>
            </a:r>
          </a:p>
          <a:p>
            <a:pPr algn="l">
              <a:spcAft>
                <a:spcPts val="500"/>
              </a:spcAft>
            </a:pPr>
            <a:r>
              <a:rPr sz="1500" b="0">
                <a:solidFill>
                  <a:srgbClr val="1C1C1C"/>
                </a:solidFill>
                <a:latin typeface="Calibri"/>
              </a:rPr>
              <a:t>▸  What was done — ligatures, implants, samples.</a:t>
            </a:r>
          </a:p>
          <a:p>
            <a:pPr algn="l">
              <a:spcAft>
                <a:spcPts val="500"/>
              </a:spcAft>
            </a:pPr>
            <a:r>
              <a:rPr sz="1500" b="0">
                <a:solidFill>
                  <a:srgbClr val="1C1C1C"/>
                </a:solidFill>
                <a:latin typeface="Calibri"/>
              </a:rPr>
              <a:t>▸  Suture: layer, material, size, pattern.</a:t>
            </a:r>
          </a:p>
          <a:p>
            <a:pPr algn="l">
              <a:spcAft>
                <a:spcPts val="500"/>
              </a:spcAft>
            </a:pPr>
            <a:r>
              <a:rPr sz="1500" b="0">
                <a:solidFill>
                  <a:srgbClr val="1C1C1C"/>
                </a:solidFill>
                <a:latin typeface="Calibri"/>
              </a:rPr>
              <a:t>▸  Hemostasis, estimated blood loss, complications.</a:t>
            </a:r>
          </a:p>
          <a:p>
            <a:pPr algn="l">
              <a:spcAft>
                <a:spcPts val="500"/>
              </a:spcAft>
            </a:pPr>
            <a:r>
              <a:rPr sz="1500" b="0">
                <a:solidFill>
                  <a:srgbClr val="1C1C1C"/>
                </a:solidFill>
                <a:latin typeface="Calibri"/>
              </a:rPr>
              <a:t>▸  Specimens to pathology / culture.</a:t>
            </a:r>
          </a:p>
          <a:p>
            <a:pPr algn="l">
              <a:spcAft>
                <a:spcPts val="500"/>
              </a:spcAft>
            </a:pPr>
            <a:r>
              <a:rPr sz="1500" b="0">
                <a:solidFill>
                  <a:srgbClr val="1C1C1C"/>
                </a:solidFill>
                <a:latin typeface="Calibri"/>
              </a:rPr>
              <a:t>▸  Postop plan: fluids, pain, feeding, urinary, recheck.</a:t>
            </a:r>
          </a:p>
        </p:txBody>
      </p:sp>
      <p:sp>
        <p:nvSpPr>
          <p:cNvPr id="11" name="Rounded Rectangle 10"/>
          <p:cNvSpPr/>
          <p:nvPr/>
        </p:nvSpPr>
        <p:spPr>
          <a:xfrm>
            <a:off x="6446520" y="1097280"/>
            <a:ext cx="5257800" cy="502920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0" y="1325880"/>
            <a:ext cx="4846320" cy="365760"/>
          </a:xfrm>
          <a:prstGeom prst="rect">
            <a:avLst/>
          </a:prstGeom>
          <a:noFill/>
        </p:spPr>
        <p:txBody>
          <a:bodyPr wrap="square" anchor="t"/>
          <a:lstStyle/>
          <a:p>
            <a:pPr algn="l"/>
            <a:r>
              <a:rPr sz="1600" b="1">
                <a:solidFill>
                  <a:srgbClr val="C5A35A"/>
                </a:solidFill>
                <a:latin typeface="Calibri"/>
              </a:rPr>
              <a:t>Why the next doctor cares</a:t>
            </a:r>
          </a:p>
        </p:txBody>
      </p:sp>
      <p:sp>
        <p:nvSpPr>
          <p:cNvPr id="13" name="TextBox 12"/>
          <p:cNvSpPr txBox="1"/>
          <p:nvPr/>
        </p:nvSpPr>
        <p:spPr>
          <a:xfrm>
            <a:off x="6675120" y="1874519"/>
            <a:ext cx="4846320" cy="3931920"/>
          </a:xfrm>
          <a:prstGeom prst="rect">
            <a:avLst/>
          </a:prstGeom>
          <a:noFill/>
        </p:spPr>
        <p:txBody>
          <a:bodyPr wrap="square" anchor="t"/>
          <a:lstStyle/>
          <a:p>
            <a:pPr algn="l"/>
            <a:r>
              <a:rPr sz="1600" b="0">
                <a:solidFill>
                  <a:srgbClr val="FFFFFF"/>
                </a:solidFill>
                <a:latin typeface="Calibri"/>
              </a:rPr>
              <a:t>At 2 a.m. someone will open this record because the abdomen is swelling.
They need: how the pedicles were ligated, whether a sponge count was complete, what suture is in the linea, and whether the client was already called.
Operate as if that night-call is tonight.</a:t>
            </a:r>
          </a:p>
        </p:txBody>
      </p:sp>
      <p:sp>
        <p:nvSpPr>
          <p:cNvPr id="14" name="Rectangle 13"/>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6" name="TextBox 15"/>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49  /  59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VERBAL + WRITTEN. TEACH-BACK. ONE CAREGIVER DEMONSTRATES THE E-COLLAR.</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Discharge instructions — in the client’s language</a:t>
            </a:r>
          </a:p>
        </p:txBody>
      </p:sp>
      <p:sp>
        <p:nvSpPr>
          <p:cNvPr id="8" name="Rounded Rectangle 7"/>
          <p:cNvSpPr/>
          <p:nvPr/>
        </p:nvSpPr>
        <p:spPr>
          <a:xfrm>
            <a:off x="41148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1097280"/>
            <a:ext cx="5212080" cy="1115568"/>
          </a:xfrm>
          <a:prstGeom prst="rect">
            <a:avLst/>
          </a:prstGeom>
          <a:noFill/>
        </p:spPr>
        <p:txBody>
          <a:bodyPr wrap="square" anchor="ctr"/>
          <a:lstStyle/>
          <a:p>
            <a:pPr algn="l"/>
            <a:r>
              <a:rPr sz="1500" b="0">
                <a:solidFill>
                  <a:srgbClr val="1C1C1C"/>
                </a:solidFill>
                <a:latin typeface="Calibri"/>
              </a:rPr>
              <a:t>What we did, in one sentence.</a:t>
            </a:r>
          </a:p>
        </p:txBody>
      </p:sp>
      <p:sp>
        <p:nvSpPr>
          <p:cNvPr id="11" name="Rounded Rectangle 10"/>
          <p:cNvSpPr/>
          <p:nvPr/>
        </p:nvSpPr>
        <p:spPr>
          <a:xfrm>
            <a:off x="6309360" y="109728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0" y="1097280"/>
            <a:ext cx="5212080" cy="1115568"/>
          </a:xfrm>
          <a:prstGeom prst="rect">
            <a:avLst/>
          </a:prstGeom>
          <a:noFill/>
        </p:spPr>
        <p:txBody>
          <a:bodyPr wrap="square" anchor="ctr"/>
          <a:lstStyle/>
          <a:p>
            <a:pPr algn="l"/>
            <a:r>
              <a:rPr sz="1500" b="0">
                <a:solidFill>
                  <a:srgbClr val="1C1C1C"/>
                </a:solidFill>
                <a:latin typeface="Calibri"/>
              </a:rPr>
              <a:t>When to start food and water, and how much.</a:t>
            </a:r>
          </a:p>
        </p:txBody>
      </p:sp>
      <p:sp>
        <p:nvSpPr>
          <p:cNvPr id="14" name="Rounded Rectangle 13"/>
          <p:cNvSpPr/>
          <p:nvPr/>
        </p:nvSpPr>
        <p:spPr>
          <a:xfrm>
            <a:off x="41148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331720"/>
            <a:ext cx="5212080" cy="1115568"/>
          </a:xfrm>
          <a:prstGeom prst="rect">
            <a:avLst/>
          </a:prstGeom>
          <a:noFill/>
        </p:spPr>
        <p:txBody>
          <a:bodyPr wrap="square" anchor="ctr"/>
          <a:lstStyle/>
          <a:p>
            <a:pPr algn="l"/>
            <a:r>
              <a:rPr sz="1500" b="0">
                <a:solidFill>
                  <a:srgbClr val="1C1C1C"/>
                </a:solidFill>
                <a:latin typeface="Calibri"/>
              </a:rPr>
              <a:t>Every medication: name, dose, time, with food?, what if a dose is missed.</a:t>
            </a:r>
          </a:p>
        </p:txBody>
      </p:sp>
      <p:sp>
        <p:nvSpPr>
          <p:cNvPr id="17" name="Rounded Rectangle 16"/>
          <p:cNvSpPr/>
          <p:nvPr/>
        </p:nvSpPr>
        <p:spPr>
          <a:xfrm>
            <a:off x="6309360" y="233172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09360" y="233172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0" y="2331720"/>
            <a:ext cx="5212080" cy="1115568"/>
          </a:xfrm>
          <a:prstGeom prst="rect">
            <a:avLst/>
          </a:prstGeom>
          <a:noFill/>
        </p:spPr>
        <p:txBody>
          <a:bodyPr wrap="square" anchor="ctr"/>
          <a:lstStyle/>
          <a:p>
            <a:pPr algn="l"/>
            <a:r>
              <a:rPr sz="1500" b="0">
                <a:solidFill>
                  <a:srgbClr val="1C1C1C"/>
                </a:solidFill>
                <a:latin typeface="Calibri"/>
              </a:rPr>
              <a:t>Incision care and activity restriction — specific, timed (e.g., 14 days leash-only).</a:t>
            </a:r>
          </a:p>
        </p:txBody>
      </p:sp>
      <p:sp>
        <p:nvSpPr>
          <p:cNvPr id="20" name="Rounded Rectangle 19"/>
          <p:cNvSpPr/>
          <p:nvPr/>
        </p:nvSpPr>
        <p:spPr>
          <a:xfrm>
            <a:off x="41148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566160"/>
            <a:ext cx="5212080" cy="1115568"/>
          </a:xfrm>
          <a:prstGeom prst="rect">
            <a:avLst/>
          </a:prstGeom>
          <a:noFill/>
        </p:spPr>
        <p:txBody>
          <a:bodyPr wrap="square" anchor="ctr"/>
          <a:lstStyle/>
          <a:p>
            <a:pPr algn="l"/>
            <a:r>
              <a:rPr sz="1500" b="0">
                <a:solidFill>
                  <a:srgbClr val="1C1C1C"/>
                </a:solidFill>
                <a:latin typeface="Calibri"/>
              </a:rPr>
              <a:t>E-collar on except when directly watching.</a:t>
            </a:r>
          </a:p>
        </p:txBody>
      </p:sp>
      <p:sp>
        <p:nvSpPr>
          <p:cNvPr id="23" name="Rounded Rectangle 22"/>
          <p:cNvSpPr/>
          <p:nvPr/>
        </p:nvSpPr>
        <p:spPr>
          <a:xfrm>
            <a:off x="6309360" y="356616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356616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0" y="3566160"/>
            <a:ext cx="5212080" cy="1115568"/>
          </a:xfrm>
          <a:prstGeom prst="rect">
            <a:avLst/>
          </a:prstGeom>
          <a:noFill/>
        </p:spPr>
        <p:txBody>
          <a:bodyPr wrap="square" anchor="ctr"/>
          <a:lstStyle/>
          <a:p>
            <a:pPr algn="l"/>
            <a:r>
              <a:rPr sz="1500" b="0">
                <a:solidFill>
                  <a:srgbClr val="1C1C1C"/>
                </a:solidFill>
                <a:latin typeface="Calibri"/>
              </a:rPr>
              <a:t>Next appointment (recheck / suture removal / histopath call).</a:t>
            </a:r>
          </a:p>
        </p:txBody>
      </p:sp>
      <p:sp>
        <p:nvSpPr>
          <p:cNvPr id="26" name="Rounded Rectangle 25"/>
          <p:cNvSpPr/>
          <p:nvPr/>
        </p:nvSpPr>
        <p:spPr>
          <a:xfrm>
            <a:off x="41148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4800600"/>
            <a:ext cx="5212080" cy="1115568"/>
          </a:xfrm>
          <a:prstGeom prst="rect">
            <a:avLst/>
          </a:prstGeom>
          <a:noFill/>
        </p:spPr>
        <p:txBody>
          <a:bodyPr wrap="square" anchor="ctr"/>
          <a:lstStyle/>
          <a:p>
            <a:pPr algn="l"/>
            <a:r>
              <a:rPr sz="1500" b="0">
                <a:solidFill>
                  <a:srgbClr val="1C1C1C"/>
                </a:solidFill>
                <a:latin typeface="Calibri"/>
              </a:rPr>
              <a:t>ER criteria (next slide) with a phone number that answers.</a:t>
            </a:r>
          </a:p>
        </p:txBody>
      </p:sp>
      <p:sp>
        <p:nvSpPr>
          <p:cNvPr id="29" name="Rounded Rectangle 28"/>
          <p:cNvSpPr/>
          <p:nvPr/>
        </p:nvSpPr>
        <p:spPr>
          <a:xfrm>
            <a:off x="6309360" y="4800600"/>
            <a:ext cx="5715000" cy="111556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309360" y="4800600"/>
            <a:ext cx="109728" cy="111556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75120" y="4800600"/>
            <a:ext cx="5212080" cy="1115568"/>
          </a:xfrm>
          <a:prstGeom prst="rect">
            <a:avLst/>
          </a:prstGeom>
          <a:noFill/>
        </p:spPr>
        <p:txBody>
          <a:bodyPr wrap="square" anchor="ctr"/>
          <a:lstStyle/>
          <a:p>
            <a:pPr algn="l"/>
            <a:r>
              <a:rPr sz="1500" b="0">
                <a:solidFill>
                  <a:srgbClr val="1C1C1C"/>
                </a:solidFill>
                <a:latin typeface="Calibri"/>
              </a:rPr>
              <a:t>Your name. The hospital number. After-hours number.</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50  /  59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THE CLIENT CANNOT REPEAT THESE, YOU DID NOT DISCHARGE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When to come back tonight — teach this verbatim</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18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500" b="0">
                <a:solidFill>
                  <a:srgbClr val="1C1C1C"/>
                </a:solidFill>
                <a:latin typeface="Calibri"/>
              </a:rPr>
              <a:t>Collapse, pale gums, distended/painful abdomen, unstoppable bleeding, vomiting that prevents meds, difficulty breathing, inability to urinate, evisceration, uncontrolled pain, or you are frightened.</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18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500" b="0">
                <a:solidFill>
                  <a:srgbClr val="1C1C1C"/>
                </a:solidFill>
                <a:latin typeface="Calibri"/>
              </a:rPr>
              <a:t>Not eating by the next morning (species/procedure dependent), a few episodes of vomiting, mild incision redness, diarrhea, e-collar problems, constipation vs. straining.</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18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500" b="0">
                <a:solidFill>
                  <a:srgbClr val="1C1C1C"/>
                </a:solidFill>
                <a:latin typeface="Calibri"/>
              </a:rPr>
              <a:t>Sleepiness tonight, a small bruise near the incision, a slightly tacky incision, a reduced appetite the evening of surgery.</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51  /  59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SURGERY IS A WHOLE-PATIENT EVENT</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Fluids, feeding, and the rest of the animal</a:t>
            </a:r>
          </a:p>
        </p:txBody>
      </p:sp>
      <p:sp>
        <p:nvSpPr>
          <p:cNvPr id="8" name="Rounded Rectangle 7"/>
          <p:cNvSpPr/>
          <p:nvPr/>
        </p:nvSpPr>
        <p:spPr>
          <a:xfrm>
            <a:off x="45720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502920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47472"/>
          </a:xfrm>
          <a:prstGeom prst="rect">
            <a:avLst/>
          </a:prstGeom>
          <a:noFill/>
        </p:spPr>
        <p:txBody>
          <a:bodyPr wrap="square" anchor="t"/>
          <a:lstStyle/>
          <a:p>
            <a:pPr algn="l"/>
            <a:r>
              <a:rPr sz="1500" b="1">
                <a:solidFill>
                  <a:srgbClr val="0B2C4A"/>
                </a:solidFill>
                <a:latin typeface="Calibri"/>
              </a:rPr>
              <a:t>Fluids</a:t>
            </a:r>
          </a:p>
        </p:txBody>
      </p:sp>
      <p:sp>
        <p:nvSpPr>
          <p:cNvPr id="11" name="TextBox 10"/>
          <p:cNvSpPr txBox="1"/>
          <p:nvPr/>
        </p:nvSpPr>
        <p:spPr>
          <a:xfrm>
            <a:off x="713232" y="1536192"/>
            <a:ext cx="3291840" cy="4498848"/>
          </a:xfrm>
          <a:prstGeom prst="rect">
            <a:avLst/>
          </a:prstGeom>
          <a:noFill/>
        </p:spPr>
        <p:txBody>
          <a:bodyPr wrap="square" anchor="t"/>
          <a:lstStyle/>
          <a:p>
            <a:pPr algn="l"/>
            <a:r>
              <a:rPr sz="1300" b="0">
                <a:solidFill>
                  <a:srgbClr val="3D4A57"/>
                </a:solidFill>
                <a:latin typeface="Calibri"/>
              </a:rPr>
              <a:t>Continue until eating/drinking and not hypotensive. Match losses (vomiting, drains). Do not fluid-overload heart or kidney patients. Recheck PCV/TS if hemorrhage suspected.</a:t>
            </a:r>
          </a:p>
        </p:txBody>
      </p:sp>
      <p:sp>
        <p:nvSpPr>
          <p:cNvPr id="12" name="Rounded Rectangle 11"/>
          <p:cNvSpPr/>
          <p:nvPr/>
        </p:nvSpPr>
        <p:spPr>
          <a:xfrm>
            <a:off x="4297680" y="1097280"/>
            <a:ext cx="365760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47472"/>
          </a:xfrm>
          <a:prstGeom prst="rect">
            <a:avLst/>
          </a:prstGeom>
          <a:noFill/>
        </p:spPr>
        <p:txBody>
          <a:bodyPr wrap="square" anchor="t"/>
          <a:lstStyle/>
          <a:p>
            <a:pPr algn="l"/>
            <a:r>
              <a:rPr sz="1500" b="1">
                <a:solidFill>
                  <a:srgbClr val="0B2C4A"/>
                </a:solidFill>
                <a:latin typeface="Calibri"/>
              </a:rPr>
              <a:t>Nutrition</a:t>
            </a:r>
          </a:p>
        </p:txBody>
      </p:sp>
      <p:sp>
        <p:nvSpPr>
          <p:cNvPr id="15" name="TextBox 14"/>
          <p:cNvSpPr txBox="1"/>
          <p:nvPr/>
        </p:nvSpPr>
        <p:spPr>
          <a:xfrm>
            <a:off x="4553712" y="1536192"/>
            <a:ext cx="3291840" cy="4498848"/>
          </a:xfrm>
          <a:prstGeom prst="rect">
            <a:avLst/>
          </a:prstGeom>
          <a:noFill/>
        </p:spPr>
        <p:txBody>
          <a:bodyPr wrap="square" anchor="t"/>
          <a:lstStyle/>
          <a:p>
            <a:pPr algn="l"/>
            <a:r>
              <a:rPr sz="1300" b="0">
                <a:solidFill>
                  <a:srgbClr val="3D4A57"/>
                </a:solidFill>
                <a:latin typeface="Calibri"/>
              </a:rPr>
              <a:t>Offer water, then a small bland or usual meal when fully awake (procedure-dependent). GI surgery: surgeon specifies. Cats: prevent hepatic lipidosis — do not ‘wait and see’ for days. Consider mirtazapine/capromorelin as directed.</a:t>
            </a:r>
          </a:p>
        </p:txBody>
      </p:sp>
      <p:sp>
        <p:nvSpPr>
          <p:cNvPr id="16" name="Rounded Rectangle 15"/>
          <p:cNvSpPr/>
          <p:nvPr/>
        </p:nvSpPr>
        <p:spPr>
          <a:xfrm>
            <a:off x="8138160" y="1097280"/>
            <a:ext cx="35661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502920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47472"/>
          </a:xfrm>
          <a:prstGeom prst="rect">
            <a:avLst/>
          </a:prstGeom>
          <a:noFill/>
        </p:spPr>
        <p:txBody>
          <a:bodyPr wrap="square" anchor="t"/>
          <a:lstStyle/>
          <a:p>
            <a:pPr algn="l"/>
            <a:r>
              <a:rPr sz="1500" b="1">
                <a:solidFill>
                  <a:srgbClr val="0B2C4A"/>
                </a:solidFill>
                <a:latin typeface="Calibri"/>
              </a:rPr>
              <a:t>Other systems</a:t>
            </a:r>
          </a:p>
        </p:txBody>
      </p:sp>
      <p:sp>
        <p:nvSpPr>
          <p:cNvPr id="19" name="TextBox 18"/>
          <p:cNvSpPr txBox="1"/>
          <p:nvPr/>
        </p:nvSpPr>
        <p:spPr>
          <a:xfrm>
            <a:off x="8394192" y="1536192"/>
            <a:ext cx="3200400" cy="4498848"/>
          </a:xfrm>
          <a:prstGeom prst="rect">
            <a:avLst/>
          </a:prstGeom>
          <a:noFill/>
        </p:spPr>
        <p:txBody>
          <a:bodyPr wrap="square" anchor="t"/>
          <a:lstStyle/>
          <a:p>
            <a:pPr algn="l"/>
            <a:r>
              <a:rPr sz="1300" b="0">
                <a:solidFill>
                  <a:srgbClr val="3D4A57"/>
                </a:solidFill>
                <a:latin typeface="Calibri"/>
              </a:rPr>
              <a:t>Urinate before discharge. Bowel movements after laparotomy may lag. Eyes: lubrication after anesthesia. Recheck glucose in diabetics. Walk the dog out — do not assume the crate is fine.</a:t>
            </a:r>
          </a:p>
        </p:txBody>
      </p:sp>
      <p:sp>
        <p:nvSpPr>
          <p:cNvPr id="20" name="Rectangle 1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2" name="TextBox 2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52  /  59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FIELD SURGERY IS STILL HALSTED; IT IS NOT AN EXCUSE TO SKIP CLIP, GLOVES, AND A DRAPE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Large animal — same principles, different dirt</a:t>
            </a:r>
          </a:p>
        </p:txBody>
      </p:sp>
      <p:sp>
        <p:nvSpPr>
          <p:cNvPr id="8" name="TextBox 7"/>
          <p:cNvSpPr txBox="1"/>
          <p:nvPr/>
        </p:nvSpPr>
        <p:spPr>
          <a:xfrm>
            <a:off x="502920" y="1097280"/>
            <a:ext cx="11155680" cy="5029200"/>
          </a:xfrm>
          <a:prstGeom prst="rect">
            <a:avLst/>
          </a:prstGeom>
          <a:noFill/>
        </p:spPr>
        <p:txBody>
          <a:bodyPr wrap="square">
            <a:spAutoFit/>
          </a:bodyPr>
          <a:lstStyle/>
          <a:p>
            <a:pPr algn="l">
              <a:spcAft>
                <a:spcPts val="1000"/>
              </a:spcAft>
            </a:pPr>
            <a:r>
              <a:rPr sz="1700" b="0">
                <a:solidFill>
                  <a:srgbClr val="1C1C1C"/>
                </a:solidFill>
                <a:latin typeface="Calibri"/>
              </a:rPr>
              <a:t>▸  Field surgery can be aseptic, not ‘sterile theater.’ Clip, wash, sterile gloves/instruments, and a drape still prevent SSI in a castration or displaced abomasum.</a:t>
            </a:r>
          </a:p>
          <a:p>
            <a:pPr algn="l">
              <a:spcAft>
                <a:spcPts val="1000"/>
              </a:spcAft>
            </a:pPr>
            <a:r>
              <a:rPr sz="1700" b="0">
                <a:solidFill>
                  <a:srgbClr val="1C1C1C"/>
                </a:solidFill>
                <a:latin typeface="Calibri"/>
              </a:rPr>
              <a:t>▸  Standing sedation vs. general anesthesia changes aspiration, padding, and recovery risk (especially horses).</a:t>
            </a:r>
          </a:p>
          <a:p>
            <a:pPr algn="l">
              <a:spcAft>
                <a:spcPts val="1000"/>
              </a:spcAft>
            </a:pPr>
            <a:r>
              <a:rPr sz="1700" b="0">
                <a:solidFill>
                  <a:srgbClr val="1C1C1C"/>
                </a:solidFill>
                <a:latin typeface="Calibri"/>
              </a:rPr>
              <a:t>▸  Tetanus prophylaxis is part of equine/farm-animal postop planning, not an afterthought.</a:t>
            </a:r>
          </a:p>
          <a:p>
            <a:pPr algn="l">
              <a:spcAft>
                <a:spcPts val="1000"/>
              </a:spcAft>
            </a:pPr>
            <a:r>
              <a:rPr sz="1700" b="0">
                <a:solidFill>
                  <a:srgbClr val="1C1C1C"/>
                </a:solidFill>
                <a:latin typeface="Calibri"/>
              </a:rPr>
              <a:t>▸  Recovery in a stall: head/eye protection, assist, do not rush to trailering.</a:t>
            </a:r>
          </a:p>
          <a:p>
            <a:pPr algn="l">
              <a:spcAft>
                <a:spcPts val="1000"/>
              </a:spcAft>
            </a:pPr>
            <a:r>
              <a:rPr sz="1700" b="0">
                <a:solidFill>
                  <a:srgbClr val="1C1C1C"/>
                </a:solidFill>
                <a:latin typeface="Calibri"/>
              </a:rPr>
              <a:t>▸  Antimicrobial use in food animals has residue and regulatory obligations — prophylaxis is not a default pour-on.</a:t>
            </a:r>
          </a:p>
          <a:p>
            <a:pPr algn="l">
              <a:spcAft>
                <a:spcPts val="1000"/>
              </a:spcAft>
            </a:pPr>
            <a:r>
              <a:rPr sz="1700" b="0">
                <a:solidFill>
                  <a:srgbClr val="1C1C1C"/>
                </a:solidFill>
                <a:latin typeface="Calibri"/>
              </a:rPr>
              <a:t>▸  Discharge is often a producer conversation: milk withhold, slaughter withhold, when the animal can rejoin the group.</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53  /  59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YOU ARE THE SURGEON. THE OWNER IS IN RECEPTION.</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Walk Willie through the whole hour</a:t>
            </a:r>
          </a:p>
        </p:txBody>
      </p:sp>
      <p:sp>
        <p:nvSpPr>
          <p:cNvPr id="8" name="Rounded Rectangle 7"/>
          <p:cNvSpPr/>
          <p:nvPr/>
        </p:nvSpPr>
        <p:spPr>
          <a:xfrm>
            <a:off x="457200" y="1051560"/>
            <a:ext cx="11247120" cy="14173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88720"/>
            <a:ext cx="10789920" cy="1143000"/>
          </a:xfrm>
          <a:prstGeom prst="rect">
            <a:avLst/>
          </a:prstGeom>
          <a:noFill/>
        </p:spPr>
        <p:txBody>
          <a:bodyPr wrap="square" anchor="t"/>
          <a:lstStyle/>
          <a:p>
            <a:pPr algn="l"/>
            <a:r>
              <a:rPr sz="1500" b="0">
                <a:solidFill>
                  <a:srgbClr val="0B2C4A"/>
                </a:solidFill>
                <a:latin typeface="Calibri"/>
              </a:rPr>
              <a:t>Willie, 6 y 11 mo MN Cavalier, 13.7 kg. Acute vestibular crisis. Severe AS otitis, TM visible/swollen. Circling left, nystagmus fast-left, right knuckling. Grade II murmur. CBC WNL. This is ASA III-E. Client-owned.</a:t>
            </a:r>
          </a:p>
        </p:txBody>
      </p:sp>
      <p:sp>
        <p:nvSpPr>
          <p:cNvPr id="10" name="Rounded Rectangle 9"/>
          <p:cNvSpPr/>
          <p:nvPr/>
        </p:nvSpPr>
        <p:spPr>
          <a:xfrm>
            <a:off x="41148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651760"/>
            <a:ext cx="2788920" cy="502920"/>
          </a:xfrm>
          <a:prstGeom prst="rect">
            <a:avLst/>
          </a:prstGeom>
          <a:noFill/>
        </p:spPr>
        <p:txBody>
          <a:bodyPr wrap="square" anchor="ctr"/>
          <a:lstStyle/>
          <a:p>
            <a:pPr algn="ctr"/>
            <a:r>
              <a:rPr sz="1400" b="1">
                <a:solidFill>
                  <a:srgbClr val="C5A35A"/>
                </a:solidFill>
                <a:latin typeface="Calibri"/>
              </a:rPr>
              <a:t>Pre-op</a:t>
            </a:r>
          </a:p>
        </p:txBody>
      </p:sp>
      <p:sp>
        <p:nvSpPr>
          <p:cNvPr id="13" name="TextBox 12"/>
          <p:cNvSpPr txBox="1"/>
          <p:nvPr/>
        </p:nvSpPr>
        <p:spPr>
          <a:xfrm>
            <a:off x="548640" y="3246120"/>
            <a:ext cx="2514600" cy="2743200"/>
          </a:xfrm>
          <a:prstGeom prst="rect">
            <a:avLst/>
          </a:prstGeom>
          <a:noFill/>
        </p:spPr>
        <p:txBody>
          <a:bodyPr wrap="square" anchor="t"/>
          <a:lstStyle/>
          <a:p>
            <a:pPr algn="l"/>
            <a:r>
              <a:rPr sz="1200" b="0">
                <a:solidFill>
                  <a:srgbClr val="1C1C1C"/>
                </a:solidFill>
                <a:latin typeface="Calibri"/>
              </a:rPr>
              <a:t>ASA III-E. Neuro exam. No NSAID (DexSP). IVF, Cerenia, meclizine. Culture the ear. Radiographs ≠ MRI. Central until proven otherwise.</a:t>
            </a:r>
          </a:p>
        </p:txBody>
      </p:sp>
      <p:sp>
        <p:nvSpPr>
          <p:cNvPr id="14" name="Rounded Rectangle 13"/>
          <p:cNvSpPr/>
          <p:nvPr/>
        </p:nvSpPr>
        <p:spPr>
          <a:xfrm>
            <a:off x="333756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2651760"/>
            <a:ext cx="2788920" cy="502920"/>
          </a:xfrm>
          <a:prstGeom prst="rect">
            <a:avLst/>
          </a:prstGeom>
          <a:noFill/>
        </p:spPr>
        <p:txBody>
          <a:bodyPr wrap="square" anchor="ctr"/>
          <a:lstStyle/>
          <a:p>
            <a:pPr algn="ctr"/>
            <a:r>
              <a:rPr sz="1400" b="1">
                <a:solidFill>
                  <a:srgbClr val="C5A35A"/>
                </a:solidFill>
                <a:latin typeface="Calibri"/>
              </a:rPr>
              <a:t>Prep</a:t>
            </a:r>
          </a:p>
        </p:txBody>
      </p:sp>
      <p:sp>
        <p:nvSpPr>
          <p:cNvPr id="17" name="TextBox 16"/>
          <p:cNvSpPr txBox="1"/>
          <p:nvPr/>
        </p:nvSpPr>
        <p:spPr>
          <a:xfrm>
            <a:off x="3474720" y="3246120"/>
            <a:ext cx="2514600" cy="2743200"/>
          </a:xfrm>
          <a:prstGeom prst="rect">
            <a:avLst/>
          </a:prstGeom>
          <a:noFill/>
        </p:spPr>
        <p:txBody>
          <a:bodyPr wrap="square" anchor="t"/>
          <a:lstStyle/>
          <a:p>
            <a:pPr algn="l"/>
            <a:r>
              <a:rPr sz="1200" b="0">
                <a:solidFill>
                  <a:srgbClr val="1C1C1C"/>
                </a:solidFill>
                <a:latin typeface="Calibri"/>
              </a:rPr>
              <a:t>Alfaxalone only after a surgical plane. Clip/prep the ear if you flush. CHG off the eye and drum. Pad him — he falls. Maintain the airway.</a:t>
            </a:r>
          </a:p>
        </p:txBody>
      </p:sp>
      <p:sp>
        <p:nvSpPr>
          <p:cNvPr id="18" name="Rounded Rectangle 17"/>
          <p:cNvSpPr/>
          <p:nvPr/>
        </p:nvSpPr>
        <p:spPr>
          <a:xfrm>
            <a:off x="626364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2651760"/>
            <a:ext cx="2788920" cy="502920"/>
          </a:xfrm>
          <a:prstGeom prst="rect">
            <a:avLst/>
          </a:prstGeom>
          <a:noFill/>
        </p:spPr>
        <p:txBody>
          <a:bodyPr wrap="square" anchor="ctr"/>
          <a:lstStyle/>
          <a:p>
            <a:pPr algn="ctr"/>
            <a:r>
              <a:rPr sz="1400" b="1">
                <a:solidFill>
                  <a:srgbClr val="C5A35A"/>
                </a:solidFill>
                <a:latin typeface="Calibri"/>
              </a:rPr>
              <a:t>Intra</a:t>
            </a:r>
          </a:p>
        </p:txBody>
      </p:sp>
      <p:sp>
        <p:nvSpPr>
          <p:cNvPr id="21" name="TextBox 20"/>
          <p:cNvSpPr txBox="1"/>
          <p:nvPr/>
        </p:nvSpPr>
        <p:spPr>
          <a:xfrm>
            <a:off x="6400800" y="3246120"/>
            <a:ext cx="2514600" cy="2743200"/>
          </a:xfrm>
          <a:prstGeom prst="rect">
            <a:avLst/>
          </a:prstGeom>
          <a:noFill/>
        </p:spPr>
        <p:txBody>
          <a:bodyPr wrap="square" anchor="t"/>
          <a:lstStyle/>
          <a:p>
            <a:pPr algn="l"/>
            <a:r>
              <a:rPr sz="1200" b="0">
                <a:solidFill>
                  <a:srgbClr val="1C1C1C"/>
                </a:solidFill>
                <a:latin typeface="Calibri"/>
              </a:rPr>
              <a:t>Deep clean + cytology. Timeout. If you contaminate, say it. Do not treat this like a 20-minute spay.</a:t>
            </a:r>
          </a:p>
        </p:txBody>
      </p:sp>
      <p:sp>
        <p:nvSpPr>
          <p:cNvPr id="22" name="Rounded Rectangle 21"/>
          <p:cNvSpPr/>
          <p:nvPr/>
        </p:nvSpPr>
        <p:spPr>
          <a:xfrm>
            <a:off x="9189720" y="2651760"/>
            <a:ext cx="2788920" cy="3520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2651760"/>
            <a:ext cx="278892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2651760"/>
            <a:ext cx="2788920" cy="502920"/>
          </a:xfrm>
          <a:prstGeom prst="rect">
            <a:avLst/>
          </a:prstGeom>
          <a:noFill/>
        </p:spPr>
        <p:txBody>
          <a:bodyPr wrap="square" anchor="ctr"/>
          <a:lstStyle/>
          <a:p>
            <a:pPr algn="ctr"/>
            <a:r>
              <a:rPr sz="1400" b="1">
                <a:solidFill>
                  <a:srgbClr val="C5A35A"/>
                </a:solidFill>
                <a:latin typeface="Calibri"/>
              </a:rPr>
              <a:t>Post</a:t>
            </a:r>
          </a:p>
        </p:txBody>
      </p:sp>
      <p:sp>
        <p:nvSpPr>
          <p:cNvPr id="25" name="TextBox 24"/>
          <p:cNvSpPr txBox="1"/>
          <p:nvPr/>
        </p:nvSpPr>
        <p:spPr>
          <a:xfrm>
            <a:off x="9326880" y="3246120"/>
            <a:ext cx="2514600" cy="2743200"/>
          </a:xfrm>
          <a:prstGeom prst="rect">
            <a:avLst/>
          </a:prstGeom>
          <a:noFill/>
        </p:spPr>
        <p:txBody>
          <a:bodyPr wrap="square" anchor="t"/>
          <a:lstStyle/>
          <a:p>
            <a:pPr algn="l"/>
            <a:r>
              <a:rPr sz="1200" b="0">
                <a:solidFill>
                  <a:srgbClr val="1C1C1C"/>
                </a:solidFill>
                <a:latin typeface="Calibri"/>
              </a:rPr>
              <a:t>Confine, no stairs. Watch neuro signs, vomiting, seizures. MRI next. TECA-LBO only after culture if medical therapy fails. You own hour 23.</a:t>
            </a:r>
          </a:p>
        </p:txBody>
      </p:sp>
      <p:sp>
        <p:nvSpPr>
          <p:cNvPr id="26" name="Rectangle 2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28" name="TextBox 2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54  /  59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BOTH ARE PREOPERATIVE EVALUATION  ·  ONLY ONE REACHES THE CLIPPERS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Same hour, opposite decisions</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47472"/>
          </a:xfrm>
          <a:prstGeom prst="rect">
            <a:avLst/>
          </a:prstGeom>
          <a:noFill/>
        </p:spPr>
        <p:txBody>
          <a:bodyPr wrap="square" anchor="t"/>
          <a:lstStyle/>
          <a:p>
            <a:pPr algn="l"/>
            <a:r>
              <a:rPr sz="1500" b="1">
                <a:solidFill>
                  <a:srgbClr val="0B2C4A"/>
                </a:solidFill>
                <a:latin typeface="Calibri"/>
              </a:rPr>
              <a:t>Willie — ASA III-E — proceed (sedation)</a:t>
            </a:r>
          </a:p>
        </p:txBody>
      </p:sp>
      <p:sp>
        <p:nvSpPr>
          <p:cNvPr id="11" name="TextBox 10"/>
          <p:cNvSpPr txBox="1"/>
          <p:nvPr/>
        </p:nvSpPr>
        <p:spPr>
          <a:xfrm>
            <a:off x="667512" y="1536192"/>
            <a:ext cx="5257800" cy="4498848"/>
          </a:xfrm>
          <a:prstGeom prst="rect">
            <a:avLst/>
          </a:prstGeom>
          <a:noFill/>
        </p:spPr>
        <p:txBody>
          <a:bodyPr wrap="square" anchor="t"/>
          <a:lstStyle/>
          <a:p>
            <a:pPr algn="l"/>
            <a:r>
              <a:rPr sz="1300" b="0">
                <a:solidFill>
                  <a:srgbClr val="3D4A57"/>
                </a:solidFill>
                <a:latin typeface="Calibri"/>
              </a:rPr>
              <a:t>Cavalier, 13.7 kg. Acute vestibular + AS otitis + murmur. Compensated. Fill the anesthesia record. Alfaxalone, monitoring, ear clean, no NSAID after DexSP. Own the next 24 hours. MRI / possible TECA-LBO later — that future surgery still needs a new ASA that day.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47472"/>
          </a:xfrm>
          <a:prstGeom prst="rect">
            <a:avLst/>
          </a:prstGeom>
          <a:noFill/>
        </p:spPr>
        <p:txBody>
          <a:bodyPr wrap="square" anchor="t"/>
          <a:lstStyle/>
          <a:p>
            <a:pPr algn="l"/>
            <a:r>
              <a:rPr sz="1500" b="1">
                <a:solidFill>
                  <a:srgbClr val="0B2C4A"/>
                </a:solidFill>
                <a:latin typeface="Calibri"/>
              </a:rPr>
              <a:t>MoMo — ASA IV-E — do not induce</a:t>
            </a:r>
          </a:p>
        </p:txBody>
      </p:sp>
      <p:sp>
        <p:nvSpPr>
          <p:cNvPr id="15" name="TextBox 14"/>
          <p:cNvSpPr txBox="1"/>
          <p:nvPr/>
        </p:nvSpPr>
        <p:spPr>
          <a:xfrm>
            <a:off x="6428232" y="1536192"/>
            <a:ext cx="5257800" cy="4498848"/>
          </a:xfrm>
          <a:prstGeom prst="rect">
            <a:avLst/>
          </a:prstGeom>
          <a:noFill/>
        </p:spPr>
        <p:txBody>
          <a:bodyPr wrap="square" anchor="t"/>
          <a:lstStyle/>
          <a:p>
            <a:pPr algn="l"/>
            <a:r>
              <a:rPr sz="1300" b="0">
                <a:solidFill>
                  <a:srgbClr val="3D4A57"/>
                </a:solidFill>
                <a:latin typeface="Calibri"/>
              </a:rPr>
              <a:t>DSH, 4.25 kg. Vomiting that looked like FB. Labs + POCUS + AUS: structural renal disease, creatinine 3.0 → 4.71 on fluids. Exploratory cancelled. NSAIDs contraindicated. Record the decision. Supportive care vs referral vs euthanasia is still a surgical conversation — you just do not cut.</a:t>
            </a:r>
          </a:p>
        </p:txBody>
      </p:sp>
      <p:sp>
        <p:nvSpPr>
          <p:cNvPr id="16" name="Rectangle 15"/>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8" name="TextBox 17"/>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55  /  59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IF YOU REMEMBER SIX THINGS, REMEMBER THESE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Key points from this hour</a:t>
            </a:r>
          </a:p>
        </p:txBody>
      </p:sp>
      <p:sp>
        <p:nvSpPr>
          <p:cNvPr id="8" name="Rounded Rectangle 7"/>
          <p:cNvSpPr/>
          <p:nvPr/>
        </p:nvSpPr>
        <p:spPr>
          <a:xfrm>
            <a:off x="457200" y="10515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640080" cy="731520"/>
          </a:xfrm>
          <a:prstGeom prst="rect">
            <a:avLst/>
          </a:prstGeom>
          <a:noFill/>
        </p:spPr>
        <p:txBody>
          <a:bodyPr wrap="square" anchor="ctr"/>
          <a:lstStyle/>
          <a:p>
            <a:pPr algn="ctr"/>
            <a:r>
              <a:rPr sz="1800" b="1">
                <a:solidFill>
                  <a:srgbClr val="0B2C4A"/>
                </a:solidFill>
                <a:latin typeface="Calibri"/>
              </a:rPr>
              <a:t>1</a:t>
            </a:r>
          </a:p>
        </p:txBody>
      </p:sp>
      <p:sp>
        <p:nvSpPr>
          <p:cNvPr id="11" name="TextBox 10"/>
          <p:cNvSpPr txBox="1"/>
          <p:nvPr/>
        </p:nvSpPr>
        <p:spPr>
          <a:xfrm>
            <a:off x="1280160" y="1051560"/>
            <a:ext cx="10149840" cy="731520"/>
          </a:xfrm>
          <a:prstGeom prst="rect">
            <a:avLst/>
          </a:prstGeom>
          <a:noFill/>
        </p:spPr>
        <p:txBody>
          <a:bodyPr wrap="square" anchor="ctr"/>
          <a:lstStyle/>
          <a:p>
            <a:pPr algn="l"/>
            <a:r>
              <a:rPr sz="1600" b="0">
                <a:solidFill>
                  <a:srgbClr val="1C1C1C"/>
                </a:solidFill>
                <a:latin typeface="Calibri"/>
              </a:rPr>
              <a:t>ASA is assigned after today’s PE and labs. Willie is III-E (sedate with a plan). MoMo is IV-E (do not explore).</a:t>
            </a:r>
          </a:p>
        </p:txBody>
      </p:sp>
      <p:sp>
        <p:nvSpPr>
          <p:cNvPr id="12" name="Rounded Rectangle 11"/>
          <p:cNvSpPr/>
          <p:nvPr/>
        </p:nvSpPr>
        <p:spPr>
          <a:xfrm>
            <a:off x="457200" y="187452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7452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1874520"/>
            <a:ext cx="640080" cy="731520"/>
          </a:xfrm>
          <a:prstGeom prst="rect">
            <a:avLst/>
          </a:prstGeom>
          <a:noFill/>
        </p:spPr>
        <p:txBody>
          <a:bodyPr wrap="square" anchor="ctr"/>
          <a:lstStyle/>
          <a:p>
            <a:pPr algn="ctr"/>
            <a:r>
              <a:rPr sz="1800" b="1">
                <a:solidFill>
                  <a:srgbClr val="0B2C4A"/>
                </a:solidFill>
                <a:latin typeface="Calibri"/>
              </a:rPr>
              <a:t>2</a:t>
            </a:r>
          </a:p>
        </p:txBody>
      </p:sp>
      <p:sp>
        <p:nvSpPr>
          <p:cNvPr id="15" name="TextBox 14"/>
          <p:cNvSpPr txBox="1"/>
          <p:nvPr/>
        </p:nvSpPr>
        <p:spPr>
          <a:xfrm>
            <a:off x="1280160" y="1874520"/>
            <a:ext cx="10149840" cy="731520"/>
          </a:xfrm>
          <a:prstGeom prst="rect">
            <a:avLst/>
          </a:prstGeom>
          <a:noFill/>
        </p:spPr>
        <p:txBody>
          <a:bodyPr wrap="square" anchor="ctr"/>
          <a:lstStyle/>
          <a:p>
            <a:pPr algn="l"/>
            <a:r>
              <a:rPr sz="1600" b="0">
                <a:solidFill>
                  <a:srgbClr val="1C1C1C"/>
                </a:solidFill>
                <a:latin typeface="Calibri"/>
              </a:rPr>
              <a:t>Imaging and serial creatinine can cancel a surgery. That is a successful preoperative evaluation.</a:t>
            </a:r>
          </a:p>
        </p:txBody>
      </p:sp>
      <p:sp>
        <p:nvSpPr>
          <p:cNvPr id="16" name="Rounded Rectangle 15"/>
          <p:cNvSpPr/>
          <p:nvPr/>
        </p:nvSpPr>
        <p:spPr>
          <a:xfrm>
            <a:off x="457200" y="269748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69748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2697480"/>
            <a:ext cx="640080" cy="731520"/>
          </a:xfrm>
          <a:prstGeom prst="rect">
            <a:avLst/>
          </a:prstGeom>
          <a:noFill/>
        </p:spPr>
        <p:txBody>
          <a:bodyPr wrap="square" anchor="ctr"/>
          <a:lstStyle/>
          <a:p>
            <a:pPr algn="ctr"/>
            <a:r>
              <a:rPr sz="1800" b="1">
                <a:solidFill>
                  <a:srgbClr val="0B2C4A"/>
                </a:solidFill>
                <a:latin typeface="Calibri"/>
              </a:rPr>
              <a:t>3</a:t>
            </a:r>
          </a:p>
        </p:txBody>
      </p:sp>
      <p:sp>
        <p:nvSpPr>
          <p:cNvPr id="19" name="TextBox 18"/>
          <p:cNvSpPr txBox="1"/>
          <p:nvPr/>
        </p:nvSpPr>
        <p:spPr>
          <a:xfrm>
            <a:off x="1280160" y="2697480"/>
            <a:ext cx="10149840" cy="731520"/>
          </a:xfrm>
          <a:prstGeom prst="rect">
            <a:avLst/>
          </a:prstGeom>
          <a:noFill/>
        </p:spPr>
        <p:txBody>
          <a:bodyPr wrap="square" anchor="ctr"/>
          <a:lstStyle/>
          <a:p>
            <a:pPr algn="l"/>
            <a:r>
              <a:rPr sz="1600" b="0">
                <a:solidFill>
                  <a:srgbClr val="1C1C1C"/>
                </a:solidFill>
                <a:latin typeface="Calibri"/>
              </a:rPr>
              <a:t>Elective clean OHE: no routine postoperative antibiotics. Fill the anesthesia record and the 2-hour recovery sheet.</a:t>
            </a:r>
          </a:p>
        </p:txBody>
      </p:sp>
      <p:sp>
        <p:nvSpPr>
          <p:cNvPr id="20" name="Rounded Rectangle 19"/>
          <p:cNvSpPr/>
          <p:nvPr/>
        </p:nvSpPr>
        <p:spPr>
          <a:xfrm>
            <a:off x="457200" y="352044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52044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3520440"/>
            <a:ext cx="640080" cy="731520"/>
          </a:xfrm>
          <a:prstGeom prst="rect">
            <a:avLst/>
          </a:prstGeom>
          <a:noFill/>
        </p:spPr>
        <p:txBody>
          <a:bodyPr wrap="square" anchor="ctr"/>
          <a:lstStyle/>
          <a:p>
            <a:pPr algn="ctr"/>
            <a:r>
              <a:rPr sz="1800" b="1">
                <a:solidFill>
                  <a:srgbClr val="0B2C4A"/>
                </a:solidFill>
                <a:latin typeface="Calibri"/>
              </a:rPr>
              <a:t>4</a:t>
            </a:r>
          </a:p>
        </p:txBody>
      </p:sp>
      <p:sp>
        <p:nvSpPr>
          <p:cNvPr id="23" name="TextBox 22"/>
          <p:cNvSpPr txBox="1"/>
          <p:nvPr/>
        </p:nvSpPr>
        <p:spPr>
          <a:xfrm>
            <a:off x="1280160" y="3520440"/>
            <a:ext cx="10149840" cy="731520"/>
          </a:xfrm>
          <a:prstGeom prst="rect">
            <a:avLst/>
          </a:prstGeom>
          <a:noFill/>
        </p:spPr>
        <p:txBody>
          <a:bodyPr wrap="square" anchor="ctr"/>
          <a:lstStyle/>
          <a:p>
            <a:pPr algn="l"/>
            <a:r>
              <a:rPr sz="1600" b="0">
                <a:solidFill>
                  <a:srgbClr val="1C1C1C"/>
                </a:solidFill>
                <a:latin typeface="Calibri"/>
              </a:rPr>
              <a:t>Clip after induction, #40, not razor; spiral prep center → out; hair in the drape window fails the prep.</a:t>
            </a:r>
          </a:p>
        </p:txBody>
      </p:sp>
      <p:sp>
        <p:nvSpPr>
          <p:cNvPr id="24" name="Rounded Rectangle 23"/>
          <p:cNvSpPr/>
          <p:nvPr/>
        </p:nvSpPr>
        <p:spPr>
          <a:xfrm>
            <a:off x="457200" y="434340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4340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343400"/>
            <a:ext cx="640080" cy="731520"/>
          </a:xfrm>
          <a:prstGeom prst="rect">
            <a:avLst/>
          </a:prstGeom>
          <a:noFill/>
        </p:spPr>
        <p:txBody>
          <a:bodyPr wrap="square" anchor="ctr"/>
          <a:lstStyle/>
          <a:p>
            <a:pPr algn="ctr"/>
            <a:r>
              <a:rPr sz="1800" b="1">
                <a:solidFill>
                  <a:srgbClr val="0B2C4A"/>
                </a:solidFill>
                <a:latin typeface="Calibri"/>
              </a:rPr>
              <a:t>5</a:t>
            </a:r>
          </a:p>
        </p:txBody>
      </p:sp>
      <p:sp>
        <p:nvSpPr>
          <p:cNvPr id="27" name="TextBox 26"/>
          <p:cNvSpPr txBox="1"/>
          <p:nvPr/>
        </p:nvSpPr>
        <p:spPr>
          <a:xfrm>
            <a:off x="1280160" y="4343400"/>
            <a:ext cx="10149840" cy="731520"/>
          </a:xfrm>
          <a:prstGeom prst="rect">
            <a:avLst/>
          </a:prstGeom>
          <a:noFill/>
        </p:spPr>
        <p:txBody>
          <a:bodyPr wrap="square" anchor="ctr"/>
          <a:lstStyle/>
          <a:p>
            <a:pPr algn="l"/>
            <a:r>
              <a:rPr sz="1600" b="0">
                <a:solidFill>
                  <a:srgbClr val="1C1C1C"/>
                </a:solidFill>
                <a:latin typeface="Calibri"/>
              </a:rPr>
              <a:t>Closed glove; CHG off the cornea and out of the middle ear; announce contamination.</a:t>
            </a:r>
          </a:p>
        </p:txBody>
      </p:sp>
      <p:sp>
        <p:nvSpPr>
          <p:cNvPr id="28" name="Rounded Rectangle 27"/>
          <p:cNvSpPr/>
          <p:nvPr/>
        </p:nvSpPr>
        <p:spPr>
          <a:xfrm>
            <a:off x="457200" y="5166360"/>
            <a:ext cx="11247120" cy="731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57200" y="5166360"/>
            <a:ext cx="640080" cy="7315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5166360"/>
            <a:ext cx="640080" cy="731520"/>
          </a:xfrm>
          <a:prstGeom prst="rect">
            <a:avLst/>
          </a:prstGeom>
          <a:noFill/>
        </p:spPr>
        <p:txBody>
          <a:bodyPr wrap="square" anchor="ctr"/>
          <a:lstStyle/>
          <a:p>
            <a:pPr algn="ctr"/>
            <a:r>
              <a:rPr sz="1800" b="1">
                <a:solidFill>
                  <a:srgbClr val="0B2C4A"/>
                </a:solidFill>
                <a:latin typeface="Calibri"/>
              </a:rPr>
              <a:t>6</a:t>
            </a:r>
          </a:p>
        </p:txBody>
      </p:sp>
      <p:sp>
        <p:nvSpPr>
          <p:cNvPr id="31" name="TextBox 30"/>
          <p:cNvSpPr txBox="1"/>
          <p:nvPr/>
        </p:nvSpPr>
        <p:spPr>
          <a:xfrm>
            <a:off x="1280160" y="5166360"/>
            <a:ext cx="10149840" cy="731520"/>
          </a:xfrm>
          <a:prstGeom prst="rect">
            <a:avLst/>
          </a:prstGeom>
          <a:noFill/>
        </p:spPr>
        <p:txBody>
          <a:bodyPr wrap="square" anchor="ctr"/>
          <a:lstStyle/>
          <a:p>
            <a:pPr algn="l"/>
            <a:r>
              <a:rPr sz="1600" b="0">
                <a:solidFill>
                  <a:srgbClr val="1C1C1C"/>
                </a:solidFill>
                <a:latin typeface="Calibri"/>
              </a:rPr>
              <a:t>Pale + tachycardic after celiotomy = hemorrhage until proven otherwise; the first 24 hours still count.</a:t>
            </a:r>
          </a:p>
        </p:txBody>
      </p:sp>
      <p:sp>
        <p:nvSpPr>
          <p:cNvPr id="32" name="Rectangle 31"/>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34" name="TextBox 33"/>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56  /  59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PREPARE THE PATIENT. PREPARE YOURSELF. OWN THE NEXT 24 HOURS.</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Take-home</a:t>
            </a:r>
          </a:p>
        </p:txBody>
      </p:sp>
      <p:sp>
        <p:nvSpPr>
          <p:cNvPr id="8" name="Rounded Rectangle 7"/>
          <p:cNvSpPr/>
          <p:nvPr/>
        </p:nvSpPr>
        <p:spPr>
          <a:xfrm>
            <a:off x="457200" y="1143000"/>
            <a:ext cx="11247120" cy="4937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463040"/>
            <a:ext cx="10607040" cy="4389120"/>
          </a:xfrm>
          <a:prstGeom prst="rect">
            <a:avLst/>
          </a:prstGeom>
          <a:noFill/>
        </p:spPr>
        <p:txBody>
          <a:bodyPr wrap="square" anchor="t"/>
          <a:lstStyle/>
          <a:p>
            <a:pPr algn="l"/>
            <a:r>
              <a:rPr sz="2000" b="0">
                <a:solidFill>
                  <a:srgbClr val="0B2C4A"/>
                </a:solidFill>
                <a:latin typeface="Calibri"/>
              </a:rPr>
              <a:t>Preoperative evaluation is a decision to proceed, delay, stabilize, refer — or not to operate.
Patient and surgeon preparation is teachable and unforgiving — technique, not luck, prevents SSI.
Postoperative care is part of the operation: pain, warmth, the incision, the record, and the client.
Halsted does not stop when the last throw is buried.</a:t>
            </a:r>
          </a:p>
        </p:txBody>
      </p:sp>
      <p:sp>
        <p:nvSpPr>
          <p:cNvPr id="10" name="Rectangle 9"/>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2" name="TextBox 11"/>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57  /  59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56032"/>
            <a:ext cx="11247120" cy="256032"/>
          </a:xfrm>
          <a:prstGeom prst="rect">
            <a:avLst/>
          </a:prstGeom>
          <a:noFill/>
        </p:spPr>
        <p:txBody>
          <a:bodyPr wrap="square" anchor="t"/>
          <a:lstStyle/>
          <a:p>
            <a:pPr algn="l"/>
            <a:r>
              <a:rPr sz="1100" b="1">
                <a:solidFill>
                  <a:srgbClr val="1B6B7A"/>
                </a:solidFill>
                <a:latin typeface="Calibri"/>
              </a:rPr>
              <a:t>SOURCES USED IN THIS LECTURE</a:t>
            </a:r>
          </a:p>
        </p:txBody>
      </p:sp>
      <p:sp>
        <p:nvSpPr>
          <p:cNvPr id="6" name="Rectangle 5"/>
          <p:cNvSpPr/>
          <p:nvPr/>
        </p:nvSpPr>
        <p:spPr>
          <a:xfrm>
            <a:off x="0" y="109728"/>
            <a:ext cx="109728" cy="64922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475488"/>
          </a:xfrm>
          <a:prstGeom prst="rect">
            <a:avLst/>
          </a:prstGeom>
          <a:noFill/>
        </p:spPr>
        <p:txBody>
          <a:bodyPr wrap="square" anchor="t"/>
          <a:lstStyle/>
          <a:p>
            <a:pPr algn="l"/>
            <a:r>
              <a:rPr sz="2600" b="1">
                <a:solidFill>
                  <a:srgbClr val="0B2C4A"/>
                </a:solidFill>
                <a:latin typeface="Calibri"/>
              </a:rPr>
              <a:t>References</a:t>
            </a:r>
          </a:p>
        </p:txBody>
      </p:sp>
      <p:sp>
        <p:nvSpPr>
          <p:cNvPr id="8" name="TextBox 7"/>
          <p:cNvSpPr txBox="1"/>
          <p:nvPr/>
        </p:nvSpPr>
        <p:spPr>
          <a:xfrm>
            <a:off x="457200" y="1051560"/>
            <a:ext cx="11155680" cy="5120640"/>
          </a:xfrm>
          <a:prstGeom prst="rect">
            <a:avLst/>
          </a:prstGeom>
          <a:noFill/>
        </p:spPr>
        <p:txBody>
          <a:bodyPr wrap="square">
            <a:spAutoFit/>
          </a:bodyPr>
          <a:lstStyle/>
          <a:p>
            <a:pPr algn="l">
              <a:spcAft>
                <a:spcPts val="800"/>
              </a:spcAft>
            </a:pPr>
            <a:r>
              <a:rPr sz="1500" b="0">
                <a:solidFill>
                  <a:srgbClr val="1C1C1C"/>
                </a:solidFill>
                <a:latin typeface="Calibri"/>
              </a:rPr>
              <a:t>▸  Fossum T.W. Small Animal Surgery. 5th ed. Elsevier; 2018. Preoperative evaluation, patient preparation, postoperative care.</a:t>
            </a:r>
          </a:p>
          <a:p>
            <a:pPr algn="l">
              <a:spcAft>
                <a:spcPts val="800"/>
              </a:spcAft>
            </a:pPr>
            <a:r>
              <a:rPr sz="1500" b="0">
                <a:solidFill>
                  <a:srgbClr val="1C1C1C"/>
                </a:solidFill>
                <a:latin typeface="Calibri"/>
              </a:rPr>
              <a:t>▸  Hendrickson D.A., Baird A.N. Turner and McIlwraith’s Techniques in Large Animal Surgery. 4th ed. Wiley-Blackwell; 2013.</a:t>
            </a:r>
          </a:p>
          <a:p>
            <a:pPr algn="l">
              <a:spcAft>
                <a:spcPts val="800"/>
              </a:spcAft>
            </a:pPr>
            <a:r>
              <a:rPr sz="1500" b="0">
                <a:solidFill>
                  <a:srgbClr val="1C1C1C"/>
                </a:solidFill>
                <a:latin typeface="Calibri"/>
              </a:rPr>
              <a:t>▸  Johnston S.A., Tobias K.M. Veterinary Surgery: Small Animal. 2nd ed. Elsevier; 2017.</a:t>
            </a:r>
          </a:p>
          <a:p>
            <a:pPr algn="l">
              <a:spcAft>
                <a:spcPts val="800"/>
              </a:spcAft>
            </a:pPr>
            <a:r>
              <a:rPr sz="1500" b="0">
                <a:solidFill>
                  <a:srgbClr val="1C1C1C"/>
                </a:solidFill>
                <a:latin typeface="Calibri"/>
              </a:rPr>
              <a:t>▸  AAHA/AAFP Antimicrobial Stewardship Guidelines, 2022 — surgical prophylaxis.</a:t>
            </a:r>
          </a:p>
          <a:p>
            <a:pPr algn="l">
              <a:spcAft>
                <a:spcPts val="800"/>
              </a:spcAft>
            </a:pPr>
            <a:r>
              <a:rPr sz="1500" b="0">
                <a:solidFill>
                  <a:srgbClr val="1C1C1C"/>
                </a:solidFill>
                <a:latin typeface="Calibri"/>
              </a:rPr>
              <a:t>▸  AAHA Anesthesia and Monitoring Guidelines (current edition) — fasting, PE, monitoring, recovery.</a:t>
            </a:r>
          </a:p>
        </p:txBody>
      </p:sp>
      <p:sp>
        <p:nvSpPr>
          <p:cNvPr id="9" name="Rectangle 8"/>
          <p:cNvSpPr/>
          <p:nvPr/>
        </p:nvSpPr>
        <p:spPr>
          <a:xfrm>
            <a:off x="0" y="6601968"/>
            <a:ext cx="12191695" cy="25603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601968"/>
            <a:ext cx="9601200" cy="256032"/>
          </a:xfrm>
          <a:prstGeom prst="rect">
            <a:avLst/>
          </a:prstGeom>
          <a:noFill/>
        </p:spPr>
        <p:txBody>
          <a:bodyPr wrap="square" anchor="ctr"/>
          <a:lstStyle/>
          <a:p>
            <a:pPr algn="l"/>
            <a:r>
              <a:rPr sz="1000" b="0">
                <a:solidFill>
                  <a:srgbClr val="F4EBD3"/>
                </a:solidFill>
                <a:latin typeface="Calibri"/>
              </a:rPr>
              <a:t>DVM 612  |  Principles of Surgery  |  Preop · prep · postop  |  Lewyt College of Veterinary Medicine</a:t>
            </a:r>
          </a:p>
        </p:txBody>
      </p:sp>
      <p:sp>
        <p:nvSpPr>
          <p:cNvPr id="11" name="TextBox 10"/>
          <p:cNvSpPr txBox="1"/>
          <p:nvPr/>
        </p:nvSpPr>
        <p:spPr>
          <a:xfrm>
            <a:off x="10424160" y="6601968"/>
            <a:ext cx="1371600" cy="256032"/>
          </a:xfrm>
          <a:prstGeom prst="rect">
            <a:avLst/>
          </a:prstGeom>
          <a:noFill/>
        </p:spPr>
        <p:txBody>
          <a:bodyPr wrap="square" anchor="ctr"/>
          <a:lstStyle/>
          <a:p>
            <a:pPr algn="r"/>
            <a:r>
              <a:rPr sz="1000" b="0">
                <a:solidFill>
                  <a:srgbClr val="FFFFFF"/>
                </a:solidFill>
                <a:latin typeface="Calibri"/>
              </a:rPr>
              <a:t>58  /  59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10972800" cy="457200"/>
          </a:xfrm>
          <a:prstGeom prst="rect">
            <a:avLst/>
          </a:prstGeom>
          <a:noFill/>
        </p:spPr>
        <p:txBody>
          <a:bodyPr wrap="square" anchor="t"/>
          <a:lstStyle/>
          <a:p>
            <a:pPr algn="l"/>
            <a:r>
              <a:rPr sz="1600" b="1">
                <a:solidFill>
                  <a:srgbClr val="C5A35A"/>
                </a:solidFill>
                <a:latin typeface="Calibri"/>
              </a:rPr>
              <a:t>DVM 612  ·  PRINCIPLES OF SURGERY</a:t>
            </a:r>
          </a:p>
        </p:txBody>
      </p:sp>
      <p:sp>
        <p:nvSpPr>
          <p:cNvPr id="6" name="TextBox 5"/>
          <p:cNvSpPr txBox="1"/>
          <p:nvPr/>
        </p:nvSpPr>
        <p:spPr>
          <a:xfrm>
            <a:off x="685800" y="2606040"/>
            <a:ext cx="10972800" cy="1097280"/>
          </a:xfrm>
          <a:prstGeom prst="rect">
            <a:avLst/>
          </a:prstGeom>
          <a:noFill/>
        </p:spPr>
        <p:txBody>
          <a:bodyPr wrap="square" anchor="t"/>
          <a:lstStyle/>
          <a:p>
            <a:pPr algn="l"/>
            <a:r>
              <a:rPr sz="5400" b="1">
                <a:solidFill>
                  <a:srgbClr val="FFFFFF"/>
                </a:solidFill>
                <a:latin typeface="Calibri"/>
              </a:rPr>
              <a:t>Questions</a:t>
            </a:r>
          </a:p>
        </p:txBody>
      </p:sp>
      <p:sp>
        <p:nvSpPr>
          <p:cNvPr id="7" name="TextBox 6"/>
          <p:cNvSpPr txBox="1"/>
          <p:nvPr/>
        </p:nvSpPr>
        <p:spPr>
          <a:xfrm>
            <a:off x="685800" y="3931920"/>
            <a:ext cx="10972800" cy="1097280"/>
          </a:xfrm>
          <a:prstGeom prst="rect">
            <a:avLst/>
          </a:prstGeom>
          <a:noFill/>
        </p:spPr>
        <p:txBody>
          <a:bodyPr wrap="square" anchor="t"/>
          <a:lstStyle/>
          <a:p>
            <a:pPr algn="l"/>
            <a:r>
              <a:rPr sz="1800" b="0">
                <a:solidFill>
                  <a:srgbClr val="F4EBD3"/>
                </a:solidFill>
                <a:latin typeface="Calibri"/>
              </a:rPr>
              <a:t>If there are no questions: why was Willie ASA III-E and MoMo ASA IV-E —
and why did only one of them get anesthetized?</a:t>
            </a:r>
          </a:p>
        </p:txBody>
      </p:sp>
      <p:sp>
        <p:nvSpPr>
          <p:cNvPr id="8" name="TextBox 7"/>
          <p:cNvSpPr txBox="1"/>
          <p:nvPr/>
        </p:nvSpPr>
        <p:spPr>
          <a:xfrm>
            <a:off x="685800" y="5760720"/>
            <a:ext cx="10972800" cy="365760"/>
          </a:xfrm>
          <a:prstGeom prst="rect">
            <a:avLst/>
          </a:prstGeom>
          <a:noFill/>
        </p:spPr>
        <p:txBody>
          <a:bodyPr wrap="square" anchor="t"/>
          <a:lstStyle/>
          <a:p>
            <a:pPr algn="l"/>
            <a:r>
              <a:rPr sz="1400" b="0">
                <a:solidFill>
                  <a:srgbClr val="C5A35A"/>
                </a:solidFill>
                <a:latin typeface="Calibri"/>
              </a:rPr>
              <a:t>Dr. Yujin Kim, D.V.M., Ph.D., FFCP  ·  Lewyt College of Veterinary Medicine  ·  Long Island University</a:t>
            </a:r>
          </a:p>
        </p:txBody>
      </p:sp>
      <p:sp>
        <p:nvSpPr>
          <p:cNvPr id="9" name="TextBox 8"/>
          <p:cNvSpPr txBox="1"/>
          <p:nvPr/>
        </p:nvSpPr>
        <p:spPr>
          <a:xfrm>
            <a:off x="10515600" y="6446520"/>
            <a:ext cx="1280160" cy="256032"/>
          </a:xfrm>
          <a:prstGeom prst="rect">
            <a:avLst/>
          </a:prstGeom>
          <a:noFill/>
        </p:spPr>
        <p:txBody>
          <a:bodyPr wrap="square" anchor="t"/>
          <a:lstStyle/>
          <a:p>
            <a:pPr algn="r"/>
            <a:r>
              <a:rPr sz="1100" b="0">
                <a:solidFill>
                  <a:srgbClr val="C5A35A"/>
                </a:solidFill>
                <a:latin typeface="Calibri"/>
              </a:rPr>
              <a:t>59  /  59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