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The competency list is the 2026 CPE Manual of Administration, Anesthesia and Surgery chapters, taught as DVM 612, not as an exam-prep course. Teach the ASA chart first. Then MoMo: PE, then labs, then the students write the status. Do not give them 4-E before they commit. Then Willie the same way: PE, then labs, then they write the status. Do not give them 3-E before they commit. Owner identifiers stay off these slides. Thirty-seven slides. If discussion runs, protect antiseptics, ready-for-prep,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antiseptics, draping, and recovery. After the ASA chart: MoMo is the first quiz, then Willie. Neither is a treatment case.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Surgical competence includes the first 24 hours of physiologic monitoring and complication management. That is not a claim of infinite legal liability for every recovery-ward or owner event. Hemorrhage from a weak ligature is still your technical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teams monitor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Do not premedicate before the examination. Add other labs if the PE says so. A normal CBC does not make a vestibular dog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name once: American Society of Anesthesiologists, ASA. Then read the 2020 AAHA table with MOA Appendix 2: Status 1 healthy, Status 2 mild and compensated, Status 3 moderate and compensated, Status 4 a constant threat to life, Status 5 moribund. E means emergency. Do not preview MoMo or Willie. Next: one cat’s PE, then labs, then they write the status. Then the dog.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ASA quiz, after the chart. Read the PE from today’s record. Do not say 4-E yet. Pause on the photograph. Be respectful; this cat died. Do not put the client name on the board. Vitals list QAR and tacky mucous membranes; the oral and neuro lines list pink moist CRT less than 2 seconds and BAR. Both wordings are on the record; do not reconcile them into a story. Fear-based aggression is on the history; do not put the owner incident on the board. Next slide is the actual lab numbers, then they write the status. No DexSP. No Unasyn. No Cerenia.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put the client name on the board. These are today’s printed numbers, not invented WNL. First chemistry: BUN 48.7 (15 to 32), creatinine 3.0 (0.8 to 1.8). Later panel: BUN 100, creatinine 4.71 (0.50 to 1.90), HCT 44 percent in range, BE minus 7.4, sodium 142, glucose 136. WBC 26, neutrophils 24. TP, total protein, is 5.1 grams per deciliter. Do not treat TP as albumin. Pardo 2.0 is albumin, not this number. Hyperphosphatemia is on the problem list without a milligrams-per-deciliter number on these pages. Fluids were recorded as 1.5 times maintenance, 40 milliliters per kilogram per day. Do not invent fluid overload as the mechanism. USG from the previous day was within normal limits. Differentials on the record are not assigned as the diagnosis. Do not advance until they say a number. Then the key: Status 4-E. Uncompensated, a constant threat to life. Not 1: the PE is not normal, and azotemia is not a healthy cat. Not 3: Status 3 is compensated. Rising creatinine, a non-functional right kidney, and a left kidney with reduced corticomedullary architecture are not compensated IRIS-stage CKD. Emergency because vomiting and lethargy are acute. The workup cancelled the cut. Owner elected euthanasia. Never put DexSP on this cat. Do not teach Unasyn or Cerenia as an ASA protocol. Slide 34 is the written key.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ASA quiz. Read the neuro exam from today’s record. Do not say 3-E yet. Do not put the client name on the board. Infected side is the left ear, AS. Head tilt and circling are to the left. Nystagmus: rapid phase left, slow phase right. Wheelbarrow left intact, right absent. Prolonged proprioception and knuckling on the right limbs when walking. Limbs slip. Do not turn this into a TECA or ear-clean plan. Do not assign central versus peripheral as the ASA. Next slide is the actual lab numbers, then they write the status. No DexSP, alfaxalone, ear clean, or TECA.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put the client name on the board. These are today’s printed numbers, not invented WNL. HCT 47.5 percent is on the CBC; this hour still teaches spun PCV on other patients. BUN 11.9 and creatinine 0.7 are in range. Phosphorus 6.0 and glucose 130 are above this lab’s range. Do not invent a renal diagnosis from phosphorus alone, and do not invent diabetes from one glucose. CBC values on this printout are in range. Do not advance until they say a number. Then the key: Status 3-E. Moderate systemic disease that is still compensated. Emergency because the left otitis plus the vestibular and proprioceptive signs are acute. Not 1: head tilt, circling, nystagmus, and right-sided knuckling are not a normal PE. Not 4: pink, CRT 2 seconds, BUN and creatinine in range, not a constant threat to life today. Mild high phosphorus and glucose do not write Status 4. No Willie treatment plan. Slide 35 is the written key.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They already wrote MoMo, then Willie, on the quizzes. ASA cells stay blank on purpose. Healthy Lab OHE is Status 1. PCV and TP method: EDTA, spin, read PCV, snap the capillary tube, refractometer TP. Do not invent percentages. A normal CBC does not write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them write the numbers. Dog: HCT 36.9 to 60.0, TP 5.5 to 7.6, BUN 9.0 to 29.0, creatinine 0.4 to 1.4, from today’s canine printout. Cat: HCT 28 to 50, BUN 15 to 32, creatinine 0.8 to 1.8, from today’s feline printout. Later feline creatinine range on the second panel was 0.50 to 1.90; do not invent a third band. Cat total protein 5.1 had no printed interval. Potassium: do not invent 3.5 to 5.5. Correct if greater than 6.0, Grubb 2020. Albumin: do not invent a full interval. Pardo 2024, less than 2.0 grams per deciliter is a negative prognostic indicator. These are not ASA cutoffs. A normal CBC does not assign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as an original record, not the copyrighted form. Walk the math on the 25 kilogram ASA 1 elective OHE. Carprofen: 25 times 4.4 equals 110 milligrams; 110 divided by 50 milligrams per milliliter equals 2.2 milliliters SQ, Rimadyl label, about 2 hours before incision. Alfaxalone: 10 milligrams per milliliter. Unpremedicated field-study mean 2.2 milligrams per kilogram, so draw 55 milligrams which is 5.5 milliliters, then give IV to effect until you can intubate. You may not use the whole syringe. That 2.2 is a mean, not a fixed bolus. This example skips premed so every milliliter is from a US label. Hospital DKT or BAA still happens after ASA; do not invent those milligrams per kilogram on the board. LRS 125 milliliters per hour. Cat OHE: Onsior, not carprofen. Do not stack an NSAID with a steroid. It is not a hospital-patient protocol.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Uncompensated azotemia that is getting worse: do not cut. That is the preoperative evaluation working. It is not a diagnosis of why the creatinine rose.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Pre-oxygenation: 3 minutes of 100 percent oxygen gives almost 6 minutes of saturation. Brachycephalics: delay extubation until they can protect the airway.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A 20 kg example: start 8.5 millimeter, 8.0 and 9.0 in the hand. Bag: kilograms times 60, round up. 1.2 liters is a 2 liter bag, circle. Fluids: Pardo 2024, dog 5 milliliters per kilogram per hour; write 100 milliliters per hour. Circle FGF: 2 to 3 liters per minute at induction, then 20 to 40 milliliters per kilogram per minute, minimum 500 milliliters per minute (Grubb 2020). NRC 200 to 400 milliliters per kilogram per minute. After the tube is in: inhalant to effect. Premed already lowered MAC. Then clip, sterile prep, and drape. Willie is an ASA example only: do not attach tube, bag, or fluid math to that dog.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That skip is Frey 2022 AAFP/AAHA Antimicrobial Stewardship. Timing the first dose 30 to 60 minutes before incision is also Frey 2022. Do not tell them AAHA published 22 milligrams per kilogram. That dose is Gonzalez 2017, extra-label in dogs. Whittem 1999 is a second dose if surgery lasted more than 90 minutes, not a q90 Gonzalez or AAHA schedule. Clean-contaminated: controlled entry into gut, airway, or bladder. Contaminated: fresh trauma or major spillage. Dirty: pus. An infected ear is dirty: treatment, not clean prophylaxis.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Do not clip until ready for prep: tube in, cuff to 20 centimeters of water, IV running, surgical plane. Clip and dirty-scrub in the prep area. Shoe covers, hair cap, and mask before the OR door. Gown is after the surgical hand scrub in the room, not in the hallway. Full sterile scrub after positioning. Then drape, then open and count instruments. Timeout. Announce the incision and mark it on the anesthesia chart. Clock to the last skin suture. CPE MOA 2026 Surgery scores hair, skin, position, drape, gown and glove. Veterinary Betadine: 7.5 percent scrub about 5 minutes, rinse, paint 5 percent Solution Veterinary. Eye: Roberts 1986, 1 to 50 of 10 percent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Do not teach a fixed 20 centimeter margin. Teach landmarks that scale with the patient. Protect heat.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Spell chlorhexidine, povidone-iodine, and alcohol. Do not say C-H-G or P-V-P-I. Walk the table: as a scrub, contact time, use on, do not. Chlorhexidine: Nolvasan 2 percent, 2 to 4 minutes, intact skin, not eyes or mucosa. Povidone-iodine: 7.5 percent scrub about 5 minutes on intact skin, then 5 percent veterinary paint. Eye is 0.2 percent on a healthy cornea, 2 plus 2 minutes, Roberts 1986. Do not put 7.5 percent detergent scrub on the cornea or in the ear. Alcohol: rinse on intact skin after the detergent scrub and let it dry. Not on cornea, mucosa, or an open wound. Alcohol does not replace the timed chlorhexidine or povidone-iodine contact.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one continuous spiral out from the incision, not a stack of closed circles. Dirty scrub is not sterile prep. Full scrub is in the OR after positioning.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photograph is the overhead window: fenestrated drape, clipped skin in the hole, Backhaus towel clamps at the corners. Hair stays under the drape. The small photograph is hair at the margin: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 photograph of two people in gowns putting on sterile gloves. Not a drawing. Call out the door: shoe covers, cap, mask. Gown after the hand scrub, not in the hallway. Closed glove for this course: hands stay in the cuffs. Then drape, then open and count the pack. Students name SpO2, ETCO2, ECG, temp, and fluids before the first incision. Do not mix hospital-patient names onto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Teach the clinical rule, not exam scoring. The 24-hour window is why recovery is in this lecture: monitor, recognize hemorrhage and hernia, write the discharge plan.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board math for a 25 kilogram dog: 10 millimeter, 2 liter circle, 125 milliliters per hour. B is Roberts 1986: 0.2 percent, 2 plus 2 minutes, not undiluted 10 percent or 5 percent paint; perforation is saline only. A is airway before clippers, dirty scrub in the prep area, full scrub in the OR.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as an original chart, not the copyrighted form. Gold columns are times you mark: anesthesia start, first incision, last skin suture. Plot the rest every 5 to 10 minutes in real time against the normal operating range (CPE MOA 2026 Anesthesia). Write the number you see. Heart rate: dog 60 to 140 is the intra-op teaching band on this chart. Large dogs often sit in the 60s; small dogs often 100 to 140. Do not cite Grubb for 60 to 140. Ko and Krimins 2012 Table 2 is 60 to 120. Fossum Table 31-1 70 to 140 is the conscious dog, on the PE slide. Tachycardia alert 150 to 190 by size, Grubb 2020. Cat 100 to 180, AAFP 2018. Respiratory rate: dog 8 to 20, cat 10 to 25 is the intra-op teaching band on this chart. Dogs often sit 10 to 20; 8 can be acceptable in a small dog or a deeper plane. Cats often sit 12 to 20. Fossum 20 to 40 is the conscious patient, on the PE slide. Do not cite Grubb for 8 to 20 or 10 to 25. Apnea is out of range; start PPV. Blood pressure floors: SAP 90, MAP 70, DAP 40, Grubb 2020. Treat MAP under 60 as hypotension. ETCO2 40 to 50, start PPV if over 60. SpO2 at least 95 percent. Temperature at least 98 Fahrenheit. Circle oxygen: 2 to 3 liters, then 20 to 40 milliliters per kilogram per minute, minimum 500 milliliters per minute, Grubb 2020. Fluids: dog 5, cat 3 to 5 milliliters per kilogram per hour, Pardo 2024. Out of range: event, time, correction. Then fluids total, recovery analgesic, and sign. Time cells stay empty until a real patient.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as pre-emptive analgesia: give before incision so levels are on board. Dog: carprofen 4.4 milligrams per kilogram SQ, about 2 hours before incision. Do not use carprofen in cats. Cat: Onsior 2 milligrams per kilogram SQ, about 30 minutes before incision. Do not teach Onsior in the dog. Do not stack an NSAID with a corticosteroid. Skip NSAID if the patient is azotemic.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Written key after the first quiz. Status 4-E. Why not 1, why not 3. No DexSP. No Unasyn. No Cerenia. Do not invent fluid overload. Client identifiers stay off the board.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Written key after the second quiz. Status 3-E. Why not 1, why not 4. No drugs. No ear clean. No TECA.</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lines are the Appendix 3 record and the Surgery competencies: assessment and ASA, drug protocol and equipment, ready for prep, hair-skin-position-drape, the chart and signature, then the first 24 hours. Do not recap the hospital patients here.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ready for clippers means airway secured, machine on, patent IV running, surgical plane, monitoring started. Before the first premed: today’s PE, PCV, TP, BUN, and ASA.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37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Exam, labs, then you write the ASA. Then prep. Then 24 hours of monitoring and complication management.</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7" name="TextBox 6"/>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American Society of Anesthesiologists (ASA) status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dirty scrub, OR attire, full scrub, drape, instrument table,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8" name="Rounded Rectangle 7"/>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983480"/>
            <a:ext cx="10881360" cy="594360"/>
          </a:xfrm>
          <a:prstGeom prst="rect">
            <a:avLst/>
          </a:prstGeom>
          <a:noFill/>
        </p:spPr>
        <p:txBody>
          <a:bodyPr wrap="square" anchor="ctr"/>
          <a:lstStyle/>
          <a:p>
            <a:pPr algn="l"/>
            <a:r>
              <a:rPr sz="1600" b="0">
                <a:solidFill>
                  <a:srgbClr val="0B2C4A"/>
                </a:solidFill>
                <a:latin typeface="Calibri"/>
              </a:rPr>
              <a:t>Exam → labs → ASA → ready for prep → clip, dirty scrub, OR, full scrub, drape, instruments → first 24 hours.</a:t>
            </a:r>
          </a:p>
        </p:txBody>
      </p:sp>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Prepare the patient and yourself</a:t>
            </a:r>
          </a:p>
        </p:txBody>
      </p:sp>
      <p:sp>
        <p:nvSpPr>
          <p:cNvPr id="7" name="Rounded Rectangle 6"/>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0" name="TextBox 9"/>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1" name="Rounded Rectangle 10"/>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4" name="TextBox 13"/>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surgical care.</a:t>
            </a:r>
          </a:p>
        </p:txBody>
      </p:sp>
      <p:sp>
        <p:nvSpPr>
          <p:cNvPr id="15" name="Rounded Rectangle 14"/>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Set before you cut</a:t>
            </a:r>
          </a:p>
        </p:txBody>
      </p:sp>
      <p:sp>
        <p:nvSpPr>
          <p:cNvPr id="18" name="TextBox 17"/>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19" name="Rounded Rectangle 18"/>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1" name="TextBox 20"/>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monitor the first 24 hours: a weak ligature or a weak linea is a technical failure you must recognize (CPE MOA 2026 Surgery).</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7" name="Rounded Rectangle 6"/>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0" name="TextBox 9"/>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1" name="Rounded Rectangle 10"/>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4" name="TextBox 13"/>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5" name="Rounded Rectangle 14"/>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8" name="TextBox 17"/>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19" name="Rounded Rectangle 18"/>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2" name="TextBox 21"/>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3" name="Rounded Rectangle 22"/>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6" name="TextBox 25"/>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7" name="Rounded Rectangle 26"/>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0" name="TextBox 29"/>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1" name="Rounded Rectangle 30"/>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4" name="TextBox 33"/>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5" name="Rectangle 3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7" name="TextBox 3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7" name="Rounded Rectangle 6"/>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0" name="TextBox 9"/>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1" name="TextBox 10"/>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2" name="Rounded Rectangle 11"/>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5" name="TextBox 14"/>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Clip, dirty scrub
Shoe covers, cap, mask
OR: full scrub, gown
Drape, instruments</a:t>
            </a:r>
          </a:p>
        </p:txBody>
      </p:sp>
      <p:sp>
        <p:nvSpPr>
          <p:cNvPr id="16" name="TextBox 15"/>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7" name="Rounded Rectangle 16"/>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0" name="TextBox 19"/>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Mark incision
Hold asepsis
Halsted, temp, pain
Chart every 5–10 min</a:t>
            </a:r>
          </a:p>
        </p:txBody>
      </p:sp>
      <p:sp>
        <p:nvSpPr>
          <p:cNvPr id="21" name="TextBox 20"/>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2" name="Rounded Rectangle 21"/>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5" name="TextBox 24"/>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6" name="Rounded Rectangle 25"/>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8" name="TextBox 27"/>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29" name="Rounded Rectangle 28"/>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1" name="TextBox 30"/>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24 hours of monitoring and complication management (CPE MOA 2026 Surgery).</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7" name="Rounded Rectangle 6"/>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0" name="TextBox 9"/>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Write the numbers. Conscious dog: HR 70–140, RR 20–40. Cat: HR 145–200, RR 20–40 (Fossum).</a:t>
            </a:r>
          </a:p>
        </p:txBody>
      </p:sp>
      <p:sp>
        <p:nvSpPr>
          <p:cNvPr id="11" name="Rounded Rectangle 10"/>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4" name="TextBox 13"/>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5" name="Rounded Rectangle 14"/>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8" name="TextBox 17"/>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Record any murmur, arrhythmia, or crackles before you choose drugs.</a:t>
            </a:r>
          </a:p>
        </p:txBody>
      </p:sp>
      <p:sp>
        <p:nvSpPr>
          <p:cNvPr id="19" name="Rounded Rectangle 18"/>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2" name="TextBox 21"/>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3" name="Rectangle 22"/>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5" name="Rounded Rectangle 24"/>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8" name="TextBox 27"/>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29" name="Rounded Rectangle 28"/>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2" name="TextBox 31"/>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3" name="Rounded Rectangle 32"/>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6" name="TextBox 35"/>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American Society of Anesthesiologists (ASA)</a:t>
            </a:r>
          </a:p>
        </p:txBody>
      </p:sp>
      <p:sp>
        <p:nvSpPr>
          <p:cNvPr id="7" name="Rectangle 6"/>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9" name="TextBox 8"/>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0" name="TextBox 9"/>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1" name="Rounded Rectangle 10"/>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4" name="TextBox 13"/>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5" name="TextBox 14"/>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6" name="Rounded Rectangle 15"/>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19" name="TextBox 18"/>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0" name="TextBox 19"/>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1" name="Rounded Rectangle 20"/>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4" name="TextBox 23"/>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5" name="TextBox 24"/>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6" name="Rounded Rectangle 25"/>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29" name="TextBox 28"/>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0" name="TextBox 29"/>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1" name="Rounded Rectangle 30"/>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4" name="TextBox 33"/>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5" name="TextBox 34"/>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6" name="Rounded Rectangle 35"/>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Status 3 is moderate and compensated. Status 4 is uncompensated and a threat to life. Today’s PE and labs write the number. A normal CBC does not write Status 1.</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today’s PE</a:t>
            </a:r>
          </a:p>
        </p:txBody>
      </p:sp>
      <p:pic>
        <p:nvPicPr>
          <p:cNvPr id="7" name="Picture 6" descr="momo.jpg"/>
          <p:cNvPicPr>
            <a:picLocks noChangeAspect="1"/>
          </p:cNvPicPr>
          <p:nvPr/>
        </p:nvPicPr>
        <p:blipFill>
          <a:blip r:embed="rId2"/>
          <a:stretch>
            <a:fillRect/>
          </a:stretch>
        </p:blipFill>
        <p:spPr>
          <a:xfrm>
            <a:off x="365760" y="1024128"/>
            <a:ext cx="4041648" cy="5394960"/>
          </a:xfrm>
          <a:prstGeom prst="rect">
            <a:avLst/>
          </a:prstGeom>
        </p:spPr>
      </p:pic>
      <p:sp>
        <p:nvSpPr>
          <p:cNvPr id="8" name="Rounded Rectangle 7"/>
          <p:cNvSpPr/>
          <p:nvPr/>
        </p:nvSpPr>
        <p:spPr>
          <a:xfrm>
            <a:off x="4553712" y="1024128"/>
            <a:ext cx="7178040" cy="117043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SF DSH, 6 yr, 4.25 kg, BCS 5/9. Acute vomiting and lethargy this morning. Two vomits (food, then liquid). Construction at home. T 98.0 °F, HR 200, RR 30, mm pink tacky, CRT &lt;2 s, QAR. Do not write the ASA yet.</a:t>
            </a:r>
          </a:p>
        </p:txBody>
      </p:sp>
      <p:sp>
        <p:nvSpPr>
          <p:cNvPr id="10" name="Rounded Rectangle 9"/>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3" name="TextBox 12"/>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Possible FB or toxin was on the list. Mildly enlarged abdomen. That is how cats get booked for an exploratory.</a:t>
            </a:r>
          </a:p>
        </p:txBody>
      </p:sp>
      <p:sp>
        <p:nvSpPr>
          <p:cNvPr id="14" name="Rounded Rectangle 13"/>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Abdomen and the rest of PE</a:t>
            </a:r>
          </a:p>
        </p:txBody>
      </p:sp>
      <p:sp>
        <p:nvSpPr>
          <p:cNvPr id="17" name="TextBox 16"/>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Mildly enlarged abdomen on palpation. Rectal not examined. The PE did not prove a foreign body.</a:t>
            </a:r>
          </a:p>
        </p:txBody>
      </p:sp>
      <p:sp>
        <p:nvSpPr>
          <p:cNvPr id="18" name="Rounded Rectangle 17"/>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Eyes, ears, nose normal. Oral pink, CRT &lt;2. Lungs clear, eupneic. No murmur, regular rhythm. Ambulatory ×4. LN and skin WNL. Neuro: normal gait, CNs intact. MCS 3/3. Generalized small stature.</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labs. Write the ASA</a:t>
            </a:r>
          </a:p>
        </p:txBody>
      </p:sp>
      <p:sp>
        <p:nvSpPr>
          <p:cNvPr id="7" name="Rounded Rectangle 6"/>
          <p:cNvSpPr/>
          <p:nvPr/>
        </p:nvSpPr>
        <p:spPr>
          <a:xfrm>
            <a:off x="41148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161288"/>
            <a:ext cx="2423160" cy="329184"/>
          </a:xfrm>
          <a:prstGeom prst="rect">
            <a:avLst/>
          </a:prstGeom>
          <a:noFill/>
        </p:spPr>
        <p:txBody>
          <a:bodyPr wrap="square" anchor="t"/>
          <a:lstStyle/>
          <a:p>
            <a:pPr algn="l"/>
            <a:r>
              <a:rPr sz="1800" b="1">
                <a:solidFill>
                  <a:srgbClr val="0B2C4A"/>
                </a:solidFill>
                <a:latin typeface="Calibri"/>
              </a:rPr>
              <a:t>HCT</a:t>
            </a:r>
          </a:p>
        </p:txBody>
      </p:sp>
      <p:sp>
        <p:nvSpPr>
          <p:cNvPr id="10" name="TextBox 9"/>
          <p:cNvSpPr txBox="1"/>
          <p:nvPr/>
        </p:nvSpPr>
        <p:spPr>
          <a:xfrm>
            <a:off x="667512" y="1508760"/>
            <a:ext cx="2423160" cy="1399032"/>
          </a:xfrm>
          <a:prstGeom prst="rect">
            <a:avLst/>
          </a:prstGeom>
          <a:noFill/>
        </p:spPr>
        <p:txBody>
          <a:bodyPr wrap="square" anchor="t"/>
          <a:lstStyle/>
          <a:p>
            <a:pPr algn="l"/>
            <a:r>
              <a:rPr sz="1600" b="0">
                <a:solidFill>
                  <a:srgbClr val="3D4A57"/>
                </a:solidFill>
                <a:latin typeface="Calibri"/>
              </a:rPr>
              <a:t>44%  (28–50)</a:t>
            </a:r>
          </a:p>
        </p:txBody>
      </p:sp>
      <p:sp>
        <p:nvSpPr>
          <p:cNvPr id="11" name="Rounded Rectangle 10"/>
          <p:cNvSpPr/>
          <p:nvPr/>
        </p:nvSpPr>
        <p:spPr>
          <a:xfrm>
            <a:off x="333756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2" y="1161288"/>
            <a:ext cx="2423160" cy="329184"/>
          </a:xfrm>
          <a:prstGeom prst="rect">
            <a:avLst/>
          </a:prstGeom>
          <a:noFill/>
        </p:spPr>
        <p:txBody>
          <a:bodyPr wrap="square" anchor="t"/>
          <a:lstStyle/>
          <a:p>
            <a:pPr algn="l"/>
            <a:r>
              <a:rPr sz="1800" b="1">
                <a:solidFill>
                  <a:srgbClr val="0B2C4A"/>
                </a:solidFill>
                <a:latin typeface="Calibri"/>
              </a:rPr>
              <a:t>TP (total protein)</a:t>
            </a:r>
          </a:p>
        </p:txBody>
      </p:sp>
      <p:sp>
        <p:nvSpPr>
          <p:cNvPr id="14" name="TextBox 13"/>
          <p:cNvSpPr txBox="1"/>
          <p:nvPr/>
        </p:nvSpPr>
        <p:spPr>
          <a:xfrm>
            <a:off x="3593592" y="1508760"/>
            <a:ext cx="2423160" cy="1399032"/>
          </a:xfrm>
          <a:prstGeom prst="rect">
            <a:avLst/>
          </a:prstGeom>
          <a:noFill/>
        </p:spPr>
        <p:txBody>
          <a:bodyPr wrap="square" anchor="t"/>
          <a:lstStyle/>
          <a:p>
            <a:pPr algn="l"/>
            <a:r>
              <a:rPr sz="1600" b="0">
                <a:solidFill>
                  <a:srgbClr val="3D4A57"/>
                </a:solidFill>
                <a:latin typeface="Calibri"/>
              </a:rPr>
              <a:t>5.1 g/dL</a:t>
            </a:r>
          </a:p>
        </p:txBody>
      </p:sp>
      <p:sp>
        <p:nvSpPr>
          <p:cNvPr id="15" name="Rounded Rectangle 14"/>
          <p:cNvSpPr/>
          <p:nvPr/>
        </p:nvSpPr>
        <p:spPr>
          <a:xfrm>
            <a:off x="626364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051560"/>
            <a:ext cx="91440" cy="19659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1161288"/>
            <a:ext cx="2423160" cy="329184"/>
          </a:xfrm>
          <a:prstGeom prst="rect">
            <a:avLst/>
          </a:prstGeom>
          <a:noFill/>
        </p:spPr>
        <p:txBody>
          <a:bodyPr wrap="square" anchor="t"/>
          <a:lstStyle/>
          <a:p>
            <a:pPr algn="l"/>
            <a:r>
              <a:rPr sz="1800" b="1">
                <a:solidFill>
                  <a:srgbClr val="0B2C4A"/>
                </a:solidFill>
                <a:latin typeface="Calibri"/>
              </a:rPr>
              <a:t>BUN / creatinine</a:t>
            </a:r>
          </a:p>
        </p:txBody>
      </p:sp>
      <p:sp>
        <p:nvSpPr>
          <p:cNvPr id="18" name="TextBox 17"/>
          <p:cNvSpPr txBox="1"/>
          <p:nvPr/>
        </p:nvSpPr>
        <p:spPr>
          <a:xfrm>
            <a:off x="6519672" y="1508760"/>
            <a:ext cx="2423160" cy="1399032"/>
          </a:xfrm>
          <a:prstGeom prst="rect">
            <a:avLst/>
          </a:prstGeom>
          <a:noFill/>
        </p:spPr>
        <p:txBody>
          <a:bodyPr wrap="square" anchor="t"/>
          <a:lstStyle/>
          <a:p>
            <a:pPr algn="l"/>
            <a:r>
              <a:rPr sz="1600" b="0">
                <a:solidFill>
                  <a:srgbClr val="3D4A57"/>
                </a:solidFill>
                <a:latin typeface="Calibri"/>
              </a:rPr>
              <a:t>BUN 48.7 → 100 (15–32). Cr 3.0 → 4.71.</a:t>
            </a:r>
          </a:p>
        </p:txBody>
      </p:sp>
      <p:sp>
        <p:nvSpPr>
          <p:cNvPr id="19" name="Rounded Rectangle 18"/>
          <p:cNvSpPr/>
          <p:nvPr/>
        </p:nvSpPr>
        <p:spPr>
          <a:xfrm>
            <a:off x="9189720" y="1051560"/>
            <a:ext cx="260604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051560"/>
            <a:ext cx="91440" cy="19659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45752" y="1161288"/>
            <a:ext cx="2240280" cy="329184"/>
          </a:xfrm>
          <a:prstGeom prst="rect">
            <a:avLst/>
          </a:prstGeom>
          <a:noFill/>
        </p:spPr>
        <p:txBody>
          <a:bodyPr wrap="square" anchor="t"/>
          <a:lstStyle/>
          <a:p>
            <a:pPr algn="l"/>
            <a:r>
              <a:rPr sz="1800" b="1">
                <a:solidFill>
                  <a:srgbClr val="0B2C4A"/>
                </a:solidFill>
                <a:latin typeface="Calibri"/>
              </a:rPr>
              <a:t>Out of range</a:t>
            </a:r>
          </a:p>
        </p:txBody>
      </p:sp>
      <p:sp>
        <p:nvSpPr>
          <p:cNvPr id="22" name="TextBox 21"/>
          <p:cNvSpPr txBox="1"/>
          <p:nvPr/>
        </p:nvSpPr>
        <p:spPr>
          <a:xfrm>
            <a:off x="9445752" y="1508760"/>
            <a:ext cx="2240280" cy="1399032"/>
          </a:xfrm>
          <a:prstGeom prst="rect">
            <a:avLst/>
          </a:prstGeom>
          <a:noFill/>
        </p:spPr>
        <p:txBody>
          <a:bodyPr wrap="square" anchor="t"/>
          <a:lstStyle/>
          <a:p>
            <a:pPr algn="l"/>
            <a:r>
              <a:rPr sz="1600" b="0">
                <a:solidFill>
                  <a:srgbClr val="3D4A57"/>
                </a:solidFill>
                <a:latin typeface="Calibri"/>
              </a:rPr>
              <a:t>WBC 26 (3–16). Neutrophils 24 (4–11). Na 142. BE −7.4. Glucose 136. Phos high; no number printed.</a:t>
            </a:r>
          </a:p>
        </p:txBody>
      </p:sp>
      <p:sp>
        <p:nvSpPr>
          <p:cNvPr id="23" name="Rounded Rectangle 22"/>
          <p:cNvSpPr/>
          <p:nvPr/>
        </p:nvSpPr>
        <p:spPr>
          <a:xfrm>
            <a:off x="411480" y="3154680"/>
            <a:ext cx="1133856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246120"/>
            <a:ext cx="10927080" cy="1051560"/>
          </a:xfrm>
          <a:prstGeom prst="rect">
            <a:avLst/>
          </a:prstGeom>
          <a:noFill/>
        </p:spPr>
        <p:txBody>
          <a:bodyPr wrap="square" anchor="ctr"/>
          <a:lstStyle/>
          <a:p>
            <a:pPr algn="l"/>
            <a:r>
              <a:rPr sz="1600" b="1">
                <a:solidFill>
                  <a:srgbClr val="0B2C4A"/>
                </a:solidFill>
                <a:latin typeface="Calibri"/>
              </a:rPr>
              <a:t>Quiz. Assign ASA. Add E if emergency. Write it before you hear the key. AUS: right kidney fluid-filled, non-functional; left kidney reduced corticomedullary architecture. HCT in range does not write Status 1.</a:t>
            </a:r>
          </a:p>
        </p:txBody>
      </p:sp>
      <p:sp>
        <p:nvSpPr>
          <p:cNvPr id="25" name="Rounded Rectangle 24"/>
          <p:cNvSpPr/>
          <p:nvPr/>
        </p:nvSpPr>
        <p:spPr>
          <a:xfrm>
            <a:off x="41148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526280"/>
            <a:ext cx="91440" cy="1920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636008"/>
            <a:ext cx="3337560" cy="329184"/>
          </a:xfrm>
          <a:prstGeom prst="rect">
            <a:avLst/>
          </a:prstGeom>
          <a:noFill/>
        </p:spPr>
        <p:txBody>
          <a:bodyPr wrap="square" anchor="t"/>
          <a:lstStyle/>
          <a:p>
            <a:pPr algn="l"/>
            <a:r>
              <a:rPr sz="1800" b="1">
                <a:solidFill>
                  <a:srgbClr val="0B2C4A"/>
                </a:solidFill>
                <a:latin typeface="Calibri"/>
              </a:rPr>
              <a:t>1. Status?</a:t>
            </a:r>
          </a:p>
        </p:txBody>
      </p:sp>
      <p:sp>
        <p:nvSpPr>
          <p:cNvPr id="28" name="TextBox 27"/>
          <p:cNvSpPr txBox="1"/>
          <p:nvPr/>
        </p:nvSpPr>
        <p:spPr>
          <a:xfrm>
            <a:off x="667512" y="4983480"/>
            <a:ext cx="3337560" cy="1353312"/>
          </a:xfrm>
          <a:prstGeom prst="rect">
            <a:avLst/>
          </a:prstGeom>
          <a:noFill/>
        </p:spPr>
        <p:txBody>
          <a:bodyPr wrap="square" anchor="t"/>
          <a:lstStyle/>
          <a:p>
            <a:pPr algn="l"/>
            <a:r>
              <a:rPr sz="1600" b="0">
                <a:solidFill>
                  <a:srgbClr val="3D4A57"/>
                </a:solidFill>
                <a:latin typeface="Calibri"/>
              </a:rPr>
              <a:t>Number, and E or not.</a:t>
            </a:r>
          </a:p>
        </p:txBody>
      </p:sp>
      <p:sp>
        <p:nvSpPr>
          <p:cNvPr id="29" name="Rounded Rectangle 28"/>
          <p:cNvSpPr/>
          <p:nvPr/>
        </p:nvSpPr>
        <p:spPr>
          <a:xfrm>
            <a:off x="425196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51960" y="4526280"/>
            <a:ext cx="91440" cy="19202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992" y="4636008"/>
            <a:ext cx="3337560" cy="329184"/>
          </a:xfrm>
          <a:prstGeom prst="rect">
            <a:avLst/>
          </a:prstGeom>
          <a:noFill/>
        </p:spPr>
        <p:txBody>
          <a:bodyPr wrap="square" anchor="t"/>
          <a:lstStyle/>
          <a:p>
            <a:pPr algn="l"/>
            <a:r>
              <a:rPr sz="1800" b="1">
                <a:solidFill>
                  <a:srgbClr val="0B2C4A"/>
                </a:solidFill>
                <a:latin typeface="Calibri"/>
              </a:rPr>
              <a:t>2. Why not Status 3?</a:t>
            </a:r>
          </a:p>
        </p:txBody>
      </p:sp>
      <p:sp>
        <p:nvSpPr>
          <p:cNvPr id="32" name="TextBox 31"/>
          <p:cNvSpPr txBox="1"/>
          <p:nvPr/>
        </p:nvSpPr>
        <p:spPr>
          <a:xfrm>
            <a:off x="4507992" y="4983480"/>
            <a:ext cx="3337560" cy="1353312"/>
          </a:xfrm>
          <a:prstGeom prst="rect">
            <a:avLst/>
          </a:prstGeom>
          <a:noFill/>
        </p:spPr>
        <p:txBody>
          <a:bodyPr wrap="square" anchor="t"/>
          <a:lstStyle/>
          <a:p>
            <a:pPr algn="l"/>
            <a:r>
              <a:rPr sz="1600" b="0">
                <a:solidFill>
                  <a:srgbClr val="3D4A57"/>
                </a:solidFill>
                <a:latin typeface="Calibri"/>
              </a:rPr>
              <a:t>Is this still compensated CKD, or a constant threat to life?</a:t>
            </a:r>
          </a:p>
        </p:txBody>
      </p:sp>
      <p:sp>
        <p:nvSpPr>
          <p:cNvPr id="33" name="Rounded Rectangle 32"/>
          <p:cNvSpPr/>
          <p:nvPr/>
        </p:nvSpPr>
        <p:spPr>
          <a:xfrm>
            <a:off x="8092440" y="4526280"/>
            <a:ext cx="365760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40" y="4526280"/>
            <a:ext cx="91440" cy="19202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48472" y="4636008"/>
            <a:ext cx="3291840" cy="329184"/>
          </a:xfrm>
          <a:prstGeom prst="rect">
            <a:avLst/>
          </a:prstGeom>
          <a:noFill/>
        </p:spPr>
        <p:txBody>
          <a:bodyPr wrap="square" anchor="t"/>
          <a:lstStyle/>
          <a:p>
            <a:pPr algn="l"/>
            <a:r>
              <a:rPr sz="1800" b="1">
                <a:solidFill>
                  <a:srgbClr val="0B2C4A"/>
                </a:solidFill>
                <a:latin typeface="Calibri"/>
              </a:rPr>
              <a:t>3. Cut today?</a:t>
            </a:r>
          </a:p>
        </p:txBody>
      </p:sp>
      <p:sp>
        <p:nvSpPr>
          <p:cNvPr id="36" name="TextBox 35"/>
          <p:cNvSpPr txBox="1"/>
          <p:nvPr/>
        </p:nvSpPr>
        <p:spPr>
          <a:xfrm>
            <a:off x="8348472" y="4983480"/>
            <a:ext cx="3291840" cy="1353312"/>
          </a:xfrm>
          <a:prstGeom prst="rect">
            <a:avLst/>
          </a:prstGeom>
          <a:noFill/>
        </p:spPr>
        <p:txBody>
          <a:bodyPr wrap="square" anchor="t"/>
          <a:lstStyle/>
          <a:p>
            <a:pPr algn="l"/>
            <a:r>
              <a:rPr sz="1600" b="0">
                <a:solidFill>
                  <a:srgbClr val="3D4A57"/>
                </a:solidFill>
                <a:latin typeface="Calibri"/>
              </a:rPr>
              <a:t>Exploratory on vomiting and an enlarged abdomen?</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today’s PE</a:t>
            </a:r>
          </a:p>
        </p:txBody>
      </p:sp>
      <p:sp>
        <p:nvSpPr>
          <p:cNvPr id="7" name="Rounded Rectangle 6"/>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MN Cavalier, 6 y 11 mo, 13.7 kg. Acute ataxia and disorientation ~1 hour. Found on the floor; fell off the couch twice. Cytopoint. T 100.8 °F, HR 132, RR 52, mm pink, CRT 2 s, dull/quiet. Do not write the ASA yet.</a:t>
            </a:r>
          </a:p>
        </p:txBody>
      </p:sp>
      <p:sp>
        <p:nvSpPr>
          <p:cNvPr id="9" name="Rounded Rectangle 8"/>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2" name="TextBox 11"/>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3" name="Rounded Rectangle 12"/>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Vestibular</a:t>
            </a:r>
          </a:p>
        </p:txBody>
      </p:sp>
      <p:sp>
        <p:nvSpPr>
          <p:cNvPr id="16" name="TextBox 15"/>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Head tilt / leaning toward the left (infected ear, AS). Stumbling. Circling or tight turns to the left. Nystagmus: rapid left, slow right.</a:t>
            </a:r>
          </a:p>
        </p:txBody>
      </p:sp>
      <p:sp>
        <p:nvSpPr>
          <p:cNvPr id="17" name="Rounded Rectangle 16"/>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Wheelbarrow / CP</a:t>
            </a:r>
          </a:p>
        </p:txBody>
      </p:sp>
      <p:sp>
        <p:nvSpPr>
          <p:cNvPr id="20" name="TextBox 19"/>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Wheelbarrow: left intact, right absent. Prolonged proprioception, right limbs. Knuckling on the right limbs when walking. Limbs slip.</a:t>
            </a:r>
          </a:p>
        </p:txBody>
      </p:sp>
      <p:sp>
        <p:nvSpPr>
          <p:cNvPr id="21" name="Rounded Rectangle 20"/>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Also on PE: Grade II/VI left systolic murmur. Lungs clear, eupneic. Heavy tartar. Yellow crusts on the nasal philtrum. Eyes: PLR present. Next: today’s chemistry and CBC. Then you write the ASA. Owner identifiers stay off these slides. Do not use a drug list on this dog.</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labs. Write the ASA</a:t>
            </a:r>
          </a:p>
        </p:txBody>
      </p:sp>
      <p:sp>
        <p:nvSpPr>
          <p:cNvPr id="7" name="Rounded Rectangle 6"/>
          <p:cNvSpPr/>
          <p:nvPr/>
        </p:nvSpPr>
        <p:spPr>
          <a:xfrm>
            <a:off x="41148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161288"/>
            <a:ext cx="2423160" cy="329184"/>
          </a:xfrm>
          <a:prstGeom prst="rect">
            <a:avLst/>
          </a:prstGeom>
          <a:noFill/>
        </p:spPr>
        <p:txBody>
          <a:bodyPr wrap="square" anchor="t"/>
          <a:lstStyle/>
          <a:p>
            <a:pPr algn="l"/>
            <a:r>
              <a:rPr sz="1800" b="1">
                <a:solidFill>
                  <a:srgbClr val="0B2C4A"/>
                </a:solidFill>
                <a:latin typeface="Calibri"/>
              </a:rPr>
              <a:t>HCT</a:t>
            </a:r>
          </a:p>
        </p:txBody>
      </p:sp>
      <p:sp>
        <p:nvSpPr>
          <p:cNvPr id="10" name="TextBox 9"/>
          <p:cNvSpPr txBox="1"/>
          <p:nvPr/>
        </p:nvSpPr>
        <p:spPr>
          <a:xfrm>
            <a:off x="667512" y="1508760"/>
            <a:ext cx="2423160" cy="1399032"/>
          </a:xfrm>
          <a:prstGeom prst="rect">
            <a:avLst/>
          </a:prstGeom>
          <a:noFill/>
        </p:spPr>
        <p:txBody>
          <a:bodyPr wrap="square" anchor="t"/>
          <a:lstStyle/>
          <a:p>
            <a:pPr algn="l"/>
            <a:r>
              <a:rPr sz="1600" b="0">
                <a:solidFill>
                  <a:srgbClr val="3D4A57"/>
                </a:solidFill>
                <a:latin typeface="Calibri"/>
              </a:rPr>
              <a:t>47.5%  (36.9–60.0)</a:t>
            </a:r>
          </a:p>
        </p:txBody>
      </p:sp>
      <p:sp>
        <p:nvSpPr>
          <p:cNvPr id="11" name="Rounded Rectangle 10"/>
          <p:cNvSpPr/>
          <p:nvPr/>
        </p:nvSpPr>
        <p:spPr>
          <a:xfrm>
            <a:off x="333756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2" y="1161288"/>
            <a:ext cx="2423160" cy="329184"/>
          </a:xfrm>
          <a:prstGeom prst="rect">
            <a:avLst/>
          </a:prstGeom>
          <a:noFill/>
        </p:spPr>
        <p:txBody>
          <a:bodyPr wrap="square" anchor="t"/>
          <a:lstStyle/>
          <a:p>
            <a:pPr algn="l"/>
            <a:r>
              <a:rPr sz="1800" b="1">
                <a:solidFill>
                  <a:srgbClr val="0B2C4A"/>
                </a:solidFill>
                <a:latin typeface="Calibri"/>
              </a:rPr>
              <a:t>TP</a:t>
            </a:r>
          </a:p>
        </p:txBody>
      </p:sp>
      <p:sp>
        <p:nvSpPr>
          <p:cNvPr id="14" name="TextBox 13"/>
          <p:cNvSpPr txBox="1"/>
          <p:nvPr/>
        </p:nvSpPr>
        <p:spPr>
          <a:xfrm>
            <a:off x="3593592" y="1508760"/>
            <a:ext cx="2423160" cy="1399032"/>
          </a:xfrm>
          <a:prstGeom prst="rect">
            <a:avLst/>
          </a:prstGeom>
          <a:noFill/>
        </p:spPr>
        <p:txBody>
          <a:bodyPr wrap="square" anchor="t"/>
          <a:lstStyle/>
          <a:p>
            <a:pPr algn="l"/>
            <a:r>
              <a:rPr sz="1600" b="0">
                <a:solidFill>
                  <a:srgbClr val="3D4A57"/>
                </a:solidFill>
                <a:latin typeface="Calibri"/>
              </a:rPr>
              <a:t>6.4 g/dL  (5.5–7.6)</a:t>
            </a:r>
          </a:p>
        </p:txBody>
      </p:sp>
      <p:sp>
        <p:nvSpPr>
          <p:cNvPr id="15" name="Rounded Rectangle 14"/>
          <p:cNvSpPr/>
          <p:nvPr/>
        </p:nvSpPr>
        <p:spPr>
          <a:xfrm>
            <a:off x="626364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051560"/>
            <a:ext cx="91440" cy="19659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1161288"/>
            <a:ext cx="2423160" cy="329184"/>
          </a:xfrm>
          <a:prstGeom prst="rect">
            <a:avLst/>
          </a:prstGeom>
          <a:noFill/>
        </p:spPr>
        <p:txBody>
          <a:bodyPr wrap="square" anchor="t"/>
          <a:lstStyle/>
          <a:p>
            <a:pPr algn="l"/>
            <a:r>
              <a:rPr sz="1800" b="1">
                <a:solidFill>
                  <a:srgbClr val="0B2C4A"/>
                </a:solidFill>
                <a:latin typeface="Calibri"/>
              </a:rPr>
              <a:t>BUN / creatinine</a:t>
            </a:r>
          </a:p>
        </p:txBody>
      </p:sp>
      <p:sp>
        <p:nvSpPr>
          <p:cNvPr id="18" name="TextBox 17"/>
          <p:cNvSpPr txBox="1"/>
          <p:nvPr/>
        </p:nvSpPr>
        <p:spPr>
          <a:xfrm>
            <a:off x="6519672" y="1508760"/>
            <a:ext cx="2423160" cy="1399032"/>
          </a:xfrm>
          <a:prstGeom prst="rect">
            <a:avLst/>
          </a:prstGeom>
          <a:noFill/>
        </p:spPr>
        <p:txBody>
          <a:bodyPr wrap="square" anchor="t"/>
          <a:lstStyle/>
          <a:p>
            <a:pPr algn="l"/>
            <a:r>
              <a:rPr sz="1600" b="0">
                <a:solidFill>
                  <a:srgbClr val="3D4A57"/>
                </a:solidFill>
                <a:latin typeface="Calibri"/>
              </a:rPr>
              <a:t>BUN 11.9 (9.0–29.0). Cr 0.7 (0.4–1.4).</a:t>
            </a:r>
          </a:p>
        </p:txBody>
      </p:sp>
      <p:sp>
        <p:nvSpPr>
          <p:cNvPr id="19" name="Rounded Rectangle 18"/>
          <p:cNvSpPr/>
          <p:nvPr/>
        </p:nvSpPr>
        <p:spPr>
          <a:xfrm>
            <a:off x="9189720" y="1051560"/>
            <a:ext cx="260604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051560"/>
            <a:ext cx="91440" cy="19659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45752" y="1161288"/>
            <a:ext cx="2240280" cy="329184"/>
          </a:xfrm>
          <a:prstGeom prst="rect">
            <a:avLst/>
          </a:prstGeom>
          <a:noFill/>
        </p:spPr>
        <p:txBody>
          <a:bodyPr wrap="square" anchor="t"/>
          <a:lstStyle/>
          <a:p>
            <a:pPr algn="l"/>
            <a:r>
              <a:rPr sz="1800" b="1">
                <a:solidFill>
                  <a:srgbClr val="0B2C4A"/>
                </a:solidFill>
                <a:latin typeface="Calibri"/>
              </a:rPr>
              <a:t>Out of range</a:t>
            </a:r>
          </a:p>
        </p:txBody>
      </p:sp>
      <p:sp>
        <p:nvSpPr>
          <p:cNvPr id="22" name="TextBox 21"/>
          <p:cNvSpPr txBox="1"/>
          <p:nvPr/>
        </p:nvSpPr>
        <p:spPr>
          <a:xfrm>
            <a:off x="9445752" y="1508760"/>
            <a:ext cx="2240280" cy="1399032"/>
          </a:xfrm>
          <a:prstGeom prst="rect">
            <a:avLst/>
          </a:prstGeom>
          <a:noFill/>
        </p:spPr>
        <p:txBody>
          <a:bodyPr wrap="square" anchor="t"/>
          <a:lstStyle/>
          <a:p>
            <a:pPr algn="l"/>
            <a:r>
              <a:rPr sz="1600" b="0">
                <a:solidFill>
                  <a:srgbClr val="3D4A57"/>
                </a:solidFill>
                <a:latin typeface="Calibri"/>
              </a:rPr>
              <a:t>Phos 6.0 (1.9–5.0). Glucose 130 (75–125). CBC in range.</a:t>
            </a:r>
          </a:p>
        </p:txBody>
      </p:sp>
      <p:sp>
        <p:nvSpPr>
          <p:cNvPr id="23" name="Rounded Rectangle 22"/>
          <p:cNvSpPr/>
          <p:nvPr/>
        </p:nvSpPr>
        <p:spPr>
          <a:xfrm>
            <a:off x="411480" y="3154680"/>
            <a:ext cx="1133856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246120"/>
            <a:ext cx="10927080" cy="1051560"/>
          </a:xfrm>
          <a:prstGeom prst="rect">
            <a:avLst/>
          </a:prstGeom>
          <a:noFill/>
        </p:spPr>
        <p:txBody>
          <a:bodyPr wrap="square" anchor="ctr"/>
          <a:lstStyle/>
          <a:p>
            <a:pPr algn="l"/>
            <a:r>
              <a:rPr sz="1800" b="1">
                <a:solidFill>
                  <a:srgbClr val="0B2C4A"/>
                </a:solidFill>
                <a:latin typeface="Calibri"/>
              </a:rPr>
              <a:t>Quiz. Assign ASA. Add E if emergency. Write it before you hear the key. HCT in range does not write Status 1.</a:t>
            </a:r>
          </a:p>
        </p:txBody>
      </p:sp>
      <p:sp>
        <p:nvSpPr>
          <p:cNvPr id="25" name="Rounded Rectangle 24"/>
          <p:cNvSpPr/>
          <p:nvPr/>
        </p:nvSpPr>
        <p:spPr>
          <a:xfrm>
            <a:off x="41148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526280"/>
            <a:ext cx="91440" cy="1920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636008"/>
            <a:ext cx="3337560" cy="329184"/>
          </a:xfrm>
          <a:prstGeom prst="rect">
            <a:avLst/>
          </a:prstGeom>
          <a:noFill/>
        </p:spPr>
        <p:txBody>
          <a:bodyPr wrap="square" anchor="t"/>
          <a:lstStyle/>
          <a:p>
            <a:pPr algn="l"/>
            <a:r>
              <a:rPr sz="1800" b="1">
                <a:solidFill>
                  <a:srgbClr val="0B2C4A"/>
                </a:solidFill>
                <a:latin typeface="Calibri"/>
              </a:rPr>
              <a:t>1. Status?</a:t>
            </a:r>
          </a:p>
        </p:txBody>
      </p:sp>
      <p:sp>
        <p:nvSpPr>
          <p:cNvPr id="28" name="TextBox 27"/>
          <p:cNvSpPr txBox="1"/>
          <p:nvPr/>
        </p:nvSpPr>
        <p:spPr>
          <a:xfrm>
            <a:off x="667512" y="4983480"/>
            <a:ext cx="3337560" cy="1353312"/>
          </a:xfrm>
          <a:prstGeom prst="rect">
            <a:avLst/>
          </a:prstGeom>
          <a:noFill/>
        </p:spPr>
        <p:txBody>
          <a:bodyPr wrap="square" anchor="t"/>
          <a:lstStyle/>
          <a:p>
            <a:pPr algn="l"/>
            <a:r>
              <a:rPr sz="1600" b="0">
                <a:solidFill>
                  <a:srgbClr val="3D4A57"/>
                </a:solidFill>
                <a:latin typeface="Calibri"/>
              </a:rPr>
              <a:t>Number, and E or not.</a:t>
            </a:r>
          </a:p>
        </p:txBody>
      </p:sp>
      <p:sp>
        <p:nvSpPr>
          <p:cNvPr id="29" name="Rounded Rectangle 28"/>
          <p:cNvSpPr/>
          <p:nvPr/>
        </p:nvSpPr>
        <p:spPr>
          <a:xfrm>
            <a:off x="425196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51960" y="4526280"/>
            <a:ext cx="91440" cy="19202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992" y="4636008"/>
            <a:ext cx="3337560" cy="329184"/>
          </a:xfrm>
          <a:prstGeom prst="rect">
            <a:avLst/>
          </a:prstGeom>
          <a:noFill/>
        </p:spPr>
        <p:txBody>
          <a:bodyPr wrap="square" anchor="t"/>
          <a:lstStyle/>
          <a:p>
            <a:pPr algn="l"/>
            <a:r>
              <a:rPr sz="1800" b="1">
                <a:solidFill>
                  <a:srgbClr val="0B2C4A"/>
                </a:solidFill>
                <a:latin typeface="Calibri"/>
              </a:rPr>
              <a:t>2. Why not Status 1?</a:t>
            </a:r>
          </a:p>
        </p:txBody>
      </p:sp>
      <p:sp>
        <p:nvSpPr>
          <p:cNvPr id="32" name="TextBox 31"/>
          <p:cNvSpPr txBox="1"/>
          <p:nvPr/>
        </p:nvSpPr>
        <p:spPr>
          <a:xfrm>
            <a:off x="4507992" y="4983480"/>
            <a:ext cx="3337560" cy="1353312"/>
          </a:xfrm>
          <a:prstGeom prst="rect">
            <a:avLst/>
          </a:prstGeom>
          <a:noFill/>
        </p:spPr>
        <p:txBody>
          <a:bodyPr wrap="square" anchor="t"/>
          <a:lstStyle/>
          <a:p>
            <a:pPr algn="l"/>
            <a:r>
              <a:rPr sz="1600" b="0">
                <a:solidFill>
                  <a:srgbClr val="3D4A57"/>
                </a:solidFill>
                <a:latin typeface="Calibri"/>
              </a:rPr>
              <a:t>What on today’s PE is not a normal healthy patient?</a:t>
            </a:r>
          </a:p>
        </p:txBody>
      </p:sp>
      <p:sp>
        <p:nvSpPr>
          <p:cNvPr id="33" name="Rounded Rectangle 32"/>
          <p:cNvSpPr/>
          <p:nvPr/>
        </p:nvSpPr>
        <p:spPr>
          <a:xfrm>
            <a:off x="8092440" y="4526280"/>
            <a:ext cx="365760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40" y="4526280"/>
            <a:ext cx="91440" cy="19202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48472" y="4636008"/>
            <a:ext cx="3291840" cy="329184"/>
          </a:xfrm>
          <a:prstGeom prst="rect">
            <a:avLst/>
          </a:prstGeom>
          <a:noFill/>
        </p:spPr>
        <p:txBody>
          <a:bodyPr wrap="square" anchor="t"/>
          <a:lstStyle/>
          <a:p>
            <a:pPr algn="l"/>
            <a:r>
              <a:rPr sz="1800" b="1">
                <a:solidFill>
                  <a:srgbClr val="0B2C4A"/>
                </a:solidFill>
                <a:latin typeface="Calibri"/>
              </a:rPr>
              <a:t>3. Why not Status 4?</a:t>
            </a:r>
          </a:p>
        </p:txBody>
      </p:sp>
      <p:sp>
        <p:nvSpPr>
          <p:cNvPr id="36" name="TextBox 35"/>
          <p:cNvSpPr txBox="1"/>
          <p:nvPr/>
        </p:nvSpPr>
        <p:spPr>
          <a:xfrm>
            <a:off x="8348472" y="4983480"/>
            <a:ext cx="3291840" cy="1353312"/>
          </a:xfrm>
          <a:prstGeom prst="rect">
            <a:avLst/>
          </a:prstGeom>
          <a:noFill/>
        </p:spPr>
        <p:txBody>
          <a:bodyPr wrap="square" anchor="t"/>
          <a:lstStyle/>
          <a:p>
            <a:pPr algn="l"/>
            <a:r>
              <a:rPr sz="1600" b="0">
                <a:solidFill>
                  <a:srgbClr val="3D4A57"/>
                </a:solidFill>
                <a:latin typeface="Calibri"/>
              </a:rPr>
              <a:t>Is this a constant threat to life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7" name="Rounded Rectangle 6"/>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snap the capillary tube → refractometer TP.  BUN: chemistry or Azo stick.  Request, record, interpret. Then ASA. Then premed IM/SQ. Not before the exam.</a:t>
            </a:r>
          </a:p>
        </p:txBody>
      </p:sp>
      <p:pic>
        <p:nvPicPr>
          <p:cNvPr id="9" name="Picture 8"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7" name="Rectangle 6"/>
          <p:cNvSpPr/>
          <p:nvPr/>
        </p:nvSpPr>
        <p:spPr>
          <a:xfrm>
            <a:off x="292608" y="1024128"/>
            <a:ext cx="11612880" cy="420624"/>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24128"/>
            <a:ext cx="1965960" cy="420624"/>
          </a:xfrm>
          <a:prstGeom prst="rect">
            <a:avLst/>
          </a:prstGeom>
          <a:noFill/>
        </p:spPr>
        <p:txBody>
          <a:bodyPr wrap="square" anchor="ctr"/>
          <a:lstStyle/>
          <a:p>
            <a:pPr algn="l"/>
            <a:r>
              <a:rPr sz="1600" b="1">
                <a:solidFill>
                  <a:srgbClr val="C5A35A"/>
                </a:solidFill>
                <a:latin typeface="Calibri"/>
              </a:rPr>
              <a:t>Finding</a:t>
            </a:r>
          </a:p>
        </p:txBody>
      </p:sp>
      <p:sp>
        <p:nvSpPr>
          <p:cNvPr id="9" name="TextBox 8"/>
          <p:cNvSpPr txBox="1"/>
          <p:nvPr/>
        </p:nvSpPr>
        <p:spPr>
          <a:xfrm>
            <a:off x="2377440" y="1024128"/>
            <a:ext cx="2331720" cy="420624"/>
          </a:xfrm>
          <a:prstGeom prst="rect">
            <a:avLst/>
          </a:prstGeom>
          <a:noFill/>
        </p:spPr>
        <p:txBody>
          <a:bodyPr wrap="square" anchor="ctr"/>
          <a:lstStyle/>
          <a:p>
            <a:pPr algn="l"/>
            <a:r>
              <a:rPr sz="1600" b="1">
                <a:solidFill>
                  <a:srgbClr val="FFFFFF"/>
                </a:solidFill>
                <a:latin typeface="Calibri"/>
              </a:rPr>
              <a:t>Dog  ·  this lab</a:t>
            </a:r>
          </a:p>
        </p:txBody>
      </p:sp>
      <p:sp>
        <p:nvSpPr>
          <p:cNvPr id="10" name="TextBox 9"/>
          <p:cNvSpPr txBox="1"/>
          <p:nvPr/>
        </p:nvSpPr>
        <p:spPr>
          <a:xfrm>
            <a:off x="4754880" y="1024128"/>
            <a:ext cx="2331720" cy="420624"/>
          </a:xfrm>
          <a:prstGeom prst="rect">
            <a:avLst/>
          </a:prstGeom>
          <a:noFill/>
        </p:spPr>
        <p:txBody>
          <a:bodyPr wrap="square" anchor="ctr"/>
          <a:lstStyle/>
          <a:p>
            <a:pPr algn="l"/>
            <a:r>
              <a:rPr sz="1600" b="1">
                <a:solidFill>
                  <a:srgbClr val="FFFFFF"/>
                </a:solidFill>
                <a:latin typeface="Calibri"/>
              </a:rPr>
              <a:t>Cat  ·  this lab</a:t>
            </a:r>
          </a:p>
        </p:txBody>
      </p:sp>
      <p:sp>
        <p:nvSpPr>
          <p:cNvPr id="11" name="TextBox 10"/>
          <p:cNvSpPr txBox="1"/>
          <p:nvPr/>
        </p:nvSpPr>
        <p:spPr>
          <a:xfrm>
            <a:off x="7132320" y="1024128"/>
            <a:ext cx="4663440" cy="420624"/>
          </a:xfrm>
          <a:prstGeom prst="rect">
            <a:avLst/>
          </a:prstGeom>
          <a:noFill/>
        </p:spPr>
        <p:txBody>
          <a:bodyPr wrap="square" anchor="ctr"/>
          <a:lstStyle/>
          <a:p>
            <a:pPr algn="l"/>
            <a:r>
              <a:rPr sz="1600" b="1">
                <a:solidFill>
                  <a:srgbClr val="FFFFFF"/>
                </a:solidFill>
                <a:latin typeface="Calibri"/>
              </a:rPr>
              <a:t>Repeat / stabilize first</a:t>
            </a:r>
          </a:p>
        </p:txBody>
      </p:sp>
      <p:sp>
        <p:nvSpPr>
          <p:cNvPr id="12" name="Rounded Rectangle 11"/>
          <p:cNvSpPr/>
          <p:nvPr/>
        </p:nvSpPr>
        <p:spPr>
          <a:xfrm>
            <a:off x="292608" y="1499616"/>
            <a:ext cx="11612880"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1499616"/>
            <a:ext cx="1965960" cy="658368"/>
          </a:xfrm>
          <a:prstGeom prst="rect">
            <a:avLst/>
          </a:prstGeom>
          <a:noFill/>
        </p:spPr>
        <p:txBody>
          <a:bodyPr wrap="square" anchor="ctr"/>
          <a:lstStyle/>
          <a:p>
            <a:pPr algn="l"/>
            <a:r>
              <a:rPr sz="1600" b="1">
                <a:solidFill>
                  <a:srgbClr val="0B2C4A"/>
                </a:solidFill>
                <a:latin typeface="Calibri"/>
              </a:rPr>
              <a:t>PCV / HCT</a:t>
            </a:r>
          </a:p>
        </p:txBody>
      </p:sp>
      <p:sp>
        <p:nvSpPr>
          <p:cNvPr id="14" name="TextBox 13"/>
          <p:cNvSpPr txBox="1"/>
          <p:nvPr/>
        </p:nvSpPr>
        <p:spPr>
          <a:xfrm>
            <a:off x="2377440" y="1499616"/>
            <a:ext cx="2331720" cy="658368"/>
          </a:xfrm>
          <a:prstGeom prst="rect">
            <a:avLst/>
          </a:prstGeom>
          <a:noFill/>
        </p:spPr>
        <p:txBody>
          <a:bodyPr wrap="square" anchor="ctr"/>
          <a:lstStyle/>
          <a:p>
            <a:pPr algn="l"/>
            <a:r>
              <a:rPr sz="1600" b="0">
                <a:solidFill>
                  <a:srgbClr val="1C1C1C"/>
                </a:solidFill>
                <a:latin typeface="Calibri"/>
              </a:rPr>
              <a:t>36.9–60.0%</a:t>
            </a:r>
          </a:p>
        </p:txBody>
      </p:sp>
      <p:sp>
        <p:nvSpPr>
          <p:cNvPr id="15" name="TextBox 14"/>
          <p:cNvSpPr txBox="1"/>
          <p:nvPr/>
        </p:nvSpPr>
        <p:spPr>
          <a:xfrm>
            <a:off x="4754880" y="1499616"/>
            <a:ext cx="2331720" cy="658368"/>
          </a:xfrm>
          <a:prstGeom prst="rect">
            <a:avLst/>
          </a:prstGeom>
          <a:noFill/>
        </p:spPr>
        <p:txBody>
          <a:bodyPr wrap="square" anchor="ctr"/>
          <a:lstStyle/>
          <a:p>
            <a:pPr algn="l"/>
            <a:r>
              <a:rPr sz="1600" b="0">
                <a:solidFill>
                  <a:srgbClr val="1C1C1C"/>
                </a:solidFill>
                <a:latin typeface="Calibri"/>
              </a:rPr>
              <a:t>28–50%</a:t>
            </a:r>
          </a:p>
        </p:txBody>
      </p:sp>
      <p:sp>
        <p:nvSpPr>
          <p:cNvPr id="16" name="TextBox 15"/>
          <p:cNvSpPr txBox="1"/>
          <p:nvPr/>
        </p:nvSpPr>
        <p:spPr>
          <a:xfrm>
            <a:off x="7132320" y="1499616"/>
            <a:ext cx="4663440" cy="658368"/>
          </a:xfrm>
          <a:prstGeom prst="rect">
            <a:avLst/>
          </a:prstGeom>
          <a:noFill/>
        </p:spPr>
        <p:txBody>
          <a:bodyPr wrap="square" anchor="ctr"/>
          <a:lstStyle/>
          <a:p>
            <a:pPr algn="l"/>
            <a:r>
              <a:rPr sz="1600" b="0">
                <a:solidFill>
                  <a:srgbClr val="8B2E2E"/>
                </a:solidFill>
                <a:latin typeface="Calibri"/>
              </a:rPr>
              <a:t>Anemia: severity and chronicity (Grubb 2020)</a:t>
            </a:r>
          </a:p>
        </p:txBody>
      </p:sp>
      <p:sp>
        <p:nvSpPr>
          <p:cNvPr id="17" name="Rounded Rectangle 16"/>
          <p:cNvSpPr/>
          <p:nvPr/>
        </p:nvSpPr>
        <p:spPr>
          <a:xfrm>
            <a:off x="292608" y="2212848"/>
            <a:ext cx="11612880"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2212848"/>
            <a:ext cx="1965960" cy="658368"/>
          </a:xfrm>
          <a:prstGeom prst="rect">
            <a:avLst/>
          </a:prstGeom>
          <a:noFill/>
        </p:spPr>
        <p:txBody>
          <a:bodyPr wrap="square" anchor="ctr"/>
          <a:lstStyle/>
          <a:p>
            <a:pPr algn="l"/>
            <a:r>
              <a:rPr sz="1600" b="1">
                <a:solidFill>
                  <a:srgbClr val="0B2C4A"/>
                </a:solidFill>
                <a:latin typeface="Calibri"/>
              </a:rPr>
              <a:t>TP</a:t>
            </a:r>
          </a:p>
        </p:txBody>
      </p:sp>
      <p:sp>
        <p:nvSpPr>
          <p:cNvPr id="19" name="TextBox 18"/>
          <p:cNvSpPr txBox="1"/>
          <p:nvPr/>
        </p:nvSpPr>
        <p:spPr>
          <a:xfrm>
            <a:off x="2377440" y="2212848"/>
            <a:ext cx="2331720" cy="658368"/>
          </a:xfrm>
          <a:prstGeom prst="rect">
            <a:avLst/>
          </a:prstGeom>
          <a:noFill/>
        </p:spPr>
        <p:txBody>
          <a:bodyPr wrap="square" anchor="ctr"/>
          <a:lstStyle/>
          <a:p>
            <a:pPr algn="l"/>
            <a:r>
              <a:rPr sz="1600" b="0">
                <a:solidFill>
                  <a:srgbClr val="1C1C1C"/>
                </a:solidFill>
                <a:latin typeface="Calibri"/>
              </a:rPr>
              <a:t>5.5–7.6 g/dL</a:t>
            </a:r>
          </a:p>
        </p:txBody>
      </p:sp>
      <p:sp>
        <p:nvSpPr>
          <p:cNvPr id="20" name="TextBox 19"/>
          <p:cNvSpPr txBox="1"/>
          <p:nvPr/>
        </p:nvSpPr>
        <p:spPr>
          <a:xfrm>
            <a:off x="4754880" y="2212848"/>
            <a:ext cx="2331720" cy="658368"/>
          </a:xfrm>
          <a:prstGeom prst="rect">
            <a:avLst/>
          </a:prstGeom>
          <a:noFill/>
        </p:spPr>
        <p:txBody>
          <a:bodyPr wrap="square" anchor="ctr"/>
          <a:lstStyle/>
          <a:p>
            <a:pPr algn="l"/>
            <a:r>
              <a:rPr sz="1600" b="0">
                <a:solidFill>
                  <a:srgbClr val="1C1C1C"/>
                </a:solidFill>
                <a:latin typeface="Calibri"/>
              </a:rPr>
              <a:t>Read today’s printout</a:t>
            </a:r>
          </a:p>
        </p:txBody>
      </p:sp>
      <p:sp>
        <p:nvSpPr>
          <p:cNvPr id="21" name="TextBox 20"/>
          <p:cNvSpPr txBox="1"/>
          <p:nvPr/>
        </p:nvSpPr>
        <p:spPr>
          <a:xfrm>
            <a:off x="7132320" y="2212848"/>
            <a:ext cx="4663440" cy="658368"/>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22" name="Rounded Rectangle 21"/>
          <p:cNvSpPr/>
          <p:nvPr/>
        </p:nvSpPr>
        <p:spPr>
          <a:xfrm>
            <a:off x="292608" y="2926080"/>
            <a:ext cx="11612880"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2926080"/>
            <a:ext cx="1965960" cy="658368"/>
          </a:xfrm>
          <a:prstGeom prst="rect">
            <a:avLst/>
          </a:prstGeom>
          <a:noFill/>
        </p:spPr>
        <p:txBody>
          <a:bodyPr wrap="square" anchor="ctr"/>
          <a:lstStyle/>
          <a:p>
            <a:pPr algn="l"/>
            <a:r>
              <a:rPr sz="1600" b="1">
                <a:solidFill>
                  <a:srgbClr val="0B2C4A"/>
                </a:solidFill>
                <a:latin typeface="Calibri"/>
              </a:rPr>
              <a:t>BUN</a:t>
            </a:r>
          </a:p>
        </p:txBody>
      </p:sp>
      <p:sp>
        <p:nvSpPr>
          <p:cNvPr id="24" name="TextBox 23"/>
          <p:cNvSpPr txBox="1"/>
          <p:nvPr/>
        </p:nvSpPr>
        <p:spPr>
          <a:xfrm>
            <a:off x="2377440" y="2926080"/>
            <a:ext cx="2331720" cy="658368"/>
          </a:xfrm>
          <a:prstGeom prst="rect">
            <a:avLst/>
          </a:prstGeom>
          <a:noFill/>
        </p:spPr>
        <p:txBody>
          <a:bodyPr wrap="square" anchor="ctr"/>
          <a:lstStyle/>
          <a:p>
            <a:pPr algn="l"/>
            <a:r>
              <a:rPr sz="1600" b="0">
                <a:solidFill>
                  <a:srgbClr val="1C1C1C"/>
                </a:solidFill>
                <a:latin typeface="Calibri"/>
              </a:rPr>
              <a:t>9.0–29.0 mg/dL</a:t>
            </a:r>
          </a:p>
        </p:txBody>
      </p:sp>
      <p:sp>
        <p:nvSpPr>
          <p:cNvPr id="25" name="TextBox 24"/>
          <p:cNvSpPr txBox="1"/>
          <p:nvPr/>
        </p:nvSpPr>
        <p:spPr>
          <a:xfrm>
            <a:off x="4754880" y="2926080"/>
            <a:ext cx="2331720" cy="658368"/>
          </a:xfrm>
          <a:prstGeom prst="rect">
            <a:avLst/>
          </a:prstGeom>
          <a:noFill/>
        </p:spPr>
        <p:txBody>
          <a:bodyPr wrap="square" anchor="ctr"/>
          <a:lstStyle/>
          <a:p>
            <a:pPr algn="l"/>
            <a:r>
              <a:rPr sz="1600" b="0">
                <a:solidFill>
                  <a:srgbClr val="1C1C1C"/>
                </a:solidFill>
                <a:latin typeface="Calibri"/>
              </a:rPr>
              <a:t>15–32 mg/dL</a:t>
            </a:r>
          </a:p>
        </p:txBody>
      </p:sp>
      <p:sp>
        <p:nvSpPr>
          <p:cNvPr id="26" name="TextBox 25"/>
          <p:cNvSpPr txBox="1"/>
          <p:nvPr/>
        </p:nvSpPr>
        <p:spPr>
          <a:xfrm>
            <a:off x="7132320" y="2926080"/>
            <a:ext cx="4663440" cy="658368"/>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7" name="Rounded Rectangle 26"/>
          <p:cNvSpPr/>
          <p:nvPr/>
        </p:nvSpPr>
        <p:spPr>
          <a:xfrm>
            <a:off x="292608" y="3639312"/>
            <a:ext cx="11612880"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3639312"/>
            <a:ext cx="1965960" cy="658368"/>
          </a:xfrm>
          <a:prstGeom prst="rect">
            <a:avLst/>
          </a:prstGeom>
          <a:noFill/>
        </p:spPr>
        <p:txBody>
          <a:bodyPr wrap="square" anchor="ctr"/>
          <a:lstStyle/>
          <a:p>
            <a:pPr algn="l"/>
            <a:r>
              <a:rPr sz="1600" b="1">
                <a:solidFill>
                  <a:srgbClr val="0B2C4A"/>
                </a:solidFill>
                <a:latin typeface="Calibri"/>
              </a:rPr>
              <a:t>Creatinine</a:t>
            </a:r>
          </a:p>
        </p:txBody>
      </p:sp>
      <p:sp>
        <p:nvSpPr>
          <p:cNvPr id="29" name="TextBox 28"/>
          <p:cNvSpPr txBox="1"/>
          <p:nvPr/>
        </p:nvSpPr>
        <p:spPr>
          <a:xfrm>
            <a:off x="2377440" y="3639312"/>
            <a:ext cx="2331720" cy="658368"/>
          </a:xfrm>
          <a:prstGeom prst="rect">
            <a:avLst/>
          </a:prstGeom>
          <a:noFill/>
        </p:spPr>
        <p:txBody>
          <a:bodyPr wrap="square" anchor="ctr"/>
          <a:lstStyle/>
          <a:p>
            <a:pPr algn="l"/>
            <a:r>
              <a:rPr sz="1600" b="0">
                <a:solidFill>
                  <a:srgbClr val="1C1C1C"/>
                </a:solidFill>
                <a:latin typeface="Calibri"/>
              </a:rPr>
              <a:t>0.4–1.4 mg/dL</a:t>
            </a:r>
          </a:p>
        </p:txBody>
      </p:sp>
      <p:sp>
        <p:nvSpPr>
          <p:cNvPr id="30" name="TextBox 29"/>
          <p:cNvSpPr txBox="1"/>
          <p:nvPr/>
        </p:nvSpPr>
        <p:spPr>
          <a:xfrm>
            <a:off x="4754880" y="3639312"/>
            <a:ext cx="2331720" cy="658368"/>
          </a:xfrm>
          <a:prstGeom prst="rect">
            <a:avLst/>
          </a:prstGeom>
          <a:noFill/>
        </p:spPr>
        <p:txBody>
          <a:bodyPr wrap="square" anchor="ctr"/>
          <a:lstStyle/>
          <a:p>
            <a:pPr algn="l"/>
            <a:r>
              <a:rPr sz="1600" b="0">
                <a:solidFill>
                  <a:srgbClr val="1C1C1C"/>
                </a:solidFill>
                <a:latin typeface="Calibri"/>
              </a:rPr>
              <a:t>0.8–1.8 mg/dL</a:t>
            </a:r>
          </a:p>
        </p:txBody>
      </p:sp>
      <p:sp>
        <p:nvSpPr>
          <p:cNvPr id="31" name="TextBox 30"/>
          <p:cNvSpPr txBox="1"/>
          <p:nvPr/>
        </p:nvSpPr>
        <p:spPr>
          <a:xfrm>
            <a:off x="7132320" y="3639312"/>
            <a:ext cx="4663440" cy="658368"/>
          </a:xfrm>
          <a:prstGeom prst="rect">
            <a:avLst/>
          </a:prstGeom>
          <a:noFill/>
        </p:spPr>
        <p:txBody>
          <a:bodyPr wrap="square" anchor="ctr"/>
          <a:lstStyle/>
          <a:p>
            <a:pPr algn="l"/>
            <a:r>
              <a:rPr sz="1600" b="0">
                <a:solidFill>
                  <a:srgbClr val="8B2E2E"/>
                </a:solidFill>
                <a:latin typeface="Calibri"/>
              </a:rPr>
              <a:t>Rising Cr is not compensated. Do not invent why.</a:t>
            </a:r>
          </a:p>
        </p:txBody>
      </p:sp>
      <p:sp>
        <p:nvSpPr>
          <p:cNvPr id="32" name="Rounded Rectangle 31"/>
          <p:cNvSpPr/>
          <p:nvPr/>
        </p:nvSpPr>
        <p:spPr>
          <a:xfrm>
            <a:off x="292608" y="4352544"/>
            <a:ext cx="11612880"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4352544"/>
            <a:ext cx="1965960" cy="658368"/>
          </a:xfrm>
          <a:prstGeom prst="rect">
            <a:avLst/>
          </a:prstGeom>
          <a:noFill/>
        </p:spPr>
        <p:txBody>
          <a:bodyPr wrap="square" anchor="ctr"/>
          <a:lstStyle/>
          <a:p>
            <a:pPr algn="l"/>
            <a:r>
              <a:rPr sz="1600" b="1">
                <a:solidFill>
                  <a:srgbClr val="0B2C4A"/>
                </a:solidFill>
                <a:latin typeface="Calibri"/>
              </a:rPr>
              <a:t>Potassium</a:t>
            </a:r>
          </a:p>
        </p:txBody>
      </p:sp>
      <p:sp>
        <p:nvSpPr>
          <p:cNvPr id="34" name="TextBox 33"/>
          <p:cNvSpPr txBox="1"/>
          <p:nvPr/>
        </p:nvSpPr>
        <p:spPr>
          <a:xfrm>
            <a:off x="2377440" y="4352544"/>
            <a:ext cx="2331720" cy="658368"/>
          </a:xfrm>
          <a:prstGeom prst="rect">
            <a:avLst/>
          </a:prstGeom>
          <a:noFill/>
        </p:spPr>
        <p:txBody>
          <a:bodyPr wrap="square" anchor="ctr"/>
          <a:lstStyle/>
          <a:p>
            <a:pPr algn="l"/>
            <a:r>
              <a:rPr sz="1600" b="0">
                <a:solidFill>
                  <a:srgbClr val="1C1C1C"/>
                </a:solidFill>
                <a:latin typeface="Calibri"/>
              </a:rPr>
              <a:t>Today’s printout</a:t>
            </a:r>
          </a:p>
        </p:txBody>
      </p:sp>
      <p:sp>
        <p:nvSpPr>
          <p:cNvPr id="35" name="TextBox 34"/>
          <p:cNvSpPr txBox="1"/>
          <p:nvPr/>
        </p:nvSpPr>
        <p:spPr>
          <a:xfrm>
            <a:off x="4754880" y="4352544"/>
            <a:ext cx="2331720" cy="658368"/>
          </a:xfrm>
          <a:prstGeom prst="rect">
            <a:avLst/>
          </a:prstGeom>
          <a:noFill/>
        </p:spPr>
        <p:txBody>
          <a:bodyPr wrap="square" anchor="ctr"/>
          <a:lstStyle/>
          <a:p>
            <a:pPr algn="l"/>
            <a:r>
              <a:rPr sz="1600" b="0">
                <a:solidFill>
                  <a:srgbClr val="1C1C1C"/>
                </a:solidFill>
                <a:latin typeface="Calibri"/>
              </a:rPr>
              <a:t>Today’s printout</a:t>
            </a:r>
          </a:p>
        </p:txBody>
      </p:sp>
      <p:sp>
        <p:nvSpPr>
          <p:cNvPr id="36" name="TextBox 35"/>
          <p:cNvSpPr txBox="1"/>
          <p:nvPr/>
        </p:nvSpPr>
        <p:spPr>
          <a:xfrm>
            <a:off x="7132320" y="4352544"/>
            <a:ext cx="4663440" cy="658368"/>
          </a:xfrm>
          <a:prstGeom prst="rect">
            <a:avLst/>
          </a:prstGeom>
          <a:noFill/>
        </p:spPr>
        <p:txBody>
          <a:bodyPr wrap="square" anchor="ctr"/>
          <a:lstStyle/>
          <a:p>
            <a:pPr algn="l"/>
            <a:r>
              <a:rPr sz="1600" b="0">
                <a:solidFill>
                  <a:srgbClr val="8B2E2E"/>
                </a:solidFill>
                <a:latin typeface="Calibri"/>
              </a:rPr>
              <a:t>&gt;6.0 mEq/L: correct first (Grubb 2020)</a:t>
            </a:r>
          </a:p>
        </p:txBody>
      </p:sp>
      <p:sp>
        <p:nvSpPr>
          <p:cNvPr id="37" name="Rounded Rectangle 36"/>
          <p:cNvSpPr/>
          <p:nvPr/>
        </p:nvSpPr>
        <p:spPr>
          <a:xfrm>
            <a:off x="292608" y="5065776"/>
            <a:ext cx="11612880"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5760" y="5065776"/>
            <a:ext cx="1965960" cy="658368"/>
          </a:xfrm>
          <a:prstGeom prst="rect">
            <a:avLst/>
          </a:prstGeom>
          <a:noFill/>
        </p:spPr>
        <p:txBody>
          <a:bodyPr wrap="square" anchor="ctr"/>
          <a:lstStyle/>
          <a:p>
            <a:pPr algn="l"/>
            <a:r>
              <a:rPr sz="1600" b="1">
                <a:solidFill>
                  <a:srgbClr val="0B2C4A"/>
                </a:solidFill>
                <a:latin typeface="Calibri"/>
              </a:rPr>
              <a:t>Albumin</a:t>
            </a:r>
          </a:p>
        </p:txBody>
      </p:sp>
      <p:sp>
        <p:nvSpPr>
          <p:cNvPr id="39" name="TextBox 38"/>
          <p:cNvSpPr txBox="1"/>
          <p:nvPr/>
        </p:nvSpPr>
        <p:spPr>
          <a:xfrm>
            <a:off x="2377440" y="5065776"/>
            <a:ext cx="2331720" cy="658368"/>
          </a:xfrm>
          <a:prstGeom prst="rect">
            <a:avLst/>
          </a:prstGeom>
          <a:noFill/>
        </p:spPr>
        <p:txBody>
          <a:bodyPr wrap="square" anchor="ctr"/>
          <a:lstStyle/>
          <a:p>
            <a:pPr algn="l"/>
            <a:r>
              <a:rPr sz="1600" b="0">
                <a:solidFill>
                  <a:srgbClr val="1C1C1C"/>
                </a:solidFill>
                <a:latin typeface="Calibri"/>
              </a:rPr>
              <a:t>Today’s printout</a:t>
            </a:r>
          </a:p>
        </p:txBody>
      </p:sp>
      <p:sp>
        <p:nvSpPr>
          <p:cNvPr id="40" name="TextBox 39"/>
          <p:cNvSpPr txBox="1"/>
          <p:nvPr/>
        </p:nvSpPr>
        <p:spPr>
          <a:xfrm>
            <a:off x="4754880" y="5065776"/>
            <a:ext cx="2331720" cy="658368"/>
          </a:xfrm>
          <a:prstGeom prst="rect">
            <a:avLst/>
          </a:prstGeom>
          <a:noFill/>
        </p:spPr>
        <p:txBody>
          <a:bodyPr wrap="square" anchor="ctr"/>
          <a:lstStyle/>
          <a:p>
            <a:pPr algn="l"/>
            <a:r>
              <a:rPr sz="1600" b="0">
                <a:solidFill>
                  <a:srgbClr val="1C1C1C"/>
                </a:solidFill>
                <a:latin typeface="Calibri"/>
              </a:rPr>
              <a:t>Today’s printout</a:t>
            </a:r>
          </a:p>
        </p:txBody>
      </p:sp>
      <p:sp>
        <p:nvSpPr>
          <p:cNvPr id="41" name="TextBox 40"/>
          <p:cNvSpPr txBox="1"/>
          <p:nvPr/>
        </p:nvSpPr>
        <p:spPr>
          <a:xfrm>
            <a:off x="7132320" y="5065776"/>
            <a:ext cx="4663440" cy="658368"/>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42" name="TextBox 41"/>
          <p:cNvSpPr txBox="1"/>
          <p:nvPr/>
        </p:nvSpPr>
        <p:spPr>
          <a:xfrm>
            <a:off x="365760" y="5833872"/>
            <a:ext cx="11430000" cy="621792"/>
          </a:xfrm>
          <a:prstGeom prst="rect">
            <a:avLst/>
          </a:prstGeom>
          <a:noFill/>
        </p:spPr>
        <p:txBody>
          <a:bodyPr wrap="square" anchor="t"/>
          <a:lstStyle/>
          <a:p>
            <a:pPr algn="l"/>
            <a:r>
              <a:rPr sz="1600" b="0">
                <a:solidFill>
                  <a:srgbClr val="0B2C4A"/>
                </a:solidFill>
                <a:latin typeface="Calibri"/>
              </a:rPr>
              <a:t>Write these ranges. They are this laboratory’s printed intervals from today’s dog and cat records, not ASA cutoffs. HCT is what these printouts report; spun PCV is the MOA method. Cat TP: no interval was printed with 5.1 g/dL. MOA minimum is PCV, TP, BUN.</a:t>
            </a:r>
          </a:p>
        </p:txBody>
      </p:sp>
      <p:sp>
        <p:nvSpPr>
          <p:cNvPr id="43" name="Rectangle 4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5" name="TextBox 4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7" name="Rounded Rectangle 6"/>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0" name="TextBox 9"/>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Hospital: DKT or BAA. Same columns, hospital doses.</a:t>
            </a:r>
          </a:p>
        </p:txBody>
      </p:sp>
      <p:sp>
        <p:nvSpPr>
          <p:cNvPr id="11" name="Rounded Rectangle 10"/>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4" name="TextBox 13"/>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10 mg/mL. Draw 5.5 mL. Give until you can intubate.</a:t>
            </a:r>
          </a:p>
        </p:txBody>
      </p:sp>
      <p:sp>
        <p:nvSpPr>
          <p:cNvPr id="15" name="Rounded Rectangle 14"/>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8" name="TextBox 17"/>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if you add it, lowers MAC and lowers alfaxalone.</a:t>
            </a:r>
          </a:p>
        </p:txBody>
      </p:sp>
      <p:pic>
        <p:nvPicPr>
          <p:cNvPr id="19" name="Picture 18"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0" name="TextBox 9"/>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4" name="TextBox 13"/>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8" name="TextBox 17"/>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Rising creatinine that threatens life: cancel the elective or exploratory cut.</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same fasting as the adult or neonate row. Pre-oxygenate 3 min with 100% O2 (Grubb 2020). Extubate when they can protect the airway, not at the first swallow.</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7" name="Rounded Rectangle 6"/>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0" name="TextBox 9"/>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1" name="TextBox 10"/>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2" name="Rounded Rectangle 11"/>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5" name="TextBox 14"/>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6" name="TextBox 15"/>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7" name="Rounded Rectangle 16"/>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0" name="TextBox 19"/>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1" name="TextBox 20"/>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Example: 20 × 5 = 100 mL/hr.</a:t>
            </a:r>
          </a:p>
        </p:txBody>
      </p:sp>
      <p:pic>
        <p:nvPicPr>
          <p:cNvPr id="22" name="Picture 21"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7" name="Rounded Rectangle 6"/>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0" name="TextBox 9"/>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1" name="Rounded Rectangle 10"/>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4" name="TextBox 13"/>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5" name="Rounded Rectangle 14"/>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8" name="TextBox 17"/>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19" name="Rounded Rectangle 18"/>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2" name="TextBox 21"/>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Infected ear canal. Pyometra with pus.
This is treatment, not prophylaxis.</a:t>
            </a:r>
          </a:p>
        </p:txBody>
      </p:sp>
      <p:sp>
        <p:nvSpPr>
          <p:cNvPr id="23" name="Rounded Rectangle 22"/>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first. Clean elective: skip (Frey 2022 AAFP/AAHA stewardship). When prophylaxis is indicated: 30–60 min before incision; cefazolin 22 mg/kg IV (Gonzalez 2017, extra-label). Redose if surgery lasts &gt;90 min (Whittem 1999). Stop at closure unless you are treating infection.</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Clip, dirty scrub, then the OR</a:t>
            </a:r>
          </a:p>
        </p:txBody>
      </p:sp>
      <p:pic>
        <p:nvPicPr>
          <p:cNvPr id="7" name="Picture 6" descr="prep_or_sequence.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9" name="Picture 8" descr="clip_cat.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2" name="Picture 11"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Celiotomy: ~4 cm cranial to the xiphoid, ~4 cm caudal to the pubis, 3–4 cm past the nipples (Thieman Mankin 2019). A 4 kg cat does not have 20 cm of extra body wall. Wide enough to extend or place a drain. Warm the patient (Grubb: hypothermia &lt;98 °F).
Photos: Uwe Gille, CC0; Liannadavis, CC BY-SA 4.0.</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pic>
        <p:nvPicPr>
          <p:cNvPr id="7" name="Picture 6" descr="antiseptic_scrub_compare.png"/>
          <p:cNvPicPr>
            <a:picLocks noChangeAspect="1"/>
          </p:cNvPicPr>
          <p:nvPr/>
        </p:nvPicPr>
        <p:blipFill>
          <a:blip r:embed="rId2"/>
          <a:stretch>
            <a:fillRect/>
          </a:stretch>
        </p:blipFill>
        <p:spPr>
          <a:xfrm>
            <a:off x="256032" y="987552"/>
            <a:ext cx="11686032" cy="4937760"/>
          </a:xfrm>
          <a:prstGeom prst="rect">
            <a:avLst/>
          </a:prstGeom>
        </p:spPr>
      </p:pic>
      <p:sp>
        <p:nvSpPr>
          <p:cNvPr id="8" name="TextBox 7"/>
          <p:cNvSpPr txBox="1"/>
          <p:nvPr/>
        </p:nvSpPr>
        <p:spPr>
          <a:xfrm>
            <a:off x="365760" y="5943600"/>
            <a:ext cx="11430000" cy="530352"/>
          </a:xfrm>
          <a:prstGeom prst="rect">
            <a:avLst/>
          </a:prstGeom>
          <a:noFill/>
        </p:spPr>
        <p:txBody>
          <a:bodyPr wrap="square" anchor="t"/>
          <a:lstStyle/>
          <a:p>
            <a:pPr algn="l"/>
            <a:r>
              <a:rPr sz="1300" b="0">
                <a:solidFill>
                  <a:srgbClr val="3D4A57"/>
                </a:solidFill>
                <a:latin typeface="Calibri"/>
              </a:rPr>
              <a:t>Nolvasan Surgical Scrub: 2% chlorhexidine acetate, DailyMed NDC 54771-8701, 2 to 4 min, keep out of eyes. BETADINE Surgical Scrub Veterinary 7.5% povidone-iodine NDC 67618-154, about 5 min. BETADINE Solution Veterinary 5% povidone-iodine NDC 67618-155, not 10%. Eye: Roberts 1986, 0.2% povidone-iodine, 2 min + 2 min. Perforation: saline only.</a:t>
            </a:r>
          </a:p>
        </p:txBody>
      </p:sp>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7" name="Picture 6"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8" name="Rounded Rectangle 7"/>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0" name="TextBox 9"/>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(preliminary) scrub in the prep area, after the clip.</a:t>
            </a:r>
          </a:p>
          <a:p>
            <a:pPr algn="l">
              <a:spcAft>
                <a:spcPts val="1000"/>
              </a:spcAft>
            </a:pPr>
            <a:r>
              <a:rPr sz="1600" b="0">
                <a:solidFill>
                  <a:srgbClr val="1C1C1C"/>
                </a:solidFill>
                <a:latin typeface="Calibri"/>
              </a:rPr>
              <a:t>▸  Move to the OR. Position, pad, tie.</a:t>
            </a:r>
          </a:p>
          <a:p>
            <a:pPr algn="l">
              <a:spcAft>
                <a:spcPts val="1000"/>
              </a:spcAft>
            </a:pPr>
            <a:r>
              <a:rPr sz="1600" b="0">
                <a:solidFill>
                  <a:srgbClr val="1C1C1C"/>
                </a:solidFill>
                <a:latin typeface="Calibri"/>
              </a:rPr>
              <a:t>▸  Full (sterile) scrub in the room. Start at the incision. One continuous spiral out. Never back toward the cut.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povidone-iodine ~5 min, then 5% paint.</a:t>
            </a:r>
          </a:p>
          <a:p>
            <a:pPr algn="l">
              <a:spcAft>
                <a:spcPts val="1000"/>
              </a:spcAft>
            </a:pPr>
            <a:r>
              <a:rPr sz="1600" b="0">
                <a:solidFill>
                  <a:srgbClr val="1C1C1C"/>
                </a:solidFill>
                <a:latin typeface="Calibri"/>
              </a:rPr>
              <a:t>▸  Eye: 0.2% povidone-iodine (10% 1:50 or 5% 1:25). 2 min + 2 min. Not 10% or 5% undiluted. Perforation: saline only.</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7" name="Picture 6" descr="dog_or.jpg"/>
          <p:cNvPicPr>
            <a:picLocks noChangeAspect="1"/>
          </p:cNvPicPr>
          <p:nvPr/>
        </p:nvPicPr>
        <p:blipFill>
          <a:blip r:embed="rId2"/>
          <a:stretch>
            <a:fillRect/>
          </a:stretch>
        </p:blipFill>
        <p:spPr>
          <a:xfrm>
            <a:off x="320040" y="1024128"/>
            <a:ext cx="7635240" cy="5440680"/>
          </a:xfrm>
          <a:prstGeom prst="rect">
            <a:avLst/>
          </a:prstGeom>
        </p:spPr>
      </p:pic>
      <p:sp>
        <p:nvSpPr>
          <p:cNvPr id="8" name="Rounded Rectangle 7"/>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0" name="TextBox 9"/>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pic>
        <p:nvPicPr>
          <p:cNvPr id="7" name="Picture 6" descr="fenestrated_drape_window.jpg"/>
          <p:cNvPicPr>
            <a:picLocks noChangeAspect="1"/>
          </p:cNvPicPr>
          <p:nvPr/>
        </p:nvPicPr>
        <p:blipFill>
          <a:blip r:embed="rId2"/>
          <a:stretch>
            <a:fillRect/>
          </a:stretch>
        </p:blipFill>
        <p:spPr>
          <a:xfrm>
            <a:off x="292608" y="987552"/>
            <a:ext cx="7818120" cy="3778758"/>
          </a:xfrm>
          <a:prstGeom prst="rect">
            <a:avLst/>
          </a:prstGeom>
        </p:spPr>
      </p:pic>
      <p:sp>
        <p:nvSpPr>
          <p:cNvPr id="8" name="TextBox 7"/>
          <p:cNvSpPr txBox="1"/>
          <p:nvPr/>
        </p:nvSpPr>
        <p:spPr>
          <a:xfrm>
            <a:off x="292608" y="4857750"/>
            <a:ext cx="7818120" cy="1417320"/>
          </a:xfrm>
          <a:prstGeom prst="rect">
            <a:avLst/>
          </a:prstGeom>
          <a:noFill/>
        </p:spPr>
        <p:txBody>
          <a:bodyPr wrap="square" anchor="t"/>
          <a:lstStyle/>
          <a:p>
            <a:pPr algn="l"/>
            <a:r>
              <a:rPr sz="1600" b="0">
                <a:solidFill>
                  <a:srgbClr val="1C1C1C"/>
                </a:solidFill>
                <a:latin typeface="Calibri"/>
              </a:rPr>
              <a:t>Fenestrated drape. The hole is the incision: only clipped skin. Backhaus towel clamps at the corners. Hair stays under the drape.</a:t>
            </a:r>
          </a:p>
        </p:txBody>
      </p:sp>
      <p:sp>
        <p:nvSpPr>
          <p:cNvPr id="9" name="Rounded Rectangle 8"/>
          <p:cNvSpPr/>
          <p:nvPr/>
        </p:nvSpPr>
        <p:spPr>
          <a:xfrm>
            <a:off x="8247888" y="987552"/>
            <a:ext cx="3611880" cy="347472"/>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47888" y="987552"/>
            <a:ext cx="3611880" cy="347472"/>
          </a:xfrm>
          <a:prstGeom prst="rect">
            <a:avLst/>
          </a:prstGeom>
          <a:noFill/>
        </p:spPr>
        <p:txBody>
          <a:bodyPr wrap="square" anchor="ctr"/>
          <a:lstStyle/>
          <a:p>
            <a:pPr algn="ctr"/>
            <a:r>
              <a:rPr sz="1600" b="1">
                <a:solidFill>
                  <a:srgbClr val="FFFFFF"/>
                </a:solidFill>
                <a:latin typeface="Calibri"/>
              </a:rPr>
              <a:t>Hair at the drape edge</a:t>
            </a:r>
          </a:p>
        </p:txBody>
      </p:sp>
      <p:pic>
        <p:nvPicPr>
          <p:cNvPr id="11" name="Picture 10" descr="cherry_point_spay.jpg"/>
          <p:cNvPicPr>
            <a:picLocks noChangeAspect="1"/>
          </p:cNvPicPr>
          <p:nvPr/>
        </p:nvPicPr>
        <p:blipFill>
          <a:blip r:embed="rId3"/>
          <a:stretch>
            <a:fillRect/>
          </a:stretch>
        </p:blipFill>
        <p:spPr>
          <a:xfrm>
            <a:off x="8247888" y="1371600"/>
            <a:ext cx="3611880" cy="2331720"/>
          </a:xfrm>
          <a:prstGeom prst="rect">
            <a:avLst/>
          </a:prstGeom>
        </p:spPr>
      </p:pic>
      <p:sp>
        <p:nvSpPr>
          <p:cNvPr id="12" name="Rounded Rectangle 11"/>
          <p:cNvSpPr/>
          <p:nvPr/>
        </p:nvSpPr>
        <p:spPr>
          <a:xfrm>
            <a:off x="8247888" y="3822191"/>
            <a:ext cx="361188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75904" y="3931920"/>
            <a:ext cx="3355848" cy="2359152"/>
          </a:xfrm>
          <a:prstGeom prst="rect">
            <a:avLst/>
          </a:prstGeom>
          <a:noFill/>
        </p:spPr>
        <p:txBody>
          <a:bodyPr wrap="square" anchor="t"/>
          <a:lstStyle/>
          <a:p>
            <a:pPr algn="l"/>
            <a:r>
              <a:rPr sz="1600" b="0">
                <a:solidFill>
                  <a:srgbClr val="1C1C1C"/>
                </a:solidFill>
                <a:latin typeface="Calibri"/>
              </a:rPr>
              <a:t>Left: fenestrated drape. Clipped skin in the window. Towel clamps at the corners. Hair is under the drape.
Right: hair at the margin. Re-clip or re-drape. Four towels, then the large drape. Timeout. Then cut.</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OR attire, gown, glove, instruments</a:t>
            </a:r>
          </a:p>
        </p:txBody>
      </p:sp>
      <p:pic>
        <p:nvPicPr>
          <p:cNvPr id="7" name="Picture 6" descr="closed_gloving_real.jpg"/>
          <p:cNvPicPr>
            <a:picLocks noChangeAspect="1"/>
          </p:cNvPicPr>
          <p:nvPr/>
        </p:nvPicPr>
        <p:blipFill>
          <a:blip r:embed="rId2"/>
          <a:stretch>
            <a:fillRect/>
          </a:stretch>
        </p:blipFill>
        <p:spPr>
          <a:xfrm>
            <a:off x="320040" y="1024128"/>
            <a:ext cx="6537960" cy="3794760"/>
          </a:xfrm>
          <a:prstGeom prst="rect">
            <a:avLst/>
          </a:prstGeom>
        </p:spPr>
      </p:pic>
      <p:sp>
        <p:nvSpPr>
          <p:cNvPr id="8" name="Rounded Rectangle 7"/>
          <p:cNvSpPr/>
          <p:nvPr/>
        </p:nvSpPr>
        <p:spPr>
          <a:xfrm>
            <a:off x="6995160" y="1024128"/>
            <a:ext cx="4846320" cy="3794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78040" y="1133856"/>
            <a:ext cx="4526280" cy="365760"/>
          </a:xfrm>
          <a:prstGeom prst="rect">
            <a:avLst/>
          </a:prstGeom>
          <a:noFill/>
        </p:spPr>
        <p:txBody>
          <a:bodyPr wrap="square" anchor="t"/>
          <a:lstStyle/>
          <a:p>
            <a:pPr algn="l"/>
            <a:r>
              <a:rPr sz="1800" b="1">
                <a:solidFill>
                  <a:srgbClr val="0B2C4A"/>
                </a:solidFill>
                <a:latin typeface="Calibri"/>
              </a:rPr>
              <a:t>Before you cut</a:t>
            </a:r>
          </a:p>
        </p:txBody>
      </p:sp>
      <p:sp>
        <p:nvSpPr>
          <p:cNvPr id="10" name="TextBox 9"/>
          <p:cNvSpPr txBox="1"/>
          <p:nvPr/>
        </p:nvSpPr>
        <p:spPr>
          <a:xfrm>
            <a:off x="7132320" y="1554480"/>
            <a:ext cx="4572000" cy="3108960"/>
          </a:xfrm>
          <a:prstGeom prst="rect">
            <a:avLst/>
          </a:prstGeom>
          <a:noFill/>
        </p:spPr>
        <p:txBody>
          <a:bodyPr wrap="square">
            <a:spAutoFit/>
          </a:bodyPr>
          <a:lstStyle/>
          <a:p>
            <a:pPr algn="l">
              <a:spcAft>
                <a:spcPts val="800"/>
              </a:spcAft>
            </a:pPr>
            <a:r>
              <a:rPr sz="1600" b="0">
                <a:solidFill>
                  <a:srgbClr val="1C1C1C"/>
                </a:solidFill>
                <a:latin typeface="Calibri"/>
              </a:rPr>
              <a:t>▸  Door: shoe covers, hair cap, mask. Then enter.</a:t>
            </a:r>
          </a:p>
          <a:p>
            <a:pPr algn="l">
              <a:spcAft>
                <a:spcPts val="800"/>
              </a:spcAft>
            </a:pPr>
            <a:r>
              <a:rPr sz="1600" b="0">
                <a:solidFill>
                  <a:srgbClr val="1C1C1C"/>
                </a:solidFill>
                <a:latin typeface="Calibri"/>
              </a:rPr>
              <a:t>▸  Surgical hand scrub. Gown. Closed glove (hands stay in the cuffs).</a:t>
            </a:r>
          </a:p>
          <a:p>
            <a:pPr algn="l">
              <a:spcAft>
                <a:spcPts val="800"/>
              </a:spcAft>
            </a:pPr>
            <a:r>
              <a:rPr sz="1600" b="0">
                <a:solidFill>
                  <a:srgbClr val="1C1C1C"/>
                </a:solidFill>
                <a:latin typeface="Calibri"/>
              </a:rPr>
              <a:t>▸  Drape. Then open the instrument pack. Check the indicator.</a:t>
            </a:r>
          </a:p>
          <a:p>
            <a:pPr algn="l">
              <a:spcAft>
                <a:spcPts val="800"/>
              </a:spcAft>
            </a:pPr>
            <a:r>
              <a:rPr sz="1600" b="0">
                <a:solidFill>
                  <a:srgbClr val="1C1C1C"/>
                </a:solidFill>
                <a:latin typeface="Calibri"/>
              </a:rPr>
              <a:t>▸  Arrange. Count sponges and instruments. Mayo stand.</a:t>
            </a:r>
          </a:p>
          <a:p>
            <a:pPr algn="l">
              <a:spcAft>
                <a:spcPts val="800"/>
              </a:spcAft>
            </a:pPr>
            <a:r>
              <a:rPr sz="1600" b="0">
                <a:solidFill>
                  <a:srgbClr val="1C1C1C"/>
                </a:solidFill>
                <a:latin typeface="Calibri"/>
              </a:rPr>
              <a:t>▸  Name the monitors: ECG, SpO2, ETCO2, temp, fluids.</a:t>
            </a:r>
          </a:p>
        </p:txBody>
      </p:sp>
      <p:sp>
        <p:nvSpPr>
          <p:cNvPr id="11" name="Rounded Rectangle 10"/>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Photograph: real people, real gown sleeves, sterile gloves going on. U.S. Navy photo, public domain (USNS Mercy, 2020). In this course: closed glove, hands stay inside the gown cuffs. Then drape, open the pack, count, Mayo stand. Timeout. Announce the incision and mark it on the chart.</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7" name="Rounded Rectangle 6"/>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9" name="TextBox 8"/>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Do not continue with a contaminated field.
After the incision: notice, announce, and fully correct. Sleeve in the abdomen, instrument off the table, hole in a glove: stop and fix it.</a:t>
            </a:r>
          </a:p>
        </p:txBody>
      </p:sp>
      <p:sp>
        <p:nvSpPr>
          <p:cNvPr id="10" name="Rounded Rectangle 9"/>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2" name="TextBox 11"/>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3" name="Rounded Rectangle 12"/>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Surgical competence includes the first 24 hours of physiologic monitoring and complication management (CPE MOA 2026 Surgery). A weak ligature or a weak linea is a technical failure you must recognize. That is not infinite legal liability for every recovery-ward or owner event.</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7" name="Rounded Rectangle 6"/>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0" name="TextBox 9"/>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1" name="TextBox 10"/>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Clip and dirty-scrub in the prep area. Full sterile scrub in the OR after positioning.</a:t>
            </a:r>
          </a:p>
        </p:txBody>
      </p:sp>
      <p:sp>
        <p:nvSpPr>
          <p:cNvPr id="12" name="Rounded Rectangle 11"/>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5" name="TextBox 14"/>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povidone-iodine?</a:t>
            </a:r>
          </a:p>
        </p:txBody>
      </p:sp>
      <p:sp>
        <p:nvSpPr>
          <p:cNvPr id="16" name="TextBox 15"/>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Intact cornea: 0.2% (10% 1:50 or 5% 1:25), 2 min scrub + 2 min soak. Not 10% or 5% undiluted. Perforation: saline only.</a:t>
            </a:r>
          </a:p>
        </p:txBody>
      </p:sp>
      <p:sp>
        <p:nvSpPr>
          <p:cNvPr id="17" name="Rounded Rectangle 16"/>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0" name="TextBox 19"/>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1" name="TextBox 20"/>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2" name="Rounded Rectangle 21"/>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5" name="TextBox 24"/>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25 kg dog. Tube, bag, and IV fluid rate if you intubate?</a:t>
            </a:r>
          </a:p>
        </p:txBody>
      </p:sp>
      <p:sp>
        <p:nvSpPr>
          <p:cNvPr id="26" name="TextBox 25"/>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10 mm, 2 L circle, LRS 125 mL/hr (5 mL/kg/hr).</a:t>
            </a:r>
          </a:p>
        </p:txBody>
      </p:sp>
      <p:sp>
        <p:nvSpPr>
          <p:cNvPr id="27" name="Rectangle 2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9" name="TextBox 2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7" name="Picture 6"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8" name="Rounded Rectangle 7"/>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0" name="TextBox 9"/>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Do not stack with a steroid.</a:t>
            </a:r>
          </a:p>
          <a:p>
            <a:pPr algn="l">
              <a:spcAft>
                <a:spcPts val="1000"/>
              </a:spcAft>
            </a:pPr>
            <a:r>
              <a:rPr sz="1600" b="0">
                <a:solidFill>
                  <a:srgbClr val="1C1C1C"/>
                </a:solidFill>
                <a:latin typeface="Calibri"/>
              </a:rPr>
              <a:t>▸  E-collar on before they can lick.</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start, incision, criteria</a:t>
            </a:r>
          </a:p>
        </p:txBody>
      </p:sp>
      <p:pic>
        <p:nvPicPr>
          <p:cNvPr id="7" name="Picture 6"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Dogs only. Give ~2 hours before incision so levels are on board (pre-emptive; Rimadyl label).</a:t>
            </a:r>
          </a:p>
          <a:p>
            <a:pPr algn="l">
              <a:spcAft>
                <a:spcPts val="600"/>
              </a:spcAft>
            </a:pPr>
            <a:r>
              <a:rPr sz="1600" b="0">
                <a:solidFill>
                  <a:srgbClr val="1C1C1C"/>
                </a:solidFill>
                <a:latin typeface="Calibri"/>
              </a:rPr>
              <a:t>▸  Cat: Onsior (robenacoxib) 2 mg/kg SQ. Cats only. First dose ~30 min before incision so levels are on board. OHE, castration, orthopedic. Up to 3 days.</a:t>
            </a:r>
          </a:p>
          <a:p>
            <a:pPr algn="l">
              <a:spcAft>
                <a:spcPts val="600"/>
              </a:spcAft>
            </a:pPr>
            <a:r>
              <a:rPr sz="1600" b="0">
                <a:solidFill>
                  <a:srgbClr val="1C1C1C"/>
                </a:solidFill>
                <a:latin typeface="Calibri"/>
              </a:rPr>
              <a:t>▸  Dog: carprofen. Cat: Onsior. Do not swap species in this course.</a:t>
            </a:r>
          </a:p>
          <a:p>
            <a:pPr algn="l">
              <a:spcAft>
                <a:spcPts val="600"/>
              </a:spcAft>
            </a:pPr>
            <a:r>
              <a:rPr sz="1600" b="0">
                <a:solidFill>
                  <a:srgbClr val="1C1C1C"/>
                </a:solidFill>
                <a:latin typeface="Calibri"/>
              </a:rPr>
              <a:t>▸  Do not stack an NSAID with a steroid. Skip NSAID if the patient is azotemic.</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7" name="Rounded Rectangle 6"/>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0" name="TextBox 9"/>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1" name="Rounded Rectangle 10"/>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4" name="TextBox 13"/>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5" name="Rounded Rectangle 14"/>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8" name="TextBox 17"/>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19" name="Rounded Rectangle 18"/>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2" name="TextBox 21"/>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3" name="Rounded Rectangle 22"/>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6" name="TextBox 25"/>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7" name="Rounded Rectangle 26"/>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0" name="TextBox 29"/>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0" name="TextBox 9"/>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4" name="TextBox 13"/>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8" name="TextBox 17"/>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Answer: MoMo is Status 4-E</a:t>
            </a:r>
          </a:p>
        </p:txBody>
      </p:sp>
      <p:sp>
        <p:nvSpPr>
          <p:cNvPr id="7" name="Rounded Rectangle 6"/>
          <p:cNvSpPr/>
          <p:nvPr/>
        </p:nvSpPr>
        <p:spPr>
          <a:xfrm>
            <a:off x="457200" y="1051560"/>
            <a:ext cx="11247120" cy="73152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MoMo  ·  SF DSH  ·  4.25 kg  ·  today’s PE and today’s labs write the status. Do not cut.</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FFFFFF"/>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Acute vomiting and lethargy. Azotemia. Right kidney fluid-filled and non-functional. Left kidney reduced corticomedullary architecture.</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FFFFFF"/>
                </a:solidFill>
                <a:latin typeface="Calibri"/>
              </a:rPr>
              <a:t>Uncompensated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BUN 48.7 → 100. Cr 3.0 → 4.71. BE −7.4. Na 142. HR 200, tacky mm. That is a constant threat to life.</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FFFFFF"/>
                </a:solidFill>
                <a:latin typeface="Calibri"/>
              </a:rPr>
              <a:t>Not Status 3</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Status 3 is moderate and compensated. A HCT of 44% in range does not write Status 1. This is not compensated CKD.</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FFFFFF"/>
                </a:solidFill>
                <a:latin typeface="Calibri"/>
              </a:rPr>
              <a:t>Do not cut</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Exploratory cancelled. NSAIDs contraindicated. Owner elected euthanasia. Record SURGERY CANCELLED.</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Answer: Willie is Status 3-E</a:t>
            </a:r>
          </a:p>
        </p:txBody>
      </p:sp>
      <p:sp>
        <p:nvSpPr>
          <p:cNvPr id="7" name="Rounded Rectangle 6"/>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today’s PE and today’s labs write the status</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AS otitis. Head tilt left. Circling left. Nystagmus rapid left, slow right. Wheelbarrow right absent. Knuckling, right limbs. Grade II/VI murmur.</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Pink, CRT 2 s. BUN 11.9 and creatinine 0.7 in range. Not a constant threat to life today.</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Not Status 1</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HCT 47.5% in range does not write Status 1. This neuro PE is not a normal healthy patient.</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Not Status 4</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Phos 6.0 and glucose 130 are high. They do not write Status 4. Status 4 is a constant threat to life.</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Pre-anesthetic assessment: TPR, mm/CRT, then PCV, TP, BUN. Interpret. Circle ASA. Then IM or SQ premed.</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Write drug, concentration, dose, volume, and route. Then IV fluid name and rate, ETT size, circuit, and fresh-gas flow.</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Ready for surgical prep: airway secured, machine on, patent IV running, surgical plane, monitoring started.</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Patient: clip, dirty scrub, move, full scrub, drape. Surgeon: shoe covers, cap, mask, then gown and closed glove. Instrument table, then announce incision.</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Mark anesthesia start and first incision. Fill the chart every 5–10 min against the operating range. Then complications, recovery analgesics, and sign.</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First 24 hours: monitor and manage complications. A weak ligature or a weak linea is still your technical problem.</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When is the patient ready for clippers?
What do you write before the first IM or SQ premed?</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 Intact cornea.
14. Epstein ME, et al. 2015 AAHA/AAFP Pain. JAAHA 2015;51:67–84.</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10. BETADINE Solution Veterinary. 5% povidone-iodine (not 10%). DailyMed NDC 67618-155.
11. Nolvasan Surgical Scrub. 2% chlorhexidine acetate. DailyMed NDC 54771-8701.
12. ECFVG. CPE Manual of Administration. 2026 ed. Anesthesia; Surgery.
13. Pardo et al. 2024 AAHA Fluid Therapy. JAAHA. 2024;60:131–163.
15. Thieman Mankin K. Exploratory celiotomy. Clinician’s Brief. 2019. Clip to landmarks, not 20 cm.</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37  /  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