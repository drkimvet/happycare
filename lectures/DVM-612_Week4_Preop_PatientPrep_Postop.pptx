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Week 4 of DVM 612. Weeks 1–3 covered asepsis, sterilization, facilities, monitoring, communication, and surgery reports. Today we put the patient in the center: decide if they are a surgical candidate, prepare them and yourselves aseptically, and own the 24 hours after the last suture. One hour. Three acts. Keep a Fossum nearby; I will flag ECFVG CPE skills because they are the same skills this course will later ask you to demonstrate in lab and OSCE.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Tell students Exam 1 (Week 6) will sample this material. OSCE/lab sign-off will include patient prep and discharge writing (LO 4 and 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 that is the ECFVG high-stakes skill 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CPE 24-hour rule. DVM 612 will hold you to the same standard: a beautiful closure that bleeds in recovery is a failed surgery.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ECFVG anesthesia candidate gets the dog ready for surgical prep; surgery candidate owns prep through last skin suture; both own recovery discussion.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ECFVG anesthesia: do not premedicate before you have examined the patient — that is a dismissible event on the anesthesia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CPE anesthesia live-animal sequence. Even though Week 4 is a surgery lecture, DVM 612 students share patients with anesthesia. Never skip PE because ‘the tech already did vitals.’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ASA I and III slowly. Emergency ‘E’ modifier is used clinically (e.g., ASA IV-E for GDV) though ECFVG appendix lists 1–5. An ‘elective’ procedure on an ASA IV patient is a decision, not a schedule slot.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the trap: do not rush a blocked cat to cystotomy until potassium and perfusion are addressed. D: surgery is indicated; endocrine disease is compensated — still plan steroids and electrolytes.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The CPE will give you lab results after you request them. Requesting nothing in a geriatric patient is as wrong as a $800 panel on every puppy.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teach AAHA-style 4–6 h for healthy small animals as best practice, and I tell them older exam banks may still say overnight NPO. Ruminant contrast prevents a species-blind answer on Exam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high-yield exam slide. Elective canine OHE on the CPE is a clean procedure — do not invent a 14-day cephalexin prescription. If you give cefazolin, it is IV around induction, not a souvenir bottle home.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ECFVG Surgery section skill cluster: hair removal, skin prep, positioning, scrubbing/attire, gowning/gloving, draping. High risk of dismissible events if asepsis is lost and not recognized.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scored boxes. Students should be able to name them on Exam 1 without the OHE steps mixed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hands on your own abdomen if no model. Missed hair at the drape edge is an ECFVG-style fail.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Faculty preference at LIU labs may be CHG–alcohol for trunk skin. Hammer ocular/ear contraindications — they have already seen ototoxic ear meds in other contexts.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mime the spiral on the lectern. Mention hanging-limb prep: start at incision, work distally toward the dirty foot, then the wrapped foot is handed off.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Four-quadrant is not optional style — it is an ECFVG requirement even for the pre-CPE surgical experience form. Demonstrate air-cuffing the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CPE: gown pack use is demonstrated at orientation — still practice in our labs until it is muscle memory. Talking through a contaminated glove replacement is an Exam 1 question.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ECFVG slide in the hour. 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#1, #2, #3 to today’s lecture. Intra-op details (#4) are later weeks, but ureter injury is a positioning/exposure/identification problem that starts with a calm, well-prepped patient.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ABC plus temperature plus pain. Hemorrhage speech: do not send a pale recovering OHE to the kennel because ‘she’s just groggy.’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CC3. Mention they will practice scoring in skills labs. NSAIDs: not in hypovolemia, kidney injury, GI ulcer, concurrent steroids.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7. Lab assignment later: write a report and discharge for the model/cadaver/live lab. Show them you grade completeness, not handwriting 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lecture LA for 10 minutes. Plant the flag that Halsted travels to the barn.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without taking questions until the end. This is the mental movie for lab.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are fair game for MCQ and short answer. Stop here if time is gone.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Fossum as the night-before reading. MOA is publicly available to ECFVG candidates; we use it because it is a clean description of entry-level US/Canada surgical standard.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‘What will you do differently on your next observed prep?’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  ·  WEEK 4</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Lecture  |  60 minutes  |  Semester 3</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Mapped to DVM 612 course learning objectives 4, 7, 8 and to the AVMA ECFVG
Clinical Proficiency Examination (CPE) 2026 Manual of Administration — Surgery &amp; Anesthesia.</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47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  ·  DVM 612 LOS 4, 7, 8</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using ECFVG/CPE-standard technique (clip, prep, four-quadrant drape, gown/glove).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This lecture does not teach how to cut, ligate, or close — that is Weeks 5–12. Today is judgment, asepsis, and aftercare. Poor prep cannot be rescued by elegant suture.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47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3–22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&amp; peri-op plan</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22–42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42–57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complications,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Case wrap, exam/ECFVG pearls,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healthy animal (often an elective OHE). Entry-level standard is the same as ECFVG CPE: client-owned animal going home.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ECFVG CPE 2026 MOA — Surgery competencies (the same three verbs as this lecture)</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the score is not final until 24 hours later (hemorrhage, herniation, dehiscence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WEEK 1 RECAP THAT YOU WILL APPLY, NOT RECITE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Drains and bandages (Week 15) start with today’s wound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47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
(Weeks 5–12)</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47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labs · stabilize · fasting · consent · analgesia · antimicrobials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~19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ASA status is required on the ECFVG anesthesia record. Assign it yourself; do not inherit it.</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47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47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ANESTHESIA MOA: PREANESTHETIC PE, REQUEST LABS, INTERPRET, THEN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ECFVG Anesthesia
order of operations</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results given
4. Assign ASA status
5. Adjust the drug plan
6. Then premedicate
Premedicating before the exam is a dismissible 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2026 MOA, ANESTHESIA APPENDIX 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the ECFVG wording</a:t>
            </a:r>
          </a:p>
        </p:txBody>
      </p:sp>
      <p:sp>
        <p:nvSpPr>
          <p:cNvPr id="8" name="Rectangle 7"/>
          <p:cNvSpPr/>
          <p:nvPr/>
        </p:nvSpPr>
        <p:spPr>
          <a:xfrm>
            <a:off x="457200" y="1078992"/>
            <a:ext cx="11247120" cy="411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78992"/>
            <a:ext cx="1097280" cy="411480"/>
          </a:xfrm>
          <a:prstGeom prst="rect">
            <a:avLst/>
          </a:prstGeom>
          <a:noFill/>
        </p:spPr>
        <p:txBody>
          <a:bodyPr wrap="square" anchor="ctr"/>
          <a:lstStyle/>
          <a:p>
            <a:pPr algn="l"/>
            <a:r>
              <a:rPr sz="1400" b="1">
                <a:solidFill>
                  <a:srgbClr val="C5A35A"/>
                </a:solidFill>
                <a:latin typeface="Calibri"/>
              </a:rPr>
              <a:t>ASA</a:t>
            </a:r>
          </a:p>
        </p:txBody>
      </p:sp>
      <p:sp>
        <p:nvSpPr>
          <p:cNvPr id="10" name="TextBox 9"/>
          <p:cNvSpPr txBox="1"/>
          <p:nvPr/>
        </p:nvSpPr>
        <p:spPr>
          <a:xfrm>
            <a:off x="1737360" y="1078992"/>
            <a:ext cx="5120640" cy="411480"/>
          </a:xfrm>
          <a:prstGeom prst="rect">
            <a:avLst/>
          </a:prstGeom>
          <a:noFill/>
        </p:spPr>
        <p:txBody>
          <a:bodyPr wrap="square" anchor="ctr"/>
          <a:lstStyle/>
          <a:p>
            <a:pPr algn="l"/>
            <a:r>
              <a:rPr sz="1400" b="1">
                <a:solidFill>
                  <a:srgbClr val="FFFFFF"/>
                </a:solidFill>
                <a:latin typeface="Calibri"/>
              </a:rPr>
              <a:t>ECFVG definition</a:t>
            </a:r>
          </a:p>
        </p:txBody>
      </p:sp>
      <p:sp>
        <p:nvSpPr>
          <p:cNvPr id="11" name="TextBox 10"/>
          <p:cNvSpPr txBox="1"/>
          <p:nvPr/>
        </p:nvSpPr>
        <p:spPr>
          <a:xfrm>
            <a:off x="6949440" y="1078992"/>
            <a:ext cx="4572000" cy="411480"/>
          </a:xfrm>
          <a:prstGeom prst="rect">
            <a:avLst/>
          </a:prstGeom>
          <a:noFill/>
        </p:spPr>
        <p:txBody>
          <a:bodyPr wrap="square" anchor="ctr"/>
          <a:lstStyle/>
          <a:p>
            <a:pPr algn="l"/>
            <a:r>
              <a:rPr sz="1400" b="1">
                <a:solidFill>
                  <a:srgbClr val="FFFFFF"/>
                </a:solidFill>
                <a:latin typeface="Calibri"/>
              </a:rPr>
              <a:t>Typical example</a:t>
            </a:r>
          </a:p>
        </p:txBody>
      </p:sp>
      <p:sp>
        <p:nvSpPr>
          <p:cNvPr id="12" name="Rounded Rectangle 11"/>
          <p:cNvSpPr/>
          <p:nvPr/>
        </p:nvSpPr>
        <p:spPr>
          <a:xfrm>
            <a:off x="457200" y="149047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90472"/>
            <a:ext cx="109728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90472"/>
            <a:ext cx="1097280" cy="804672"/>
          </a:xfrm>
          <a:prstGeom prst="rect">
            <a:avLst/>
          </a:prstGeom>
          <a:noFill/>
        </p:spPr>
        <p:txBody>
          <a:bodyPr wrap="square" anchor="ctr"/>
          <a:lstStyle/>
          <a:p>
            <a:pPr algn="ctr"/>
            <a:r>
              <a:rPr sz="2200" b="1">
                <a:solidFill>
                  <a:srgbClr val="FFFFFF"/>
                </a:solidFill>
                <a:latin typeface="Calibri"/>
              </a:rPr>
              <a:t>I</a:t>
            </a:r>
          </a:p>
        </p:txBody>
      </p:sp>
      <p:sp>
        <p:nvSpPr>
          <p:cNvPr id="15" name="TextBox 14"/>
          <p:cNvSpPr txBox="1"/>
          <p:nvPr/>
        </p:nvSpPr>
        <p:spPr>
          <a:xfrm>
            <a:off x="1737360" y="1563624"/>
            <a:ext cx="502920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6949440" y="1563624"/>
            <a:ext cx="4572000" cy="658368"/>
          </a:xfrm>
          <a:prstGeom prst="rect">
            <a:avLst/>
          </a:prstGeom>
          <a:noFill/>
        </p:spPr>
        <p:txBody>
          <a:bodyPr wrap="square" anchor="ctr"/>
          <a:lstStyle/>
          <a:p>
            <a:pPr algn="l"/>
            <a:r>
              <a:rPr sz="1300" b="0">
                <a:solidFill>
                  <a:srgbClr val="3D4A57"/>
                </a:solidFill>
                <a:latin typeface="Calibri"/>
              </a:rPr>
              <a:t>Elective OHE in a well 1-year-old</a:t>
            </a:r>
          </a:p>
        </p:txBody>
      </p:sp>
      <p:sp>
        <p:nvSpPr>
          <p:cNvPr id="17" name="Rounded Rectangle 16"/>
          <p:cNvSpPr/>
          <p:nvPr/>
        </p:nvSpPr>
        <p:spPr>
          <a:xfrm>
            <a:off x="457200" y="235915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359152"/>
            <a:ext cx="109728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359152"/>
            <a:ext cx="1097280" cy="804672"/>
          </a:xfrm>
          <a:prstGeom prst="rect">
            <a:avLst/>
          </a:prstGeom>
          <a:noFill/>
        </p:spPr>
        <p:txBody>
          <a:bodyPr wrap="square" anchor="ctr"/>
          <a:lstStyle/>
          <a:p>
            <a:pPr algn="ctr"/>
            <a:r>
              <a:rPr sz="2200" b="1">
                <a:solidFill>
                  <a:srgbClr val="FFFFFF"/>
                </a:solidFill>
                <a:latin typeface="Calibri"/>
              </a:rPr>
              <a:t>II</a:t>
            </a:r>
          </a:p>
        </p:txBody>
      </p:sp>
      <p:sp>
        <p:nvSpPr>
          <p:cNvPr id="20" name="TextBox 19"/>
          <p:cNvSpPr txBox="1"/>
          <p:nvPr/>
        </p:nvSpPr>
        <p:spPr>
          <a:xfrm>
            <a:off x="1737360" y="2432304"/>
            <a:ext cx="502920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6949440" y="2432304"/>
            <a:ext cx="4572000" cy="658368"/>
          </a:xfrm>
          <a:prstGeom prst="rect">
            <a:avLst/>
          </a:prstGeom>
          <a:noFill/>
        </p:spPr>
        <p:txBody>
          <a:bodyPr wrap="square" anchor="ctr"/>
          <a:lstStyle/>
          <a:p>
            <a:pPr algn="l"/>
            <a:r>
              <a:rPr sz="1300" b="0">
                <a:solidFill>
                  <a:srgbClr val="3D4A57"/>
                </a:solidFill>
                <a:latin typeface="Calibri"/>
              </a:rPr>
              <a:t>Controlled diabetes; obese but stable; asymptomatic murmur</a:t>
            </a:r>
          </a:p>
        </p:txBody>
      </p:sp>
      <p:sp>
        <p:nvSpPr>
          <p:cNvPr id="22" name="Rounded Rectangle 21"/>
          <p:cNvSpPr/>
          <p:nvPr/>
        </p:nvSpPr>
        <p:spPr>
          <a:xfrm>
            <a:off x="457200" y="322783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227832"/>
            <a:ext cx="109728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27832"/>
            <a:ext cx="1097280" cy="804672"/>
          </a:xfrm>
          <a:prstGeom prst="rect">
            <a:avLst/>
          </a:prstGeom>
          <a:noFill/>
        </p:spPr>
        <p:txBody>
          <a:bodyPr wrap="square" anchor="ctr"/>
          <a:lstStyle/>
          <a:p>
            <a:pPr algn="ctr"/>
            <a:r>
              <a:rPr sz="2200" b="1">
                <a:solidFill>
                  <a:srgbClr val="FFFFFF"/>
                </a:solidFill>
                <a:latin typeface="Calibri"/>
              </a:rPr>
              <a:t>III</a:t>
            </a:r>
          </a:p>
        </p:txBody>
      </p:sp>
      <p:sp>
        <p:nvSpPr>
          <p:cNvPr id="25" name="TextBox 24"/>
          <p:cNvSpPr txBox="1"/>
          <p:nvPr/>
        </p:nvSpPr>
        <p:spPr>
          <a:xfrm>
            <a:off x="1737360" y="3300984"/>
            <a:ext cx="5029200" cy="658368"/>
          </a:xfrm>
          <a:prstGeom prst="rect">
            <a:avLst/>
          </a:prstGeom>
          <a:noFill/>
        </p:spPr>
        <p:txBody>
          <a:bodyPr wrap="square" anchor="ctr"/>
          <a:lstStyle/>
          <a:p>
            <a:pPr algn="l"/>
            <a:r>
              <a:rPr sz="1300" b="0">
                <a:solidFill>
                  <a:srgbClr val="1C1C1C"/>
                </a:solidFill>
                <a:latin typeface="Calibri"/>
              </a:rPr>
              <a:t>Moderate systemic disease, ongoing but compensated; some functional limitation</a:t>
            </a:r>
          </a:p>
        </p:txBody>
      </p:sp>
      <p:sp>
        <p:nvSpPr>
          <p:cNvPr id="26" name="TextBox 25"/>
          <p:cNvSpPr txBox="1"/>
          <p:nvPr/>
        </p:nvSpPr>
        <p:spPr>
          <a:xfrm>
            <a:off x="6949440" y="3300984"/>
            <a:ext cx="4572000" cy="658368"/>
          </a:xfrm>
          <a:prstGeom prst="rect">
            <a:avLst/>
          </a:prstGeom>
          <a:noFill/>
        </p:spPr>
        <p:txBody>
          <a:bodyPr wrap="square" anchor="ctr"/>
          <a:lstStyle/>
          <a:p>
            <a:pPr algn="l"/>
            <a:r>
              <a:rPr sz="1300" b="0">
                <a:solidFill>
                  <a:srgbClr val="3D4A57"/>
                </a:solidFill>
                <a:latin typeface="Calibri"/>
              </a:rPr>
              <a:t>CKD with azotemia; symptomatic heart disease; anemia that is stable</a:t>
            </a:r>
          </a:p>
        </p:txBody>
      </p:sp>
      <p:sp>
        <p:nvSpPr>
          <p:cNvPr id="27" name="Rounded Rectangle 26"/>
          <p:cNvSpPr/>
          <p:nvPr/>
        </p:nvSpPr>
        <p:spPr>
          <a:xfrm>
            <a:off x="457200" y="4096511"/>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096511"/>
            <a:ext cx="109728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096511"/>
            <a:ext cx="1097280" cy="804672"/>
          </a:xfrm>
          <a:prstGeom prst="rect">
            <a:avLst/>
          </a:prstGeom>
          <a:noFill/>
        </p:spPr>
        <p:txBody>
          <a:bodyPr wrap="square" anchor="ctr"/>
          <a:lstStyle/>
          <a:p>
            <a:pPr algn="ctr"/>
            <a:r>
              <a:rPr sz="2200" b="1">
                <a:solidFill>
                  <a:srgbClr val="FFFFFF"/>
                </a:solidFill>
                <a:latin typeface="Calibri"/>
              </a:rPr>
              <a:t>IV</a:t>
            </a:r>
          </a:p>
        </p:txBody>
      </p:sp>
      <p:sp>
        <p:nvSpPr>
          <p:cNvPr id="30" name="TextBox 29"/>
          <p:cNvSpPr txBox="1"/>
          <p:nvPr/>
        </p:nvSpPr>
        <p:spPr>
          <a:xfrm>
            <a:off x="1737360" y="4169663"/>
            <a:ext cx="502920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a:t>
            </a:r>
          </a:p>
        </p:txBody>
      </p:sp>
      <p:sp>
        <p:nvSpPr>
          <p:cNvPr id="31" name="TextBox 30"/>
          <p:cNvSpPr txBox="1"/>
          <p:nvPr/>
        </p:nvSpPr>
        <p:spPr>
          <a:xfrm>
            <a:off x="6949440" y="4169663"/>
            <a:ext cx="4572000" cy="658368"/>
          </a:xfrm>
          <a:prstGeom prst="rect">
            <a:avLst/>
          </a:prstGeom>
          <a:noFill/>
        </p:spPr>
        <p:txBody>
          <a:bodyPr wrap="square" anchor="ctr"/>
          <a:lstStyle/>
          <a:p>
            <a:pPr algn="l"/>
            <a:r>
              <a:rPr sz="1300" b="0">
                <a:solidFill>
                  <a:srgbClr val="3D4A57"/>
                </a:solidFill>
                <a:latin typeface="Calibri"/>
              </a:rPr>
              <a:t>GDV, septic abdomen, decompensated CHF, uncontrolled hemorrhage</a:t>
            </a:r>
          </a:p>
        </p:txBody>
      </p:sp>
      <p:sp>
        <p:nvSpPr>
          <p:cNvPr id="32" name="Rounded Rectangle 31"/>
          <p:cNvSpPr/>
          <p:nvPr/>
        </p:nvSpPr>
        <p:spPr>
          <a:xfrm>
            <a:off x="457200" y="496519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65192"/>
            <a:ext cx="109728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4965192"/>
            <a:ext cx="1097280" cy="804672"/>
          </a:xfrm>
          <a:prstGeom prst="rect">
            <a:avLst/>
          </a:prstGeom>
          <a:noFill/>
        </p:spPr>
        <p:txBody>
          <a:bodyPr wrap="square" anchor="ctr"/>
          <a:lstStyle/>
          <a:p>
            <a:pPr algn="ctr"/>
            <a:r>
              <a:rPr sz="2200" b="1">
                <a:solidFill>
                  <a:srgbClr val="FFFFFF"/>
                </a:solidFill>
                <a:latin typeface="Calibri"/>
              </a:rPr>
              <a:t>V</a:t>
            </a:r>
          </a:p>
        </p:txBody>
      </p:sp>
      <p:sp>
        <p:nvSpPr>
          <p:cNvPr id="35" name="TextBox 34"/>
          <p:cNvSpPr txBox="1"/>
          <p:nvPr/>
        </p:nvSpPr>
        <p:spPr>
          <a:xfrm>
            <a:off x="1737360" y="5038344"/>
            <a:ext cx="5029200" cy="658368"/>
          </a:xfrm>
          <a:prstGeom prst="rect">
            <a:avLst/>
          </a:prstGeom>
          <a:noFill/>
        </p:spPr>
        <p:txBody>
          <a:bodyPr wrap="square" anchor="ctr"/>
          <a:lstStyle/>
          <a:p>
            <a:pPr algn="l"/>
            <a:r>
              <a:rPr sz="1300" b="0">
                <a:solidFill>
                  <a:srgbClr val="1C1C1C"/>
                </a:solidFill>
                <a:latin typeface="Calibri"/>
              </a:rPr>
              <a:t>Moribund; not expected to live &gt;24 h with or without surgery</a:t>
            </a:r>
          </a:p>
        </p:txBody>
      </p:sp>
      <p:sp>
        <p:nvSpPr>
          <p:cNvPr id="36" name="TextBox 35"/>
          <p:cNvSpPr txBox="1"/>
          <p:nvPr/>
        </p:nvSpPr>
        <p:spPr>
          <a:xfrm>
            <a:off x="6949440" y="5038344"/>
            <a:ext cx="4572000" cy="658368"/>
          </a:xfrm>
          <a:prstGeom prst="rect">
            <a:avLst/>
          </a:prstGeom>
          <a:noFill/>
        </p:spPr>
        <p:txBody>
          <a:bodyPr wrap="square" anchor="ctr"/>
          <a:lstStyle/>
          <a:p>
            <a:pPr algn="l"/>
            <a:r>
              <a:rPr sz="1300" b="0">
                <a:solidFill>
                  <a:srgbClr val="3D4A57"/>
                </a:solidFill>
                <a:latin typeface="Calibri"/>
              </a:rPr>
              <a:t>Gastric rupture, catastrophic trauma, end-stage disease</a:t>
            </a:r>
          </a:p>
        </p:txBody>
      </p:sp>
      <p:sp>
        <p:nvSpPr>
          <p:cNvPr id="37" name="Rectangle 3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9" name="TextBox 3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47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I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II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Cat, urethral obstruction, K+ 8.2, bladder huge, arrhythmia.</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8B2E2E"/>
                </a:solidFill>
                <a:latin typeface="Calibri"/>
              </a:rPr>
              <a:t>ASA IV-E  ·  stabilize first, then surgery</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Dog, well-controlled Addison’s, on DOCP/pred, coming for foreign body enterotomy, stable today.</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C5A35A"/>
                </a:solidFill>
                <a:latin typeface="Calibri"/>
              </a:rPr>
              <a:t>ASA II–III  ·  proceed; give steroid stress dose</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47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REQUEST APPROPRIATE MINIMUM TESTS FOR THIS PATIENT AND THIS PROCEDURE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47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47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 CC8  ·  WEEK 3 COMMUNICATION CONTINUES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CPE mindset</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The 2026 MOA tells you to assume the OHE is a client-owned animal that will go home after recovery in your hospital.
Operate, document, and speak as if that client is waiting in reception — because in practice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47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ECFVG anesthesia: you must be able to discuss recovery and postoperative pain management.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47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  ·  DVM 613 WILL THANK YOU</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47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22–42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20  /  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2026 MANUAL OF ADMINISTRATION  ·  SU01 ASSESSMENT SHEET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ECFVG CPE Surgery — what is actually scored in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an ECFVG surgical-experience requirement. Maintain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47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AFTER INDUCTION, IMMEDIATELY BEFORE SURGERY — NOT LAST 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TextBox 7"/>
          <p:cNvSpPr txBox="1"/>
          <p:nvPr/>
        </p:nvSpPr>
        <p:spPr>
          <a:xfrm>
            <a:off x="457200" y="1097280"/>
            <a:ext cx="6949440" cy="5029200"/>
          </a:xfrm>
          <a:prstGeom prst="rect">
            <a:avLst/>
          </a:prstGeom>
          <a:noFill/>
        </p:spPr>
        <p:txBody>
          <a:bodyPr wrap="square">
            <a:spAutoFit/>
          </a:bodyPr>
          <a:lstStyle/>
          <a:p>
            <a:pPr algn="l">
              <a:spcAft>
                <a:spcPts val="900"/>
              </a:spcAft>
            </a:pPr>
            <a:r>
              <a:rPr sz="1600" b="0">
                <a:solidFill>
                  <a:srgbClr val="1C1C1C"/>
                </a:solidFill>
                <a:latin typeface="Calibri"/>
              </a:rPr>
              <a:t>▸  Electric clippers, clean #40 blade, teeth intact. Razors create micro-nicks and raise SSI risk.</a:t>
            </a:r>
          </a:p>
          <a:p>
            <a:pPr algn="l">
              <a:spcAft>
                <a:spcPts val="900"/>
              </a:spcAft>
            </a:pPr>
            <a:r>
              <a:rPr sz="1600" b="0">
                <a:solidFill>
                  <a:srgbClr val="1C1C1C"/>
                </a:solidFill>
                <a:latin typeface="Calibri"/>
              </a:rPr>
              <a:t>▸  Clip with the grain, then against, to the skin. Tense the skin in folds, mammary chain, inguinal region.</a:t>
            </a:r>
          </a:p>
          <a:p>
            <a:pPr algn="l">
              <a:spcAft>
                <a:spcPts val="900"/>
              </a:spcAft>
            </a:pPr>
            <a:r>
              <a:rPr sz="1600" b="0">
                <a:solidFill>
                  <a:srgbClr val="1C1C1C"/>
                </a:solidFill>
                <a:latin typeface="Calibri"/>
              </a:rPr>
              <a:t>▸  Field large enough to extend the incision, place a drain, and keep drape edges off hair (~20 cm beyond planned incision is a Fossum-style working rule).</a:t>
            </a:r>
          </a:p>
          <a:p>
            <a:pPr algn="l">
              <a:spcAft>
                <a:spcPts val="900"/>
              </a:spcAft>
            </a:pPr>
            <a:r>
              <a:rPr sz="1600" b="0">
                <a:solidFill>
                  <a:srgbClr val="1C1C1C"/>
                </a:solidFill>
                <a:latin typeface="Calibri"/>
              </a:rPr>
              <a:t>▸  Vacuum. Loose hair is a mobile contaminant.</a:t>
            </a:r>
          </a:p>
          <a:p>
            <a:pPr algn="l">
              <a:spcAft>
                <a:spcPts val="900"/>
              </a:spcAft>
            </a:pPr>
            <a:r>
              <a:rPr sz="1600" b="0">
                <a:solidFill>
                  <a:srgbClr val="1C1C1C"/>
                </a:solidFill>
                <a:latin typeface="Calibri"/>
              </a:rPr>
              <a:t>▸  Do not clip the night before: bacterial load at the site rises as the skin is injured.</a:t>
            </a:r>
          </a:p>
          <a:p>
            <a:pPr algn="l">
              <a:spcAft>
                <a:spcPts val="900"/>
              </a:spcAft>
            </a:pPr>
            <a:r>
              <a:rPr sz="1600" b="0">
                <a:solidFill>
                  <a:srgbClr val="1C1C1C"/>
                </a:solidFill>
                <a:latin typeface="Calibri"/>
              </a:rPr>
              <a:t>▸  Clipper burn is a wound. Overheated blades and too much pressure = postop pain and infection.</a:t>
            </a:r>
          </a:p>
        </p:txBody>
      </p:sp>
      <p:sp>
        <p:nvSpPr>
          <p:cNvPr id="9" name="Rounded Rectangle 8"/>
          <p:cNvSpPr/>
          <p:nvPr/>
        </p:nvSpPr>
        <p:spPr>
          <a:xfrm>
            <a:off x="7589520" y="1097280"/>
            <a:ext cx="411480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280160"/>
            <a:ext cx="3703320" cy="365760"/>
          </a:xfrm>
          <a:prstGeom prst="rect">
            <a:avLst/>
          </a:prstGeom>
          <a:noFill/>
        </p:spPr>
        <p:txBody>
          <a:bodyPr wrap="square" anchor="t"/>
          <a:lstStyle/>
          <a:p>
            <a:pPr algn="l"/>
            <a:r>
              <a:rPr sz="1600" b="1">
                <a:solidFill>
                  <a:srgbClr val="0B2C4A"/>
                </a:solidFill>
                <a:latin typeface="Calibri"/>
              </a:rPr>
              <a:t>OHE clip field (CPE)</a:t>
            </a:r>
          </a:p>
        </p:txBody>
      </p:sp>
      <p:sp>
        <p:nvSpPr>
          <p:cNvPr id="11" name="TextBox 10"/>
          <p:cNvSpPr txBox="1"/>
          <p:nvPr/>
        </p:nvSpPr>
        <p:spPr>
          <a:xfrm>
            <a:off x="7818120" y="1783080"/>
            <a:ext cx="3703320" cy="4023360"/>
          </a:xfrm>
          <a:prstGeom prst="rect">
            <a:avLst/>
          </a:prstGeom>
          <a:noFill/>
        </p:spPr>
        <p:txBody>
          <a:bodyPr wrap="square" anchor="t"/>
          <a:lstStyle/>
          <a:p>
            <a:pPr algn="l"/>
            <a:r>
              <a:rPr sz="1500" b="0">
                <a:solidFill>
                  <a:srgbClr val="1C1C1C"/>
                </a:solidFill>
                <a:latin typeface="Calibri"/>
              </a:rPr>
              <a:t>From xiphoid (or a few cm cranial) to pubis, and widely lateral to the nipples.
Include enough caudal abdomen that you can extend if the uterus is unexpected.
Pluck or carefully clip preputial hair if a male abdominal surgery (not OHE) — tuck/flush prepuce as indicated.</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know lab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CONTACT TIME AND DIRECTION MATTER MORE THAN THE NUMBER OF ‘PASSES’ YOU BRAG ABOUT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sp>
        <p:nvSpPr>
          <p:cNvPr id="8" name="TextBox 7"/>
          <p:cNvSpPr txBox="1"/>
          <p:nvPr/>
        </p:nvSpPr>
        <p:spPr>
          <a:xfrm>
            <a:off x="457200" y="1051560"/>
            <a:ext cx="7315200" cy="4297680"/>
          </a:xfrm>
          <a:prstGeom prst="rect">
            <a:avLst/>
          </a:prstGeom>
          <a:noFill/>
        </p:spPr>
        <p:txBody>
          <a:bodyPr wrap="square">
            <a:spAutoFit/>
          </a:bodyPr>
          <a:lstStyle/>
          <a:p>
            <a:pPr algn="l">
              <a:spcAft>
                <a:spcPts val="800"/>
              </a:spcAft>
            </a:pPr>
            <a:r>
              <a:rPr sz="1600" b="0">
                <a:solidFill>
                  <a:srgbClr val="1C1C1C"/>
                </a:solidFill>
                <a:latin typeface="Calibri"/>
              </a:rPr>
              <a:t>▸  Dirty prep (prep room): remove grease and gross contamination. Wear clean exam gloves. Discard gauze when it leaves the center.</a:t>
            </a:r>
          </a:p>
          <a:p>
            <a:pPr algn="l">
              <a:spcAft>
                <a:spcPts val="800"/>
              </a:spcAft>
            </a:pPr>
            <a:r>
              <a:rPr sz="1600" b="0">
                <a:solidFill>
                  <a:srgbClr val="1C1C1C"/>
                </a:solidFill>
                <a:latin typeface="Calibri"/>
              </a:rPr>
              <a:t>▸  Sterile prep (OR): sterile gloves, sterile gauze or applicator. New sponge every time you leave the incision line.</a:t>
            </a:r>
          </a:p>
          <a:p>
            <a:pPr algn="l">
              <a:spcAft>
                <a:spcPts val="800"/>
              </a:spcAft>
            </a:pPr>
            <a:r>
              <a:rPr sz="1600" b="0">
                <a:solidFill>
                  <a:srgbClr val="1C1C1C"/>
                </a:solidFill>
                <a:latin typeface="Calibri"/>
              </a:rPr>
              <a:t>▸  Start at the planned incision and spiral / wipe outward. Never bring a dirty sponge back to the center.</a:t>
            </a:r>
          </a:p>
          <a:p>
            <a:pPr algn="l">
              <a:spcAft>
                <a:spcPts val="800"/>
              </a:spcAft>
            </a:pPr>
            <a:r>
              <a:rPr sz="1600" b="0">
                <a:solidFill>
                  <a:srgbClr val="1C1C1C"/>
                </a:solidFill>
                <a:latin typeface="Calibri"/>
              </a:rPr>
              <a:t>▸  Honor manufacturer contact time. Typical working teaching: at least 3 cycles or a timed 3–5 minute contact, then a final paint. Follow the product in your lab.</a:t>
            </a:r>
          </a:p>
          <a:p>
            <a:pPr algn="l">
              <a:spcAft>
                <a:spcPts val="800"/>
              </a:spcAft>
            </a:pPr>
            <a:r>
              <a:rPr sz="1600" b="0">
                <a:solidFill>
                  <a:srgbClr val="1C1C1C"/>
                </a:solidFill>
                <a:latin typeface="Calibri"/>
              </a:rPr>
              <a:t>▸  The site should be damp-to-dry, not a lake. Puddles wick bacteria under drapes and soak the patient (hypothermia).</a:t>
            </a:r>
          </a:p>
        </p:txBody>
      </p:sp>
      <p:sp>
        <p:nvSpPr>
          <p:cNvPr id="9" name="Rounded Rectangle 8"/>
          <p:cNvSpPr/>
          <p:nvPr/>
        </p:nvSpPr>
        <p:spPr>
          <a:xfrm>
            <a:off x="7955279" y="1097280"/>
            <a:ext cx="3749039"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325880"/>
            <a:ext cx="3383280" cy="457200"/>
          </a:xfrm>
          <a:prstGeom prst="rect">
            <a:avLst/>
          </a:prstGeom>
          <a:noFill/>
        </p:spPr>
        <p:txBody>
          <a:bodyPr wrap="square" anchor="t"/>
          <a:lstStyle/>
          <a:p>
            <a:pPr algn="l"/>
            <a:r>
              <a:rPr sz="1600" b="1">
                <a:solidFill>
                  <a:srgbClr val="C5A35A"/>
                </a:solidFill>
                <a:latin typeface="Calibri"/>
              </a:rPr>
              <a:t>High-risk mistakes</a:t>
            </a:r>
          </a:p>
        </p:txBody>
      </p:sp>
      <p:sp>
        <p:nvSpPr>
          <p:cNvPr id="11" name="TextBox 10"/>
          <p:cNvSpPr txBox="1"/>
          <p:nvPr/>
        </p:nvSpPr>
        <p:spPr>
          <a:xfrm>
            <a:off x="8183879" y="1920240"/>
            <a:ext cx="3383280" cy="3931920"/>
          </a:xfrm>
          <a:prstGeom prst="rect">
            <a:avLst/>
          </a:prstGeom>
          <a:noFill/>
        </p:spPr>
        <p:txBody>
          <a:bodyPr wrap="square" anchor="t"/>
          <a:lstStyle/>
          <a:p>
            <a:pPr algn="l"/>
            <a:r>
              <a:rPr sz="1500" b="0">
                <a:solidFill>
                  <a:srgbClr val="FFFFFF"/>
                </a:solidFill>
                <a:latin typeface="Calibri"/>
              </a:rPr>
              <a:t>• Scrubbing back and forth like washing a car
• Using the same gauze on anus and incision
• CHG in the eye or ear canal
• Alcohol pooling + electrocautery
• ‘One quick wipe’ and draping wet
• Contaminating the site while moving the dog</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SURGICAL-EXPERIENCE DOCUMENTATION: GOWNING, GLOVING, FOUR-QUADRANT DRAPE, STERILE INSTRUMENTS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a:t>
            </a:r>
          </a:p>
        </p:txBody>
      </p:sp>
      <p:sp>
        <p:nvSpPr>
          <p:cNvPr id="8" name="TextBox 7"/>
          <p:cNvSpPr txBox="1"/>
          <p:nvPr/>
        </p:nvSpPr>
        <p:spPr>
          <a:xfrm>
            <a:off x="457200" y="1051560"/>
            <a:ext cx="7040880" cy="5120640"/>
          </a:xfrm>
          <a:prstGeom prst="rect">
            <a:avLst/>
          </a:prstGeom>
          <a:noFill/>
        </p:spPr>
        <p:txBody>
          <a:bodyPr wrap="square">
            <a:spAutoFit/>
          </a:bodyPr>
          <a:lstStyle/>
          <a:p>
            <a:pPr algn="l">
              <a:spcAft>
                <a:spcPts val="800"/>
              </a:spcAft>
            </a:pPr>
            <a:r>
              <a:rPr sz="1500" b="0">
                <a:solidFill>
                  <a:srgbClr val="1C1C1C"/>
                </a:solidFill>
                <a:latin typeface="Calibri"/>
              </a:rPr>
              <a:t>▸  Four sterile towels (or equivalent) placed to box the field: cranial, caudal, left, right. Place the near towel first so you do not reach across the dog.</a:t>
            </a:r>
          </a:p>
          <a:p>
            <a:pPr algn="l">
              <a:spcAft>
                <a:spcPts val="800"/>
              </a:spcAft>
            </a:pPr>
            <a:r>
              <a:rPr sz="1500" b="0">
                <a:solidFill>
                  <a:srgbClr val="1C1C1C"/>
                </a:solidFill>
                <a:latin typeface="Calibri"/>
              </a:rPr>
              <a:t>▸  Towel edges cover all hair. If hair is visible, the drape is wrong — re-clip or re-drape, do not ‘tuck and hope.’</a:t>
            </a:r>
          </a:p>
          <a:p>
            <a:pPr algn="l">
              <a:spcAft>
                <a:spcPts val="800"/>
              </a:spcAft>
            </a:pPr>
            <a:r>
              <a:rPr sz="1500" b="0">
                <a:solidFill>
                  <a:srgbClr val="1C1C1C"/>
                </a:solidFill>
                <a:latin typeface="Calibri"/>
              </a:rPr>
              <a:t>▸  Secure (Backhaus clamps or atraumatic alternatives per lab). Do not tent the skin into the incision. Do not puncture the patient’s skin carelessly with clamps.</a:t>
            </a:r>
          </a:p>
          <a:p>
            <a:pPr algn="l">
              <a:spcAft>
                <a:spcPts val="800"/>
              </a:spcAft>
            </a:pPr>
            <a:r>
              <a:rPr sz="1500" b="0">
                <a:solidFill>
                  <a:srgbClr val="1C1C1C"/>
                </a:solidFill>
                <a:latin typeface="Calibri"/>
              </a:rPr>
              <a:t>▸  Large fenestrated or four-corner large drape over the towels. Cuff your hands. Never shake drapes over the field.</a:t>
            </a:r>
          </a:p>
          <a:p>
            <a:pPr algn="l">
              <a:spcAft>
                <a:spcPts val="800"/>
              </a:spcAft>
            </a:pPr>
            <a:r>
              <a:rPr sz="1500" b="0">
                <a:solidFill>
                  <a:srgbClr val="1C1C1C"/>
                </a:solidFill>
                <a:latin typeface="Calibri"/>
              </a:rPr>
              <a:t>▸  Once down, the top surface is sterile; table edges and below table height are not. Hands stay on the field.</a:t>
            </a:r>
          </a:p>
          <a:p>
            <a:pPr algn="l">
              <a:spcAft>
                <a:spcPts val="800"/>
              </a:spcAft>
            </a:pPr>
            <a:r>
              <a:rPr sz="1500" b="0">
                <a:solidFill>
                  <a:srgbClr val="1C1C1C"/>
                </a:solidFill>
                <a:latin typeface="Calibri"/>
              </a:rPr>
              <a:t>▸  If a drape is wet through (strikethrough), it is contaminated. Cover or replace.</a:t>
            </a:r>
          </a:p>
        </p:txBody>
      </p:sp>
      <p:sp>
        <p:nvSpPr>
          <p:cNvPr id="9" name="Rounded Rectangle 8"/>
          <p:cNvSpPr/>
          <p:nvPr/>
        </p:nvSpPr>
        <p:spPr>
          <a:xfrm>
            <a:off x="7680960" y="1097280"/>
            <a:ext cx="402336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280160"/>
            <a:ext cx="3657600" cy="457200"/>
          </a:xfrm>
          <a:prstGeom prst="rect">
            <a:avLst/>
          </a:prstGeom>
          <a:noFill/>
        </p:spPr>
        <p:txBody>
          <a:bodyPr wrap="square" anchor="t"/>
          <a:lstStyle/>
          <a:p>
            <a:pPr algn="l"/>
            <a:r>
              <a:rPr sz="1600" b="1">
                <a:solidFill>
                  <a:srgbClr val="0B2C4A"/>
                </a:solidFill>
                <a:latin typeface="Calibri"/>
              </a:rPr>
              <a:t>Order of operations</a:t>
            </a:r>
          </a:p>
        </p:txBody>
      </p:sp>
      <p:sp>
        <p:nvSpPr>
          <p:cNvPr id="11" name="TextBox 10"/>
          <p:cNvSpPr txBox="1"/>
          <p:nvPr/>
        </p:nvSpPr>
        <p:spPr>
          <a:xfrm>
            <a:off x="7909560" y="1874519"/>
            <a:ext cx="3657600" cy="3931920"/>
          </a:xfrm>
          <a:prstGeom prst="rect">
            <a:avLst/>
          </a:prstGeom>
          <a:noFill/>
        </p:spPr>
        <p:txBody>
          <a:bodyPr wrap="square" anchor="t"/>
          <a:lstStyle/>
          <a:p>
            <a:pPr algn="l"/>
            <a:r>
              <a:rPr sz="1500" b="0">
                <a:solidFill>
                  <a:srgbClr val="1C1C1C"/>
                </a:solidFill>
                <a:latin typeface="Calibri"/>
              </a:rPr>
              <a:t>1. You are gowned/gloved
   (or a sterile assistant drapes)
2. Towels — four quadrants
3. Clamps
4. Large drape
5. Organize instruments on a sterile table
6. Timeout
7. Announce: ready to incise
CPE: notify examiner before the incision.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Surgeon preparation</a:t>
            </a:r>
          </a:p>
        </p:txBody>
      </p:sp>
      <p:sp>
        <p:nvSpPr>
          <p:cNvPr id="8" name="Rounded Rectangle 7"/>
          <p:cNvSpPr/>
          <p:nvPr/>
        </p:nvSpPr>
        <p:spPr>
          <a:xfrm>
            <a:off x="457200" y="109728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10789920" cy="868680"/>
          </a:xfrm>
          <a:prstGeom prst="rect">
            <a:avLst/>
          </a:prstGeom>
          <a:noFill/>
        </p:spPr>
        <p:txBody>
          <a:bodyPr wrap="square" anchor="t"/>
          <a:lstStyle/>
          <a:p>
            <a:pPr algn="l"/>
            <a:r>
              <a:rPr sz="1600" b="0">
                <a:solidFill>
                  <a:srgbClr val="1C1C1C"/>
                </a:solidFill>
                <a:latin typeface="Calibri"/>
              </a:rPr>
              <a:t>Clean scrubs, cap covering all hair, mask over nose and mouth, no jewelry, nails short, no polish/gels in most ORs. Shoes closed-toe. Eat/drink/bathroom before you scrub — leaving the field is a bigger sin than a slightly longer scrub.</a:t>
            </a:r>
          </a:p>
        </p:txBody>
      </p:sp>
      <p:sp>
        <p:nvSpPr>
          <p:cNvPr id="10" name="Rounded Rectangle 9"/>
          <p:cNvSpPr/>
          <p:nvPr/>
        </p:nvSpPr>
        <p:spPr>
          <a:xfrm>
            <a:off x="45720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78608"/>
            <a:ext cx="3291840" cy="347472"/>
          </a:xfrm>
          <a:prstGeom prst="rect">
            <a:avLst/>
          </a:prstGeom>
          <a:noFill/>
        </p:spPr>
        <p:txBody>
          <a:bodyPr wrap="square" anchor="t"/>
          <a:lstStyle/>
          <a:p>
            <a:pPr algn="l"/>
            <a:r>
              <a:rPr sz="1500" b="1">
                <a:solidFill>
                  <a:srgbClr val="0B2C4A"/>
                </a:solidFill>
                <a:latin typeface="Calibri"/>
              </a:rPr>
              <a:t>Surgical scrub</a:t>
            </a:r>
          </a:p>
        </p:txBody>
      </p:sp>
      <p:sp>
        <p:nvSpPr>
          <p:cNvPr id="13" name="TextBox 12"/>
          <p:cNvSpPr txBox="1"/>
          <p:nvPr/>
        </p:nvSpPr>
        <p:spPr>
          <a:xfrm>
            <a:off x="713232" y="2907792"/>
            <a:ext cx="3291840" cy="3127248"/>
          </a:xfrm>
          <a:prstGeom prst="rect">
            <a:avLst/>
          </a:prstGeom>
          <a:noFill/>
        </p:spPr>
        <p:txBody>
          <a:bodyPr wrap="square" anchor="t"/>
          <a:lstStyle/>
          <a:p>
            <a:pPr algn="l"/>
            <a:r>
              <a:rPr sz="1300" b="0">
                <a:solidFill>
                  <a:srgbClr val="3D4A57"/>
                </a:solidFill>
                <a:latin typeface="Calibri"/>
              </a:rPr>
              <a:t>Timed ~3–5 min or counted brushless CHG/alcohol per product. Fingers → hands → wrists → elbows. Rinse fingertips-up. Hands above elbows walking to the OR.</a:t>
            </a:r>
          </a:p>
        </p:txBody>
      </p:sp>
      <p:sp>
        <p:nvSpPr>
          <p:cNvPr id="14" name="Rounded Rectangle 13"/>
          <p:cNvSpPr/>
          <p:nvPr/>
        </p:nvSpPr>
        <p:spPr>
          <a:xfrm>
            <a:off x="429768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78608"/>
            <a:ext cx="3291840" cy="347472"/>
          </a:xfrm>
          <a:prstGeom prst="rect">
            <a:avLst/>
          </a:prstGeom>
          <a:noFill/>
        </p:spPr>
        <p:txBody>
          <a:bodyPr wrap="square" anchor="t"/>
          <a:lstStyle/>
          <a:p>
            <a:pPr algn="l"/>
            <a:r>
              <a:rPr sz="1500" b="1">
                <a:solidFill>
                  <a:srgbClr val="0B2C4A"/>
                </a:solidFill>
                <a:latin typeface="Calibri"/>
              </a:rPr>
              <a:t>Gowning</a:t>
            </a:r>
          </a:p>
        </p:txBody>
      </p:sp>
      <p:sp>
        <p:nvSpPr>
          <p:cNvPr id="17" name="TextBox 16"/>
          <p:cNvSpPr txBox="1"/>
          <p:nvPr/>
        </p:nvSpPr>
        <p:spPr>
          <a:xfrm>
            <a:off x="4553712" y="2907792"/>
            <a:ext cx="3291840" cy="3127248"/>
          </a:xfrm>
          <a:prstGeom prst="rect">
            <a:avLst/>
          </a:prstGeom>
          <a:noFill/>
        </p:spPr>
        <p:txBody>
          <a:bodyPr wrap="square" anchor="t"/>
          <a:lstStyle/>
          <a:p>
            <a:pPr algn="l"/>
            <a:r>
              <a:rPr sz="1300" b="0">
                <a:solidFill>
                  <a:srgbClr val="3D4A57"/>
                </a:solidFill>
                <a:latin typeface="Calibri"/>
              </a:rPr>
              <a:t>Dry with sterile towel without contaminating. Gown without touching the outer surface. Assistant ties. Keep hands in cuffs for closed gloving.</a:t>
            </a:r>
          </a:p>
        </p:txBody>
      </p:sp>
      <p:sp>
        <p:nvSpPr>
          <p:cNvPr id="18" name="Rounded Rectangle 17"/>
          <p:cNvSpPr/>
          <p:nvPr/>
        </p:nvSpPr>
        <p:spPr>
          <a:xfrm>
            <a:off x="813816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78608"/>
            <a:ext cx="3291840" cy="347472"/>
          </a:xfrm>
          <a:prstGeom prst="rect">
            <a:avLst/>
          </a:prstGeom>
          <a:noFill/>
        </p:spPr>
        <p:txBody>
          <a:bodyPr wrap="square" anchor="t"/>
          <a:lstStyle/>
          <a:p>
            <a:pPr algn="l"/>
            <a:r>
              <a:rPr sz="1500" b="1">
                <a:solidFill>
                  <a:srgbClr val="0B2C4A"/>
                </a:solidFill>
                <a:latin typeface="Calibri"/>
              </a:rPr>
              <a:t>Gloving</a:t>
            </a:r>
          </a:p>
        </p:txBody>
      </p:sp>
      <p:sp>
        <p:nvSpPr>
          <p:cNvPr id="21" name="TextBox 20"/>
          <p:cNvSpPr txBox="1"/>
          <p:nvPr/>
        </p:nvSpPr>
        <p:spPr>
          <a:xfrm>
            <a:off x="8394192" y="2907792"/>
            <a:ext cx="3291840" cy="3127248"/>
          </a:xfrm>
          <a:prstGeom prst="rect">
            <a:avLst/>
          </a:prstGeom>
          <a:noFill/>
        </p:spPr>
        <p:txBody>
          <a:bodyPr wrap="square" anchor="t"/>
          <a:lstStyle/>
          <a:p>
            <a:pPr algn="l"/>
            <a:r>
              <a:rPr sz="1300" b="0">
                <a:solidFill>
                  <a:srgbClr val="3D4A57"/>
                </a:solidFill>
                <a:latin typeface="Calibri"/>
              </a:rPr>
              <a:t>Closed gloving after gowning is preferred. Open gloving to replace a contaminated glove. If in doubt, both gloves come off and you start over.</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47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2026 MOA: ONE UNRECOGNIZED BREAK IN PREP = WARNING; A SECOND = DISMISSIBLE. AFTER INCISION: ZERO UNRECOGNIZED BREAKS.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If you do not notice and staff tell you once — warning, then correct.
A second unrecognized break → Dismissible Event (unable to maintain an aseptic field).
This is not ‘exam theater.’ It is how we protect a client-owned animal.</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No warning for an unrecognized break.
You must notice, announce, and completely correct.
If you do not, or if you correct incompletely — dismissible (animal’s life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47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2026 MOA SURGERY APPENDIX 1 — THEY ARE ALSO DVM 612 PROFESSIONAL STANDARDS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CPE Surgery dismissible events (know these as ‘never events’)</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CPE final surgery score is not determined until 24 hours after the procedure. Intra-abdominal hemorrhage from poor ligation, or herniation/dehiscence from a weak linea closure, can fail you after you have already left the OR. That is postoperative care as a scored competency.</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47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47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42–57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~15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33  /  47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ANESTHESIA: DISCUSS RECOVERY INCLUDING POSTOPERATIVE PAIN MANAGEMENT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the surgery is not over</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Airway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Extubate when swallow/gag returns (species-specific). Brachycephalics: later, oxygen-ready, watch stertor. Never leave a recovering patient.</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Breathing</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SpO2, mucus membranes, effort. Reverse residual drugs if appropriate. Aspiration risk if regurg occurred.</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Circulation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HR, pulse, mm, CRT, BP if indicated. Pale + tachycardia after celiotomy is hemorrhage until proven otherwise.</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Temperature</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Most surgical patients are hypothermic. Rewarm actively but do not burn. Hypothermia → delayed recovery, coagulopathy, SSI.</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Pain &amp; nausea</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Score pain. Give the analgesic you planned. Antiemetic if indicated. A ‘quiet’ animal may be cold, hypotensive, or painful — look.</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Incision &amp; pee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Spot-check for bleed-through. Know when they last urinated. E-collar before they are awake enough to lick.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47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(Week 15): output, site,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47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ECFVG: COMPLICATIONS IN THE INITIAL 24-HOUR POSTOPERATIVE PERIOD AFFECT THE SURGERY SCORE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47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LO 7  ·  WEEK 3 REPORTS, APPLIED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CPE/practice: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47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LO 7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47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47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47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SAME PRINCIPLES; DIFFERENT DIRT, RESTRAINT, AND RECOVERY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footnote (Week 13 will go deep)</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ANESTHESIA STUDENT HAS THE DOG READY FOR YOU.</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Integrated case — 8 minutes</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600" b="0">
                <a:solidFill>
                  <a:srgbClr val="0B2C4A"/>
                </a:solidFill>
                <a:latin typeface="Calibri"/>
              </a:rPr>
              <a:t>1-year-old female Labrador, 22 kg, BCS 5/9. Elective OHE. PE normal. PCV 45%, TS 6.8 g/dL. Last meal 5 hours ago. Client is in reception. CPE-style: client-owned, going home after recovery.</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300" b="0">
                <a:solidFill>
                  <a:srgbClr val="1C1C1C"/>
                </a:solidFill>
                <a:latin typeface="Calibri"/>
              </a:rPr>
              <a:t>ASA I. Consent + DNR. No routine Abx. Opioid + NSAID plan + line block. Checklist.</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300" b="0">
                <a:solidFill>
                  <a:srgbClr val="1C1C1C"/>
                </a:solidFill>
                <a:latin typeface="Calibri"/>
              </a:rPr>
              <a:t>Clip xiphoid–pubis after plane is surgical. Dirty prep → OR → dorsal → sterile prep → four-quadrant drape. Closed glove.</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300" b="0">
                <a:solidFill>
                  <a:srgbClr val="1C1C1C"/>
                </a:solidFill>
                <a:latin typeface="Calibri"/>
              </a:rPr>
              <a:t>Announce incision. Halsted. Show pedicles (CPE). Secure linea. Skin closure without staples (CPE: staples/glue not available).</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300" b="0">
                <a:solidFill>
                  <a:srgbClr val="1C1C1C"/>
                </a:solidFill>
                <a:latin typeface="Calibri"/>
              </a:rPr>
              <a:t>Rewarm, score pain, e-collar. Watch color/HR. Written discharge + ER list. Recheck 10–14 d. You are still responsible at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47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Exam 1 and ECFVG pearls</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 not copied from the appointment book.</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Clip after induction, #40, not razor, not the night before; spiral prep center → out.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CHG off the cornea and out of the middle ear.</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Four-quadrant drape + closed glove; announce contamination; after incision there is no free warning.</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fascia failure is an emergency;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47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refer.
Patient and surgeon preparation is scored, teachable, and unforgiving — the ECFVG MOA is describing good practice, not a stunt.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47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WHAT TO READ TONIGHT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 &amp; source map</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 preoperative evaluation, patient prep, postop care chapters (required).</a:t>
            </a:r>
          </a:p>
          <a:p>
            <a:pPr algn="l">
              <a:spcAft>
                <a:spcPts val="800"/>
              </a:spcAft>
            </a:pPr>
            <a:r>
              <a:rPr sz="1500" b="0">
                <a:solidFill>
                  <a:srgbClr val="1C1C1C"/>
                </a:solidFill>
                <a:latin typeface="Calibri"/>
              </a:rPr>
              <a:t>▸  Hendrickson D.A., Baird A.N. Turner and McIlwraith’s Techniques in Large Animal Surgery. 4th ed. Wiley-Blackwell; 2013. (required)</a:t>
            </a:r>
          </a:p>
          <a:p>
            <a:pPr algn="l">
              <a:spcAft>
                <a:spcPts val="800"/>
              </a:spcAft>
            </a:pPr>
            <a:r>
              <a:rPr sz="1500" b="0">
                <a:solidFill>
                  <a:srgbClr val="1C1C1C"/>
                </a:solidFill>
                <a:latin typeface="Calibri"/>
              </a:rPr>
              <a:t>▸  Johnston S.A., Tobias K.M. Veterinary Surgery: Small Animal. 2nd ed. Elsevier; 2017. — cited by ECFVG MOA as a CPE review text.</a:t>
            </a:r>
          </a:p>
          <a:p>
            <a:pPr algn="l">
              <a:spcAft>
                <a:spcPts val="800"/>
              </a:spcAft>
            </a:pPr>
            <a:r>
              <a:rPr sz="1500" b="0">
                <a:solidFill>
                  <a:srgbClr val="1C1C1C"/>
                </a:solidFill>
                <a:latin typeface="Calibri"/>
              </a:rPr>
              <a:t>▸  AVMA ECFVG. Clinical Proficiency Examination Manual of Administration, 2026 edition. Surgery section (SU01), Anesthesia Appendix 2 (ASA), dismissible events, 24-hour scoring rule.</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a:p>
            <a:pPr algn="l">
              <a:spcAft>
                <a:spcPts val="800"/>
              </a:spcAft>
            </a:pPr>
            <a:r>
              <a:rPr sz="1500" b="0">
                <a:solidFill>
                  <a:srgbClr val="1C1C1C"/>
                </a:solidFill>
                <a:latin typeface="Calibri"/>
              </a:rPr>
              <a:t>▸  LIU Lewyt CVM. DVM 612 Principles of Surgery course outline (Week 4 topic; LOs 4, 7, 8).</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WEEK 4</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914400"/>
          </a:xfrm>
          <a:prstGeom prst="rect">
            <a:avLst/>
          </a:prstGeom>
          <a:noFill/>
        </p:spPr>
        <p:txBody>
          <a:bodyPr wrap="square" anchor="t"/>
          <a:lstStyle/>
          <a:p>
            <a:pPr algn="l"/>
            <a:r>
              <a:rPr sz="1800" b="0">
                <a:solidFill>
                  <a:srgbClr val="F4EBD3"/>
                </a:solidFill>
                <a:latin typeface="Calibri"/>
              </a:rPr>
              <a:t>Next lab: practice the clip–prep–drape sequence on models until it is boring.
Boring is the goal. Excitement belongs to the pathology, not the asepsis.</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47  /  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