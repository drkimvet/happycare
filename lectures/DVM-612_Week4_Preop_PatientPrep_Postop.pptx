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We sedated him. MoMo, a 6-year SF DSH, 4.25 kg, vomiting that looked like a foreign-body surgery. Imaging cancelled the exploratory. Assign both ASA statuses. Owner identifiers stay off these slides. We use the 2026 CPE Manual of Administration anesthesia and surgery chapters as the competency list for this hour, not as an exam-prep course. Thirty-eight slides. If discussion runs, protect antiseptics, both cases,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Part II (prep pictures) and both cases.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own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number 3 and 4. Do your own PE, then use technician vitals as a second set of numbers. CPE MOA 2026 Anesthesia: premedicating before the examination is a dismissible event. Premed is IM or SQ. If today’s ASA is not Status 1, change the drug plan before you inject.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Status 1 healthy neuter, Status 2 compensated mild mitral, Status 3 moderate disease such as IRIS 3 CKD, Status 4 threat to life such as bleeding splenic mass, Status 5 moribund septic cat. CPE MOA 2026 Appendix 2 uses the same five statuses. Then map Willie to 3-E and MoMo to 4-E. E means emergency.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(sedation). D is MoMo (exploratory cancelled).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the murmur. Right-sided knuckling with left circling: treat as central vestibular plus otitis, then sedate. Aminoglycosides are a risk if the middle ear is involved even when the drum looks present.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on the photograph. This is MoMo. Be respectful; this cat died. Cold-call: who would have clipped her on history alone? The photograph is a quiet, recumbent cat. It does not prove a foreign body. Then labs and imaging cancelled the cut.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 labs that change the plan. They inform the ASA number. Today’s PE writes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AAHA 2020 lists K greater than 6.0 as a condition to correct before anesthesia. PCV and platelet numbers are teaching flags. Pardo 2024: albumin less than 2.0 grams per deciliter is a negative prognostic indicator, edema and poor wound healing. Willie: CBC is unremarkable; Status 3-E is the exam. MoMo: WBC about 26 and creatinine 3.0 then 4.71.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anesthesia vocabulary for this hour. ASA, then premed IM or SQ, then induction IV to effect, then inhalant to MAC. DKT and BAA are healthy-patient combinations. Willie got alfaxalone because of the murmur. MAC is how we talk about the vaporizer. Premed lowers it. Grubb 2020: mask induction is not recommended. Surgical plane: no palpebral, mild jaw tone.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MoMo was not an albumin case; her deficit was the kidney, and cancelling was the correct preoperative move.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A 2-minute risk talk prevents a 2-hour complaint.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both formulas. Dog tube: kilograms divided by 4, plus 3.5. Willie 13.7: start 7.0 millimeter, with 6.5 and 7.5 in the hand. Bag: kilograms times 60 milliliters, round up. Willie 822 milliliters is a 1 liter bag, circle. After the tube is in: inhalant to effect. Premed already lowered MAC. Then clip,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Skip NSAID after DexSP. Recovery is on the same page. This hour is preop, patient prep, and recovery, not the intra-op grid.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22 milligrams per kilogram IV out loud. Do not attribute that dose to AAHA 2022. Frey 2022 says when: 30 to 60 minutes before incision, skip clean OHE, stop postop. Whittem 1999 timed a second dose if surgery lasted more than 90 minutes. Gonzalez 2017 used 22 mg/kg IV. Elective canine OHE: skip the 14-day cephalexin prescription.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Willie: TECA field is pinna and skull. MoMo: skip the clippers.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One case of corneal edema at 1 to 2. Nolvasan: 2 percent CHG acetate, wash 2 to 4 minutes, keep out of eyes. Willie: swollen tympanum.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fluids off the workstation photo.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Before incision, one unrecognized break is a warning. After incision, there is no warning. Ureter injury is a calm, well-exposed patient problem. The 24-hour window is why recovery is in this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Willie: 7.0 millimeter, 1 liter, alfaxalone because of the murmur. B is Roberts 1986. A is airway before clippers, then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should be able to fill this after a spay. Photograph it. Pale plus tachycardic after celiotomy: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carprofen for dogs and Onsior 2 mg/kg SQ for cats or dogs per label.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cancelled her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versus MoMo ASA, then albumin 1.6 elective mass: delay, treat the cause, do not crystalloid-flood.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Willie (Cavalier, ASA Status 3-E): sedate.
MoMo (cat, ASA Status 4-E): cancel the exploratory.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Then write premed, induction, and MAC.</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labeled antiseptics, minimum contact time, four-quadrant drape, closed glove.</a:t>
            </a:r>
          </a:p>
          <a:p>
            <a:pPr algn="l">
              <a:spcAft>
                <a:spcPts val="1200"/>
              </a:spcAft>
            </a:pPr>
            <a:r>
              <a:rPr sz="2000" b="0">
                <a:solidFill>
                  <a:srgbClr val="1C1C1C"/>
                </a:solidFill>
                <a:latin typeface="Calibri"/>
              </a:rPr>
              <a:t>▸  Name a break in asepsis and correct it, before or after the incision.</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800" b="0">
                <a:solidFill>
                  <a:srgbClr val="0B2C4A"/>
                </a:solidFill>
                <a:latin typeface="Calibri"/>
              </a:rPr>
              <a:t>Willie: examine, ASA 3-E, then sedate.   MoMo: examine, image, labs, then cancel.</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WHY THIS HOUR EXISTS. CPE MOA 2026 SURGERY: PREPARE THE PATIENT, PREPARE YOURSELF, PERFORM THE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site infection</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Decisions made before incision</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own the first 24 hours: hemorrhage from a weak ligature, or herniation from a weak linea, is still the operation (CPE MOA 2026 Surgery).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TWO TEAM CLOCKS. CPE MOA 2026 ANESTHESIA AND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leak-test</a:t>
            </a:r>
          </a:p>
        </p:txBody>
      </p:sp>
      <p:sp>
        <p:nvSpPr>
          <p:cNvPr id="12" name="TextBox 11"/>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7" name="TextBox 16"/>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2" name="TextBox 21"/>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ounded Rectangle 26"/>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9" name="TextBox 28"/>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30" name="Rounded Rectangle 29"/>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2" name="TextBox 31"/>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own the first 24 hours (CPE MOA 2026 Surgery).</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ANESTHESIA: EXAMINE, REQUEST LABS, ASSIGN ASA, THEN PREMEDICATE.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evaluation</a:t>
            </a:r>
          </a:p>
        </p:txBody>
      </p:sp>
      <p:sp>
        <p:nvSpPr>
          <p:cNvPr id="8" name="Rounded Rectangle 7"/>
          <p:cNvSpPr/>
          <p:nvPr/>
        </p:nvSpPr>
        <p:spPr>
          <a:xfrm>
            <a:off x="41148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640080" cy="1298448"/>
          </a:xfrm>
          <a:prstGeom prst="rect">
            <a:avLst/>
          </a:prstGeom>
          <a:noFill/>
        </p:spPr>
        <p:txBody>
          <a:bodyPr wrap="square" anchor="ctr"/>
          <a:lstStyle/>
          <a:p>
            <a:pPr algn="ctr"/>
            <a:r>
              <a:rPr sz="1800" b="1">
                <a:solidFill>
                  <a:srgbClr val="C5A35A"/>
                </a:solidFill>
                <a:latin typeface="Calibri"/>
              </a:rPr>
              <a:t>01</a:t>
            </a:r>
          </a:p>
        </p:txBody>
      </p:sp>
      <p:sp>
        <p:nvSpPr>
          <p:cNvPr id="11" name="TextBox 10"/>
          <p:cNvSpPr txBox="1"/>
          <p:nvPr/>
        </p:nvSpPr>
        <p:spPr>
          <a:xfrm>
            <a:off x="1234440" y="1133856"/>
            <a:ext cx="470916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234440" y="1527048"/>
            <a:ext cx="4709160" cy="685800"/>
          </a:xfrm>
          <a:prstGeom prst="rect">
            <a:avLst/>
          </a:prstGeom>
          <a:noFill/>
        </p:spPr>
        <p:txBody>
          <a:bodyPr wrap="square" anchor="t"/>
          <a:lstStyle/>
          <a:p>
            <a:pPr algn="l"/>
            <a:r>
              <a:rPr sz="1600" b="0">
                <a:solidFill>
                  <a:srgbClr val="3D4A57"/>
                </a:solidFill>
                <a:latin typeface="Calibri"/>
              </a:rPr>
              <a:t>Confirm the lesion, laterality, and that surgery is indicated.</a:t>
            </a:r>
          </a:p>
        </p:txBody>
      </p:sp>
      <p:sp>
        <p:nvSpPr>
          <p:cNvPr id="13" name="Rounded Rectangle 12"/>
          <p:cNvSpPr/>
          <p:nvPr/>
        </p:nvSpPr>
        <p:spPr>
          <a:xfrm>
            <a:off x="630936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024128"/>
            <a:ext cx="640080" cy="1298448"/>
          </a:xfrm>
          <a:prstGeom prst="rect">
            <a:avLst/>
          </a:prstGeom>
          <a:noFill/>
        </p:spPr>
        <p:txBody>
          <a:bodyPr wrap="square" anchor="ctr"/>
          <a:lstStyle/>
          <a:p>
            <a:pPr algn="ctr"/>
            <a:r>
              <a:rPr sz="1800" b="1">
                <a:solidFill>
                  <a:srgbClr val="C5A35A"/>
                </a:solidFill>
                <a:latin typeface="Calibri"/>
              </a:rPr>
              <a:t>02</a:t>
            </a:r>
          </a:p>
        </p:txBody>
      </p:sp>
      <p:sp>
        <p:nvSpPr>
          <p:cNvPr id="16" name="TextBox 15"/>
          <p:cNvSpPr txBox="1"/>
          <p:nvPr/>
        </p:nvSpPr>
        <p:spPr>
          <a:xfrm>
            <a:off x="7132320" y="1133856"/>
            <a:ext cx="470916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7132320" y="1527048"/>
            <a:ext cx="4709160" cy="685800"/>
          </a:xfrm>
          <a:prstGeom prst="rect">
            <a:avLst/>
          </a:prstGeom>
          <a:noFill/>
        </p:spPr>
        <p:txBody>
          <a:bodyPr wrap="square" anchor="t"/>
          <a:lstStyle/>
          <a:p>
            <a:pPr algn="l"/>
            <a:r>
              <a:rPr sz="1600" b="0">
                <a:solidFill>
                  <a:srgbClr val="3D4A57"/>
                </a:solidFill>
                <a:latin typeface="Calibri"/>
              </a:rPr>
              <a:t>Assign ASA after today’s examination and labs. Write that number on the record.</a:t>
            </a:r>
          </a:p>
        </p:txBody>
      </p:sp>
      <p:sp>
        <p:nvSpPr>
          <p:cNvPr id="18" name="Rounded Rectangle 17"/>
          <p:cNvSpPr/>
          <p:nvPr/>
        </p:nvSpPr>
        <p:spPr>
          <a:xfrm>
            <a:off x="41148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441448"/>
            <a:ext cx="640080" cy="1298448"/>
          </a:xfrm>
          <a:prstGeom prst="rect">
            <a:avLst/>
          </a:prstGeom>
          <a:noFill/>
        </p:spPr>
        <p:txBody>
          <a:bodyPr wrap="square" anchor="ctr"/>
          <a:lstStyle/>
          <a:p>
            <a:pPr algn="ctr"/>
            <a:r>
              <a:rPr sz="1800" b="1">
                <a:solidFill>
                  <a:srgbClr val="C5A35A"/>
                </a:solidFill>
                <a:latin typeface="Calibri"/>
              </a:rPr>
              <a:t>03</a:t>
            </a:r>
          </a:p>
        </p:txBody>
      </p:sp>
      <p:sp>
        <p:nvSpPr>
          <p:cNvPr id="21" name="TextBox 20"/>
          <p:cNvSpPr txBox="1"/>
          <p:nvPr/>
        </p:nvSpPr>
        <p:spPr>
          <a:xfrm>
            <a:off x="1234440" y="2551176"/>
            <a:ext cx="4709160" cy="365760"/>
          </a:xfrm>
          <a:prstGeom prst="rect">
            <a:avLst/>
          </a:prstGeom>
          <a:noFill/>
        </p:spPr>
        <p:txBody>
          <a:bodyPr wrap="square" anchor="t"/>
          <a:lstStyle/>
          <a:p>
            <a:pPr algn="l"/>
            <a:r>
              <a:rPr sz="1800" b="1">
                <a:solidFill>
                  <a:srgbClr val="0B2C4A"/>
                </a:solidFill>
                <a:latin typeface="Calibri"/>
              </a:rPr>
              <a:t>Fix what you can first</a:t>
            </a:r>
          </a:p>
        </p:txBody>
      </p:sp>
      <p:sp>
        <p:nvSpPr>
          <p:cNvPr id="22" name="TextBox 21"/>
          <p:cNvSpPr txBox="1"/>
          <p:nvPr/>
        </p:nvSpPr>
        <p:spPr>
          <a:xfrm>
            <a:off x="1234440" y="2944368"/>
            <a:ext cx="4709160" cy="685800"/>
          </a:xfrm>
          <a:prstGeom prst="rect">
            <a:avLst/>
          </a:prstGeom>
          <a:noFill/>
        </p:spPr>
        <p:txBody>
          <a:bodyPr wrap="square" anchor="t"/>
          <a:lstStyle/>
          <a:p>
            <a:pPr algn="l"/>
            <a:r>
              <a:rPr sz="1600" b="0">
                <a:solidFill>
                  <a:srgbClr val="3D4A57"/>
                </a:solidFill>
                <a:latin typeface="Calibri"/>
              </a:rPr>
              <a:t>Dehydration, K+, anemia, hypothermia, hypoglycemia, hypoalbuminemia, pyoderma over the site.</a:t>
            </a:r>
          </a:p>
        </p:txBody>
      </p:sp>
      <p:sp>
        <p:nvSpPr>
          <p:cNvPr id="23" name="Rounded Rectangle 22"/>
          <p:cNvSpPr/>
          <p:nvPr/>
        </p:nvSpPr>
        <p:spPr>
          <a:xfrm>
            <a:off x="630936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2441448"/>
            <a:ext cx="640080" cy="1298448"/>
          </a:xfrm>
          <a:prstGeom prst="rect">
            <a:avLst/>
          </a:prstGeom>
          <a:noFill/>
        </p:spPr>
        <p:txBody>
          <a:bodyPr wrap="square" anchor="ctr"/>
          <a:lstStyle/>
          <a:p>
            <a:pPr algn="ctr"/>
            <a:r>
              <a:rPr sz="1800" b="1">
                <a:solidFill>
                  <a:srgbClr val="C5A35A"/>
                </a:solidFill>
                <a:latin typeface="Calibri"/>
              </a:rPr>
              <a:t>04</a:t>
            </a:r>
          </a:p>
        </p:txBody>
      </p:sp>
      <p:sp>
        <p:nvSpPr>
          <p:cNvPr id="26" name="TextBox 25"/>
          <p:cNvSpPr txBox="1"/>
          <p:nvPr/>
        </p:nvSpPr>
        <p:spPr>
          <a:xfrm>
            <a:off x="7132320" y="2551176"/>
            <a:ext cx="470916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7132320" y="2944368"/>
            <a:ext cx="4709160" cy="685800"/>
          </a:xfrm>
          <a:prstGeom prst="rect">
            <a:avLst/>
          </a:prstGeom>
          <a:noFill/>
        </p:spPr>
        <p:txBody>
          <a:bodyPr wrap="square" anchor="t"/>
          <a:lstStyle/>
          <a:p>
            <a:pPr algn="l"/>
            <a:r>
              <a:rPr sz="1600" b="0">
                <a:solidFill>
                  <a:srgbClr val="3D4A57"/>
                </a:solidFill>
                <a:latin typeface="Calibri"/>
              </a:rPr>
              <a:t>Approach, positioning, implants, blood products, ICU bed, who calls the client.</a:t>
            </a:r>
          </a:p>
        </p:txBody>
      </p:sp>
      <p:sp>
        <p:nvSpPr>
          <p:cNvPr id="28" name="Rounded Rectangle 27"/>
          <p:cNvSpPr/>
          <p:nvPr/>
        </p:nvSpPr>
        <p:spPr>
          <a:xfrm>
            <a:off x="411480" y="3950208"/>
            <a:ext cx="7452360" cy="24231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041648"/>
            <a:ext cx="7040880" cy="292608"/>
          </a:xfrm>
          <a:prstGeom prst="rect">
            <a:avLst/>
          </a:prstGeom>
          <a:noFill/>
        </p:spPr>
        <p:txBody>
          <a:bodyPr wrap="square" anchor="t"/>
          <a:lstStyle/>
          <a:p>
            <a:pPr algn="l"/>
            <a:r>
              <a:rPr sz="1600" b="1">
                <a:solidFill>
                  <a:srgbClr val="1B6B7A"/>
                </a:solidFill>
                <a:latin typeface="Calibri"/>
              </a:rPr>
              <a:t>History and PE, then any drug</a:t>
            </a:r>
          </a:p>
        </p:txBody>
      </p:sp>
      <p:sp>
        <p:nvSpPr>
          <p:cNvPr id="30" name="TextBox 29"/>
          <p:cNvSpPr txBox="1"/>
          <p:nvPr/>
        </p:nvSpPr>
        <p:spPr>
          <a:xfrm>
            <a:off x="594360" y="4370832"/>
            <a:ext cx="7086600" cy="1874519"/>
          </a:xfrm>
          <a:prstGeom prst="rect">
            <a:avLst/>
          </a:prstGeom>
          <a:noFill/>
        </p:spPr>
        <p:txBody>
          <a:bodyPr wrap="square">
            <a:spAutoFit/>
          </a:bodyPr>
          <a:lstStyle/>
          <a:p>
            <a:pPr algn="l">
              <a:spcAft>
                <a:spcPts val="500"/>
              </a:spcAft>
            </a:pPr>
            <a:r>
              <a:rPr sz="1600" b="0">
                <a:solidFill>
                  <a:srgbClr val="1C1C1C"/>
                </a:solidFill>
                <a:latin typeface="Calibri"/>
              </a:rPr>
              <a:t>▸  Signalment, last meal, medications, prior anesthesia, bleeding tendency.</a:t>
            </a:r>
          </a:p>
          <a:p>
            <a:pPr algn="l">
              <a:spcAft>
                <a:spcPts val="500"/>
              </a:spcAft>
            </a:pPr>
            <a:r>
              <a:rPr sz="1600" b="0">
                <a:solidFill>
                  <a:srgbClr val="1C1C1C"/>
                </a:solidFill>
                <a:latin typeface="Calibri"/>
              </a:rPr>
              <a:t>▸  TPR, mm, CRT, hydration, murmur, lungs, surgical site, abdomen, neuro if indicated.</a:t>
            </a:r>
          </a:p>
          <a:p>
            <a:pPr algn="l">
              <a:spcAft>
                <a:spcPts val="500"/>
              </a:spcAft>
            </a:pPr>
            <a:r>
              <a:rPr sz="1600" b="0">
                <a:solidFill>
                  <a:srgbClr val="1C1C1C"/>
                </a:solidFill>
                <a:latin typeface="Calibri"/>
              </a:rPr>
              <a:t>▸  Record the examination. The next clinician reads what you wrote.</a:t>
            </a:r>
          </a:p>
        </p:txBody>
      </p:sp>
      <p:sp>
        <p:nvSpPr>
          <p:cNvPr id="31" name="Rounded Rectangle 30"/>
          <p:cNvSpPr/>
          <p:nvPr/>
        </p:nvSpPr>
        <p:spPr>
          <a:xfrm>
            <a:off x="8046720" y="3950208"/>
            <a:ext cx="3611880" cy="242316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0" y="4069080"/>
            <a:ext cx="3291840" cy="365760"/>
          </a:xfrm>
          <a:prstGeom prst="rect">
            <a:avLst/>
          </a:prstGeom>
          <a:noFill/>
        </p:spPr>
        <p:txBody>
          <a:bodyPr wrap="square" anchor="t"/>
          <a:lstStyle/>
          <a:p>
            <a:pPr algn="l"/>
            <a:r>
              <a:rPr sz="1600" b="1">
                <a:solidFill>
                  <a:srgbClr val="C5A35A"/>
                </a:solidFill>
                <a:latin typeface="Calibri"/>
              </a:rPr>
              <a:t>Order of operations</a:t>
            </a:r>
          </a:p>
        </p:txBody>
      </p:sp>
      <p:sp>
        <p:nvSpPr>
          <p:cNvPr id="33" name="TextBox 32"/>
          <p:cNvSpPr txBox="1"/>
          <p:nvPr/>
        </p:nvSpPr>
        <p:spPr>
          <a:xfrm>
            <a:off x="8229600" y="4526280"/>
            <a:ext cx="3291840" cy="1691640"/>
          </a:xfrm>
          <a:prstGeom prst="rect">
            <a:avLst/>
          </a:prstGeom>
          <a:noFill/>
        </p:spPr>
        <p:txBody>
          <a:bodyPr wrap="square" anchor="t"/>
          <a:lstStyle/>
          <a:p>
            <a:pPr algn="l"/>
            <a:r>
              <a:rPr sz="1600" b="0">
                <a:solidFill>
                  <a:srgbClr val="FFFFFF"/>
                </a:solidFill>
                <a:latin typeface="Calibri"/>
              </a:rPr>
              <a:t>1. Examine the patient
2. Request indicated labs
3. Interpret the results
4. Assign ASA status
5. Adjust the drug plan
6. Premedicate IM or SQ</a:t>
            </a:r>
          </a:p>
        </p:txBody>
      </p:sp>
      <p:sp>
        <p:nvSpPr>
          <p:cNvPr id="34" name="Rectangle 3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6" name="TextBox 3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TABLE. CPE MOA 2026 ANESTHESIA APPENDIX 2 USES THE SAME 1–5 SCALE.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Willie = Status 3-E. MoMo = Status 4-E.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Willie: 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MoMo: vomiting cat. Looks like FB. T 98.0 °F, HR 200, tacky.</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Image and labs first. Became ASA Status 4-E.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 11 MO MN CAVALIER KING CHARLES SPANIEL, 13.7 KG, BCS 6/9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(acute vestibular plus severe AS otitis). Still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Heavy tartar. Soft non-painful abdomen. Compensated tonight.</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Plan: CBC WNL. Skip NSAID after DexSP 0.68 mL SQ. Alfaxalone sedation, deep left-ear clean, cytology/culture, 3-view films. Home: meclizine 25 mg PO BID × 5 d, Cerenia 60 mg PO SID × 4 d, confine. MRI recommended. TECA-LBO if culture-guided medical therapy fails.</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 THIS IS HER, BEFORE THE EXPLORATORY WAS CANCELLED.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8" name="Picture 7" descr="momo.jpg"/>
          <p:cNvPicPr>
            <a:picLocks noChangeAspect="1"/>
          </p:cNvPicPr>
          <p:nvPr/>
        </p:nvPicPr>
        <p:blipFill>
          <a:blip r:embed="rId2"/>
          <a:stretch>
            <a:fillRect/>
          </a:stretch>
        </p:blipFill>
        <p:spPr>
          <a:xfrm>
            <a:off x="365760" y="1024128"/>
            <a:ext cx="4041648" cy="5394960"/>
          </a:xfrm>
          <a:prstGeom prst="rect">
            <a:avLst/>
          </a:prstGeom>
        </p:spPr>
      </p:pic>
      <p:sp>
        <p:nvSpPr>
          <p:cNvPr id="9" name="Rounded Rectangle 8"/>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severe systemic disease that is a constant threat to life.</a:t>
            </a:r>
          </a:p>
        </p:txBody>
      </p:sp>
      <p:sp>
        <p:nvSpPr>
          <p:cNvPr id="11" name="Rounded Rectangle 10"/>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4" name="TextBox 13"/>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5" name="Rounded Rectangle 14"/>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8" name="TextBox 17"/>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9" name="Rounded Rectangle 18"/>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cancel</a:t>
            </a:r>
          </a:p>
        </p:txBody>
      </p:sp>
      <p:sp>
        <p:nvSpPr>
          <p:cNvPr id="22" name="TextBox 21"/>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POCUS: abnormal kidneys. Creatinine 3.0 → 4.71 on fluids. AUS: right kidney fluid-filled and non-functional. Skip NSAIDs. Cancel the exploratory. Owner elected humane euthanasia. Record the decision.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TESTS INDICATED FOR THIS PATIENT AND THIS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diagnostics</a:t>
            </a:r>
          </a:p>
        </p:txBody>
      </p:sp>
      <p:sp>
        <p:nvSpPr>
          <p:cNvPr id="8" name="Rounded Rectangle 7"/>
          <p:cNvSpPr/>
          <p:nvPr/>
        </p:nvSpPr>
        <p:spPr>
          <a:xfrm>
            <a:off x="457200" y="1097280"/>
            <a:ext cx="557784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29184"/>
          </a:xfrm>
          <a:prstGeom prst="rect">
            <a:avLst/>
          </a:prstGeom>
          <a:noFill/>
        </p:spPr>
        <p:txBody>
          <a:bodyPr wrap="square" anchor="t"/>
          <a:lstStyle/>
          <a:p>
            <a:pPr algn="l"/>
            <a:r>
              <a:rPr sz="1800" b="1">
                <a:solidFill>
                  <a:srgbClr val="0B2C4A"/>
                </a:solidFill>
                <a:latin typeface="Calibri"/>
              </a:rPr>
              <a:t>Young, healthy, elective (ASA I)</a:t>
            </a:r>
          </a:p>
        </p:txBody>
      </p:sp>
      <p:sp>
        <p:nvSpPr>
          <p:cNvPr id="11" name="TextBox 10"/>
          <p:cNvSpPr txBox="1"/>
          <p:nvPr/>
        </p:nvSpPr>
        <p:spPr>
          <a:xfrm>
            <a:off x="713232" y="1554480"/>
            <a:ext cx="5212080" cy="1764792"/>
          </a:xfrm>
          <a:prstGeom prst="rect">
            <a:avLst/>
          </a:prstGeom>
          <a:noFill/>
        </p:spPr>
        <p:txBody>
          <a:bodyPr wrap="square" anchor="t"/>
          <a:lstStyle/>
          <a:p>
            <a:pPr algn="l"/>
            <a:r>
              <a:rPr sz="1600" b="0">
                <a:solidFill>
                  <a:srgbClr val="3D4A57"/>
                </a:solidFill>
                <a:latin typeface="Calibri"/>
              </a:rPr>
              <a:t>PCV/TS ± blood glucose and Azo stick is a defensible minimum. Many hospitals still run a preanesthetic chemistry/CBC. Know your hospital policy and be able to defend either choice.</a:t>
            </a:r>
          </a:p>
        </p:txBody>
      </p:sp>
      <p:sp>
        <p:nvSpPr>
          <p:cNvPr id="12" name="Rounded Rectangle 11"/>
          <p:cNvSpPr/>
          <p:nvPr/>
        </p:nvSpPr>
        <p:spPr>
          <a:xfrm>
            <a:off x="6217920" y="1097280"/>
            <a:ext cx="54864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29184"/>
          </a:xfrm>
          <a:prstGeom prst="rect">
            <a:avLst/>
          </a:prstGeom>
          <a:noFill/>
        </p:spPr>
        <p:txBody>
          <a:bodyPr wrap="square" anchor="t"/>
          <a:lstStyle/>
          <a:p>
            <a:pPr algn="l"/>
            <a:r>
              <a:rPr sz="1800" b="1">
                <a:solidFill>
                  <a:srgbClr val="0B2C4A"/>
                </a:solidFill>
                <a:latin typeface="Calibri"/>
              </a:rPr>
              <a:t>Age, disease, or invasive procedure</a:t>
            </a:r>
          </a:p>
        </p:txBody>
      </p:sp>
      <p:sp>
        <p:nvSpPr>
          <p:cNvPr id="15" name="TextBox 14"/>
          <p:cNvSpPr txBox="1"/>
          <p:nvPr/>
        </p:nvSpPr>
        <p:spPr>
          <a:xfrm>
            <a:off x="6473952" y="1554480"/>
            <a:ext cx="5120640" cy="1764792"/>
          </a:xfrm>
          <a:prstGeom prst="rect">
            <a:avLst/>
          </a:prstGeom>
          <a:noFill/>
        </p:spPr>
        <p:txBody>
          <a:bodyPr wrap="square" anchor="t"/>
          <a:lstStyle/>
          <a:p>
            <a:pPr algn="l"/>
            <a:r>
              <a:rPr sz="16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611880"/>
            <a:ext cx="11247120" cy="2743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749039"/>
            <a:ext cx="10789920" cy="320040"/>
          </a:xfrm>
          <a:prstGeom prst="rect">
            <a:avLst/>
          </a:prstGeom>
          <a:noFill/>
        </p:spPr>
        <p:txBody>
          <a:bodyPr wrap="square" anchor="t"/>
          <a:lstStyle/>
          <a:p>
            <a:pPr algn="l"/>
            <a:r>
              <a:rPr sz="1800" b="1">
                <a:solidFill>
                  <a:srgbClr val="0B2C4A"/>
                </a:solidFill>
                <a:latin typeface="Calibri"/>
              </a:rPr>
              <a:t>How to use the tests you order</a:t>
            </a:r>
          </a:p>
        </p:txBody>
      </p:sp>
      <p:sp>
        <p:nvSpPr>
          <p:cNvPr id="18" name="TextBox 17"/>
          <p:cNvSpPr txBox="1"/>
          <p:nvPr/>
        </p:nvSpPr>
        <p:spPr>
          <a:xfrm>
            <a:off x="685800" y="4160520"/>
            <a:ext cx="10789920" cy="2011680"/>
          </a:xfrm>
          <a:prstGeom prst="rect">
            <a:avLst/>
          </a:prstGeom>
          <a:noFill/>
        </p:spPr>
        <p:txBody>
          <a:bodyPr wrap="square">
            <a:spAutoFit/>
          </a:bodyPr>
          <a:lstStyle/>
          <a:p>
            <a:pPr algn="l">
              <a:spcAft>
                <a:spcPts val="700"/>
              </a:spcAft>
            </a:pPr>
            <a:r>
              <a:rPr sz="1800" b="0">
                <a:solidFill>
                  <a:srgbClr val="1C1C1C"/>
                </a:solidFill>
                <a:latin typeface="Calibri"/>
              </a:rPr>
              <a:t>▸  Anemia, hypoalbuminemia, azotemia, electrolyte storms, and thrombocytopenia change drugs, fluids, and whether you cut today.</a:t>
            </a:r>
          </a:p>
          <a:p>
            <a:pPr algn="l">
              <a:spcAft>
                <a:spcPts val="700"/>
              </a:spcAft>
            </a:pPr>
            <a:r>
              <a:rPr sz="1800" b="0">
                <a:solidFill>
                  <a:srgbClr val="1C1C1C"/>
                </a:solidFill>
                <a:latin typeface="Calibri"/>
              </a:rPr>
              <a:t>▸  Abdominal surgery: image first so you know whether you are cutting a pyometra, a mass that needs a different approach, or a medical abdomen. MoMo: POCUS/AUS cancelled the cut.</a:t>
            </a:r>
          </a:p>
          <a:p>
            <a:pPr algn="l">
              <a:spcAft>
                <a:spcPts val="700"/>
              </a:spcAft>
            </a:pPr>
            <a:r>
              <a:rPr sz="1800" b="0">
                <a:solidFill>
                  <a:srgbClr val="1C1C1C"/>
                </a:solidFill>
                <a:latin typeface="Calibri"/>
              </a:rPr>
              <a:t>▸  Repeat a value that changes the plan. MoMo: creatinine 3.0 then 4.71. Act on the rising creatinine.</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Teaching: &lt;20% dog / &lt;15% cat</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Platelets</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Teaching: &lt;50 K</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Creatinine</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Rising or severe + uremia (MoMo)</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Willie: CBC does not assign Status 1. His 3-E is the exam. MoMo: rising creatinine = 4-E. Low albumin is a deficit, not an ASA number.</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FIRST. THEN THE DRUG PLAN. GRUBB ET AL. 2020; CPE MOA 2026 ANESTHESIA.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Premedication, induction, and MAC</a:t>
            </a:r>
          </a:p>
        </p:txBody>
      </p:sp>
      <p:sp>
        <p:nvSpPr>
          <p:cNvPr id="8" name="Rounded Rectangle 7"/>
          <p:cNvSpPr/>
          <p:nvPr/>
        </p:nvSpPr>
        <p:spPr>
          <a:xfrm>
            <a:off x="365760"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051560"/>
            <a:ext cx="3767328" cy="5029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767328" cy="502920"/>
          </a:xfrm>
          <a:prstGeom prst="rect">
            <a:avLst/>
          </a:prstGeom>
          <a:noFill/>
        </p:spPr>
        <p:txBody>
          <a:bodyPr wrap="square" anchor="ctr"/>
          <a:lstStyle/>
          <a:p>
            <a:pPr algn="ctr"/>
            <a:r>
              <a:rPr sz="1600" b="1">
                <a:solidFill>
                  <a:srgbClr val="FFFFFF"/>
                </a:solidFill>
                <a:latin typeface="Calibri"/>
              </a:rPr>
              <a:t>1. Premedication</a:t>
            </a:r>
          </a:p>
        </p:txBody>
      </p:sp>
      <p:sp>
        <p:nvSpPr>
          <p:cNvPr id="11" name="TextBox 10"/>
          <p:cNvSpPr txBox="1"/>
          <p:nvPr/>
        </p:nvSpPr>
        <p:spPr>
          <a:xfrm>
            <a:off x="512064" y="1645920"/>
            <a:ext cx="3474720" cy="4315968"/>
          </a:xfrm>
          <a:prstGeom prst="rect">
            <a:avLst/>
          </a:prstGeom>
          <a:noFill/>
        </p:spPr>
        <p:txBody>
          <a:bodyPr wrap="square" anchor="t"/>
          <a:lstStyle/>
          <a:p>
            <a:pPr algn="l"/>
            <a:r>
              <a:rPr sz="1500" b="0">
                <a:solidFill>
                  <a:srgbClr val="1C1C1C"/>
                </a:solidFill>
                <a:latin typeface="Calibri"/>
              </a:rPr>
              <a:t>After the PE, labs, and ASA. IM or SQ (CPE MOA). Not before the exam.
Calm the patient. Give analgesia. Lower the induction dose. Lower MAC. Safer clip (Grubb 2020).
DKT: dexmedetomidine + ketamine + butorphanol. One IM syringe. Healthy ASA 1–2.
BAA: butorphanol + acepromazine + atropine. Healthy patients.
Heart / murmur: skip ace and dexmed as the default. Opioid + alfaxalone. That is Willie.</a:t>
            </a:r>
          </a:p>
        </p:txBody>
      </p:sp>
      <p:sp>
        <p:nvSpPr>
          <p:cNvPr id="12" name="Rounded Rectangle 11"/>
          <p:cNvSpPr/>
          <p:nvPr/>
        </p:nvSpPr>
        <p:spPr>
          <a:xfrm>
            <a:off x="4279392"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1051560"/>
            <a:ext cx="3767328" cy="502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1051560"/>
            <a:ext cx="3767328" cy="502920"/>
          </a:xfrm>
          <a:prstGeom prst="rect">
            <a:avLst/>
          </a:prstGeom>
          <a:noFill/>
        </p:spPr>
        <p:txBody>
          <a:bodyPr wrap="square" anchor="ctr"/>
          <a:lstStyle/>
          <a:p>
            <a:pPr algn="ctr"/>
            <a:r>
              <a:rPr sz="1600" b="1">
                <a:solidFill>
                  <a:srgbClr val="FFFFFF"/>
                </a:solidFill>
                <a:latin typeface="Calibri"/>
              </a:rPr>
              <a:t>2. Induction</a:t>
            </a:r>
          </a:p>
        </p:txBody>
      </p:sp>
      <p:sp>
        <p:nvSpPr>
          <p:cNvPr id="15" name="TextBox 14"/>
          <p:cNvSpPr txBox="1"/>
          <p:nvPr/>
        </p:nvSpPr>
        <p:spPr>
          <a:xfrm>
            <a:off x="4425696" y="1645920"/>
            <a:ext cx="3474720" cy="4315968"/>
          </a:xfrm>
          <a:prstGeom prst="rect">
            <a:avLst/>
          </a:prstGeom>
          <a:noFill/>
        </p:spPr>
        <p:txBody>
          <a:bodyPr wrap="square" anchor="t"/>
          <a:lstStyle/>
          <a:p>
            <a:pPr algn="l"/>
            <a:r>
              <a:rPr sz="1500" b="0">
                <a:solidFill>
                  <a:srgbClr val="1C1C1C"/>
                </a:solidFill>
                <a:latin typeface="Calibri"/>
              </a:rPr>
              <a:t>IV catheter first. Then induce IV to effect (Grubb 2020).
Propofol, alfaxalone, ketamine + benzo, or etomidate. Premed and sick patients need less.
Mask or chamber induction is not recommended.
Then intubate, confirm, cuff to 20 cm H2O, connect the machine (CPE MOA: start that clock when induction starts).
Willie: alfaxalone sedation for the ear clean.</a:t>
            </a:r>
          </a:p>
        </p:txBody>
      </p:sp>
      <p:sp>
        <p:nvSpPr>
          <p:cNvPr id="16" name="Rounded Rectangle 15"/>
          <p:cNvSpPr/>
          <p:nvPr/>
        </p:nvSpPr>
        <p:spPr>
          <a:xfrm>
            <a:off x="8193024"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4" y="1051560"/>
            <a:ext cx="3767328"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4" y="1051560"/>
            <a:ext cx="3767328" cy="502920"/>
          </a:xfrm>
          <a:prstGeom prst="rect">
            <a:avLst/>
          </a:prstGeom>
          <a:noFill/>
        </p:spPr>
        <p:txBody>
          <a:bodyPr wrap="square" anchor="ctr"/>
          <a:lstStyle/>
          <a:p>
            <a:pPr algn="ctr"/>
            <a:r>
              <a:rPr sz="1600" b="1">
                <a:solidFill>
                  <a:srgbClr val="FFFFFF"/>
                </a:solidFill>
                <a:latin typeface="Calibri"/>
              </a:rPr>
              <a:t>3. Gas and MAC</a:t>
            </a:r>
          </a:p>
        </p:txBody>
      </p:sp>
      <p:sp>
        <p:nvSpPr>
          <p:cNvPr id="19" name="TextBox 18"/>
          <p:cNvSpPr txBox="1"/>
          <p:nvPr/>
        </p:nvSpPr>
        <p:spPr>
          <a:xfrm>
            <a:off x="8339328" y="1645920"/>
            <a:ext cx="3474720" cy="4315968"/>
          </a:xfrm>
          <a:prstGeom prst="rect">
            <a:avLst/>
          </a:prstGeom>
          <a:noFill/>
        </p:spPr>
        <p:txBody>
          <a:bodyPr wrap="square" anchor="t"/>
          <a:lstStyle/>
          <a:p>
            <a:pPr algn="l"/>
            <a:r>
              <a:rPr sz="1500" b="0">
                <a:solidFill>
                  <a:srgbClr val="1C1C1C"/>
                </a:solidFill>
                <a:latin typeface="Calibri"/>
              </a:rPr>
              <a:t>MAC = minimum alveolar concentration: the alveolar % of inhalant that stops movement in 50% of patients to a surgical stimulus.
Isoflurane or sevoflurane in oxygen, dosed to effect (Grubb 2020).
Premeds, local blocks, and hypothermia lower MAC. Turn the vaporizer down.
Surgical plane: no palpebral reflex, mild jaw tone, no purposeful movement.
Hypotension: often too much inhalant. Add opioid or a block. Do not just turn the dial up.</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STABILIZE FIRST. PARDO ET AL. 2024: ALBUMIN &lt;2.0 G/DL.</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1" name="TextBox 10"/>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5" name="TextBox 14"/>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9" name="TextBox 18"/>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MoMo: rising creatinine cancelled the cut. That is a successful preoperative evaluation.</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pre-oxygenate. Fasting follows the healthy-adult or neonate row above.</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WRITE BOTH NUMBERS BEFORE INDUCTION. CPE MOA 2026: SELECT THE TUBE, THE CIRCUIT, AND THE BAG.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Endotracheal tube and reservoir bag</a:t>
            </a:r>
          </a:p>
        </p:txBody>
      </p:sp>
      <p:sp>
        <p:nvSpPr>
          <p:cNvPr id="8" name="Rounded Rectangle 7"/>
          <p:cNvSpPr/>
          <p:nvPr/>
        </p:nvSpPr>
        <p:spPr>
          <a:xfrm>
            <a:off x="411480" y="1024128"/>
            <a:ext cx="5623560"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562356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5623560" cy="438912"/>
          </a:xfrm>
          <a:prstGeom prst="rect">
            <a:avLst/>
          </a:prstGeom>
          <a:noFill/>
        </p:spPr>
        <p:txBody>
          <a:bodyPr wrap="square" anchor="ctr"/>
          <a:lstStyle/>
          <a:p>
            <a:pPr algn="ctr"/>
            <a:r>
              <a:rPr sz="1600" b="1">
                <a:solidFill>
                  <a:srgbClr val="0B2C4A"/>
                </a:solidFill>
                <a:latin typeface="Calibri"/>
              </a:rPr>
              <a:t>Endotracheal tube  ·  dog starting estimate</a:t>
            </a:r>
          </a:p>
        </p:txBody>
      </p:sp>
      <p:sp>
        <p:nvSpPr>
          <p:cNvPr id="11" name="TextBox 10"/>
          <p:cNvSpPr txBox="1"/>
          <p:nvPr/>
        </p:nvSpPr>
        <p:spPr>
          <a:xfrm>
            <a:off x="594360" y="1536192"/>
            <a:ext cx="5257800" cy="502920"/>
          </a:xfrm>
          <a:prstGeom prst="rect">
            <a:avLst/>
          </a:prstGeom>
          <a:noFill/>
        </p:spPr>
        <p:txBody>
          <a:bodyPr wrap="square" anchor="t"/>
          <a:lstStyle/>
          <a:p>
            <a:pPr algn="ctr"/>
            <a:r>
              <a:rPr sz="2400" b="1">
                <a:solidFill>
                  <a:srgbClr val="0B2C4A"/>
                </a:solidFill>
                <a:latin typeface="Calibri"/>
              </a:rPr>
              <a:t>ID mm  =  (kg / 4)  +  3.5</a:t>
            </a:r>
          </a:p>
        </p:txBody>
      </p:sp>
      <p:sp>
        <p:nvSpPr>
          <p:cNvPr id="12" name="TextBox 11"/>
          <p:cNvSpPr txBox="1"/>
          <p:nvPr/>
        </p:nvSpPr>
        <p:spPr>
          <a:xfrm>
            <a:off x="594360" y="2084831"/>
            <a:ext cx="5257800" cy="1572768"/>
          </a:xfrm>
          <a:prstGeom prst="rect">
            <a:avLst/>
          </a:prstGeom>
          <a:noFill/>
        </p:spPr>
        <p:txBody>
          <a:bodyPr wrap="square" anchor="t"/>
          <a:lstStyle/>
          <a:p>
            <a:pPr algn="l"/>
            <a:r>
              <a:rPr sz="1500" b="0">
                <a:solidFill>
                  <a:srgbClr val="1C1C1C"/>
                </a:solidFill>
                <a:latin typeface="Calibri"/>
              </a:rPr>
              <a:t>Have 0.5 mm larger and 0.5 mm smaller ready.
Confirm: largest ID that passes the arytenoids without trauma (Grubb 2020). Tip midway from larynx to thoracic inlet. Cuff holds to 20 cm H2O (CPE MOA).
Cat: typically 3.0–4.5 mm. Do not use the dog formula.</a:t>
            </a:r>
          </a:p>
        </p:txBody>
      </p:sp>
      <p:sp>
        <p:nvSpPr>
          <p:cNvPr id="13" name="Rounded Rectangle 12"/>
          <p:cNvSpPr/>
          <p:nvPr/>
        </p:nvSpPr>
        <p:spPr>
          <a:xfrm>
            <a:off x="6172200" y="1024128"/>
            <a:ext cx="5577840"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024128"/>
            <a:ext cx="557784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0" y="1024128"/>
            <a:ext cx="5577840" cy="438912"/>
          </a:xfrm>
          <a:prstGeom prst="rect">
            <a:avLst/>
          </a:prstGeom>
          <a:noFill/>
        </p:spPr>
        <p:txBody>
          <a:bodyPr wrap="square" anchor="ctr"/>
          <a:lstStyle/>
          <a:p>
            <a:pPr algn="ctr"/>
            <a:r>
              <a:rPr sz="1600" b="1">
                <a:solidFill>
                  <a:srgbClr val="C5A35A"/>
                </a:solidFill>
                <a:latin typeface="Calibri"/>
              </a:rPr>
              <a:t>Reservoir bag  ·  shortcut</a:t>
            </a:r>
          </a:p>
        </p:txBody>
      </p:sp>
      <p:sp>
        <p:nvSpPr>
          <p:cNvPr id="16" name="TextBox 15"/>
          <p:cNvSpPr txBox="1"/>
          <p:nvPr/>
        </p:nvSpPr>
        <p:spPr>
          <a:xfrm>
            <a:off x="6355080" y="1536192"/>
            <a:ext cx="5212080" cy="502920"/>
          </a:xfrm>
          <a:prstGeom prst="rect">
            <a:avLst/>
          </a:prstGeom>
          <a:noFill/>
        </p:spPr>
        <p:txBody>
          <a:bodyPr wrap="square" anchor="t"/>
          <a:lstStyle/>
          <a:p>
            <a:pPr algn="ctr"/>
            <a:r>
              <a:rPr sz="2200" b="1">
                <a:solidFill>
                  <a:srgbClr val="0B2C4A"/>
                </a:solidFill>
                <a:latin typeface="Calibri"/>
              </a:rPr>
              <a:t>mL  =  kg  ×  60     then round UP</a:t>
            </a:r>
          </a:p>
        </p:txBody>
      </p:sp>
      <p:sp>
        <p:nvSpPr>
          <p:cNvPr id="17" name="TextBox 16"/>
          <p:cNvSpPr txBox="1"/>
          <p:nvPr/>
        </p:nvSpPr>
        <p:spPr>
          <a:xfrm>
            <a:off x="6355080" y="2084831"/>
            <a:ext cx="5212080" cy="1572768"/>
          </a:xfrm>
          <a:prstGeom prst="rect">
            <a:avLst/>
          </a:prstGeom>
          <a:noFill/>
        </p:spPr>
        <p:txBody>
          <a:bodyPr wrap="square" anchor="t"/>
          <a:lstStyle/>
          <a:p>
            <a:pPr algn="l"/>
            <a:r>
              <a:rPr sz="1500" b="0">
                <a:solidFill>
                  <a:srgbClr val="1C1C1C"/>
                </a:solidFill>
                <a:latin typeface="Calibri"/>
              </a:rPr>
              <a:t>Tidal volume about 10–15 mL/kg. Bag = 5–6 × TV, so 60 mL/kg is the low end. Round up to 0.5, 1, 2, or 3 L.
NRC: cats and dogs &lt;3–5 kg. O2 200–400 mL/kg/min (Grubb 2020). Circle for larger patients. Leak-test, then OPEN the pop-off.</a:t>
            </a:r>
          </a:p>
        </p:txBody>
      </p:sp>
      <p:sp>
        <p:nvSpPr>
          <p:cNvPr id="18" name="Rectangle 17"/>
          <p:cNvSpPr/>
          <p:nvPr/>
        </p:nvSpPr>
        <p:spPr>
          <a:xfrm>
            <a:off x="411480" y="3931920"/>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931920"/>
            <a:ext cx="2743200" cy="384048"/>
          </a:xfrm>
          <a:prstGeom prst="rect">
            <a:avLst/>
          </a:prstGeom>
          <a:noFill/>
        </p:spPr>
        <p:txBody>
          <a:bodyPr wrap="square" anchor="ctr"/>
          <a:lstStyle/>
          <a:p>
            <a:pPr algn="l"/>
            <a:r>
              <a:rPr sz="1500" b="1">
                <a:solidFill>
                  <a:srgbClr val="C5A35A"/>
                </a:solidFill>
                <a:latin typeface="Calibri"/>
              </a:rPr>
              <a:t>Patient</a:t>
            </a:r>
          </a:p>
        </p:txBody>
      </p:sp>
      <p:sp>
        <p:nvSpPr>
          <p:cNvPr id="20" name="TextBox 19"/>
          <p:cNvSpPr txBox="1"/>
          <p:nvPr/>
        </p:nvSpPr>
        <p:spPr>
          <a:xfrm>
            <a:off x="3246120" y="3931920"/>
            <a:ext cx="1097280" cy="384048"/>
          </a:xfrm>
          <a:prstGeom prst="rect">
            <a:avLst/>
          </a:prstGeom>
          <a:noFill/>
        </p:spPr>
        <p:txBody>
          <a:bodyPr wrap="square" anchor="ctr"/>
          <a:lstStyle/>
          <a:p>
            <a:pPr algn="l"/>
            <a:r>
              <a:rPr sz="1500" b="1">
                <a:solidFill>
                  <a:srgbClr val="C5A35A"/>
                </a:solidFill>
                <a:latin typeface="Calibri"/>
              </a:rPr>
              <a:t>kg</a:t>
            </a:r>
          </a:p>
        </p:txBody>
      </p:sp>
      <p:sp>
        <p:nvSpPr>
          <p:cNvPr id="21" name="TextBox 20"/>
          <p:cNvSpPr txBox="1"/>
          <p:nvPr/>
        </p:nvSpPr>
        <p:spPr>
          <a:xfrm>
            <a:off x="4434840" y="3931920"/>
            <a:ext cx="2926080" cy="384048"/>
          </a:xfrm>
          <a:prstGeom prst="rect">
            <a:avLst/>
          </a:prstGeom>
          <a:noFill/>
        </p:spPr>
        <p:txBody>
          <a:bodyPr wrap="square" anchor="ctr"/>
          <a:lstStyle/>
          <a:p>
            <a:pPr algn="l"/>
            <a:r>
              <a:rPr sz="1500" b="1">
                <a:solidFill>
                  <a:srgbClr val="C5A35A"/>
                </a:solidFill>
                <a:latin typeface="Calibri"/>
              </a:rPr>
              <a:t>ETT start</a:t>
            </a:r>
          </a:p>
        </p:txBody>
      </p:sp>
      <p:sp>
        <p:nvSpPr>
          <p:cNvPr id="22" name="TextBox 21"/>
          <p:cNvSpPr txBox="1"/>
          <p:nvPr/>
        </p:nvSpPr>
        <p:spPr>
          <a:xfrm>
            <a:off x="7452360" y="3931920"/>
            <a:ext cx="2560320" cy="384048"/>
          </a:xfrm>
          <a:prstGeom prst="rect">
            <a:avLst/>
          </a:prstGeom>
          <a:noFill/>
        </p:spPr>
        <p:txBody>
          <a:bodyPr wrap="square" anchor="ctr"/>
          <a:lstStyle/>
          <a:p>
            <a:pPr algn="l"/>
            <a:r>
              <a:rPr sz="1500" b="1">
                <a:solidFill>
                  <a:srgbClr val="C5A35A"/>
                </a:solidFill>
                <a:latin typeface="Calibri"/>
              </a:rPr>
              <a:t>Bag</a:t>
            </a:r>
          </a:p>
        </p:txBody>
      </p:sp>
      <p:sp>
        <p:nvSpPr>
          <p:cNvPr id="23" name="TextBox 22"/>
          <p:cNvSpPr txBox="1"/>
          <p:nvPr/>
        </p:nvSpPr>
        <p:spPr>
          <a:xfrm>
            <a:off x="10104120" y="3931920"/>
            <a:ext cx="1554480" cy="384048"/>
          </a:xfrm>
          <a:prstGeom prst="rect">
            <a:avLst/>
          </a:prstGeom>
          <a:noFill/>
        </p:spPr>
        <p:txBody>
          <a:bodyPr wrap="square" anchor="ctr"/>
          <a:lstStyle/>
          <a:p>
            <a:pPr algn="l"/>
            <a:r>
              <a:rPr sz="1500" b="1">
                <a:solidFill>
                  <a:srgbClr val="C5A35A"/>
                </a:solidFill>
                <a:latin typeface="Calibri"/>
              </a:rPr>
              <a:t>Circuit</a:t>
            </a:r>
          </a:p>
        </p:txBody>
      </p:sp>
      <p:sp>
        <p:nvSpPr>
          <p:cNvPr id="24" name="Rounded Rectangle 23"/>
          <p:cNvSpPr/>
          <p:nvPr/>
        </p:nvSpPr>
        <p:spPr>
          <a:xfrm>
            <a:off x="411480" y="4352544"/>
            <a:ext cx="11338560" cy="438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352544"/>
            <a:ext cx="2743200" cy="438912"/>
          </a:xfrm>
          <a:prstGeom prst="rect">
            <a:avLst/>
          </a:prstGeom>
          <a:noFill/>
        </p:spPr>
        <p:txBody>
          <a:bodyPr wrap="square" anchor="ctr"/>
          <a:lstStyle/>
          <a:p>
            <a:pPr algn="l"/>
            <a:r>
              <a:rPr sz="1500" b="1">
                <a:solidFill>
                  <a:srgbClr val="0B2C4A"/>
                </a:solidFill>
                <a:latin typeface="Calibri"/>
              </a:rPr>
              <a:t>Willie (if intubated)</a:t>
            </a:r>
          </a:p>
        </p:txBody>
      </p:sp>
      <p:sp>
        <p:nvSpPr>
          <p:cNvPr id="26" name="TextBox 25"/>
          <p:cNvSpPr txBox="1"/>
          <p:nvPr/>
        </p:nvSpPr>
        <p:spPr>
          <a:xfrm>
            <a:off x="3246120" y="4352544"/>
            <a:ext cx="1097280" cy="438912"/>
          </a:xfrm>
          <a:prstGeom prst="rect">
            <a:avLst/>
          </a:prstGeom>
          <a:noFill/>
        </p:spPr>
        <p:txBody>
          <a:bodyPr wrap="square" anchor="ctr"/>
          <a:lstStyle/>
          <a:p>
            <a:pPr algn="l"/>
            <a:r>
              <a:rPr sz="1500" b="0">
                <a:solidFill>
                  <a:srgbClr val="1C1C1C"/>
                </a:solidFill>
                <a:latin typeface="Calibri"/>
              </a:rPr>
              <a:t>13.7</a:t>
            </a:r>
          </a:p>
        </p:txBody>
      </p:sp>
      <p:sp>
        <p:nvSpPr>
          <p:cNvPr id="27" name="TextBox 26"/>
          <p:cNvSpPr txBox="1"/>
          <p:nvPr/>
        </p:nvSpPr>
        <p:spPr>
          <a:xfrm>
            <a:off x="4434840" y="4352544"/>
            <a:ext cx="2926080" cy="438912"/>
          </a:xfrm>
          <a:prstGeom prst="rect">
            <a:avLst/>
          </a:prstGeom>
          <a:noFill/>
        </p:spPr>
        <p:txBody>
          <a:bodyPr wrap="square" anchor="ctr"/>
          <a:lstStyle/>
          <a:p>
            <a:pPr algn="l"/>
            <a:r>
              <a:rPr sz="1500" b="1">
                <a:solidFill>
                  <a:srgbClr val="1B6B7A"/>
                </a:solidFill>
                <a:latin typeface="Calibri"/>
              </a:rPr>
              <a:t>7.0 mm  (6.5 / 7.5)</a:t>
            </a:r>
          </a:p>
        </p:txBody>
      </p:sp>
      <p:sp>
        <p:nvSpPr>
          <p:cNvPr id="28" name="TextBox 27"/>
          <p:cNvSpPr txBox="1"/>
          <p:nvPr/>
        </p:nvSpPr>
        <p:spPr>
          <a:xfrm>
            <a:off x="7452360" y="4352544"/>
            <a:ext cx="2560320" cy="438912"/>
          </a:xfrm>
          <a:prstGeom prst="rect">
            <a:avLst/>
          </a:prstGeom>
          <a:noFill/>
        </p:spPr>
        <p:txBody>
          <a:bodyPr wrap="square" anchor="ctr"/>
          <a:lstStyle/>
          <a:p>
            <a:pPr algn="l"/>
            <a:r>
              <a:rPr sz="1500" b="1">
                <a:solidFill>
                  <a:srgbClr val="1B6B7A"/>
                </a:solidFill>
                <a:latin typeface="Calibri"/>
              </a:rPr>
              <a:t>822 mL → 1 L</a:t>
            </a:r>
          </a:p>
        </p:txBody>
      </p:sp>
      <p:sp>
        <p:nvSpPr>
          <p:cNvPr id="29" name="TextBox 28"/>
          <p:cNvSpPr txBox="1"/>
          <p:nvPr/>
        </p:nvSpPr>
        <p:spPr>
          <a:xfrm>
            <a:off x="10104120" y="4352544"/>
            <a:ext cx="1554480" cy="438912"/>
          </a:xfrm>
          <a:prstGeom prst="rect">
            <a:avLst/>
          </a:prstGeom>
          <a:noFill/>
        </p:spPr>
        <p:txBody>
          <a:bodyPr wrap="square" anchor="ctr"/>
          <a:lstStyle/>
          <a:p>
            <a:pPr algn="l"/>
            <a:r>
              <a:rPr sz="1500" b="0">
                <a:solidFill>
                  <a:srgbClr val="1C1C1C"/>
                </a:solidFill>
                <a:latin typeface="Calibri"/>
              </a:rPr>
              <a:t>Circle</a:t>
            </a:r>
          </a:p>
        </p:txBody>
      </p:sp>
      <p:sp>
        <p:nvSpPr>
          <p:cNvPr id="30" name="Rounded Rectangle 29"/>
          <p:cNvSpPr/>
          <p:nvPr/>
        </p:nvSpPr>
        <p:spPr>
          <a:xfrm>
            <a:off x="411480" y="4828032"/>
            <a:ext cx="11338560" cy="438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4828032"/>
            <a:ext cx="2743200" cy="438912"/>
          </a:xfrm>
          <a:prstGeom prst="rect">
            <a:avLst/>
          </a:prstGeom>
          <a:noFill/>
        </p:spPr>
        <p:txBody>
          <a:bodyPr wrap="square" anchor="ctr"/>
          <a:lstStyle/>
          <a:p>
            <a:pPr algn="l"/>
            <a:r>
              <a:rPr sz="1500" b="1">
                <a:solidFill>
                  <a:srgbClr val="0B2C4A"/>
                </a:solidFill>
                <a:latin typeface="Calibri"/>
              </a:rPr>
              <a:t>Healthy Lab, elective OHE</a:t>
            </a:r>
          </a:p>
        </p:txBody>
      </p:sp>
      <p:sp>
        <p:nvSpPr>
          <p:cNvPr id="32" name="TextBox 31"/>
          <p:cNvSpPr txBox="1"/>
          <p:nvPr/>
        </p:nvSpPr>
        <p:spPr>
          <a:xfrm>
            <a:off x="3246120" y="4828032"/>
            <a:ext cx="1097280" cy="438912"/>
          </a:xfrm>
          <a:prstGeom prst="rect">
            <a:avLst/>
          </a:prstGeom>
          <a:noFill/>
        </p:spPr>
        <p:txBody>
          <a:bodyPr wrap="square" anchor="ctr"/>
          <a:lstStyle/>
          <a:p>
            <a:pPr algn="l"/>
            <a:r>
              <a:rPr sz="1500" b="0">
                <a:solidFill>
                  <a:srgbClr val="1C1C1C"/>
                </a:solidFill>
                <a:latin typeface="Calibri"/>
              </a:rPr>
              <a:t>25</a:t>
            </a:r>
          </a:p>
        </p:txBody>
      </p:sp>
      <p:sp>
        <p:nvSpPr>
          <p:cNvPr id="33" name="TextBox 32"/>
          <p:cNvSpPr txBox="1"/>
          <p:nvPr/>
        </p:nvSpPr>
        <p:spPr>
          <a:xfrm>
            <a:off x="4434840" y="4828032"/>
            <a:ext cx="2926080" cy="438912"/>
          </a:xfrm>
          <a:prstGeom prst="rect">
            <a:avLst/>
          </a:prstGeom>
          <a:noFill/>
        </p:spPr>
        <p:txBody>
          <a:bodyPr wrap="square" anchor="ctr"/>
          <a:lstStyle/>
          <a:p>
            <a:pPr algn="l"/>
            <a:r>
              <a:rPr sz="1500" b="1">
                <a:solidFill>
                  <a:srgbClr val="1B6B7A"/>
                </a:solidFill>
                <a:latin typeface="Calibri"/>
              </a:rPr>
              <a:t>9.75 → 10 mm</a:t>
            </a:r>
          </a:p>
        </p:txBody>
      </p:sp>
      <p:sp>
        <p:nvSpPr>
          <p:cNvPr id="34" name="TextBox 33"/>
          <p:cNvSpPr txBox="1"/>
          <p:nvPr/>
        </p:nvSpPr>
        <p:spPr>
          <a:xfrm>
            <a:off x="7452360" y="4828032"/>
            <a:ext cx="2560320" cy="438912"/>
          </a:xfrm>
          <a:prstGeom prst="rect">
            <a:avLst/>
          </a:prstGeom>
          <a:noFill/>
        </p:spPr>
        <p:txBody>
          <a:bodyPr wrap="square" anchor="ctr"/>
          <a:lstStyle/>
          <a:p>
            <a:pPr algn="l"/>
            <a:r>
              <a:rPr sz="1500" b="1">
                <a:solidFill>
                  <a:srgbClr val="1B6B7A"/>
                </a:solidFill>
                <a:latin typeface="Calibri"/>
              </a:rPr>
              <a:t>1.5 L → 2 L</a:t>
            </a:r>
          </a:p>
        </p:txBody>
      </p:sp>
      <p:sp>
        <p:nvSpPr>
          <p:cNvPr id="35" name="TextBox 34"/>
          <p:cNvSpPr txBox="1"/>
          <p:nvPr/>
        </p:nvSpPr>
        <p:spPr>
          <a:xfrm>
            <a:off x="10104120" y="4828032"/>
            <a:ext cx="1554480" cy="438912"/>
          </a:xfrm>
          <a:prstGeom prst="rect">
            <a:avLst/>
          </a:prstGeom>
          <a:noFill/>
        </p:spPr>
        <p:txBody>
          <a:bodyPr wrap="square" anchor="ctr"/>
          <a:lstStyle/>
          <a:p>
            <a:pPr algn="l"/>
            <a:r>
              <a:rPr sz="1500" b="0">
                <a:solidFill>
                  <a:srgbClr val="1C1C1C"/>
                </a:solidFill>
                <a:latin typeface="Calibri"/>
              </a:rPr>
              <a:t>Circle</a:t>
            </a:r>
          </a:p>
        </p:txBody>
      </p:sp>
      <p:sp>
        <p:nvSpPr>
          <p:cNvPr id="36" name="Rounded Rectangle 35"/>
          <p:cNvSpPr/>
          <p:nvPr/>
        </p:nvSpPr>
        <p:spPr>
          <a:xfrm>
            <a:off x="411480" y="5303520"/>
            <a:ext cx="11338560" cy="438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5303520"/>
            <a:ext cx="2743200" cy="438912"/>
          </a:xfrm>
          <a:prstGeom prst="rect">
            <a:avLst/>
          </a:prstGeom>
          <a:noFill/>
        </p:spPr>
        <p:txBody>
          <a:bodyPr wrap="square" anchor="ctr"/>
          <a:lstStyle/>
          <a:p>
            <a:pPr algn="l"/>
            <a:r>
              <a:rPr sz="1500" b="1">
                <a:solidFill>
                  <a:srgbClr val="0B2C4A"/>
                </a:solidFill>
                <a:latin typeface="Calibri"/>
              </a:rPr>
              <a:t>MoMo, teaching only</a:t>
            </a:r>
          </a:p>
        </p:txBody>
      </p:sp>
      <p:sp>
        <p:nvSpPr>
          <p:cNvPr id="38" name="TextBox 37"/>
          <p:cNvSpPr txBox="1"/>
          <p:nvPr/>
        </p:nvSpPr>
        <p:spPr>
          <a:xfrm>
            <a:off x="3246120" y="5303520"/>
            <a:ext cx="1097280" cy="438912"/>
          </a:xfrm>
          <a:prstGeom prst="rect">
            <a:avLst/>
          </a:prstGeom>
          <a:noFill/>
        </p:spPr>
        <p:txBody>
          <a:bodyPr wrap="square" anchor="ctr"/>
          <a:lstStyle/>
          <a:p>
            <a:pPr algn="l"/>
            <a:r>
              <a:rPr sz="1500" b="0">
                <a:solidFill>
                  <a:srgbClr val="1C1C1C"/>
                </a:solidFill>
                <a:latin typeface="Calibri"/>
              </a:rPr>
              <a:t>4.25</a:t>
            </a:r>
          </a:p>
        </p:txBody>
      </p:sp>
      <p:sp>
        <p:nvSpPr>
          <p:cNvPr id="39" name="TextBox 38"/>
          <p:cNvSpPr txBox="1"/>
          <p:nvPr/>
        </p:nvSpPr>
        <p:spPr>
          <a:xfrm>
            <a:off x="4434840" y="5303520"/>
            <a:ext cx="2926080" cy="438912"/>
          </a:xfrm>
          <a:prstGeom prst="rect">
            <a:avLst/>
          </a:prstGeom>
          <a:noFill/>
        </p:spPr>
        <p:txBody>
          <a:bodyPr wrap="square" anchor="ctr"/>
          <a:lstStyle/>
          <a:p>
            <a:pPr algn="l"/>
            <a:r>
              <a:rPr sz="1500" b="1">
                <a:solidFill>
                  <a:srgbClr val="1B6B7A"/>
                </a:solidFill>
                <a:latin typeface="Calibri"/>
              </a:rPr>
              <a:t>3.5–4.0 mm (cat)</a:t>
            </a:r>
          </a:p>
        </p:txBody>
      </p:sp>
      <p:sp>
        <p:nvSpPr>
          <p:cNvPr id="40" name="TextBox 39"/>
          <p:cNvSpPr txBox="1"/>
          <p:nvPr/>
        </p:nvSpPr>
        <p:spPr>
          <a:xfrm>
            <a:off x="7452360" y="5303520"/>
            <a:ext cx="2560320" cy="438912"/>
          </a:xfrm>
          <a:prstGeom prst="rect">
            <a:avLst/>
          </a:prstGeom>
          <a:noFill/>
        </p:spPr>
        <p:txBody>
          <a:bodyPr wrap="square" anchor="ctr"/>
          <a:lstStyle/>
          <a:p>
            <a:pPr algn="l"/>
            <a:r>
              <a:rPr sz="1500" b="1">
                <a:solidFill>
                  <a:srgbClr val="1B6B7A"/>
                </a:solidFill>
                <a:latin typeface="Calibri"/>
              </a:rPr>
              <a:t>255 mL → 0.5 L</a:t>
            </a:r>
          </a:p>
        </p:txBody>
      </p:sp>
      <p:sp>
        <p:nvSpPr>
          <p:cNvPr id="41" name="TextBox 40"/>
          <p:cNvSpPr txBox="1"/>
          <p:nvPr/>
        </p:nvSpPr>
        <p:spPr>
          <a:xfrm>
            <a:off x="10104120" y="5303520"/>
            <a:ext cx="1554480" cy="438912"/>
          </a:xfrm>
          <a:prstGeom prst="rect">
            <a:avLst/>
          </a:prstGeom>
          <a:noFill/>
        </p:spPr>
        <p:txBody>
          <a:bodyPr wrap="square" anchor="ctr"/>
          <a:lstStyle/>
          <a:p>
            <a:pPr algn="l"/>
            <a:r>
              <a:rPr sz="1500" b="0">
                <a:solidFill>
                  <a:srgbClr val="1C1C1C"/>
                </a:solidFill>
                <a:latin typeface="Calibri"/>
              </a:rPr>
              <a:t>NRC</a:t>
            </a:r>
          </a:p>
        </p:txBody>
      </p:sp>
      <p:sp>
        <p:nvSpPr>
          <p:cNvPr id="42" name="Rounded Rectangle 41"/>
          <p:cNvSpPr/>
          <p:nvPr/>
        </p:nvSpPr>
        <p:spPr>
          <a:xfrm>
            <a:off x="411480" y="5833872"/>
            <a:ext cx="11338560" cy="6217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94360" y="5833872"/>
            <a:ext cx="11018520" cy="621792"/>
          </a:xfrm>
          <a:prstGeom prst="rect">
            <a:avLst/>
          </a:prstGeom>
          <a:noFill/>
        </p:spPr>
        <p:txBody>
          <a:bodyPr wrap="square" anchor="ctr"/>
          <a:lstStyle/>
          <a:p>
            <a:pPr algn="l"/>
            <a:r>
              <a:rPr sz="1500" b="0">
                <a:solidFill>
                  <a:srgbClr val="0B2C4A"/>
                </a:solidFill>
                <a:latin typeface="Calibri"/>
              </a:rPr>
              <a:t>After the tube is in: inhalant to effect. Premed already lowered MAC. Then the patient is ready for clip, sterile prep, and drape.</a:t>
            </a:r>
          </a:p>
        </p:txBody>
      </p:sp>
      <p:sp>
        <p:nvSpPr>
          <p:cNvPr id="44" name="Rectangle 4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6" name="TextBox 4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PREOP HEADER AND RECOVERY.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FREY ET AL. 2022: WHEN. GONZALEZ 2017: 22 MG/KG IV. WHITTEM 1999: REDOSE IF &gt;90 MIN.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Perioperative cefazolin</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34440"/>
            <a:ext cx="5120640" cy="457200"/>
          </a:xfrm>
          <a:prstGeom prst="rect">
            <a:avLst/>
          </a:prstGeom>
          <a:noFill/>
        </p:spPr>
        <p:txBody>
          <a:bodyPr wrap="square" anchor="t"/>
          <a:lstStyle/>
          <a:p>
            <a:pPr algn="l"/>
            <a:r>
              <a:rPr sz="1800" b="1">
                <a:solidFill>
                  <a:srgbClr val="2E6B4F"/>
                </a:solidFill>
                <a:latin typeface="Calibri"/>
              </a:rPr>
              <a:t>Clean elective: skip prophylaxis</a:t>
            </a:r>
          </a:p>
        </p:txBody>
      </p:sp>
      <p:sp>
        <p:nvSpPr>
          <p:cNvPr id="10" name="TextBox 9"/>
          <p:cNvSpPr txBox="1"/>
          <p:nvPr/>
        </p:nvSpPr>
        <p:spPr>
          <a:xfrm>
            <a:off x="685800" y="1783080"/>
            <a:ext cx="5120640" cy="4114800"/>
          </a:xfrm>
          <a:prstGeom prst="rect">
            <a:avLst/>
          </a:prstGeom>
          <a:noFill/>
        </p:spPr>
        <p:txBody>
          <a:bodyPr wrap="square" anchor="t"/>
          <a:lstStyle/>
          <a:p>
            <a:pPr algn="l"/>
            <a:r>
              <a:rPr sz="1600" b="0">
                <a:solidFill>
                  <a:srgbClr val="1C1C1C"/>
                </a:solidFill>
                <a:latin typeface="Calibri"/>
              </a:rPr>
              <a:t>2022 AAFP/AAHA (Frey et al.)
Start 30–60 min before incision.
Not usually needed for clean procedures.
Skip OHE, orchiectomy, most sterile cases.
Postop antimicrobials are rarely required.
Hold asepsis. Stop at closure.
A postoperative antibiotic injection is treatment, not a gift after every spay.</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34440"/>
            <a:ext cx="5029200" cy="411480"/>
          </a:xfrm>
          <a:prstGeom prst="rect">
            <a:avLst/>
          </a:prstGeom>
          <a:noFill/>
        </p:spPr>
        <p:txBody>
          <a:bodyPr wrap="square" anchor="t"/>
          <a:lstStyle/>
          <a:p>
            <a:pPr algn="l"/>
            <a:r>
              <a:rPr sz="1800" b="1">
                <a:solidFill>
                  <a:srgbClr val="8B2E2E"/>
                </a:solidFill>
                <a:latin typeface="Calibri"/>
              </a:rPr>
              <a:t>When indicated</a:t>
            </a:r>
          </a:p>
        </p:txBody>
      </p:sp>
      <p:sp>
        <p:nvSpPr>
          <p:cNvPr id="13" name="TextBox 12"/>
          <p:cNvSpPr txBox="1"/>
          <p:nvPr/>
        </p:nvSpPr>
        <p:spPr>
          <a:xfrm>
            <a:off x="6492240" y="1691640"/>
            <a:ext cx="5029200" cy="777240"/>
          </a:xfrm>
          <a:prstGeom prst="rect">
            <a:avLst/>
          </a:prstGeom>
          <a:noFill/>
        </p:spPr>
        <p:txBody>
          <a:bodyPr wrap="square" anchor="t"/>
          <a:lstStyle/>
          <a:p>
            <a:pPr algn="l"/>
            <a:r>
              <a:rPr sz="2800" b="1">
                <a:solidFill>
                  <a:srgbClr val="8B2E2E"/>
                </a:solidFill>
                <a:latin typeface="Calibri"/>
              </a:rPr>
              <a:t>Cefazolin 22 mg/kg IV</a:t>
            </a:r>
          </a:p>
        </p:txBody>
      </p:sp>
      <p:sp>
        <p:nvSpPr>
          <p:cNvPr id="14" name="TextBox 13"/>
          <p:cNvSpPr txBox="1"/>
          <p:nvPr/>
        </p:nvSpPr>
        <p:spPr>
          <a:xfrm>
            <a:off x="6492240" y="2468880"/>
            <a:ext cx="5029200" cy="3383280"/>
          </a:xfrm>
          <a:prstGeom prst="rect">
            <a:avLst/>
          </a:prstGeom>
          <a:noFill/>
        </p:spPr>
        <p:txBody>
          <a:bodyPr wrap="square" anchor="t"/>
          <a:lstStyle/>
          <a:p>
            <a:pPr algn="l"/>
            <a:r>
              <a:rPr sz="1600" b="0">
                <a:solidFill>
                  <a:srgbClr val="1C1C1C"/>
                </a:solidFill>
                <a:latin typeface="Calibri"/>
              </a:rPr>
              <a:t>Gonzalez 2017: extra-label 22 mg/kg IV in dogs.
1. Give 30–60 min before incision (Frey 2022).
2. Second dose if surgery lasts &gt;90 min (Whittem 1999).
3. Stop at closure unless you are treating infection.
AAFP/AAHA 2022 has no cefazolin mg/kg.
Willie’s infected ear: treatment, not prophylaxis.</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HAIR, SKIN, POSITION, DRAPE. THEN ANNOUNCE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FIELD 20 CM BEYOND THE PLANNED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#40 after a surgical plane. Xiphoid to pubis, past the nipples, 20 cm beyond the incision.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Roberts 1986: 1 mL of 10% + 49 mL saline = 1:50.   5% bottle: 1 mL + 24 mL (1:25).</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10% stock, dilute 1:50
MIN contact: 2 min + 2 min
1:2: corneal edema (1/15)
5% bottle: use 1:25
Not full strength on cornea</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1:50 of 10% stock, 2-min scrub + 2-min soak. If the bottle is 5% veterinary solution, 1:25 matches 0.2%.</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stock 1:50. 2 min + 2 min.</a:t>
            </a:r>
          </a:p>
          <a:p>
            <a:pPr algn="l">
              <a:spcAft>
                <a:spcPts val="1000"/>
              </a:spcAft>
            </a:pPr>
            <a:r>
              <a:rPr sz="1600" b="0">
                <a:solidFill>
                  <a:srgbClr val="1C1C1C"/>
                </a:solidFill>
                <a:latin typeface="Calibri"/>
              </a:rPr>
              <a:t>▸  Willie canal: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ECG/SpO2/ETCO2, circle system, IV fluids, airway. The vaporizer delivers inhalant; MAC is how we talk about that dose. Monitoring is on before the first drug. Willie: alfaxalone sedation. MoMo: the record stopped at preoperative evaluation.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ONE UNRECOGNIZED BREAK BEFORE INCISION. NONE AFTER.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One unrecognized break gets a warning. A second unrecognized break stops the case.
After the incision: notice, announce, and fully correct. There is no warning.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The operation is not over at the last skin suture. CPE MOA 2026 Surgery still scores the first 24 hours: intra-abdominal hemorrhage from a weak ligature, or herniation from a weak linea, is still the operation.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tube in, IV running, surgical plane. Then sterile prep and drape.</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10% stock 1:50. MIN contact 2 min + 2 min. 5% bottle: 1:25.</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Willie is 13.7 kg. Tube, bag, and why alfaxalone?</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7.0 mm, 1 L circle. Murmur: skip ace/dexmed. Opioid + alfaxalone.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injection if kidneys and GI allow. Willie: skip after DexSP.</a:t>
            </a:r>
          </a:p>
          <a:p>
            <a:pPr algn="l">
              <a:spcAft>
                <a:spcPts val="1000"/>
              </a:spcAft>
            </a:pPr>
            <a:r>
              <a:rPr sz="1600" b="0">
                <a:solidFill>
                  <a:srgbClr val="1C1C1C"/>
                </a:solidFill>
                <a:latin typeface="Calibri"/>
              </a:rPr>
              <a:t>▸  E-collar on before they can lick.</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AIRWAY, PERFUSION, HEAT, PAIN, INCISION. STAY WITH THE PATIENT.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Postoperative flowsheet, first 2 hours</a:t>
            </a:r>
          </a:p>
        </p:txBody>
      </p:sp>
      <p:pic>
        <p:nvPicPr>
          <p:cNvPr id="8" name="Picture 7" descr="recovery_flowsheet.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INJECTIONS AT RECOVERY.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Analgesia injection at recovery</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500"/>
              </a:spcAft>
            </a:pPr>
            <a:r>
              <a:rPr sz="1500" b="0">
                <a:solidFill>
                  <a:srgbClr val="1C1C1C"/>
                </a:solidFill>
                <a:latin typeface="Calibri"/>
              </a:rPr>
              <a:t>▸  Score pain. Dogs: Glasgow CMPS-SF. Cats: Feline Grimace Scale.</a:t>
            </a:r>
          </a:p>
          <a:p>
            <a:pPr algn="l">
              <a:spcAft>
                <a:spcPts val="500"/>
              </a:spcAft>
            </a:pPr>
            <a:r>
              <a:rPr sz="1500" b="0">
                <a:solidFill>
                  <a:srgbClr val="1C1C1C"/>
                </a:solidFill>
                <a:latin typeface="Calibri"/>
              </a:rPr>
              <a:t>▸  Opioid injection as planned. Re-score after you give it.</a:t>
            </a:r>
          </a:p>
          <a:p>
            <a:pPr algn="l">
              <a:spcAft>
                <a:spcPts val="500"/>
              </a:spcAft>
            </a:pPr>
            <a:r>
              <a:rPr sz="1500" b="0">
                <a:solidFill>
                  <a:srgbClr val="1C1C1C"/>
                </a:solidFill>
                <a:latin typeface="Calibri"/>
              </a:rPr>
              <a:t>▸  NSAID if perfusion, kidneys, and GI allow. Do not stack with a steroid.</a:t>
            </a:r>
          </a:p>
          <a:p>
            <a:pPr algn="l">
              <a:spcAft>
                <a:spcPts val="500"/>
              </a:spcAft>
            </a:pPr>
            <a:r>
              <a:rPr sz="1500" b="0">
                <a:solidFill>
                  <a:srgbClr val="1C1C1C"/>
                </a:solidFill>
                <a:latin typeface="Calibri"/>
              </a:rPr>
              <a:t>▸  Carprofen: dog. Onsior (robenacoxib) 2 mg/kg SQ: dog or cat, labeled up to 3 days.</a:t>
            </a:r>
          </a:p>
          <a:p>
            <a:pPr algn="l">
              <a:spcAft>
                <a:spcPts val="500"/>
              </a:spcAft>
            </a:pPr>
            <a:r>
              <a:rPr sz="1500" b="0">
                <a:solidFill>
                  <a:srgbClr val="1C1C1C"/>
                </a:solidFill>
                <a:latin typeface="Calibri"/>
              </a:rPr>
              <a:t>▸  Onsior first dose: about 45 min before incision in dogs, 30 min in cats (label). Later doses at recovery or SQ/PO.</a:t>
            </a:r>
          </a:p>
          <a:p>
            <a:pPr algn="l">
              <a:spcAft>
                <a:spcPts val="500"/>
              </a:spcAft>
            </a:pPr>
            <a:r>
              <a:rPr sz="1500" b="0">
                <a:solidFill>
                  <a:srgbClr val="1C1C1C"/>
                </a:solidFill>
                <a:latin typeface="Calibri"/>
              </a:rPr>
              <a:t>▸  Willie already received DexSP: skip NSAID. MoMo: azotemic, skip NSAID.</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500"/>
              </a:spcAft>
            </a:pPr>
            <a:r>
              <a:rPr sz="1500" b="0">
                <a:solidFill>
                  <a:srgbClr val="1C1C1C"/>
                </a:solidFill>
                <a:latin typeface="Calibri"/>
              </a:rPr>
              <a:t>▸  A postoperative antibiotic injection is treatment. Write the drug, dose, and why.</a:t>
            </a:r>
          </a:p>
          <a:p>
            <a:pPr algn="l">
              <a:spcAft>
                <a:spcPts val="500"/>
              </a:spcAft>
            </a:pPr>
            <a:r>
              <a:rPr sz="1500" b="0">
                <a:solidFill>
                  <a:srgbClr val="1C1C1C"/>
                </a:solidFill>
                <a:latin typeface="Calibri"/>
              </a:rPr>
              <a:t>▸  Clean elective OHE: skip (Frey 2022). Do not send home 14 days of cephalexin.</a:t>
            </a:r>
          </a:p>
          <a:p>
            <a:pPr algn="l">
              <a:spcAft>
                <a:spcPts val="500"/>
              </a:spcAft>
            </a:pPr>
            <a:r>
              <a:rPr sz="1500" b="0">
                <a:solidFill>
                  <a:srgbClr val="1C1C1C"/>
                </a:solidFill>
                <a:latin typeface="Calibri"/>
              </a:rPr>
              <a:t>▸  Dirty or infected: continue as therapy. Willie’s ear is treatment, not prophylaxis.</a:t>
            </a:r>
          </a:p>
          <a:p>
            <a:pPr algn="l">
              <a:spcAft>
                <a:spcPts val="500"/>
              </a:spcAft>
            </a:pPr>
            <a:r>
              <a:rPr sz="1500" b="0">
                <a:solidFill>
                  <a:srgbClr val="1C1C1C"/>
                </a:solidFill>
                <a:latin typeface="Calibri"/>
              </a:rPr>
              <a:t>▸  Look twice daily: swelling, discharge, gapping, smell, heat.</a:t>
            </a:r>
          </a:p>
          <a:p>
            <a:pPr algn="l">
              <a:spcAft>
                <a:spcPts val="500"/>
              </a:spcAft>
            </a:pPr>
            <a:r>
              <a:rPr sz="1500" b="0">
                <a:solidFill>
                  <a:srgbClr val="1C1C1C"/>
                </a:solidFill>
                <a:latin typeface="Calibri"/>
              </a:rPr>
              <a:t>▸  E-collar that stays on. Leash walks 14 days.</a:t>
            </a:r>
          </a:p>
          <a:p>
            <a:pPr algn="l">
              <a:spcAft>
                <a:spcPts val="500"/>
              </a:spcAft>
            </a:pPr>
            <a:r>
              <a:rPr sz="1500" b="0">
                <a:solidFill>
                  <a:srgbClr val="1C1C1C"/>
                </a:solidFill>
                <a:latin typeface="Calibri"/>
              </a:rPr>
              <a:t>▸  Skin sutures typically 10–14 days. Cats: start a meal the night of surgery.</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STILL SCORES THIS WINDOW. HEMORRHAGE, HERNIA, DEHISCENCE.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STATUS 3-E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III-E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ASA 3-E. Exam before any drug. Skip NSAID after DexSP. Premed path: opioid + alfaxalone.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Prep</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If intubated: 7.0 mm ETT, 1 L bag, circle. Canal and eye: dilute PVP-I, 1:50 of 10%.</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next. TECA-LBO only if medical therapy fails.</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BOTH RECEIVED A PREOPERATIVE EVALUATION. ONLY WILLIE WAS ANESTHETIZED.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 Proceed with sedation.</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vestibular + AS otitis + murmur. Compensated. Fill the anesthesia record. Alfaxalone, monitoring, ear clean, skip NSAID after DexSP. Own the next 24 hours. MRI / possible TECA-LBO later. Assign a new ASA status on the day of that surgery.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 Cancel the exploratory.</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DSH, 4.25 kg. Vomiting that looked like FB. Labs + POCUS + AUS: structural renal disease, creatinine 3.0 → 4.71 on fluids. Exploratory cancelled. NSAIDs contraindicated. Record the decision. Offer supportive care, referral, or euthanasia. That conversation is still surgery.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Willie is ASA Status 3-E: sedate with a plan. MoMo is Status 4-E: image first, then cancel.</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ASA, then premed IM/SQ, induction IV to effect, inhalant to MAC. Premed lowers MAC.</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Correct deficits before elective. Albumin &lt;2.0 g/dL: delay, treat the cause, do not crystalloid-flood.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When prophylaxis is indicated: cefazolin 22 mg/kg IV 30–60 min before incision. Clean OHE: skip.</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Clock minimum contact time. Then four-quadrant towels and the large drape. Hair out of the window.</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Pale + tachycardic after celiotomy: hemorrhage until proven otherwise. Return to OR.</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Why was Willie ASA Status 3-E and MoMo ASA Status 4-E?
Albumin is 1.6 g/dL and the mass is elective. What do you do before you cut?</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Lather about 5 min, rinse, paint Solution Veterinary, dry.
10. BETADINE Solution Veterinary. 5% povidone-iodine (not 10%). DailyMed NDC 67618-155.
11. Nolvasan Surgical Scrub. 2% chlorhexidine acetate. DailyMed NDC 54771-8701.
12. ECFVG. CPE Manual of Administration. 2026 ed. Anesthesia; Surgery.
13. Pardo et al. 2024 AAHA Fluid Therapy. JAAHA. 2024;60:131–163.</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