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Teach ASA first. Then Willie: PE, then labs, then the students write the status. Do not give them 3-E before they commit. Then MoMo the same way: PE, then labs, then they write the status. Do not give them 4-E before they commit. Owner identifiers stay off these slides. Thirty-eight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Willie is an ASA quiz after the table, not a treatment case.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with MOA Appendix 2: Status 1 healthy, Status 2 mild and compensated, Status 3 moderate and compensated, Status 4 a constant threat to life, Status 5 moribund. E means emergency. Do not preview Willie. Next: one dog’s PE, then labs, then they write the status.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PE from today’s record. Do not say 3-E yet. Do not put the client name on the board. No DexSP, alfaxalone, ear clean, or TECA. Next slide is the actual lab numbers, then they write the status.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HCT 47.5 percent is on the CBC; this hour still teaches spun PCV on other patients. BUN 11.9 and creatinine 0.7 are in range. Phosphorus 6.0 and glucose 130 are above this lab’s range. Do not invent a renal diagnosis from phosphorus alone, and do not invent diabetes from one glucose. CBC values on this printout are in range. Do not advance until they say a number. Then the key: Status 3-E. Moderate systemic disease that is still compensated. Emergency because the ataxia plus AS otitis is acute. Not 1: the PE is not normal. Not 4: pink, CRT 2 seconds, BUN and creatinine in range, not a constant threat to life today. Mild high phosphorus and glucose do not write Status 4. No Willie treatment plan. Slide 35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PE from today’s record. Do not say 4-E yet. Pause on the photograph. Be respectful; this cat died. Do not put the client name on the board. Vitals list QAR and tacky mucous membranes; the oral and neuro lines list pink moist CRT less than 2 seconds and BAR. Both wordings are on the record; do not reconcile them into a story. Fear-based aggression is on the history; do not put the owner incident on the board. Next slide is the actual lab numbers, then they write the status. No DexSP. No Unasyn. No Cerenia.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First chemistry: BUN 48.7 (15 to 32), creatinine 3.0 (0.8 to 1.8). Later panel: BUN 100, creatinine 4.71 (0.50 to 1.90), HCT 44 percent in range, BE minus 7.4, sodium 142, glucose 136. WBC 26, neutrophils 24. TP is not on this printout; do not invent it. Hyperphosphatemia is on the problem list without a milligrams-per-deciliter number on these pages. Fluids were recorded as 1.5 times maintenance, 40 milliliters per kilogram per day. Do not invent fluid overload as the mechanism. USG from the previous day was within normal limits. Differentials on the record are not assigned as the diagnosis. Do not advance until they say a number. Then the key: Status 4-E. Uncompensated, a constant threat to life. Not 1: the PE is not normal, and azotemia is not a healthy cat. Not 3: Status 3 is compensated. Rising creatinine, a non-functional right kidney, and a left kidney with reduced corticomedullary architecture are not compensated IRIS-stage CKD. Emergency because vomiting and lethargy are acute. The workup cancelled the cut. Owner elected euthanasia. Never put DexSP on this cat. Do not teach Unasyn or Cerenia as an ASA protocol. Slide 36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Willie and MoMo ASA cells stay blank on purpose: they already wrote those on the quiz. Healthy Lab OHE is Status 1. PCV and TP method: EDTA, spin, read PCV, snap the capillary tube, refractometer TP. Do not invent percentages. A normal CBC does not write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as an original record, not the copyrighted form. The filled table is a 25 kilogram ASA 1 elective OHE: carprofen 4.4 milligrams per kilogram SQ, LRS 125 milliliters per hour. It is not a hospital-patient protocol. Students write drug, concentration, dose, volume, and route.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20 kg example: start 8.5 millimeter, 8.0 and 9.0 in the hand. Bag: kilograms times 60, round up. 1.2 liters is a 2 liter bag, circle. Fluids: Pardo 2024, dog 5 milliliters per kilogram per hour; write 100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Willie is an ASA example only: do not attach tube, bag, or fluid math to that dog.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BUN 48.7 to 100 and creatinine 3.0 to 4.71 are written as recorded. Fluids 1.5 times maintenance, 40 milliliters per kilogram per day, are on the record. Do not invent overload as the cause. Say it once, respectfully, then continue. Client identifiers stay off the board.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Frey 2022. Clean-contaminated: controlled entry into gut, airway, or bladder. Contaminated: fresh trauma or major spillage. Dirty: pus. An infected ear is dirty: treatment, not clean prophylaxis. Then say 22 milligrams per kilogram IV. Do not attribute that dose to AAHA 2022.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Do not clip until ready for prep: tube in, cuff to 20 centimeters of water, IV running, surgical plane. Clip and dirty-scrub in the prep area. Shoe covers, hair cap, and mask before the OR door. Gown is after the surgical hand scrub in the room, not in the hallway. Full sterile scrub after positioning. Then drape, then open and count instruments. Timeout. Announce the incision and mark it on the anesthesia chart. Clock to the last skin suture. CPE MOA 2026 Surgery scores hair, skin, position, drape, gown and glove. Veterinary Betadine: 7.5 percent scrub about 5 minutes, rinse, paint 5 percent Solution Veterinary. Eye: Roberts 1986, 1 to 50 of 10 percent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 healthy corneas. One case of corneal edema at 1 to 2. Deep ulcer, descemetocele, or open globe: saline only, call ophthalmology. Nolvasan: keep out of eyes. Ear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Dirty scrub is not sterile prep. Full scrub is in the OR after positioning.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door: shoe covers, cap, mask. Gown after the hand scrub, not in the hallway. Closed glove. Then drape, then open and count the pack. Students name SpO2, ETCO2, ECG, temp, and fluids before the first incision. Do not mix hospital-patient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25 kilogram dog: 10 millimeter, 2 liter circle, 125 milliliters per hour. B is Roberts 1986 on an intact cornea; perforation is saline only. A is airway before clippers, dirty scrub in the prep area, full scrub in the 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not the copyrighted form. Gold columns are times you mark: anesthesia start, first incision, last skin suture. Plot the rest every 5 to 10 minutes in real time against the normal operating range (CPE MOA 2026 Anesthesia). Write the number you see. Heart rate: dog 60 to 140 is the intra-op teaching band on this chart. Large dogs often sit in the 60s; small dogs often 100 to 140. Do not cite Grubb for 60 to 140. Ko and Krimins 2012 Table 2 is 60 to 120. Fossum Table 31-1 70 to 140 is the conscious dog, on the PE slide. Tachycardia alert 150 to 190 by size, Grubb 2020. Cat 100 to 180, AAFP 2018. Respiratory rate: dog 8 to 20, cat 10 to 25 is the intra-op teaching band on this chart. Dogs often sit 10 to 20; 8 can be acceptable in a small dog or a deeper plane. Cats often sit 12 to 20. Fossum 20 to 40 is the conscious patient, on the PE slide. Do not cite Grubb for 8 to 20 or 10 to 25. Apnea is out of range; start PPV. Blood pressure floors: SAP 90, MAP 70, DAP 40, Grubb 2020. Treat MAP under 60 as hypotension. ETCO2 40 to 50, start PPV if over 60. SpO2 at least 95 percent. Temperature at least 98 Fahrenheit. Circle oxygen: 2 to 3 liters, then 20 to 40 milliliters per kilogram per minute, minimum 500 milliliters per minute, Grubb 2020. Fluids: dog 5, cat 3 to 5 milliliters per kilogram per hour, Pardo 2024. Out of range: event, time, correction. Then fluids total, recovery analgesic, and sign. Time cells stay empty until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stack an NSAID with a corticosteroid. Skip NSAID if the patient is azotemic.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quiz. Status 3-E. Why not 1, why not 4. No drugs. No ear clean. No TECA.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quiz. Status 4-E. Why not 1, why not 3. No DexSP. No Unasyn. No Cerenia. Do not invent fluid overload. Client identifiers stay off the board.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then you write the ASA. Then prep. Then 24 hours of monitoring and complication management.</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7" name="TextBox 6"/>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dirty scrub, OR attire, full scrub, drape, instrument table,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8" name="Rounded Rectangle 7"/>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ready for prep → clip, dirty scrub, OR, full scrub, drape, instruments → first 24 hours.</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7" name="Rounded Rectangle 6"/>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0" name="TextBox 9"/>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1" name="Rounded Rectangle 10"/>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4" name="TextBox 13"/>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5" name="Rounded Rectangle 14"/>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8" name="TextBox 17"/>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19" name="Rounded Rectangle 18"/>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1" name="TextBox 20"/>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7" name="Rounded Rectangle 6"/>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0" name="TextBox 9"/>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1" name="Rounded Rectangle 10"/>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4" name="TextBox 13"/>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5" name="Rounded Rectangle 14"/>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8" name="TextBox 17"/>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19" name="Rounded Rectangle 18"/>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2" name="TextBox 21"/>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3" name="Rounded Rectangle 22"/>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6" name="TextBox 25"/>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7" name="Rounded Rectangle 26"/>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0" name="TextBox 29"/>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1" name="Rounded Rectangle 30"/>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4" name="TextBox 33"/>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5" name="Rectangle 3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7" name="TextBox 3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7" name="Rounded Rectangle 6"/>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0" name="TextBox 9"/>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1" name="TextBox 10"/>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2" name="Rounded Rectangle 11"/>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5" name="TextBox 14"/>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Clip, dirty scrub
Shoe covers, cap, mask
OR: full scrub, gown
Drape, instruments</a:t>
            </a:r>
          </a:p>
        </p:txBody>
      </p:sp>
      <p:sp>
        <p:nvSpPr>
          <p:cNvPr id="16" name="TextBox 15"/>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7" name="Rounded Rectangle 16"/>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0" name="TextBox 19"/>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Mark incision
Hold asepsis
Halsted, temp, pain
Chart every 5–10 min</a:t>
            </a:r>
          </a:p>
        </p:txBody>
      </p:sp>
      <p:sp>
        <p:nvSpPr>
          <p:cNvPr id="21" name="TextBox 20"/>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2" name="Rounded Rectangle 21"/>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5" name="TextBox 24"/>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6" name="Rounded Rectangle 25"/>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8" name="TextBox 27"/>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29" name="Rounded Rectangle 28"/>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1" name="TextBox 30"/>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7" name="Rounded Rectangle 6"/>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0" name="TextBox 9"/>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Write the numbers. Conscious dog: HR 70–140, RR 20–40. Cat: HR 145–200, RR 20–40 (Fossum).</a:t>
            </a:r>
          </a:p>
        </p:txBody>
      </p:sp>
      <p:sp>
        <p:nvSpPr>
          <p:cNvPr id="11" name="Rounded Rectangle 10"/>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4" name="TextBox 13"/>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5" name="Rounded Rectangle 14"/>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8" name="TextBox 17"/>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19" name="Rounded Rectangle 18"/>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2" name="TextBox 21"/>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3" name="Rectangle 22"/>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5" name="Rounded Rectangle 24"/>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8" name="TextBox 27"/>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29" name="Rounded Rectangle 28"/>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2" name="TextBox 31"/>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3" name="Rounded Rectangle 32"/>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6" name="TextBox 35"/>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7" name="Rectangle 6"/>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9" name="TextBox 8"/>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0" name="TextBox 9"/>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1" name="Rounded Rectangle 10"/>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4" name="TextBox 13"/>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5" name="TextBox 14"/>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6" name="Rounded Rectangle 15"/>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19" name="TextBox 18"/>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0" name="TextBox 19"/>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1" name="Rounded Rectangle 20"/>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4" name="TextBox 23"/>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5" name="TextBox 24"/>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6" name="Rounded Rectangle 25"/>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29" name="TextBox 28"/>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0" name="TextBox 29"/>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1" name="Rounded Rectangle 30"/>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4" name="TextBox 33"/>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5" name="TextBox 34"/>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6" name="Rounded Rectangle 35"/>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moderate and compensated. Status 4 is uncompensated and a threat to life. Today’s PE and labs write the number. A normal CBC does not write Status 1.</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today’s PE</a:t>
            </a:r>
          </a:p>
        </p:txBody>
      </p:sp>
      <p:sp>
        <p:nvSpPr>
          <p:cNvPr id="7" name="Rounded Rectangle 6"/>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MN Cavalier, 6 y 11 mo, 13.7 kg. Acute ataxia and disorientation ~1 hour. Found on the floor; fell off the couch twice. Abnormal paw placement. Cytopoint. T 100.8 °F, HR 132, RR 52, mm pink, CRT 2 s, dull/quiet. Do not write the ASA yet.</a:t>
            </a:r>
          </a:p>
        </p:txBody>
      </p:sp>
      <p:sp>
        <p:nvSpPr>
          <p:cNvPr id="9" name="Rounded Rectangle 8"/>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2" name="TextBox 11"/>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3" name="Rounded Rectangle 12"/>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6" name="TextBox 15"/>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Ataxia. Disorientation. Could not stand without falling. Abnormal paw placement / sliding on a forelimb. Dull, quiet.</a:t>
            </a:r>
          </a:p>
        </p:txBody>
      </p:sp>
      <p:sp>
        <p:nvSpPr>
          <p:cNvPr id="17" name="Rounded Rectangle 16"/>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0" name="TextBox 19"/>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Lungs clear, eupneic. Heavy tartar. Yellow crusts on the nasal philtrum. Eyes: PLR present.</a:t>
            </a:r>
          </a:p>
        </p:txBody>
      </p:sp>
      <p:sp>
        <p:nvSpPr>
          <p:cNvPr id="21" name="Rounded Rectangle 20"/>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This slide is the examination. Next: today’s chemistry and CBC, including HCT and TP. Then you write the ASA. Add E if this is an emergency. Owner identifiers stay off these slides. Do not use a drug list on this dog.</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47.5%  (36.9–60.0)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6.4 g/dL  (5.5–7.6)</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11.9 (9.0–29.0). Cr 0.7 (0.4–1.4).</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Phos 6.0 (1.9–5.0). Glucose 130 (75–125). CBC in range.</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800" b="1">
                <a:solidFill>
                  <a:srgbClr val="0B2C4A"/>
                </a:solidFill>
                <a:latin typeface="Calibri"/>
              </a:rPr>
              <a:t>Quiz. Assign ASA. Add E if emergency. Write it before you hear the key.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1?</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What on today’s PE is not a normal healthy patient?</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Why not Status 4?</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Is this a constant threat to life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today’s PE</a:t>
            </a:r>
          </a:p>
        </p:txBody>
      </p:sp>
      <p:pic>
        <p:nvPicPr>
          <p:cNvPr id="7" name="Picture 6" descr="momo.jpg"/>
          <p:cNvPicPr>
            <a:picLocks noChangeAspect="1"/>
          </p:cNvPicPr>
          <p:nvPr/>
        </p:nvPicPr>
        <p:blipFill>
          <a:blip r:embed="rId2"/>
          <a:stretch>
            <a:fillRect/>
          </a:stretch>
        </p:blipFill>
        <p:spPr>
          <a:xfrm>
            <a:off x="365760" y="1024128"/>
            <a:ext cx="4041648" cy="5394960"/>
          </a:xfrm>
          <a:prstGeom prst="rect">
            <a:avLst/>
          </a:prstGeom>
        </p:spPr>
      </p:pic>
      <p:sp>
        <p:nvSpPr>
          <p:cNvPr id="8" name="Rounded Rectangle 7"/>
          <p:cNvSpPr/>
          <p:nvPr/>
        </p:nvSpPr>
        <p:spPr>
          <a:xfrm>
            <a:off x="4553712" y="1024128"/>
            <a:ext cx="7178040" cy="117043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SF DSH, 6 yr, 4.25 kg, BCS 5/9. Acute vomiting and lethargy this morning. Two vomits (food, then liquid). Construction at home. T 98.0 °F, HR 200, RR 30, mm pink tacky, CRT &lt;2 s, QAR. Do not write the ASA yet.</a:t>
            </a:r>
          </a:p>
        </p:txBody>
      </p:sp>
      <p:sp>
        <p:nvSpPr>
          <p:cNvPr id="10" name="Rounded Rectangle 9"/>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Possible FB or toxin was on the list. Mildly enlarged abdomen. That is how cats get booked for an exploratory.</a:t>
            </a:r>
          </a:p>
        </p:txBody>
      </p:sp>
      <p:sp>
        <p:nvSpPr>
          <p:cNvPr id="14" name="Rounded Rectangle 13"/>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Abdomen and the rest of PE</a:t>
            </a:r>
          </a:p>
        </p:txBody>
      </p:sp>
      <p:sp>
        <p:nvSpPr>
          <p:cNvPr id="17" name="TextBox 16"/>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Mildly enlarged abdomen on palpation. Rectal not examined. The PE did not prove a foreign body.</a:t>
            </a:r>
          </a:p>
        </p:txBody>
      </p:sp>
      <p:sp>
        <p:nvSpPr>
          <p:cNvPr id="18" name="Rounded Rectangle 17"/>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Eyes, ears, nose normal. Oral pink, CRT &lt;2. Lungs clear, eupneic. No murmur, regular rhythm. Ambulatory ×4. LN and skin WNL. Neuro: normal gait, CNs intact. MCS 3/3. Generalized small stature.</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44%  (28–50)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Not on this printout</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48.7 → 100 (15–32). Cr 3.0 → 4.71.</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WBC 26 (3–16). Neutrophils 24 (4–11). Na 142. BE −7.4. Glucose 136. Phos high; no number printed.</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600" b="1">
                <a:solidFill>
                  <a:srgbClr val="0B2C4A"/>
                </a:solidFill>
                <a:latin typeface="Calibri"/>
              </a:rPr>
              <a:t>Quiz. Assign ASA. Add E if emergency. Write it before you hear the key. AUS: right kidney fluid-filled, non-functional; left kidney reduced corticomedullary architecture.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3?</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Is this still compensated CKD, or a constant threat to life?</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Cut today?</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Exploratory on vomiting and an enlarged abdomen?</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7" name="Rounded Rectangle 6"/>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9" name="Picture 8"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7" name="Rectangle 6"/>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9" name="TextBox 8"/>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0" name="TextBox 9"/>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1" name="Rounded Rectangle 10"/>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3" name="TextBox 12"/>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4" name="TextBox 13"/>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5" name="Rounded Rectangle 14"/>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7" name="TextBox 16"/>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8" name="TextBox 17"/>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19" name="Rounded Rectangle 18"/>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1" name="TextBox 20"/>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2" name="TextBox 21"/>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3" name="Rounded Rectangle 22"/>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5" name="TextBox 24"/>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6" name="TextBox 25"/>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7" name="Rounded Rectangle 26"/>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29" name="TextBox 28"/>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0" name="TextBox 29"/>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1" name="TextBox 30"/>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7" name="Rounded Rectangle 6"/>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0" name="TextBox 9"/>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Healthy: DKT or BAA.</a:t>
            </a:r>
          </a:p>
        </p:txBody>
      </p:sp>
      <p:sp>
        <p:nvSpPr>
          <p:cNvPr id="11" name="Rounded Rectangle 10"/>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4" name="TextBox 13"/>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5" name="Rounded Rectangle 14"/>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8" name="TextBox 17"/>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19" name="Picture 18"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0" name="TextBox 9"/>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4" name="TextBox 13"/>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8" name="TextBox 17"/>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7" name="Rounded Rectangle 6"/>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0" name="TextBox 9"/>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1" name="TextBox 10"/>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2" name="Rounded Rectangle 11"/>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5" name="TextBox 14"/>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6" name="TextBox 15"/>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7" name="Rounded Rectangle 16"/>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0" name="TextBox 19"/>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1" name="TextBox 20"/>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Example: 20 × 5 = 100 mL/hr.</a:t>
            </a:r>
          </a:p>
        </p:txBody>
      </p:sp>
      <p:pic>
        <p:nvPicPr>
          <p:cNvPr id="22" name="Picture 21"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7" name="Picture 6"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7" name="Rounded Rectangle 6"/>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0" name="TextBox 9"/>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1" name="Rounded Rectangle 10"/>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4" name="TextBox 13"/>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5" name="Rounded Rectangle 14"/>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8" name="TextBox 17"/>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19" name="Rounded Rectangle 18"/>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2" name="TextBox 21"/>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Infected ear canal. Pyometra with pus.
This is treatment, not prophylaxis.</a:t>
            </a:r>
          </a:p>
        </p:txBody>
      </p:sp>
      <p:sp>
        <p:nvSpPr>
          <p:cNvPr id="23" name="Rounded Rectangle 22"/>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before you draw cefazolin. Clean elective: skip. When prophylaxis is indicated: cefazolin 22 mg/kg IV 30–60 min before incision (Gonzalez 2017; Frey 2022). Second dose if surgery lasts &gt;90 min (Whittem 1999). Stop at closure unless you are treating infection.</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Clip, dirty scrub, then the OR</a:t>
            </a:r>
          </a:p>
        </p:txBody>
      </p:sp>
      <p:pic>
        <p:nvPicPr>
          <p:cNvPr id="7" name="Picture 6" descr="prep_or_sequence.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9" name="Picture 8" descr="clip_cat.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2" name="Picture 11"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7" name="Rounded Rectangle 6"/>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Eye: intact cornea only. 10% stock 1:50, or 5% bottle 1:25. Both = 0.2% (Roberts 1986).</a:t>
            </a:r>
          </a:p>
        </p:txBody>
      </p:sp>
      <p:sp>
        <p:nvSpPr>
          <p:cNvPr id="9" name="Rounded Rectangle 8"/>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2" name="TextBox 11"/>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3" name="Rounded Rectangle 12"/>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6" name="TextBox 15"/>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7" name="Rounded Rectangle 16"/>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0" name="TextBox 19"/>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Goal: 0.2% on intact cornea
10% stock → dilute 1:50
5% bottle → dilute 1:25
MIN: 2 min + 2 min
Perforation: saline only</a:t>
            </a:r>
          </a:p>
        </p:txBody>
      </p:sp>
      <p:sp>
        <p:nvSpPr>
          <p:cNvPr id="21" name="Rounded Rectangle 20"/>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studied healthy corneas. 1:50 of 10% = 0.2%. 1:2 caused edema in 1/15 eyes. Deep ulcer, descemetocele, or perforation: do not run this prep; saline and ophthalmology.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7" name="Picture 6"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8" name="Rounded Rectangle 7"/>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0" name="TextBox 9"/>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(preliminary) scrub in the prep area, after the clip.</a:t>
            </a:r>
          </a:p>
          <a:p>
            <a:pPr algn="l">
              <a:spcAft>
                <a:spcPts val="1000"/>
              </a:spcAft>
            </a:pPr>
            <a:r>
              <a:rPr sz="1600" b="0">
                <a:solidFill>
                  <a:srgbClr val="1C1C1C"/>
                </a:solidFill>
                <a:latin typeface="Calibri"/>
              </a:rPr>
              <a:t>▸  Move to the OR. Position, pad, tie.</a:t>
            </a:r>
          </a:p>
          <a:p>
            <a:pPr algn="l">
              <a:spcAft>
                <a:spcPts val="1000"/>
              </a:spcAft>
            </a:pPr>
            <a:r>
              <a:rPr sz="1600" b="0">
                <a:solidFill>
                  <a:srgbClr val="1C1C1C"/>
                </a:solidFill>
                <a:latin typeface="Calibri"/>
              </a:rPr>
              <a:t>▸  Full (sterile) scrub in the room.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1:50 or 5% 1:25. Intact cornea. Perforation: saline only.</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7" name="Picture 6" descr="dog_or.jpg"/>
          <p:cNvPicPr>
            <a:picLocks noChangeAspect="1"/>
          </p:cNvPicPr>
          <p:nvPr/>
        </p:nvPicPr>
        <p:blipFill>
          <a:blip r:embed="rId2"/>
          <a:stretch>
            <a:fillRect/>
          </a:stretch>
        </p:blipFill>
        <p:spPr>
          <a:xfrm>
            <a:off x="320040" y="1024128"/>
            <a:ext cx="7635240" cy="5440680"/>
          </a:xfrm>
          <a:prstGeom prst="rect">
            <a:avLst/>
          </a:prstGeom>
        </p:spPr>
      </p:pic>
      <p:sp>
        <p:nvSpPr>
          <p:cNvPr id="8" name="Rounded Rectangle 7"/>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0" name="TextBox 9"/>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9" name="Picture 8"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2" name="Picture 11"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OR attire, gown, glove, instruments</a:t>
            </a:r>
          </a:p>
        </p:txBody>
      </p:sp>
      <p:pic>
        <p:nvPicPr>
          <p:cNvPr id="7" name="Picture 6" descr="prep_closed_gloving.png"/>
          <p:cNvPicPr>
            <a:picLocks noChangeAspect="1"/>
          </p:cNvPicPr>
          <p:nvPr/>
        </p:nvPicPr>
        <p:blipFill>
          <a:blip r:embed="rId2"/>
          <a:stretch>
            <a:fillRect/>
          </a:stretch>
        </p:blipFill>
        <p:spPr>
          <a:xfrm>
            <a:off x="320040" y="1024128"/>
            <a:ext cx="5760720" cy="3794760"/>
          </a:xfrm>
          <a:prstGeom prst="rect">
            <a:avLst/>
          </a:prstGeom>
        </p:spPr>
      </p:pic>
      <p:sp>
        <p:nvSpPr>
          <p:cNvPr id="8" name="Rounded Rectangle 7"/>
          <p:cNvSpPr/>
          <p:nvPr/>
        </p:nvSpPr>
        <p:spPr>
          <a:xfrm>
            <a:off x="6172200" y="1024128"/>
            <a:ext cx="5669280" cy="3794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133856"/>
            <a:ext cx="5349240" cy="365760"/>
          </a:xfrm>
          <a:prstGeom prst="rect">
            <a:avLst/>
          </a:prstGeom>
          <a:noFill/>
        </p:spPr>
        <p:txBody>
          <a:bodyPr wrap="square" anchor="t"/>
          <a:lstStyle/>
          <a:p>
            <a:pPr algn="l"/>
            <a:r>
              <a:rPr sz="1800" b="1">
                <a:solidFill>
                  <a:srgbClr val="0B2C4A"/>
                </a:solidFill>
                <a:latin typeface="Calibri"/>
              </a:rPr>
              <a:t>Before you cut</a:t>
            </a:r>
          </a:p>
        </p:txBody>
      </p:sp>
      <p:sp>
        <p:nvSpPr>
          <p:cNvPr id="10" name="TextBox 9"/>
          <p:cNvSpPr txBox="1"/>
          <p:nvPr/>
        </p:nvSpPr>
        <p:spPr>
          <a:xfrm>
            <a:off x="6309360" y="1554480"/>
            <a:ext cx="5394960" cy="3108960"/>
          </a:xfrm>
          <a:prstGeom prst="rect">
            <a:avLst/>
          </a:prstGeom>
          <a:noFill/>
        </p:spPr>
        <p:txBody>
          <a:bodyPr wrap="square">
            <a:spAutoFit/>
          </a:bodyPr>
          <a:lstStyle/>
          <a:p>
            <a:pPr algn="l">
              <a:spcAft>
                <a:spcPts val="800"/>
              </a:spcAft>
            </a:pPr>
            <a:r>
              <a:rPr sz="1600" b="0">
                <a:solidFill>
                  <a:srgbClr val="1C1C1C"/>
                </a:solidFill>
                <a:latin typeface="Calibri"/>
              </a:rPr>
              <a:t>▸  Door: shoe covers, hair cap, mask. Then enter.</a:t>
            </a:r>
          </a:p>
          <a:p>
            <a:pPr algn="l">
              <a:spcAft>
                <a:spcPts val="800"/>
              </a:spcAft>
            </a:pPr>
            <a:r>
              <a:rPr sz="1600" b="0">
                <a:solidFill>
                  <a:srgbClr val="1C1C1C"/>
                </a:solidFill>
                <a:latin typeface="Calibri"/>
              </a:rPr>
              <a:t>▸  Surgical hand scrub. Gown. Closed glove (hands stay in the cuffs).</a:t>
            </a:r>
          </a:p>
          <a:p>
            <a:pPr algn="l">
              <a:spcAft>
                <a:spcPts val="800"/>
              </a:spcAft>
            </a:pPr>
            <a:r>
              <a:rPr sz="1600" b="0">
                <a:solidFill>
                  <a:srgbClr val="1C1C1C"/>
                </a:solidFill>
                <a:latin typeface="Calibri"/>
              </a:rPr>
              <a:t>▸  Drape. Then open the instrument pack. Check the indicator.</a:t>
            </a:r>
          </a:p>
          <a:p>
            <a:pPr algn="l">
              <a:spcAft>
                <a:spcPts val="800"/>
              </a:spcAft>
            </a:pPr>
            <a:r>
              <a:rPr sz="1600" b="0">
                <a:solidFill>
                  <a:srgbClr val="1C1C1C"/>
                </a:solidFill>
                <a:latin typeface="Calibri"/>
              </a:rPr>
              <a:t>▸  Arrange. Count sponges and instruments. Mayo stand.</a:t>
            </a:r>
          </a:p>
          <a:p>
            <a:pPr algn="l">
              <a:spcAft>
                <a:spcPts val="800"/>
              </a:spcAft>
            </a:pPr>
            <a:r>
              <a:rPr sz="1600" b="0">
                <a:solidFill>
                  <a:srgbClr val="1C1C1C"/>
                </a:solidFill>
                <a:latin typeface="Calibri"/>
              </a:rPr>
              <a:t>▸  Name the monitors: ECG, SpO2, ETCO2, temp, fluids.</a:t>
            </a:r>
          </a:p>
        </p:txBody>
      </p:sp>
      <p:sp>
        <p:nvSpPr>
          <p:cNvPr id="11" name="Rounded Rectangle 10"/>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door attire, then gown, drape, open the pack, count, Mayo stand. Timeout. Announce the incision and mark it on the chart.</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7" name="Rounded Rectangle 6"/>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9" name="TextBox 8"/>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0" name="Rounded Rectangle 9"/>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2" name="TextBox 11"/>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3" name="Rounded Rectangle 12"/>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7" name="Rounded Rectangle 6"/>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0" name="TextBox 9"/>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1" name="TextBox 10"/>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Clip and dirty-scrub in the prep area. Full sterile scrub in the OR after positioning.</a:t>
            </a:r>
          </a:p>
        </p:txBody>
      </p:sp>
      <p:sp>
        <p:nvSpPr>
          <p:cNvPr id="12" name="Rounded Rectangle 11"/>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5" name="TextBox 14"/>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6" name="TextBox 15"/>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10% stock 1:50, 2 min + 2 min. 5% bottle: 1:25. Perforation: saline only.</a:t>
            </a:r>
          </a:p>
        </p:txBody>
      </p:sp>
      <p:sp>
        <p:nvSpPr>
          <p:cNvPr id="17" name="Rounded Rectangle 16"/>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0" name="TextBox 19"/>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1" name="TextBox 20"/>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2" name="Rounded Rectangle 21"/>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5" name="TextBox 24"/>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25 kg dog. Tube, bag, and IV fluid rate if you intubate?</a:t>
            </a:r>
          </a:p>
        </p:txBody>
      </p:sp>
      <p:sp>
        <p:nvSpPr>
          <p:cNvPr id="26" name="TextBox 25"/>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10 mm, 2 L circle, LRS 125 mL/hr (5 mL/kg/hr).</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7" name="Picture 6"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8" name="Rounded Rectangle 7"/>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0" name="TextBox 9"/>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start, incision, criteria</a:t>
            </a:r>
          </a:p>
        </p:txBody>
      </p:sp>
      <p:pic>
        <p:nvPicPr>
          <p:cNvPr id="7" name="Picture 6"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7" name="Rounded Rectangle 6"/>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0" name="TextBox 9"/>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1" name="Rounded Rectangle 10"/>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4" name="TextBox 13"/>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5" name="Rounded Rectangle 14"/>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8" name="TextBox 17"/>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19" name="Rounded Rectangle 18"/>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2" name="TextBox 21"/>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3" name="Rounded Rectangle 22"/>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6" name="TextBox 25"/>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7" name="Rounded Rectangle 26"/>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0" name="TextBox 29"/>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0" name="TextBox 9"/>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4" name="TextBox 13"/>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8" name="TextBox 17"/>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Willie is Status 3-E</a:t>
            </a:r>
          </a:p>
        </p:txBody>
      </p:sp>
      <p:sp>
        <p:nvSpPr>
          <p:cNvPr id="7" name="Rounded Rectangle 6"/>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today’s PE and today’s labs write the status</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Acute ataxia and disorientation. AS otitis. Grade II/VI murmur. That is moderate systemic disease, not a normal PE.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Pink, CRT 2 s. BUN 11.9 and creatinine 0.7 in range. Not a constant threat to life today.</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Not Status 1</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HCT 47.5% in range does not write Status 1. Otitis plus ataxia plus a murmur is not Status 1.</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Not Status 4</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Phos 6.0 and glucose 130 are high. They do not write Status 4. Status 4 is a constant threat to life.</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MoMo is Status 4-E</a:t>
            </a:r>
          </a:p>
        </p:txBody>
      </p:sp>
      <p:sp>
        <p:nvSpPr>
          <p:cNvPr id="7" name="Rounded Rectangle 6"/>
          <p:cNvSpPr/>
          <p:nvPr/>
        </p:nvSpPr>
        <p:spPr>
          <a:xfrm>
            <a:off x="457200" y="1051560"/>
            <a:ext cx="11247120" cy="73152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MoMo  ·  SF DSH  ·  4.25 kg  ·  today’s PE and today’s labs write the status. Do not cut.</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FFFFFF"/>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Acute vomiting and lethargy. Azotemia. Right kidney fluid-filled and non-functional. Left kidney reduced corticomedullary architecture.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FFFFFF"/>
                </a:solidFill>
                <a:latin typeface="Calibri"/>
              </a:rPr>
              <a:t>Uncompensated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BUN 48.7 → 100. Cr 3.0 → 4.71. BE −7.4. Na 142. HR 200, tacky mm. That is a constant threat to life.</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FFFFFF"/>
                </a:solidFill>
                <a:latin typeface="Calibri"/>
              </a:rPr>
              <a:t>Not Status 3</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Status 3 is moderate and compensated. A HCT of 44% in range does not write Status 1. This is not compensated CKD.</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FFFFFF"/>
                </a:solidFill>
                <a:latin typeface="Calibri"/>
              </a:rPr>
              <a:t>Do not cut</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Exploratory cancelled. NSAIDs contraindicated. Owner elected euthanasia. Record SURGERY CANCELLED.</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clip, dirty scrub, move, full scrub, drape. Surgeon: shoe covers, cap, mask, then gown and closed glove. Instrument table, then announce incision.</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Mark anesthesia start and first incision. Fill the chart every 5–10 min against the operating range. Then complications, recovery analgesics, and sign.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