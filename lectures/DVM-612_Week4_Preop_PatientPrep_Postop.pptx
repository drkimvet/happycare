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is the view you want: camera above the table, looking down into the fenestration. The hole is the incision. Hair is under the drape. Left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20040" y="987552"/>
            <a:ext cx="4160520" cy="384048"/>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987552"/>
            <a:ext cx="4160520" cy="384048"/>
          </a:xfrm>
          <a:prstGeom prst="rect">
            <a:avLst/>
          </a:prstGeom>
          <a:noFill/>
        </p:spPr>
        <p:txBody>
          <a:bodyPr wrap="square" anchor="ctr"/>
          <a:lstStyle/>
          <a:p>
            <a:pPr algn="ctr"/>
            <a:r>
              <a:rPr sz="1600" b="1">
                <a:solidFill>
                  <a:srgbClr val="FFFFFF"/>
                </a:solidFill>
                <a:latin typeface="Calibri"/>
              </a:rPr>
              <a:t>Hair at the drape edge</a:t>
            </a:r>
          </a:p>
        </p:txBody>
      </p:sp>
      <p:pic>
        <p:nvPicPr>
          <p:cNvPr id="9" name="Picture 8" descr="cherry_point_spay.jpg"/>
          <p:cNvPicPr>
            <a:picLocks noChangeAspect="1"/>
          </p:cNvPicPr>
          <p:nvPr/>
        </p:nvPicPr>
        <p:blipFill>
          <a:blip r:embed="rId2"/>
          <a:stretch>
            <a:fillRect/>
          </a:stretch>
        </p:blipFill>
        <p:spPr>
          <a:xfrm>
            <a:off x="320040" y="1389888"/>
            <a:ext cx="4160520" cy="3246120"/>
          </a:xfrm>
          <a:prstGeom prst="rect">
            <a:avLst/>
          </a:prstGeom>
        </p:spPr>
      </p:pic>
      <p:sp>
        <p:nvSpPr>
          <p:cNvPr id="10" name="Rounded Rectangle 9"/>
          <p:cNvSpPr/>
          <p:nvPr/>
        </p:nvSpPr>
        <p:spPr>
          <a:xfrm>
            <a:off x="4617720" y="987552"/>
            <a:ext cx="7223760" cy="384048"/>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987552"/>
            <a:ext cx="7223760" cy="384048"/>
          </a:xfrm>
          <a:prstGeom prst="rect">
            <a:avLst/>
          </a:prstGeom>
          <a:noFill/>
        </p:spPr>
        <p:txBody>
          <a:bodyPr wrap="square" anchor="ctr"/>
          <a:lstStyle/>
          <a:p>
            <a:pPr algn="ctr"/>
            <a:r>
              <a:rPr sz="1600" b="1">
                <a:solidFill>
                  <a:srgbClr val="FFFFFF"/>
                </a:solidFill>
                <a:latin typeface="Calibri"/>
              </a:rPr>
              <a:t>Overhead: the window is the incision</a:t>
            </a:r>
          </a:p>
        </p:txBody>
      </p:sp>
      <p:pic>
        <p:nvPicPr>
          <p:cNvPr id="12" name="Picture 11" descr="overhead_dog_window.jpg"/>
          <p:cNvPicPr>
            <a:picLocks noChangeAspect="1"/>
          </p:cNvPicPr>
          <p:nvPr/>
        </p:nvPicPr>
        <p:blipFill>
          <a:blip r:embed="rId3"/>
          <a:stretch>
            <a:fillRect/>
          </a:stretch>
        </p:blipFill>
        <p:spPr>
          <a:xfrm>
            <a:off x="4617720" y="1389888"/>
            <a:ext cx="7223760" cy="3246120"/>
          </a:xfrm>
          <a:prstGeom prst="rect">
            <a:avLst/>
          </a:prstGeom>
        </p:spPr>
      </p:pic>
      <p:sp>
        <p:nvSpPr>
          <p:cNvPr id="13" name="Rounded Rectangle 12"/>
          <p:cNvSpPr/>
          <p:nvPr/>
        </p:nvSpPr>
        <p:spPr>
          <a:xfrm>
            <a:off x="320040" y="4736592"/>
            <a:ext cx="11521440" cy="16642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846320"/>
            <a:ext cx="11155680" cy="1444752"/>
          </a:xfrm>
          <a:prstGeom prst="rect">
            <a:avLst/>
          </a:prstGeom>
          <a:noFill/>
        </p:spPr>
        <p:txBody>
          <a:bodyPr wrap="square" anchor="t"/>
          <a:lstStyle/>
          <a:p>
            <a:pPr algn="l"/>
            <a:r>
              <a:rPr sz="1600" b="0">
                <a:solidFill>
                  <a:srgbClr val="1C1C1C"/>
                </a:solidFill>
                <a:latin typeface="Calibri"/>
              </a:rPr>
              <a:t>Look straight down on the field. Four towels box the site. Large drape last. Only clipped, painted skin is in the window. Hair stays under the drape. Re-clip until the hole is hair-free.
Left: Cpl. Samuel A. Nasso, USMC, public domain. Right: overhead teaching view of the surgical window.</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