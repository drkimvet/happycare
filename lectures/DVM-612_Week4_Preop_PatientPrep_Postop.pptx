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Two real patients from the same hospital. Willie, a 6-year 11-month MN Cavalier, 13.7 kg, acute vestibular crisis plus left otitis. We sedated him. MoMo, a 6-year SF DSH, 4.25 kg, vomiting that looked like a foreign-body surgery. Imaging cancelled the exploratory. Assign both ASA statuses. Owner identifiers stay off these slides.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Willie is the running surgical/sedation case. MoMo is the ASA IV-E cat whose preoperative evaluation cancelled an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a visible timer. If discussion runs, protect Part II (prep pictures) and both cases. Skip the large-animal slide if you are behind.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closure that hemorrhages in recovery is a failed surgery. The first 24 hours are part of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Anesthesia prepares the patient for surgical prep. Surgery owns prep through the last skin suture. Both own recovery.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Ask: who has watched an elective surgery get cancelled at induction? That is a successful preop exam.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jobs. Students often skip #3 and #4. Elective surgery on an unstable patient is not bravery.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 minutes. Highlight Doberman/vWD, brachycephalics, and last meal. Order: examine, then premedicate.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your own PE, then use the technician vitals as a second set of numbers. DVM 612 students share patients with anesthesia. The surgeon still owns the decision to proceed.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Status 1, then 3, then 4 slowly. This is the wording to memorize. E means emergency. Next: four 60-second cases, then Willie (3-E, we sedated) and MoMo (4-E, we did not cut).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Willie (sedation). D is MoMo (exploratory cancelled). The hyperkalemic blocked cat is in the knowledge check.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Willie. Record the murmur. Right-sided knuckling with left circling: treat as central vestibular disease plus otitis, then decide on sedation. Mentation was quiet/dull.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drum was seen, then ointment was infused. Aminoglycosides are a risk if the middle or inner ear is involved even when the drum looks present and swollen. Cavaliers also bring mitral valve disease and Chiari-like malformation to the vestibular list. Mention both, then return to the ear as the leading infectious cause. Skip NSAID after DexSP. Next patient: MoMo, whose evaluation cancelled surgery.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 identifiers stay off the slide. MoMo is the cat whose films looked like ‘maybe GI’ and were kidneys. Cold-call: who would have clipped her for an exploratory on history alone? That is the mistake this hour exists to prevent.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NSAIDs are contraindicated. Diuresis will not fix a destroyed kidney. If someone still wants to ‘just look inside,’ that is not surgery. It is harm. Be respectful; this cat died. The teaching point is judgment, not spectacle.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Request labs that change the plan. MoMo’s rising creatinine is the example: repeat the value, then act. Next two slides: CBC/chem and EPOC numbers mapped onto ASA Status. They inform the number. Today’s PE writes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Ninety seconds. Point at PCV, platelets, creatinine, potassium. Willie: CBC essentially Status 1, phosphorus mild up. His Status 3-E is the vestibular exam, not the chemistry. MoMo: WBC ~26 and creatinine 3.0 then 4.71 push the lab picture into Status 3–4.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MoMo’s EPOC: pH 7.255 is Status 3; base excess −7.4 is Status 2; lactate 2.05 is Status 1. Read venous pO2 33 as venous. Whole-patient Status was still 4-E from the kidneys. Willie: skip the EPOC for this ear clean.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payoff slide. Students want to average the columns. Teach: the worst compensated vital-system problem that is a constant threat sets the floor. MoMo’s kidneys set Status 4. Willie’s neuro exam set Status 3 even with a normal CBC.</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resuscitate first, then clip. Delay elective OHE for pyoderma. Take GDV to surgery after resuscitation; leave the booked dental for another day. MoMo: image and run labs, then cancel the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AAHA-style 4–6 h for healthy small animals as best practice. Older sources still say overnight NPO. Explain aspiration versus hypoglycemia. Ruminants are a different physiology, not a different lecture.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under-consent electives. A 2-minute risk talk prevents a 2-hour complaint. Mention DNR explicitly.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Checklist takes 90 seconds and prevents wrong-site and forgotten cefazolin. Analgesia: locals are underused by students. Next slides: the kit, then the anesthesia record you actually fill.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Ninety seconds. Point at Pre-op, then Prep, then Post-op. Ask: what is missing in your teaching lab today? MoMo: skip the clippers; the evaluation cancelled surgery. Willie: monitors on even for an ear clean.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header: ASA III-E is written before alfaxalone. DexSP means no NSAID. Grid every 5 minutes while sedated. Recovery boxes are part of the same page. Blank template lives with this lecture if they want to photograph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point of the hour. The form is not only for patients who get clipped. Recording the decision not to operate is a surgical document. NSAIDs contraindicated. Rising creatinine. Owner elected euthanasia.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Elective canine OHE is a clean procedure. Skip the 14-day cephalexin prescription. Willie’s left ear is infected, so antimicrobials are treatment, not clean prophylaxis.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2 minutes. Then move.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skill cluster for this hour: hair removal, skin prep, positioning, scrubbing/attire, gowning/gloving, draping. Lost asepsis that nobody names is how patients get SSI.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six boxes. Students should be able to name them without mixing in the cutting steps.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fail: clipping in the OR, or sterile prep in the prep room then dragging a wet dog across a dirty corridor without a clean transfer. Another fail: starting the clip before adequate anesthetic depth. The patient wakes, contaminates, and is lacerated. Step 5: 10% PVP-I on intact skin is 5 minutes of wet contact. Lather the 7.5% scrub for 5 minutes, rinse, paint 10% solution, dry before you drape. Mucosa and eye: 1 to 20 to 1 to 50. Eye at 1:50 is a 2-minute scrub plus a 2-minute soak.</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a real clip in progress and still too narrow. That is the teaching point. Right photo is a real 24-hour OHE: the clip is the field you needed yesterday. Willie: TECA field is pinna and skull, not abdomen. MoMo: stop at imaging; skip the clippers.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Orthopedic hang-prep: wrap the dirty foot, then prep from the incision toward the foot.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numbers on the board. Intact skin, 7.5% povidone-iodine scrub: lather 5 minutes, rinse, paint 10% solution, dry before draping. Veterinary Betadine label. Mucosa, conjunctiva, prepuce: 10% SOLUTION diluted 1 to 20 to 1 to 50. Eye at 1:50: 2-minute scrub plus 2-minute soak (Roberts, AJVR 1986). Cornea: stay at 1:50; 1:2 (5%) caused corneal edema. Aqueous chlorhexidine: 3 minutes wet contact; residual 6 hours. CHG–alcohol 2%/70%: 30 seconds dry skin, 2 minutes moist skin. Alcohol 70%: 30 seconds, then dry. PVP-I is not sporicidal at 5 minutes. Willie: swollen tympanum. Canal and periocular mucosa: dilute PVP-I.</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Clock 5 minutes for povidone-iodine on intact skin. Recite the 1 to 20 to 1 to 50 arithmetic. Eye: 2 minutes plus 2 minutes. No open-license spiral-prep photograph was available; this stays a diagram.</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 dog in dorsal recumbency. Point: airway and monitoring are on before the clip. Over-splitting femurs is a student habit. GDV positioning can worsen caval compression.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gown/mask/drape are present, but hair is still at the window. The clip is inadequate. Right is a real sterile field.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the inset as closed gloving. Students name SpO2, ETCO2, ECG, temp, fluids off the real workstation photo.</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Culture in lab: praise the person who says I just contaminated my sleeve. Then re-glove.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hemorrhage, closure, and asepsis to this hour. Ureter injury is a calm, well-prepped, well-exposed patient problem.</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is the safety slide. D: 1 to 20 to 1 to 50, 5 minutes wet on intact skin, 2 minutes plus 2 minutes on the eye. Hair at the drape edge: re-clip or re-drape until the window is hair-free.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Shift energy. Students think postop is ‘the techs’ job.’ It is not.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treat as hemorrhage,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should be able to fill this after a spay. Call-the-surgeon line at the bottom is the discharge talk they will repeat to clients. Photograph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Score pain. NSAIDs: not in hypovolemia, kidney injury, GI ulcer, or concurrent steroids. Willie already received DexSP.</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24-hour OHE. Licking and unsupervised running are the two discharge failures I see after otherwise adequate closure. Be concrete: no off-leash activity for 14 days.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time on hemorrhage vs. seroma (students confuse them) and skin vs.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Willie: neuro exam, ASA III-E, TM visible but swollen, DexSP given, no NSAID, murmur, films, MRI plan.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Role-play one sentence: ‘If the incision opens and you see fat or intestine, cover with a clean wet towel and come now.’ Students write too much physiology and too few phone numbers.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Cats and food. Diabetics and insulin. Short.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Halsted travels to the barn. Then get back to Willie.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Willie without questions until the end. Then one sentence on MoMo: the same hour of preoperative evaluation cancelled her exploratory. A healthy Lab OHE is ASA I: skip routine antibiotics. Willie is III-E. MoMo is IV-E: medical abdomen.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last content slide if time is gone. Healthy Lab OHE is only the ASA I contrast.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here if time is gone. They should defend Willie III-E and MoMo IV-E without looking.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to slide 1.</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Fossum is the text behind this hour.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Willie vs MoMo ASA, then iodine: 1 to 20 to 1 to 50, 5 minutes wet on intact skin, 2 minutes plus 2 minutes on the eye.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051560"/>
            <a:ext cx="10972800" cy="320040"/>
          </a:xfrm>
          <a:prstGeom prst="rect">
            <a:avLst/>
          </a:prstGeom>
          <a:noFill/>
        </p:spPr>
        <p:txBody>
          <a:bodyPr wrap="square" anchor="t"/>
          <a:lstStyle/>
          <a:p>
            <a:pPr algn="l"/>
            <a:r>
              <a:rPr sz="1300" b="1">
                <a:solidFill>
                  <a:srgbClr val="C5A35A"/>
                </a:solidFill>
                <a:latin typeface="Calibri"/>
              </a:rPr>
              <a:t>LONG ISLAND UNIVERSITY  ·  LEWYT COLLEGE OF VETERINARY MEDICINE</a:t>
            </a:r>
          </a:p>
        </p:txBody>
      </p:sp>
      <p:sp>
        <p:nvSpPr>
          <p:cNvPr id="6" name="TextBox 5"/>
          <p:cNvSpPr txBox="1"/>
          <p:nvPr/>
        </p:nvSpPr>
        <p:spPr>
          <a:xfrm>
            <a:off x="685800" y="1554480"/>
            <a:ext cx="10972800" cy="365760"/>
          </a:xfrm>
          <a:prstGeom prst="rect">
            <a:avLst/>
          </a:prstGeom>
          <a:noFill/>
        </p:spPr>
        <p:txBody>
          <a:bodyPr wrap="square" anchor="t"/>
          <a:lstStyle/>
          <a:p>
            <a:pPr algn="l"/>
            <a:r>
              <a:rPr sz="1600" b="1">
                <a:solidFill>
                  <a:srgbClr val="F4EBD3"/>
                </a:solidFill>
                <a:latin typeface="Calibri"/>
              </a:rPr>
              <a:t>DVM 612  ·  PRINCIPLES OF SURGERY</a:t>
            </a:r>
          </a:p>
        </p:txBody>
      </p:sp>
      <p:sp>
        <p:nvSpPr>
          <p:cNvPr id="7" name="TextBox 6"/>
          <p:cNvSpPr txBox="1"/>
          <p:nvPr/>
        </p:nvSpPr>
        <p:spPr>
          <a:xfrm>
            <a:off x="685800" y="2057400"/>
            <a:ext cx="10972800" cy="146304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4617720"/>
            <a:ext cx="10972800" cy="411480"/>
          </a:xfrm>
          <a:prstGeom prst="rect">
            <a:avLst/>
          </a:prstGeom>
          <a:noFill/>
        </p:spPr>
        <p:txBody>
          <a:bodyPr wrap="square" anchor="t"/>
          <a:lstStyle/>
          <a:p>
            <a:pPr algn="l"/>
            <a:r>
              <a:rPr sz="2200" b="1">
                <a:solidFill>
                  <a:srgbClr val="C5A35A"/>
                </a:solidFill>
                <a:latin typeface="Calibri"/>
              </a:rPr>
              <a:t>Dr. Yujin Kim, D.V.M., Ph.D., FFCP</a:t>
            </a:r>
          </a:p>
        </p:txBody>
      </p:sp>
      <p:sp>
        <p:nvSpPr>
          <p:cNvPr id="9" name="TextBox 8"/>
          <p:cNvSpPr txBox="1"/>
          <p:nvPr/>
        </p:nvSpPr>
        <p:spPr>
          <a:xfrm>
            <a:off x="685800" y="5029200"/>
            <a:ext cx="10972800" cy="320040"/>
          </a:xfrm>
          <a:prstGeom prst="rect">
            <a:avLst/>
          </a:prstGeom>
          <a:noFill/>
        </p:spPr>
        <p:txBody>
          <a:bodyPr wrap="square" anchor="t"/>
          <a:lstStyle/>
          <a:p>
            <a:pPr algn="l"/>
            <a:r>
              <a:rPr sz="1600" b="0">
                <a:solidFill>
                  <a:srgbClr val="F4EBD3"/>
                </a:solidFill>
                <a:latin typeface="Calibri"/>
              </a:rPr>
              <a:t>Lecture  |  60 minutes</a:t>
            </a:r>
          </a:p>
        </p:txBody>
      </p:sp>
      <p:sp>
        <p:nvSpPr>
          <p:cNvPr id="10" name="TextBox 9"/>
          <p:cNvSpPr txBox="1"/>
          <p:nvPr/>
        </p:nvSpPr>
        <p:spPr>
          <a:xfrm>
            <a:off x="685800" y="5394960"/>
            <a:ext cx="10972800" cy="640080"/>
          </a:xfrm>
          <a:prstGeom prst="rect">
            <a:avLst/>
          </a:prstGeom>
          <a:noFill/>
        </p:spPr>
        <p:txBody>
          <a:bodyPr wrap="square" anchor="t"/>
          <a:lstStyle/>
          <a:p>
            <a:pPr algn="l"/>
            <a:r>
              <a:rPr sz="1400" b="0">
                <a:solidFill>
                  <a:srgbClr val="FFFFFF"/>
                </a:solidFill>
                <a:latin typeface="Calibri"/>
              </a:rPr>
              <a:t>Preoperative evaluation · patient and surgeon preparation · postoperative care.
Two hospital cases: Willie (Cavalier, ASA III-E) and MoMo (cat, ASA IV-E; exploratory cancelled).</a:t>
            </a:r>
          </a:p>
        </p:txBody>
      </p:sp>
      <p:sp>
        <p:nvSpPr>
          <p:cNvPr id="11" name="TextBox 10"/>
          <p:cNvSpPr txBox="1"/>
          <p:nvPr/>
        </p:nvSpPr>
        <p:spPr>
          <a:xfrm>
            <a:off x="685800" y="6053328"/>
            <a:ext cx="10972800" cy="292608"/>
          </a:xfrm>
          <a:prstGeom prst="rect">
            <a:avLst/>
          </a:prstGeom>
          <a:noFill/>
        </p:spPr>
        <p:txBody>
          <a:bodyPr wrap="square" anchor="t"/>
          <a:lstStyle/>
          <a:p>
            <a:pPr algn="l"/>
            <a:r>
              <a:rPr sz="1200" b="0">
                <a:solidFill>
                  <a:srgbClr val="C5A35A"/>
                </a:solidFill>
                <a:latin typeface="Calibri"/>
              </a:rPr>
              <a:t>Required reading: Fossum, Small Animal Surgery, 5th ed. (2018)  ·  Hendrickson &amp; Baird (2013)</a:t>
            </a:r>
          </a:p>
        </p:txBody>
      </p:sp>
      <p:sp>
        <p:nvSpPr>
          <p:cNvPr id="12" name="TextBox 11"/>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1  /  59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DVM 612 WEEK 4</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Learning objectives</a:t>
            </a:r>
          </a:p>
        </p:txBody>
      </p:sp>
      <p:sp>
        <p:nvSpPr>
          <p:cNvPr id="8" name="TextBox 7"/>
          <p:cNvSpPr txBox="1"/>
          <p:nvPr/>
        </p:nvSpPr>
        <p:spPr>
          <a:xfrm>
            <a:off x="502920" y="1097280"/>
            <a:ext cx="11155680" cy="4206240"/>
          </a:xfrm>
          <a:prstGeom prst="rect">
            <a:avLst/>
          </a:prstGeom>
          <a:noFill/>
        </p:spPr>
        <p:txBody>
          <a:bodyPr wrap="square">
            <a:spAutoFit/>
          </a:bodyPr>
          <a:lstStyle/>
          <a:p>
            <a:pPr algn="l">
              <a:spcAft>
                <a:spcPts val="1200"/>
              </a:spcAft>
            </a:pPr>
            <a:r>
              <a:rPr sz="1800" b="0">
                <a:solidFill>
                  <a:srgbClr val="1C1C1C"/>
                </a:solidFill>
                <a:latin typeface="Calibri"/>
              </a:rPr>
              <a:t>▸  Perform a preoperative evaluation, assign an ASA status, and decide whether to proceed, delay, or stabilize.</a:t>
            </a:r>
          </a:p>
          <a:p>
            <a:pPr algn="l">
              <a:spcAft>
                <a:spcPts val="1200"/>
              </a:spcAft>
            </a:pPr>
            <a:r>
              <a:rPr sz="1800" b="0">
                <a:solidFill>
                  <a:srgbClr val="1C1C1C"/>
                </a:solidFill>
                <a:latin typeface="Calibri"/>
              </a:rPr>
              <a:t>▸  Build a peri-operative plan: fasting, analgesia, antimicrobial prophylaxis, consent, and checklist.</a:t>
            </a:r>
          </a:p>
          <a:p>
            <a:pPr algn="l">
              <a:spcAft>
                <a:spcPts val="1200"/>
              </a:spcAft>
            </a:pPr>
            <a:r>
              <a:rPr sz="1800" b="0">
                <a:solidFill>
                  <a:srgbClr val="1C1C1C"/>
                </a:solidFill>
                <a:latin typeface="Calibri"/>
              </a:rPr>
              <a:t>▸  Prepare the patient and surgeon for aseptic surgery: clip, correct antiseptic concentrations (including povidone-iodine 1 to 20 to 1 to 50), four-quadrant drape, gown, closed glove.</a:t>
            </a:r>
          </a:p>
          <a:p>
            <a:pPr algn="l">
              <a:spcAft>
                <a:spcPts val="1200"/>
              </a:spcAft>
            </a:pPr>
            <a:r>
              <a:rPr sz="1800" b="0">
                <a:solidFill>
                  <a:srgbClr val="1C1C1C"/>
                </a:solidFill>
                <a:latin typeface="Calibri"/>
              </a:rPr>
              <a:t>▸  Recognize and correct a break in asepsis before and after the incision is made.</a:t>
            </a:r>
          </a:p>
          <a:p>
            <a:pPr algn="l">
              <a:spcAft>
                <a:spcPts val="1200"/>
              </a:spcAft>
            </a:pPr>
            <a:r>
              <a:rPr sz="1800" b="0">
                <a:solidFill>
                  <a:srgbClr val="1C1C1C"/>
                </a:solidFill>
                <a:latin typeface="Calibri"/>
              </a:rPr>
              <a:t>▸  Write a postoperative plan, surgical report elements, and client discharge instructions, including 24-hour emergency criteria.</a:t>
            </a:r>
          </a:p>
        </p:txBody>
      </p:sp>
      <p:sp>
        <p:nvSpPr>
          <p:cNvPr id="9" name="Rounded Rectangle 8"/>
          <p:cNvSpPr/>
          <p:nvPr/>
        </p:nvSpPr>
        <p:spPr>
          <a:xfrm>
            <a:off x="457200" y="562356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715000"/>
            <a:ext cx="10881360" cy="594360"/>
          </a:xfrm>
          <a:prstGeom prst="rect">
            <a:avLst/>
          </a:prstGeom>
          <a:noFill/>
        </p:spPr>
        <p:txBody>
          <a:bodyPr wrap="square" anchor="t"/>
          <a:lstStyle/>
          <a:p>
            <a:pPr algn="l"/>
            <a:r>
              <a:rPr sz="1400" b="0">
                <a:solidFill>
                  <a:srgbClr val="0B2C4A"/>
                </a:solidFill>
                <a:latin typeface="Calibri"/>
              </a:rPr>
              <a:t>Willie: examine, assign ASA Status 3-E, then sedate. MoMo: examine, image, run labs, then cancel the exploratory.</a:t>
            </a:r>
          </a:p>
        </p:txBody>
      </p:sp>
      <p:sp>
        <p:nvSpPr>
          <p:cNvPr id="11" name="Rectangle 10"/>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3" name="TextBox 12"/>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  /  59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60 MINUTES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Hour plan</a:t>
            </a:r>
          </a:p>
        </p:txBody>
      </p:sp>
      <p:sp>
        <p:nvSpPr>
          <p:cNvPr id="8" name="Rounded Rectangle 7"/>
          <p:cNvSpPr/>
          <p:nvPr/>
        </p:nvSpPr>
        <p:spPr>
          <a:xfrm>
            <a:off x="502920" y="114300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143000"/>
            <a:ext cx="128016" cy="8412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252728"/>
            <a:ext cx="2103120" cy="621792"/>
          </a:xfrm>
          <a:prstGeom prst="rect">
            <a:avLst/>
          </a:prstGeom>
          <a:noFill/>
        </p:spPr>
        <p:txBody>
          <a:bodyPr wrap="square" anchor="ctr"/>
          <a:lstStyle/>
          <a:p>
            <a:pPr algn="l"/>
            <a:r>
              <a:rPr sz="1800" b="1">
                <a:solidFill>
                  <a:srgbClr val="0B2C4A"/>
                </a:solidFill>
                <a:latin typeface="Calibri"/>
              </a:rPr>
              <a:t>0–3 min</a:t>
            </a:r>
          </a:p>
        </p:txBody>
      </p:sp>
      <p:sp>
        <p:nvSpPr>
          <p:cNvPr id="11" name="TextBox 10"/>
          <p:cNvSpPr txBox="1"/>
          <p:nvPr/>
        </p:nvSpPr>
        <p:spPr>
          <a:xfrm>
            <a:off x="3108960" y="1252728"/>
            <a:ext cx="8229600" cy="621792"/>
          </a:xfrm>
          <a:prstGeom prst="rect">
            <a:avLst/>
          </a:prstGeom>
          <a:noFill/>
        </p:spPr>
        <p:txBody>
          <a:bodyPr wrap="square" anchor="ctr"/>
          <a:lstStyle/>
          <a:p>
            <a:pPr algn="l"/>
            <a:r>
              <a:rPr sz="1800" b="0">
                <a:solidFill>
                  <a:srgbClr val="1C1C1C"/>
                </a:solidFill>
                <a:latin typeface="Calibri"/>
              </a:rPr>
              <a:t>Introduction and Halsted’s principles</a:t>
            </a:r>
          </a:p>
        </p:txBody>
      </p:sp>
      <p:sp>
        <p:nvSpPr>
          <p:cNvPr id="12" name="Rounded Rectangle 11"/>
          <p:cNvSpPr/>
          <p:nvPr/>
        </p:nvSpPr>
        <p:spPr>
          <a:xfrm>
            <a:off x="502920" y="210312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103120"/>
            <a:ext cx="128016" cy="84124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212848"/>
            <a:ext cx="2103120" cy="621792"/>
          </a:xfrm>
          <a:prstGeom prst="rect">
            <a:avLst/>
          </a:prstGeom>
          <a:noFill/>
        </p:spPr>
        <p:txBody>
          <a:bodyPr wrap="square" anchor="ctr"/>
          <a:lstStyle/>
          <a:p>
            <a:pPr algn="l"/>
            <a:r>
              <a:rPr sz="1800" b="1">
                <a:solidFill>
                  <a:srgbClr val="1B6B7A"/>
                </a:solidFill>
                <a:latin typeface="Calibri"/>
              </a:rPr>
              <a:t>3–24 min</a:t>
            </a:r>
          </a:p>
        </p:txBody>
      </p:sp>
      <p:sp>
        <p:nvSpPr>
          <p:cNvPr id="15" name="TextBox 14"/>
          <p:cNvSpPr txBox="1"/>
          <p:nvPr/>
        </p:nvSpPr>
        <p:spPr>
          <a:xfrm>
            <a:off x="3108960" y="2212848"/>
            <a:ext cx="8229600" cy="621792"/>
          </a:xfrm>
          <a:prstGeom prst="rect">
            <a:avLst/>
          </a:prstGeom>
          <a:noFill/>
        </p:spPr>
        <p:txBody>
          <a:bodyPr wrap="square" anchor="ctr"/>
          <a:lstStyle/>
          <a:p>
            <a:pPr algn="l"/>
            <a:r>
              <a:rPr sz="1800" b="0">
                <a:solidFill>
                  <a:srgbClr val="1C1C1C"/>
                </a:solidFill>
                <a:latin typeface="Calibri"/>
              </a:rPr>
              <a:t>I. Preoperative evaluation, ASA, both cases, the record</a:t>
            </a:r>
          </a:p>
        </p:txBody>
      </p:sp>
      <p:sp>
        <p:nvSpPr>
          <p:cNvPr id="16" name="Rounded Rectangle 15"/>
          <p:cNvSpPr/>
          <p:nvPr/>
        </p:nvSpPr>
        <p:spPr>
          <a:xfrm>
            <a:off x="502920" y="306324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063240"/>
            <a:ext cx="128016" cy="84124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172968"/>
            <a:ext cx="2103120" cy="621792"/>
          </a:xfrm>
          <a:prstGeom prst="rect">
            <a:avLst/>
          </a:prstGeom>
          <a:noFill/>
        </p:spPr>
        <p:txBody>
          <a:bodyPr wrap="square" anchor="ctr"/>
          <a:lstStyle/>
          <a:p>
            <a:pPr algn="l"/>
            <a:r>
              <a:rPr sz="1800" b="1">
                <a:solidFill>
                  <a:srgbClr val="C5A35A"/>
                </a:solidFill>
                <a:latin typeface="Calibri"/>
              </a:rPr>
              <a:t>24–44 min</a:t>
            </a:r>
          </a:p>
        </p:txBody>
      </p:sp>
      <p:sp>
        <p:nvSpPr>
          <p:cNvPr id="19" name="TextBox 18"/>
          <p:cNvSpPr txBox="1"/>
          <p:nvPr/>
        </p:nvSpPr>
        <p:spPr>
          <a:xfrm>
            <a:off x="3108960" y="3172968"/>
            <a:ext cx="8229600" cy="621792"/>
          </a:xfrm>
          <a:prstGeom prst="rect">
            <a:avLst/>
          </a:prstGeom>
          <a:noFill/>
        </p:spPr>
        <p:txBody>
          <a:bodyPr wrap="square" anchor="ctr"/>
          <a:lstStyle/>
          <a:p>
            <a:pPr algn="l"/>
            <a:r>
              <a:rPr sz="1800" b="0">
                <a:solidFill>
                  <a:srgbClr val="1C1C1C"/>
                </a:solidFill>
                <a:latin typeface="Calibri"/>
              </a:rPr>
              <a:t>II. Patient and surgeon preparation</a:t>
            </a:r>
          </a:p>
        </p:txBody>
      </p:sp>
      <p:sp>
        <p:nvSpPr>
          <p:cNvPr id="20" name="Rounded Rectangle 19"/>
          <p:cNvSpPr/>
          <p:nvPr/>
        </p:nvSpPr>
        <p:spPr>
          <a:xfrm>
            <a:off x="502920" y="402336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023360"/>
            <a:ext cx="128016" cy="84124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133088"/>
            <a:ext cx="2103120" cy="621792"/>
          </a:xfrm>
          <a:prstGeom prst="rect">
            <a:avLst/>
          </a:prstGeom>
          <a:noFill/>
        </p:spPr>
        <p:txBody>
          <a:bodyPr wrap="square" anchor="ctr"/>
          <a:lstStyle/>
          <a:p>
            <a:pPr algn="l"/>
            <a:r>
              <a:rPr sz="1800" b="1">
                <a:solidFill>
                  <a:srgbClr val="2E6B4F"/>
                </a:solidFill>
                <a:latin typeface="Calibri"/>
              </a:rPr>
              <a:t>44–57 min</a:t>
            </a:r>
          </a:p>
        </p:txBody>
      </p:sp>
      <p:sp>
        <p:nvSpPr>
          <p:cNvPr id="23" name="TextBox 22"/>
          <p:cNvSpPr txBox="1"/>
          <p:nvPr/>
        </p:nvSpPr>
        <p:spPr>
          <a:xfrm>
            <a:off x="3108960" y="4133088"/>
            <a:ext cx="8229600" cy="621792"/>
          </a:xfrm>
          <a:prstGeom prst="rect">
            <a:avLst/>
          </a:prstGeom>
          <a:noFill/>
        </p:spPr>
        <p:txBody>
          <a:bodyPr wrap="square" anchor="ctr"/>
          <a:lstStyle/>
          <a:p>
            <a:pPr algn="l"/>
            <a:r>
              <a:rPr sz="1800" b="0">
                <a:solidFill>
                  <a:srgbClr val="1C1C1C"/>
                </a:solidFill>
                <a:latin typeface="Calibri"/>
              </a:rPr>
              <a:t>III. Postoperative care, flowsheet, discharge</a:t>
            </a:r>
          </a:p>
        </p:txBody>
      </p:sp>
      <p:sp>
        <p:nvSpPr>
          <p:cNvPr id="24" name="Rounded Rectangle 23"/>
          <p:cNvSpPr/>
          <p:nvPr/>
        </p:nvSpPr>
        <p:spPr>
          <a:xfrm>
            <a:off x="502920" y="498348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4983480"/>
            <a:ext cx="128016" cy="841248"/>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5093208"/>
            <a:ext cx="2103120" cy="621792"/>
          </a:xfrm>
          <a:prstGeom prst="rect">
            <a:avLst/>
          </a:prstGeom>
          <a:noFill/>
        </p:spPr>
        <p:txBody>
          <a:bodyPr wrap="square" anchor="ctr"/>
          <a:lstStyle/>
          <a:p>
            <a:pPr algn="l"/>
            <a:r>
              <a:rPr sz="1800" b="1">
                <a:solidFill>
                  <a:srgbClr val="8B2E2E"/>
                </a:solidFill>
                <a:latin typeface="Calibri"/>
              </a:rPr>
              <a:t>57–60 min</a:t>
            </a:r>
          </a:p>
        </p:txBody>
      </p:sp>
      <p:sp>
        <p:nvSpPr>
          <p:cNvPr id="27" name="TextBox 26"/>
          <p:cNvSpPr txBox="1"/>
          <p:nvPr/>
        </p:nvSpPr>
        <p:spPr>
          <a:xfrm>
            <a:off x="3108960" y="5093208"/>
            <a:ext cx="8229600" cy="621792"/>
          </a:xfrm>
          <a:prstGeom prst="rect">
            <a:avLst/>
          </a:prstGeom>
          <a:noFill/>
        </p:spPr>
        <p:txBody>
          <a:bodyPr wrap="square" anchor="ctr"/>
          <a:lstStyle/>
          <a:p>
            <a:pPr algn="l"/>
            <a:r>
              <a:rPr sz="1800" b="0">
                <a:solidFill>
                  <a:srgbClr val="1C1C1C"/>
                </a:solidFill>
                <a:latin typeface="Calibri"/>
              </a:rPr>
              <a:t>Willie vs MoMo, key points, questions</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  /  59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PREOPERATIVE EVALUATION, PREPARATION, POSTOPERATIVE CARE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Surgical site infection</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47472"/>
          </a:xfrm>
          <a:prstGeom prst="rect">
            <a:avLst/>
          </a:prstGeom>
          <a:noFill/>
        </p:spPr>
        <p:txBody>
          <a:bodyPr wrap="square" anchor="t"/>
          <a:lstStyle/>
          <a:p>
            <a:pPr algn="l"/>
            <a:r>
              <a:rPr sz="1500" b="1">
                <a:solidFill>
                  <a:srgbClr val="0B2C4A"/>
                </a:solidFill>
                <a:latin typeface="Calibri"/>
              </a:rPr>
              <a:t>Causes of SSI</a:t>
            </a:r>
          </a:p>
        </p:txBody>
      </p:sp>
      <p:sp>
        <p:nvSpPr>
          <p:cNvPr id="11" name="TextBox 10"/>
          <p:cNvSpPr txBox="1"/>
          <p:nvPr/>
        </p:nvSpPr>
        <p:spPr>
          <a:xfrm>
            <a:off x="713232" y="1536192"/>
            <a:ext cx="3291840" cy="1618488"/>
          </a:xfrm>
          <a:prstGeom prst="rect">
            <a:avLst/>
          </a:prstGeom>
          <a:noFill/>
        </p:spPr>
        <p:txBody>
          <a:bodyPr wrap="square" anchor="t"/>
          <a:lstStyle/>
          <a:p>
            <a:pPr algn="l"/>
            <a:r>
              <a:rPr sz="1300" b="0">
                <a:solidFill>
                  <a:srgbClr val="3D4A57"/>
                </a:solidFill>
                <a:latin typeface="Calibri"/>
              </a:rPr>
              <a:t>Hair, skin flora, hypothermia, poor hemostasis, dead space, and breaks in asepsis.</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47472"/>
          </a:xfrm>
          <a:prstGeom prst="rect">
            <a:avLst/>
          </a:prstGeom>
          <a:noFill/>
        </p:spPr>
        <p:txBody>
          <a:bodyPr wrap="square" anchor="t"/>
          <a:lstStyle/>
          <a:p>
            <a:pPr algn="l"/>
            <a:r>
              <a:rPr sz="1500" b="1">
                <a:solidFill>
                  <a:srgbClr val="0B2C4A"/>
                </a:solidFill>
                <a:latin typeface="Calibri"/>
              </a:rPr>
              <a:t>Client-owned patients</a:t>
            </a:r>
          </a:p>
        </p:txBody>
      </p:sp>
      <p:sp>
        <p:nvSpPr>
          <p:cNvPr id="15" name="TextBox 14"/>
          <p:cNvSpPr txBox="1"/>
          <p:nvPr/>
        </p:nvSpPr>
        <p:spPr>
          <a:xfrm>
            <a:off x="4553712" y="1536192"/>
            <a:ext cx="3291840" cy="1618488"/>
          </a:xfrm>
          <a:prstGeom prst="rect">
            <a:avLst/>
          </a:prstGeom>
          <a:noFill/>
        </p:spPr>
        <p:txBody>
          <a:bodyPr wrap="square" anchor="t"/>
          <a:lstStyle/>
          <a:p>
            <a:pPr algn="l"/>
            <a:r>
              <a:rPr sz="1300" b="0">
                <a:solidFill>
                  <a:srgbClr val="3D4A57"/>
                </a:solidFill>
                <a:latin typeface="Calibri"/>
              </a:rPr>
              <a:t>Elective OHE patients go home to the owner after recovery. Documentation and the discharge conversation are part of the operation.</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47472"/>
          </a:xfrm>
          <a:prstGeom prst="rect">
            <a:avLst/>
          </a:prstGeom>
          <a:noFill/>
        </p:spPr>
        <p:txBody>
          <a:bodyPr wrap="square" anchor="t"/>
          <a:lstStyle/>
          <a:p>
            <a:pPr algn="l"/>
            <a:r>
              <a:rPr sz="1500" b="1">
                <a:solidFill>
                  <a:srgbClr val="0B2C4A"/>
                </a:solidFill>
                <a:latin typeface="Calibri"/>
              </a:rPr>
              <a:t>Decisions made before incision</a:t>
            </a:r>
          </a:p>
        </p:txBody>
      </p:sp>
      <p:sp>
        <p:nvSpPr>
          <p:cNvPr id="19" name="TextBox 18"/>
          <p:cNvSpPr txBox="1"/>
          <p:nvPr/>
        </p:nvSpPr>
        <p:spPr>
          <a:xfrm>
            <a:off x="8394192" y="1536192"/>
            <a:ext cx="3200400" cy="1618488"/>
          </a:xfrm>
          <a:prstGeom prst="rect">
            <a:avLst/>
          </a:prstGeom>
          <a:noFill/>
        </p:spPr>
        <p:txBody>
          <a:bodyPr wrap="square" anchor="t"/>
          <a:lstStyle/>
          <a:p>
            <a:pPr algn="l"/>
            <a:r>
              <a:rPr sz="1300" b="0">
                <a:solidFill>
                  <a:srgbClr val="3D4A57"/>
                </a:solidFill>
                <a:latin typeface="Calibri"/>
              </a:rPr>
              <a:t>Analgesia, antibiotics, temperature management, and client expectations are set in the preoperative period.</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600" b="1">
                <a:solidFill>
                  <a:srgbClr val="0B2C4A"/>
                </a:solidFill>
                <a:latin typeface="Calibri"/>
              </a:rPr>
              <a:t>Surgeon responsibilities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700" b="0">
                <a:solidFill>
                  <a:srgbClr val="1C1C1C"/>
                </a:solidFill>
                <a:latin typeface="Calibri"/>
              </a:rPr>
              <a:t>▸  Prepare the patient for a surgical procedure.</a:t>
            </a:r>
          </a:p>
          <a:p>
            <a:pPr algn="l">
              <a:spcAft>
                <a:spcPts val="800"/>
              </a:spcAft>
            </a:pPr>
            <a:r>
              <a:rPr sz="1700" b="0">
                <a:solidFill>
                  <a:srgbClr val="1C1C1C"/>
                </a:solidFill>
                <a:latin typeface="Calibri"/>
              </a:rPr>
              <a:t>▸  Prepare yourself for a surgical procedure.</a:t>
            </a:r>
          </a:p>
          <a:p>
            <a:pPr algn="l">
              <a:spcAft>
                <a:spcPts val="800"/>
              </a:spcAft>
            </a:pPr>
            <a:r>
              <a:rPr sz="1700" b="0">
                <a:solidFill>
                  <a:srgbClr val="1C1C1C"/>
                </a:solidFill>
                <a:latin typeface="Calibri"/>
              </a:rPr>
              <a:t>▸  Perform the procedure. Hemorrhage or herniation in recovery means the surgery failed, even if the closure looked adequate. The first 24 hours are part of the operation.</a:t>
            </a:r>
          </a:p>
        </p:txBody>
      </p:sp>
      <p:sp>
        <p:nvSpPr>
          <p:cNvPr id="23" name="Rectangle 22"/>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5" name="TextBox 24"/>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  /  59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EACH PRINCIPLE HAS A PREOPERATIVE OR POSTOPERATIVE ACTION</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Halsted’s principles</a:t>
            </a:r>
          </a:p>
        </p:txBody>
      </p:sp>
      <p:sp>
        <p:nvSpPr>
          <p:cNvPr id="8" name="Rounded Rectangle 7"/>
          <p:cNvSpPr/>
          <p:nvPr/>
        </p:nvSpPr>
        <p:spPr>
          <a:xfrm>
            <a:off x="457200" y="109728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303520" cy="347472"/>
          </a:xfrm>
          <a:prstGeom prst="rect">
            <a:avLst/>
          </a:prstGeom>
          <a:noFill/>
        </p:spPr>
        <p:txBody>
          <a:bodyPr wrap="square" anchor="t"/>
          <a:lstStyle/>
          <a:p>
            <a:pPr algn="l"/>
            <a:r>
              <a:rPr sz="1500" b="1">
                <a:solidFill>
                  <a:srgbClr val="0B2C4A"/>
                </a:solidFill>
                <a:latin typeface="Calibri"/>
              </a:rPr>
              <a:t>1.  Gentle tissue handling</a:t>
            </a:r>
          </a:p>
        </p:txBody>
      </p:sp>
      <p:sp>
        <p:nvSpPr>
          <p:cNvPr id="11" name="TextBox 10"/>
          <p:cNvSpPr txBox="1"/>
          <p:nvPr/>
        </p:nvSpPr>
        <p:spPr>
          <a:xfrm>
            <a:off x="713232" y="1572768"/>
            <a:ext cx="5303520" cy="530352"/>
          </a:xfrm>
          <a:prstGeom prst="rect">
            <a:avLst/>
          </a:prstGeom>
          <a:noFill/>
        </p:spPr>
        <p:txBody>
          <a:bodyPr wrap="square" anchor="t"/>
          <a:lstStyle/>
          <a:p>
            <a:pPr algn="l"/>
            <a:r>
              <a:rPr sz="1300" b="0">
                <a:solidFill>
                  <a:srgbClr val="3D4A57"/>
                </a:solidFill>
                <a:latin typeface="Calibri"/>
              </a:rPr>
              <a:t>Prep trauma, clipper burn, and crushing towel clamps are tissue handling.</a:t>
            </a:r>
          </a:p>
        </p:txBody>
      </p:sp>
      <p:sp>
        <p:nvSpPr>
          <p:cNvPr id="12" name="Rounded Rectangle 11"/>
          <p:cNvSpPr/>
          <p:nvPr/>
        </p:nvSpPr>
        <p:spPr>
          <a:xfrm>
            <a:off x="6309360" y="109728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9728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207008"/>
            <a:ext cx="5303520" cy="347472"/>
          </a:xfrm>
          <a:prstGeom prst="rect">
            <a:avLst/>
          </a:prstGeom>
          <a:noFill/>
        </p:spPr>
        <p:txBody>
          <a:bodyPr wrap="square" anchor="t"/>
          <a:lstStyle/>
          <a:p>
            <a:pPr algn="l"/>
            <a:r>
              <a:rPr sz="1500" b="1">
                <a:solidFill>
                  <a:srgbClr val="0B2C4A"/>
                </a:solidFill>
                <a:latin typeface="Calibri"/>
              </a:rPr>
              <a:t>2.  Meticulous hemostasis</a:t>
            </a:r>
          </a:p>
        </p:txBody>
      </p:sp>
      <p:sp>
        <p:nvSpPr>
          <p:cNvPr id="15" name="TextBox 14"/>
          <p:cNvSpPr txBox="1"/>
          <p:nvPr/>
        </p:nvSpPr>
        <p:spPr>
          <a:xfrm>
            <a:off x="6565392" y="1572768"/>
            <a:ext cx="5303520" cy="530352"/>
          </a:xfrm>
          <a:prstGeom prst="rect">
            <a:avLst/>
          </a:prstGeom>
          <a:noFill/>
        </p:spPr>
        <p:txBody>
          <a:bodyPr wrap="square" anchor="t"/>
          <a:lstStyle/>
          <a:p>
            <a:pPr algn="l"/>
            <a:r>
              <a:rPr sz="1300" b="0">
                <a:solidFill>
                  <a:srgbClr val="3D4A57"/>
                </a:solidFill>
                <a:latin typeface="Calibri"/>
              </a:rPr>
              <a:t>Preop coagulopathy; postop hemorrhage is a 24-hour emergency.</a:t>
            </a:r>
          </a:p>
        </p:txBody>
      </p:sp>
      <p:sp>
        <p:nvSpPr>
          <p:cNvPr id="16" name="Rounded Rectangle 15"/>
          <p:cNvSpPr/>
          <p:nvPr/>
        </p:nvSpPr>
        <p:spPr>
          <a:xfrm>
            <a:off x="457200" y="233172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3172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41448"/>
            <a:ext cx="5303520" cy="347472"/>
          </a:xfrm>
          <a:prstGeom prst="rect">
            <a:avLst/>
          </a:prstGeom>
          <a:noFill/>
        </p:spPr>
        <p:txBody>
          <a:bodyPr wrap="square" anchor="t"/>
          <a:lstStyle/>
          <a:p>
            <a:pPr algn="l"/>
            <a:r>
              <a:rPr sz="1500" b="1">
                <a:solidFill>
                  <a:srgbClr val="0B2C4A"/>
                </a:solidFill>
                <a:latin typeface="Calibri"/>
              </a:rPr>
              <a:t>3.  Preserve blood supply</a:t>
            </a:r>
          </a:p>
        </p:txBody>
      </p:sp>
      <p:sp>
        <p:nvSpPr>
          <p:cNvPr id="19" name="TextBox 18"/>
          <p:cNvSpPr txBox="1"/>
          <p:nvPr/>
        </p:nvSpPr>
        <p:spPr>
          <a:xfrm>
            <a:off x="713232" y="2807208"/>
            <a:ext cx="5303520" cy="530352"/>
          </a:xfrm>
          <a:prstGeom prst="rect">
            <a:avLst/>
          </a:prstGeom>
          <a:noFill/>
        </p:spPr>
        <p:txBody>
          <a:bodyPr wrap="square" anchor="t"/>
          <a:lstStyle/>
          <a:p>
            <a:pPr algn="l"/>
            <a:r>
              <a:rPr sz="1300" b="0">
                <a:solidFill>
                  <a:srgbClr val="3D4A57"/>
                </a:solidFill>
                <a:latin typeface="Calibri"/>
              </a:rPr>
              <a:t>Place clamps and bandages so skin perfusion is preserved.</a:t>
            </a:r>
          </a:p>
        </p:txBody>
      </p:sp>
      <p:sp>
        <p:nvSpPr>
          <p:cNvPr id="20" name="Rounded Rectangle 19"/>
          <p:cNvSpPr/>
          <p:nvPr/>
        </p:nvSpPr>
        <p:spPr>
          <a:xfrm>
            <a:off x="6309360" y="233172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3172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41448"/>
            <a:ext cx="5303520" cy="347472"/>
          </a:xfrm>
          <a:prstGeom prst="rect">
            <a:avLst/>
          </a:prstGeom>
          <a:noFill/>
        </p:spPr>
        <p:txBody>
          <a:bodyPr wrap="square" anchor="t"/>
          <a:lstStyle/>
          <a:p>
            <a:pPr algn="l"/>
            <a:r>
              <a:rPr sz="1500" b="1">
                <a:solidFill>
                  <a:srgbClr val="0B2C4A"/>
                </a:solidFill>
                <a:latin typeface="Calibri"/>
              </a:rPr>
              <a:t>4.  Strict asepsis</a:t>
            </a:r>
          </a:p>
        </p:txBody>
      </p:sp>
      <p:sp>
        <p:nvSpPr>
          <p:cNvPr id="23" name="TextBox 22"/>
          <p:cNvSpPr txBox="1"/>
          <p:nvPr/>
        </p:nvSpPr>
        <p:spPr>
          <a:xfrm>
            <a:off x="6565392" y="2807208"/>
            <a:ext cx="5303520" cy="530352"/>
          </a:xfrm>
          <a:prstGeom prst="rect">
            <a:avLst/>
          </a:prstGeom>
          <a:noFill/>
        </p:spPr>
        <p:txBody>
          <a:bodyPr wrap="square" anchor="t"/>
          <a:lstStyle/>
          <a:p>
            <a:pPr algn="l"/>
            <a:r>
              <a:rPr sz="1300" b="0">
                <a:solidFill>
                  <a:srgbClr val="3D4A57"/>
                </a:solidFill>
                <a:latin typeface="Calibri"/>
              </a:rPr>
              <a:t>Patient preparation, surgeon preparation, and draping.</a:t>
            </a:r>
          </a:p>
        </p:txBody>
      </p:sp>
      <p:sp>
        <p:nvSpPr>
          <p:cNvPr id="24" name="Rounded Rectangle 23"/>
          <p:cNvSpPr/>
          <p:nvPr/>
        </p:nvSpPr>
        <p:spPr>
          <a:xfrm>
            <a:off x="457200" y="356616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56616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675888"/>
            <a:ext cx="5303520" cy="347472"/>
          </a:xfrm>
          <a:prstGeom prst="rect">
            <a:avLst/>
          </a:prstGeom>
          <a:noFill/>
        </p:spPr>
        <p:txBody>
          <a:bodyPr wrap="square" anchor="t"/>
          <a:lstStyle/>
          <a:p>
            <a:pPr algn="l"/>
            <a:r>
              <a:rPr sz="1500" b="1">
                <a:solidFill>
                  <a:srgbClr val="0B2C4A"/>
                </a:solidFill>
                <a:latin typeface="Calibri"/>
              </a:rPr>
              <a:t>5.  No tension</a:t>
            </a:r>
          </a:p>
        </p:txBody>
      </p:sp>
      <p:sp>
        <p:nvSpPr>
          <p:cNvPr id="27" name="TextBox 26"/>
          <p:cNvSpPr txBox="1"/>
          <p:nvPr/>
        </p:nvSpPr>
        <p:spPr>
          <a:xfrm>
            <a:off x="713232" y="4041648"/>
            <a:ext cx="5303520" cy="530352"/>
          </a:xfrm>
          <a:prstGeom prst="rect">
            <a:avLst/>
          </a:prstGeom>
          <a:noFill/>
        </p:spPr>
        <p:txBody>
          <a:bodyPr wrap="square" anchor="t"/>
          <a:lstStyle/>
          <a:p>
            <a:pPr algn="l"/>
            <a:r>
              <a:rPr sz="1300" b="0">
                <a:solidFill>
                  <a:srgbClr val="3D4A57"/>
                </a:solidFill>
                <a:latin typeface="Calibri"/>
              </a:rPr>
              <a:t>Plan incision location and closure now, not after the fascia splits.</a:t>
            </a:r>
          </a:p>
        </p:txBody>
      </p:sp>
      <p:sp>
        <p:nvSpPr>
          <p:cNvPr id="28" name="Rounded Rectangle 27"/>
          <p:cNvSpPr/>
          <p:nvPr/>
        </p:nvSpPr>
        <p:spPr>
          <a:xfrm>
            <a:off x="6309360" y="356616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56616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675888"/>
            <a:ext cx="5303520" cy="347472"/>
          </a:xfrm>
          <a:prstGeom prst="rect">
            <a:avLst/>
          </a:prstGeom>
          <a:noFill/>
        </p:spPr>
        <p:txBody>
          <a:bodyPr wrap="square" anchor="t"/>
          <a:lstStyle/>
          <a:p>
            <a:pPr algn="l"/>
            <a:r>
              <a:rPr sz="1500" b="1">
                <a:solidFill>
                  <a:srgbClr val="0B2C4A"/>
                </a:solidFill>
                <a:latin typeface="Calibri"/>
              </a:rPr>
              <a:t>6.  Accurate apposition</a:t>
            </a:r>
          </a:p>
        </p:txBody>
      </p:sp>
      <p:sp>
        <p:nvSpPr>
          <p:cNvPr id="31" name="TextBox 30"/>
          <p:cNvSpPr txBox="1"/>
          <p:nvPr/>
        </p:nvSpPr>
        <p:spPr>
          <a:xfrm>
            <a:off x="6565392" y="4041648"/>
            <a:ext cx="5303520" cy="530352"/>
          </a:xfrm>
          <a:prstGeom prst="rect">
            <a:avLst/>
          </a:prstGeom>
          <a:noFill/>
        </p:spPr>
        <p:txBody>
          <a:bodyPr wrap="square" anchor="t"/>
          <a:lstStyle/>
          <a:p>
            <a:pPr algn="l"/>
            <a:r>
              <a:rPr sz="1300" b="0">
                <a:solidFill>
                  <a:srgbClr val="3D4A57"/>
                </a:solidFill>
                <a:latin typeface="Calibri"/>
              </a:rPr>
              <a:t>Postop incision care protects the apposition you create.</a:t>
            </a:r>
          </a:p>
        </p:txBody>
      </p:sp>
      <p:sp>
        <p:nvSpPr>
          <p:cNvPr id="32" name="Rounded Rectangle 31"/>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80060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4910328"/>
            <a:ext cx="10881360" cy="347472"/>
          </a:xfrm>
          <a:prstGeom prst="rect">
            <a:avLst/>
          </a:prstGeom>
          <a:noFill/>
        </p:spPr>
        <p:txBody>
          <a:bodyPr wrap="square" anchor="t"/>
          <a:lstStyle/>
          <a:p>
            <a:pPr algn="l"/>
            <a:r>
              <a:rPr sz="1500" b="1">
                <a:solidFill>
                  <a:srgbClr val="0B2C4A"/>
                </a:solidFill>
                <a:latin typeface="Calibri"/>
              </a:rPr>
              <a:t>7.  Obliterate dead space</a:t>
            </a:r>
          </a:p>
        </p:txBody>
      </p:sp>
      <p:sp>
        <p:nvSpPr>
          <p:cNvPr id="35" name="TextBox 34"/>
          <p:cNvSpPr txBox="1"/>
          <p:nvPr/>
        </p:nvSpPr>
        <p:spPr>
          <a:xfrm>
            <a:off x="713232" y="5276088"/>
            <a:ext cx="10881360" cy="530352"/>
          </a:xfrm>
          <a:prstGeom prst="rect">
            <a:avLst/>
          </a:prstGeom>
          <a:noFill/>
        </p:spPr>
        <p:txBody>
          <a:bodyPr wrap="square" anchor="t"/>
          <a:lstStyle/>
          <a:p>
            <a:pPr algn="l"/>
            <a:r>
              <a:rPr sz="1300" b="0">
                <a:solidFill>
                  <a:srgbClr val="3D4A57"/>
                </a:solidFill>
                <a:latin typeface="Calibri"/>
              </a:rPr>
              <a:t>Plan dead space now: sutures, bandage, or a drain with a written pull plan.</a:t>
            </a:r>
          </a:p>
        </p:txBody>
      </p:sp>
      <p:sp>
        <p:nvSpPr>
          <p:cNvPr id="36" name="Rectangle 3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8" name="TextBox 3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  /  59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PREOPERATIVE, PREPARATION, INTRAOPERATIVE, POSTOPERATIVE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perioperative continuum</a:t>
            </a:r>
          </a:p>
        </p:txBody>
      </p:sp>
      <p:sp>
        <p:nvSpPr>
          <p:cNvPr id="8" name="Rounded Rectangle 7"/>
          <p:cNvSpPr/>
          <p:nvPr/>
        </p:nvSpPr>
        <p:spPr>
          <a:xfrm>
            <a:off x="41148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234440"/>
            <a:ext cx="274320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234440"/>
            <a:ext cx="2743200" cy="640080"/>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94360" y="2011680"/>
            <a:ext cx="2377440" cy="2926080"/>
          </a:xfrm>
          <a:prstGeom prst="rect">
            <a:avLst/>
          </a:prstGeom>
          <a:noFill/>
        </p:spPr>
        <p:txBody>
          <a:bodyPr wrap="square" anchor="t"/>
          <a:lstStyle/>
          <a:p>
            <a:pPr algn="ctr"/>
            <a:r>
              <a:rPr sz="1600" b="0">
                <a:solidFill>
                  <a:srgbClr val="1C1C1C"/>
                </a:solidFill>
                <a:latin typeface="Calibri"/>
              </a:rPr>
              <a:t>History, PE, ASA
Labs, stabilize
Consent, plan
Analgesia, Abx</a:t>
            </a:r>
          </a:p>
        </p:txBody>
      </p:sp>
      <p:sp>
        <p:nvSpPr>
          <p:cNvPr id="12" name="TextBox 11"/>
          <p:cNvSpPr txBox="1"/>
          <p:nvPr/>
        </p:nvSpPr>
        <p:spPr>
          <a:xfrm>
            <a:off x="288036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13" name="Rounded Rectangle 12"/>
          <p:cNvSpPr/>
          <p:nvPr/>
        </p:nvSpPr>
        <p:spPr>
          <a:xfrm>
            <a:off x="333756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234440"/>
            <a:ext cx="274320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234440"/>
            <a:ext cx="2743200" cy="640080"/>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520440" y="2011680"/>
            <a:ext cx="2377440" cy="2926080"/>
          </a:xfrm>
          <a:prstGeom prst="rect">
            <a:avLst/>
          </a:prstGeom>
          <a:noFill/>
        </p:spPr>
        <p:txBody>
          <a:bodyPr wrap="square" anchor="t"/>
          <a:lstStyle/>
          <a:p>
            <a:pPr algn="ctr"/>
            <a:r>
              <a:rPr sz="1600" b="0">
                <a:solidFill>
                  <a:srgbClr val="1C1C1C"/>
                </a:solidFill>
                <a:latin typeface="Calibri"/>
              </a:rPr>
              <a:t>Clip after induction
Dirty then sterile prep
Position, drape
Gown, closed glove</a:t>
            </a:r>
          </a:p>
        </p:txBody>
      </p:sp>
      <p:sp>
        <p:nvSpPr>
          <p:cNvPr id="17" name="TextBox 16"/>
          <p:cNvSpPr txBox="1"/>
          <p:nvPr/>
        </p:nvSpPr>
        <p:spPr>
          <a:xfrm>
            <a:off x="580644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18" name="Rounded Rectangle 17"/>
          <p:cNvSpPr/>
          <p:nvPr/>
        </p:nvSpPr>
        <p:spPr>
          <a:xfrm>
            <a:off x="626364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234440"/>
            <a:ext cx="274320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234440"/>
            <a:ext cx="2743200" cy="640080"/>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46520" y="2011680"/>
            <a:ext cx="2377440" cy="2926080"/>
          </a:xfrm>
          <a:prstGeom prst="rect">
            <a:avLst/>
          </a:prstGeom>
          <a:noFill/>
        </p:spPr>
        <p:txBody>
          <a:bodyPr wrap="square" anchor="t"/>
          <a:lstStyle/>
          <a:p>
            <a:pPr algn="ctr"/>
            <a:r>
              <a:rPr sz="1600" b="0">
                <a:solidFill>
                  <a:srgbClr val="1C1C1C"/>
                </a:solidFill>
                <a:latin typeface="Calibri"/>
              </a:rPr>
              <a:t>Asepsis held
Halsted applied
Time, temp, pain</a:t>
            </a:r>
          </a:p>
        </p:txBody>
      </p:sp>
      <p:sp>
        <p:nvSpPr>
          <p:cNvPr id="22" name="TextBox 21"/>
          <p:cNvSpPr txBox="1"/>
          <p:nvPr/>
        </p:nvSpPr>
        <p:spPr>
          <a:xfrm>
            <a:off x="873252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23" name="Rounded Rectangle 22"/>
          <p:cNvSpPr/>
          <p:nvPr/>
        </p:nvSpPr>
        <p:spPr>
          <a:xfrm>
            <a:off x="918972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234440"/>
            <a:ext cx="274320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234440"/>
            <a:ext cx="2743200" cy="640080"/>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72600" y="2011680"/>
            <a:ext cx="2377440" cy="292608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ectangle 26"/>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9" name="TextBox 28"/>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6  /  59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  ·  3–24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Preoperative evaluation
and the peri-operative plan</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History · PE · ASA · two real cases · labs · stabilize · the anesthesia record</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~21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7  /  59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PROCEED, DELAY, STABILIZE, OR REFER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Goals of the preoperative evaluation</a:t>
            </a:r>
          </a:p>
        </p:txBody>
      </p:sp>
      <p:sp>
        <p:nvSpPr>
          <p:cNvPr id="8" name="Rounded Rectangle 7"/>
          <p:cNvSpPr/>
          <p:nvPr/>
        </p:nvSpPr>
        <p:spPr>
          <a:xfrm>
            <a:off x="457200" y="109728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822960" cy="1115568"/>
          </a:xfrm>
          <a:prstGeom prst="rect">
            <a:avLst/>
          </a:prstGeom>
          <a:noFill/>
        </p:spPr>
        <p:txBody>
          <a:bodyPr wrap="square" anchor="ctr"/>
          <a:lstStyle/>
          <a:p>
            <a:pPr algn="ctr"/>
            <a:r>
              <a:rPr sz="2000" b="1">
                <a:solidFill>
                  <a:srgbClr val="C5A35A"/>
                </a:solidFill>
                <a:latin typeface="Calibri"/>
              </a:rPr>
              <a:t>01</a:t>
            </a:r>
          </a:p>
        </p:txBody>
      </p:sp>
      <p:sp>
        <p:nvSpPr>
          <p:cNvPr id="11" name="TextBox 10"/>
          <p:cNvSpPr txBox="1"/>
          <p:nvPr/>
        </p:nvSpPr>
        <p:spPr>
          <a:xfrm>
            <a:off x="1508760" y="1261872"/>
            <a:ext cx="9875520" cy="365760"/>
          </a:xfrm>
          <a:prstGeom prst="rect">
            <a:avLst/>
          </a:prstGeom>
          <a:noFill/>
        </p:spPr>
        <p:txBody>
          <a:bodyPr wrap="square" anchor="t"/>
          <a:lstStyle/>
          <a:p>
            <a:pPr algn="l"/>
            <a:r>
              <a:rPr sz="1800" b="1">
                <a:solidFill>
                  <a:srgbClr val="0B2C4A"/>
                </a:solidFill>
                <a:latin typeface="Calibri"/>
              </a:rPr>
              <a:t>Identify surgical disease</a:t>
            </a:r>
          </a:p>
        </p:txBody>
      </p:sp>
      <p:sp>
        <p:nvSpPr>
          <p:cNvPr id="12" name="TextBox 11"/>
          <p:cNvSpPr txBox="1"/>
          <p:nvPr/>
        </p:nvSpPr>
        <p:spPr>
          <a:xfrm>
            <a:off x="1508760" y="1627632"/>
            <a:ext cx="9875520" cy="457200"/>
          </a:xfrm>
          <a:prstGeom prst="rect">
            <a:avLst/>
          </a:prstGeom>
          <a:noFill/>
        </p:spPr>
        <p:txBody>
          <a:bodyPr wrap="square" anchor="t"/>
          <a:lstStyle/>
          <a:p>
            <a:pPr algn="l"/>
            <a:r>
              <a:rPr sz="1500" b="0">
                <a:solidFill>
                  <a:srgbClr val="3D4A57"/>
                </a:solidFill>
                <a:latin typeface="Calibri"/>
              </a:rPr>
              <a:t>Confirm the lesion, laterality, and that surgery is indicated.</a:t>
            </a:r>
          </a:p>
        </p:txBody>
      </p:sp>
      <p:sp>
        <p:nvSpPr>
          <p:cNvPr id="13" name="Rounded Rectangle 12"/>
          <p:cNvSpPr/>
          <p:nvPr/>
        </p:nvSpPr>
        <p:spPr>
          <a:xfrm>
            <a:off x="457200" y="233172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822960" cy="1115568"/>
          </a:xfrm>
          <a:prstGeom prst="rect">
            <a:avLst/>
          </a:prstGeom>
          <a:noFill/>
        </p:spPr>
        <p:txBody>
          <a:bodyPr wrap="square" anchor="ctr"/>
          <a:lstStyle/>
          <a:p>
            <a:pPr algn="ctr"/>
            <a:r>
              <a:rPr sz="2000" b="1">
                <a:solidFill>
                  <a:srgbClr val="C5A35A"/>
                </a:solidFill>
                <a:latin typeface="Calibri"/>
              </a:rPr>
              <a:t>02</a:t>
            </a:r>
          </a:p>
        </p:txBody>
      </p:sp>
      <p:sp>
        <p:nvSpPr>
          <p:cNvPr id="16" name="TextBox 15"/>
          <p:cNvSpPr txBox="1"/>
          <p:nvPr/>
        </p:nvSpPr>
        <p:spPr>
          <a:xfrm>
            <a:off x="1508760" y="2496312"/>
            <a:ext cx="9875520" cy="365760"/>
          </a:xfrm>
          <a:prstGeom prst="rect">
            <a:avLst/>
          </a:prstGeom>
          <a:noFill/>
        </p:spPr>
        <p:txBody>
          <a:bodyPr wrap="square" anchor="t"/>
          <a:lstStyle/>
          <a:p>
            <a:pPr algn="l"/>
            <a:r>
              <a:rPr sz="1800" b="1">
                <a:solidFill>
                  <a:srgbClr val="0B2C4A"/>
                </a:solidFill>
                <a:latin typeface="Calibri"/>
              </a:rPr>
              <a:t>Quantify anesthetic risk</a:t>
            </a:r>
          </a:p>
        </p:txBody>
      </p:sp>
      <p:sp>
        <p:nvSpPr>
          <p:cNvPr id="17" name="TextBox 16"/>
          <p:cNvSpPr txBox="1"/>
          <p:nvPr/>
        </p:nvSpPr>
        <p:spPr>
          <a:xfrm>
            <a:off x="1508760" y="2862072"/>
            <a:ext cx="9875520" cy="457200"/>
          </a:xfrm>
          <a:prstGeom prst="rect">
            <a:avLst/>
          </a:prstGeom>
          <a:noFill/>
        </p:spPr>
        <p:txBody>
          <a:bodyPr wrap="square" anchor="t"/>
          <a:lstStyle/>
          <a:p>
            <a:pPr algn="l"/>
            <a:r>
              <a:rPr sz="1500" b="0">
                <a:solidFill>
                  <a:srgbClr val="3D4A57"/>
                </a:solidFill>
                <a:latin typeface="Calibri"/>
              </a:rPr>
              <a:t>Assign ASA status after today’s examination and labs. Write that number on the record.</a:t>
            </a:r>
          </a:p>
        </p:txBody>
      </p:sp>
      <p:sp>
        <p:nvSpPr>
          <p:cNvPr id="18" name="Rounded Rectangle 17"/>
          <p:cNvSpPr/>
          <p:nvPr/>
        </p:nvSpPr>
        <p:spPr>
          <a:xfrm>
            <a:off x="457200" y="356616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56616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566160"/>
            <a:ext cx="822960" cy="1115568"/>
          </a:xfrm>
          <a:prstGeom prst="rect">
            <a:avLst/>
          </a:prstGeom>
          <a:noFill/>
        </p:spPr>
        <p:txBody>
          <a:bodyPr wrap="square" anchor="ctr"/>
          <a:lstStyle/>
          <a:p>
            <a:pPr algn="ctr"/>
            <a:r>
              <a:rPr sz="2000" b="1">
                <a:solidFill>
                  <a:srgbClr val="C5A35A"/>
                </a:solidFill>
                <a:latin typeface="Calibri"/>
              </a:rPr>
              <a:t>03</a:t>
            </a:r>
          </a:p>
        </p:txBody>
      </p:sp>
      <p:sp>
        <p:nvSpPr>
          <p:cNvPr id="21" name="TextBox 20"/>
          <p:cNvSpPr txBox="1"/>
          <p:nvPr/>
        </p:nvSpPr>
        <p:spPr>
          <a:xfrm>
            <a:off x="1508760" y="3730752"/>
            <a:ext cx="9875520" cy="365760"/>
          </a:xfrm>
          <a:prstGeom prst="rect">
            <a:avLst/>
          </a:prstGeom>
          <a:noFill/>
        </p:spPr>
        <p:txBody>
          <a:bodyPr wrap="square" anchor="t"/>
          <a:lstStyle/>
          <a:p>
            <a:pPr algn="l"/>
            <a:r>
              <a:rPr sz="1800" b="1">
                <a:solidFill>
                  <a:srgbClr val="0B2C4A"/>
                </a:solidFill>
                <a:latin typeface="Calibri"/>
              </a:rPr>
              <a:t>Find problems you can fix first</a:t>
            </a:r>
          </a:p>
        </p:txBody>
      </p:sp>
      <p:sp>
        <p:nvSpPr>
          <p:cNvPr id="22" name="TextBox 21"/>
          <p:cNvSpPr txBox="1"/>
          <p:nvPr/>
        </p:nvSpPr>
        <p:spPr>
          <a:xfrm>
            <a:off x="1508760" y="4096512"/>
            <a:ext cx="9875520" cy="457200"/>
          </a:xfrm>
          <a:prstGeom prst="rect">
            <a:avLst/>
          </a:prstGeom>
          <a:noFill/>
        </p:spPr>
        <p:txBody>
          <a:bodyPr wrap="square" anchor="t"/>
          <a:lstStyle/>
          <a:p>
            <a:pPr algn="l"/>
            <a:r>
              <a:rPr sz="1500" b="0">
                <a:solidFill>
                  <a:srgbClr val="3D4A57"/>
                </a:solidFill>
                <a:latin typeface="Calibri"/>
              </a:rPr>
              <a:t>Dehydration, anemia, electrolyte disasters, uncontrolled diabetes, full bladder, pyoderma over the site.</a:t>
            </a:r>
          </a:p>
        </p:txBody>
      </p:sp>
      <p:sp>
        <p:nvSpPr>
          <p:cNvPr id="23" name="Rounded Rectangle 22"/>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0060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00600"/>
            <a:ext cx="822960" cy="1115568"/>
          </a:xfrm>
          <a:prstGeom prst="rect">
            <a:avLst/>
          </a:prstGeom>
          <a:noFill/>
        </p:spPr>
        <p:txBody>
          <a:bodyPr wrap="square" anchor="ctr"/>
          <a:lstStyle/>
          <a:p>
            <a:pPr algn="ctr"/>
            <a:r>
              <a:rPr sz="2000" b="1">
                <a:solidFill>
                  <a:srgbClr val="C5A35A"/>
                </a:solidFill>
                <a:latin typeface="Calibri"/>
              </a:rPr>
              <a:t>04</a:t>
            </a:r>
          </a:p>
        </p:txBody>
      </p:sp>
      <p:sp>
        <p:nvSpPr>
          <p:cNvPr id="26" name="TextBox 25"/>
          <p:cNvSpPr txBox="1"/>
          <p:nvPr/>
        </p:nvSpPr>
        <p:spPr>
          <a:xfrm>
            <a:off x="1508760" y="4965192"/>
            <a:ext cx="9875520" cy="365760"/>
          </a:xfrm>
          <a:prstGeom prst="rect">
            <a:avLst/>
          </a:prstGeom>
          <a:noFill/>
        </p:spPr>
        <p:txBody>
          <a:bodyPr wrap="square" anchor="t"/>
          <a:lstStyle/>
          <a:p>
            <a:pPr algn="l"/>
            <a:r>
              <a:rPr sz="1800" b="1">
                <a:solidFill>
                  <a:srgbClr val="0B2C4A"/>
                </a:solidFill>
                <a:latin typeface="Calibri"/>
              </a:rPr>
              <a:t>Plan the day</a:t>
            </a:r>
          </a:p>
        </p:txBody>
      </p:sp>
      <p:sp>
        <p:nvSpPr>
          <p:cNvPr id="27" name="TextBox 26"/>
          <p:cNvSpPr txBox="1"/>
          <p:nvPr/>
        </p:nvSpPr>
        <p:spPr>
          <a:xfrm>
            <a:off x="1508760" y="5330952"/>
            <a:ext cx="9875520" cy="457200"/>
          </a:xfrm>
          <a:prstGeom prst="rect">
            <a:avLst/>
          </a:prstGeom>
          <a:noFill/>
        </p:spPr>
        <p:txBody>
          <a:bodyPr wrap="square" anchor="t"/>
          <a:lstStyle/>
          <a:p>
            <a:pPr algn="l"/>
            <a:r>
              <a:rPr sz="1500" b="0">
                <a:solidFill>
                  <a:srgbClr val="3D4A57"/>
                </a:solidFill>
                <a:latin typeface="Calibri"/>
              </a:rPr>
              <a:t>Approach, positioning, implants, blood products, ICU bed, who calls the client.</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8  /  59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SIGNALMENT, MEDICATIONS, LAST MEAL, PRIOR ANESTHESIA</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Preoperative history</a:t>
            </a:r>
          </a:p>
        </p:txBody>
      </p:sp>
      <p:sp>
        <p:nvSpPr>
          <p:cNvPr id="8" name="Rounded Rectangle 7"/>
          <p:cNvSpPr/>
          <p:nvPr/>
        </p:nvSpPr>
        <p:spPr>
          <a:xfrm>
            <a:off x="411480" y="1097280"/>
            <a:ext cx="5577840" cy="4572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72200" y="1097280"/>
            <a:ext cx="5577840" cy="4572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234440"/>
            <a:ext cx="5120640" cy="365760"/>
          </a:xfrm>
          <a:prstGeom prst="rect">
            <a:avLst/>
          </a:prstGeom>
          <a:noFill/>
        </p:spPr>
        <p:txBody>
          <a:bodyPr wrap="square" anchor="t"/>
          <a:lstStyle/>
          <a:p>
            <a:pPr algn="l"/>
            <a:r>
              <a:rPr sz="1600" b="1">
                <a:solidFill>
                  <a:srgbClr val="1B6B7A"/>
                </a:solidFill>
                <a:latin typeface="Calibri"/>
              </a:rPr>
              <a:t>Patient &amp; medical</a:t>
            </a:r>
          </a:p>
        </p:txBody>
      </p:sp>
      <p:sp>
        <p:nvSpPr>
          <p:cNvPr id="11" name="TextBox 10"/>
          <p:cNvSpPr txBox="1"/>
          <p:nvPr/>
        </p:nvSpPr>
        <p:spPr>
          <a:xfrm>
            <a:off x="6400800" y="1234440"/>
            <a:ext cx="5120640" cy="365760"/>
          </a:xfrm>
          <a:prstGeom prst="rect">
            <a:avLst/>
          </a:prstGeom>
          <a:noFill/>
        </p:spPr>
        <p:txBody>
          <a:bodyPr wrap="square" anchor="t"/>
          <a:lstStyle/>
          <a:p>
            <a:pPr algn="l"/>
            <a:r>
              <a:rPr sz="1600" b="1">
                <a:solidFill>
                  <a:srgbClr val="C5A35A"/>
                </a:solidFill>
                <a:latin typeface="Calibri"/>
              </a:rPr>
              <a:t>Risk, drugs, home</a:t>
            </a:r>
          </a:p>
        </p:txBody>
      </p:sp>
      <p:sp>
        <p:nvSpPr>
          <p:cNvPr id="12" name="TextBox 11"/>
          <p:cNvSpPr txBox="1"/>
          <p:nvPr/>
        </p:nvSpPr>
        <p:spPr>
          <a:xfrm>
            <a:off x="640080" y="1691640"/>
            <a:ext cx="5120640" cy="3749039"/>
          </a:xfrm>
          <a:prstGeom prst="rect">
            <a:avLst/>
          </a:prstGeom>
          <a:noFill/>
        </p:spPr>
        <p:txBody>
          <a:bodyPr wrap="square">
            <a:spAutoFit/>
          </a:bodyPr>
          <a:lstStyle/>
          <a:p>
            <a:pPr algn="l">
              <a:spcAft>
                <a:spcPts val="1000"/>
              </a:spcAft>
            </a:pPr>
            <a:r>
              <a:rPr sz="1400" b="0">
                <a:solidFill>
                  <a:srgbClr val="1C1C1C"/>
                </a:solidFill>
                <a:latin typeface="Calibri"/>
              </a:rPr>
              <a:t>▸  Signalment: species, breed, age, BCS, sex/neuter. Note brachycephalic, sighthound, Doberman (vWD), miniature schnauzer (hyperlipidemia).</a:t>
            </a:r>
          </a:p>
          <a:p>
            <a:pPr algn="l">
              <a:spcAft>
                <a:spcPts val="1000"/>
              </a:spcAft>
            </a:pPr>
            <a:r>
              <a:rPr sz="1400" b="0">
                <a:solidFill>
                  <a:srgbClr val="1C1C1C"/>
                </a:solidFill>
                <a:latin typeface="Calibri"/>
              </a:rPr>
              <a:t>▸  Presenting complaint vs. elective wellness: ‘just a spay’ still needs a real history.</a:t>
            </a:r>
          </a:p>
          <a:p>
            <a:pPr algn="l">
              <a:spcAft>
                <a:spcPts val="1000"/>
              </a:spcAft>
            </a:pPr>
            <a:r>
              <a:rPr sz="1400" b="0">
                <a:solidFill>
                  <a:srgbClr val="1C1C1C"/>
                </a:solidFill>
                <a:latin typeface="Calibri"/>
              </a:rPr>
              <a:t>▸  Prior anesthesia/surgery: difficult intubation, delayed recovery, bleeding, drug reactions.</a:t>
            </a:r>
          </a:p>
          <a:p>
            <a:pPr algn="l">
              <a:spcAft>
                <a:spcPts val="1000"/>
              </a:spcAft>
            </a:pPr>
            <a:r>
              <a:rPr sz="1400" b="0">
                <a:solidFill>
                  <a:srgbClr val="1C1C1C"/>
                </a:solidFill>
                <a:latin typeface="Calibri"/>
              </a:rPr>
              <a:t>▸  Medications: NSAIDs, steroids, Apoquel/Cytopoint (skin), insulin, anticonvulsants, heartworm, supplements.</a:t>
            </a:r>
          </a:p>
        </p:txBody>
      </p:sp>
      <p:sp>
        <p:nvSpPr>
          <p:cNvPr id="13" name="TextBox 12"/>
          <p:cNvSpPr txBox="1"/>
          <p:nvPr/>
        </p:nvSpPr>
        <p:spPr>
          <a:xfrm>
            <a:off x="6400800" y="1691640"/>
            <a:ext cx="5120640" cy="3749039"/>
          </a:xfrm>
          <a:prstGeom prst="rect">
            <a:avLst/>
          </a:prstGeom>
          <a:noFill/>
        </p:spPr>
        <p:txBody>
          <a:bodyPr wrap="square">
            <a:spAutoFit/>
          </a:bodyPr>
          <a:lstStyle/>
          <a:p>
            <a:pPr algn="l">
              <a:spcAft>
                <a:spcPts val="1000"/>
              </a:spcAft>
            </a:pPr>
            <a:r>
              <a:rPr sz="1400" b="0">
                <a:solidFill>
                  <a:srgbClr val="1C1C1C"/>
                </a:solidFill>
                <a:latin typeface="Calibri"/>
              </a:rPr>
              <a:t>▸  When last ate or drank, and what (including garbage, treats, coprophagia).</a:t>
            </a:r>
          </a:p>
          <a:p>
            <a:pPr algn="l">
              <a:spcAft>
                <a:spcPts val="1000"/>
              </a:spcAft>
            </a:pPr>
            <a:r>
              <a:rPr sz="1400" b="0">
                <a:solidFill>
                  <a:srgbClr val="1C1C1C"/>
                </a:solidFill>
                <a:latin typeface="Calibri"/>
              </a:rPr>
              <a:t>▸  Cough, collapse, polyuria/polydipsia, vomiting, diarrhea, heat cycle, last whelping.</a:t>
            </a:r>
          </a:p>
          <a:p>
            <a:pPr algn="l">
              <a:spcAft>
                <a:spcPts val="1000"/>
              </a:spcAft>
            </a:pPr>
            <a:r>
              <a:rPr sz="1400" b="0">
                <a:solidFill>
                  <a:srgbClr val="1C1C1C"/>
                </a:solidFill>
                <a:latin typeface="Calibri"/>
              </a:rPr>
              <a:t>▸  Bleeding tendency: petechiae, cavity bleeds, prolonged oozing from venipuncture.</a:t>
            </a:r>
          </a:p>
          <a:p>
            <a:pPr algn="l">
              <a:spcAft>
                <a:spcPts val="1000"/>
              </a:spcAft>
            </a:pPr>
            <a:r>
              <a:rPr sz="1400" b="0">
                <a:solidFill>
                  <a:srgbClr val="1C1C1C"/>
                </a:solidFill>
                <a:latin typeface="Calibri"/>
              </a:rPr>
              <a:t>▸  Environment: indoor/outdoor, other animals, zoonoses, client ability to confine postop.</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9  /  59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EXAMINE, REQUEST INDICATED LABS, INTERPRET, THEN ASSIGN ASA</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Physical examination</a:t>
            </a:r>
          </a:p>
        </p:txBody>
      </p:sp>
      <p:sp>
        <p:nvSpPr>
          <p:cNvPr id="8" name="TextBox 7"/>
          <p:cNvSpPr txBox="1"/>
          <p:nvPr/>
        </p:nvSpPr>
        <p:spPr>
          <a:xfrm>
            <a:off x="457200" y="1097280"/>
            <a:ext cx="6766560" cy="5029200"/>
          </a:xfrm>
          <a:prstGeom prst="rect">
            <a:avLst/>
          </a:prstGeom>
          <a:noFill/>
        </p:spPr>
        <p:txBody>
          <a:bodyPr wrap="square">
            <a:spAutoFit/>
          </a:bodyPr>
          <a:lstStyle/>
          <a:p>
            <a:pPr algn="l">
              <a:spcAft>
                <a:spcPts val="1000"/>
              </a:spcAft>
            </a:pPr>
            <a:r>
              <a:rPr sz="1600" b="0">
                <a:solidFill>
                  <a:srgbClr val="1C1C1C"/>
                </a:solidFill>
                <a:latin typeface="Calibri"/>
              </a:rPr>
              <a:t>▸  Hands-on, systematic: TPR, mm, CRT, hydration, BCS, pain, mentation.</a:t>
            </a:r>
          </a:p>
          <a:p>
            <a:pPr algn="l">
              <a:spcAft>
                <a:spcPts val="1000"/>
              </a:spcAft>
            </a:pPr>
            <a:r>
              <a:rPr sz="1600" b="0">
                <a:solidFill>
                  <a:srgbClr val="1C1C1C"/>
                </a:solidFill>
                <a:latin typeface="Calibri"/>
              </a:rPr>
              <a:t>▸  Cardiopulmonary: murmurs, arrhythmias, pulse quality, lung sounds, upper airway.</a:t>
            </a:r>
          </a:p>
          <a:p>
            <a:pPr algn="l">
              <a:spcAft>
                <a:spcPts val="1000"/>
              </a:spcAft>
            </a:pPr>
            <a:r>
              <a:rPr sz="1600" b="0">
                <a:solidFill>
                  <a:srgbClr val="1C1C1C"/>
                </a:solidFill>
                <a:latin typeface="Calibri"/>
              </a:rPr>
              <a:t>▸  Surgical site: pyoderma, fleas, otitis, mammary chain, heat, pregnancy, cryptorchid.</a:t>
            </a:r>
          </a:p>
          <a:p>
            <a:pPr algn="l">
              <a:spcAft>
                <a:spcPts val="1000"/>
              </a:spcAft>
            </a:pPr>
            <a:r>
              <a:rPr sz="1600" b="0">
                <a:solidFill>
                  <a:srgbClr val="1C1C1C"/>
                </a:solidFill>
                <a:latin typeface="Calibri"/>
              </a:rPr>
              <a:t>▸  Abdomen: pain, distension, organomegaly, fluid wave. Empty the bladder if possible.</a:t>
            </a:r>
          </a:p>
          <a:p>
            <a:pPr algn="l">
              <a:spcAft>
                <a:spcPts val="1000"/>
              </a:spcAft>
            </a:pPr>
            <a:r>
              <a:rPr sz="1600" b="0">
                <a:solidFill>
                  <a:srgbClr val="1C1C1C"/>
                </a:solidFill>
                <a:latin typeface="Calibri"/>
              </a:rPr>
              <a:t>▸  Neuro/ortho if relevant: knuckling, neck pain, lameness that changes positioning.</a:t>
            </a:r>
          </a:p>
          <a:p>
            <a:pPr algn="l">
              <a:spcAft>
                <a:spcPts val="1000"/>
              </a:spcAft>
            </a:pPr>
            <a:r>
              <a:rPr sz="1600" b="0">
                <a:solidFill>
                  <a:srgbClr val="1C1C1C"/>
                </a:solidFill>
                <a:latin typeface="Calibri"/>
              </a:rPr>
              <a:t>▸  Record the examination. The next clinician reads what you wrote.</a:t>
            </a:r>
          </a:p>
        </p:txBody>
      </p:sp>
      <p:sp>
        <p:nvSpPr>
          <p:cNvPr id="9" name="Rounded Rectangle 8"/>
          <p:cNvSpPr/>
          <p:nvPr/>
        </p:nvSpPr>
        <p:spPr>
          <a:xfrm>
            <a:off x="7452360" y="1097280"/>
            <a:ext cx="425196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1325880"/>
            <a:ext cx="3840480" cy="640080"/>
          </a:xfrm>
          <a:prstGeom prst="rect">
            <a:avLst/>
          </a:prstGeom>
          <a:noFill/>
        </p:spPr>
        <p:txBody>
          <a:bodyPr wrap="square" anchor="t"/>
          <a:lstStyle/>
          <a:p>
            <a:pPr algn="l"/>
            <a:r>
              <a:rPr sz="1600" b="1">
                <a:solidFill>
                  <a:srgbClr val="C5A35A"/>
                </a:solidFill>
                <a:latin typeface="Calibri"/>
              </a:rPr>
              <a:t>Order of operations
before any drug</a:t>
            </a:r>
          </a:p>
        </p:txBody>
      </p:sp>
      <p:sp>
        <p:nvSpPr>
          <p:cNvPr id="11" name="TextBox 10"/>
          <p:cNvSpPr txBox="1"/>
          <p:nvPr/>
        </p:nvSpPr>
        <p:spPr>
          <a:xfrm>
            <a:off x="7680960" y="2103120"/>
            <a:ext cx="3840480" cy="3657600"/>
          </a:xfrm>
          <a:prstGeom prst="rect">
            <a:avLst/>
          </a:prstGeom>
          <a:noFill/>
        </p:spPr>
        <p:txBody>
          <a:bodyPr wrap="square" anchor="t"/>
          <a:lstStyle/>
          <a:p>
            <a:pPr algn="l"/>
            <a:r>
              <a:rPr sz="1500" b="0">
                <a:solidFill>
                  <a:srgbClr val="FFFFFF"/>
                </a:solidFill>
                <a:latin typeface="Calibri"/>
              </a:rPr>
              <a:t>1. Examine the patient
2. Request indicated labs
3. Interpret the results
4. Assign ASA status
5. Adjust the drug plan
6. Premedicate</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10  /  59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AMERICAN SOCIETY OF ANESTHESIOLOGISTS CLASSIFICATION</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ASA physical status</a:t>
            </a:r>
          </a:p>
        </p:txBody>
      </p:sp>
      <p:sp>
        <p:nvSpPr>
          <p:cNvPr id="8" name="Rectangle 7"/>
          <p:cNvSpPr/>
          <p:nvPr/>
        </p:nvSpPr>
        <p:spPr>
          <a:xfrm>
            <a:off x="411480" y="1024128"/>
            <a:ext cx="11338560" cy="3657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24128"/>
            <a:ext cx="2194560" cy="365760"/>
          </a:xfrm>
          <a:prstGeom prst="rect">
            <a:avLst/>
          </a:prstGeom>
          <a:noFill/>
        </p:spPr>
        <p:txBody>
          <a:bodyPr wrap="square" anchor="ctr"/>
          <a:lstStyle/>
          <a:p>
            <a:pPr algn="l"/>
            <a:r>
              <a:rPr sz="1300" b="1">
                <a:solidFill>
                  <a:srgbClr val="C5A35A"/>
                </a:solidFill>
                <a:latin typeface="Calibri"/>
              </a:rPr>
              <a:t>ASA status</a:t>
            </a:r>
          </a:p>
        </p:txBody>
      </p:sp>
      <p:sp>
        <p:nvSpPr>
          <p:cNvPr id="10" name="TextBox 9"/>
          <p:cNvSpPr txBox="1"/>
          <p:nvPr/>
        </p:nvSpPr>
        <p:spPr>
          <a:xfrm>
            <a:off x="2743200" y="1024128"/>
            <a:ext cx="5852160" cy="365760"/>
          </a:xfrm>
          <a:prstGeom prst="rect">
            <a:avLst/>
          </a:prstGeom>
          <a:noFill/>
        </p:spPr>
        <p:txBody>
          <a:bodyPr wrap="square" anchor="ctr"/>
          <a:lstStyle/>
          <a:p>
            <a:pPr algn="l"/>
            <a:r>
              <a:rPr sz="1300" b="1">
                <a:solidFill>
                  <a:srgbClr val="FFFFFF"/>
                </a:solidFill>
                <a:latin typeface="Calibri"/>
              </a:rPr>
              <a:t>Definition</a:t>
            </a:r>
          </a:p>
        </p:txBody>
      </p:sp>
      <p:sp>
        <p:nvSpPr>
          <p:cNvPr id="11" name="TextBox 10"/>
          <p:cNvSpPr txBox="1"/>
          <p:nvPr/>
        </p:nvSpPr>
        <p:spPr>
          <a:xfrm>
            <a:off x="8595360" y="1024128"/>
            <a:ext cx="3017520" cy="365760"/>
          </a:xfrm>
          <a:prstGeom prst="rect">
            <a:avLst/>
          </a:prstGeom>
          <a:noFill/>
        </p:spPr>
        <p:txBody>
          <a:bodyPr wrap="square" anchor="ctr"/>
          <a:lstStyle/>
          <a:p>
            <a:pPr algn="l"/>
            <a:r>
              <a:rPr sz="1300" b="1">
                <a:solidFill>
                  <a:srgbClr val="FFFFFF"/>
                </a:solidFill>
                <a:latin typeface="Calibri"/>
              </a:rPr>
              <a:t>Example</a:t>
            </a:r>
          </a:p>
        </p:txBody>
      </p:sp>
      <p:sp>
        <p:nvSpPr>
          <p:cNvPr id="12" name="Rounded Rectangle 11"/>
          <p:cNvSpPr/>
          <p:nvPr/>
        </p:nvSpPr>
        <p:spPr>
          <a:xfrm>
            <a:off x="411480" y="14264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426464"/>
            <a:ext cx="2148840" cy="768096"/>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426464"/>
            <a:ext cx="2148840" cy="768096"/>
          </a:xfrm>
          <a:prstGeom prst="rect">
            <a:avLst/>
          </a:prstGeom>
          <a:noFill/>
        </p:spPr>
        <p:txBody>
          <a:bodyPr wrap="square" anchor="ctr"/>
          <a:lstStyle/>
          <a:p>
            <a:pPr algn="ctr"/>
            <a:r>
              <a:rPr sz="1800" b="1">
                <a:solidFill>
                  <a:srgbClr val="FFFFFF"/>
                </a:solidFill>
                <a:latin typeface="Calibri"/>
              </a:rPr>
              <a:t>Status 1</a:t>
            </a:r>
          </a:p>
        </p:txBody>
      </p:sp>
      <p:sp>
        <p:nvSpPr>
          <p:cNvPr id="15" name="TextBox 14"/>
          <p:cNvSpPr txBox="1"/>
          <p:nvPr/>
        </p:nvSpPr>
        <p:spPr>
          <a:xfrm>
            <a:off x="2697480" y="1481328"/>
            <a:ext cx="5806440" cy="658368"/>
          </a:xfrm>
          <a:prstGeom prst="rect">
            <a:avLst/>
          </a:prstGeom>
          <a:noFill/>
        </p:spPr>
        <p:txBody>
          <a:bodyPr wrap="square" anchor="ctr"/>
          <a:lstStyle/>
          <a:p>
            <a:pPr algn="l"/>
            <a:r>
              <a:rPr sz="1300" b="0">
                <a:solidFill>
                  <a:srgbClr val="1C1C1C"/>
                </a:solidFill>
                <a:latin typeface="Calibri"/>
              </a:rPr>
              <a:t>Normal, healthy patient</a:t>
            </a:r>
          </a:p>
        </p:txBody>
      </p:sp>
      <p:sp>
        <p:nvSpPr>
          <p:cNvPr id="16" name="TextBox 15"/>
          <p:cNvSpPr txBox="1"/>
          <p:nvPr/>
        </p:nvSpPr>
        <p:spPr>
          <a:xfrm>
            <a:off x="8595360" y="1481328"/>
            <a:ext cx="2971800" cy="658368"/>
          </a:xfrm>
          <a:prstGeom prst="rect">
            <a:avLst/>
          </a:prstGeom>
          <a:noFill/>
        </p:spPr>
        <p:txBody>
          <a:bodyPr wrap="square" anchor="ctr"/>
          <a:lstStyle/>
          <a:p>
            <a:pPr algn="l"/>
            <a:r>
              <a:rPr sz="1200" b="0">
                <a:solidFill>
                  <a:srgbClr val="3D4A57"/>
                </a:solidFill>
                <a:latin typeface="Calibri"/>
              </a:rPr>
              <a:t>Healthy 1-year-old OHE</a:t>
            </a:r>
          </a:p>
        </p:txBody>
      </p:sp>
      <p:sp>
        <p:nvSpPr>
          <p:cNvPr id="17" name="Rounded Rectangle 16"/>
          <p:cNvSpPr/>
          <p:nvPr/>
        </p:nvSpPr>
        <p:spPr>
          <a:xfrm>
            <a:off x="411480" y="224942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249424"/>
            <a:ext cx="2148840" cy="7680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249424"/>
            <a:ext cx="2148840" cy="768096"/>
          </a:xfrm>
          <a:prstGeom prst="rect">
            <a:avLst/>
          </a:prstGeom>
          <a:noFill/>
        </p:spPr>
        <p:txBody>
          <a:bodyPr wrap="square" anchor="ctr"/>
          <a:lstStyle/>
          <a:p>
            <a:pPr algn="ctr"/>
            <a:r>
              <a:rPr sz="1800" b="1">
                <a:solidFill>
                  <a:srgbClr val="FFFFFF"/>
                </a:solidFill>
                <a:latin typeface="Calibri"/>
              </a:rPr>
              <a:t>Status 2</a:t>
            </a:r>
          </a:p>
        </p:txBody>
      </p:sp>
      <p:sp>
        <p:nvSpPr>
          <p:cNvPr id="20" name="TextBox 19"/>
          <p:cNvSpPr txBox="1"/>
          <p:nvPr/>
        </p:nvSpPr>
        <p:spPr>
          <a:xfrm>
            <a:off x="2697480" y="2304288"/>
            <a:ext cx="5806440" cy="658368"/>
          </a:xfrm>
          <a:prstGeom prst="rect">
            <a:avLst/>
          </a:prstGeom>
          <a:noFill/>
        </p:spPr>
        <p:txBody>
          <a:bodyPr wrap="square" anchor="ctr"/>
          <a:lstStyle/>
          <a:p>
            <a:pPr algn="l"/>
            <a:r>
              <a:rPr sz="1300" b="0">
                <a:solidFill>
                  <a:srgbClr val="1C1C1C"/>
                </a:solidFill>
                <a:latin typeface="Calibri"/>
              </a:rPr>
              <a:t>Mild systemic disease, well compensated</a:t>
            </a:r>
          </a:p>
        </p:txBody>
      </p:sp>
      <p:sp>
        <p:nvSpPr>
          <p:cNvPr id="21" name="TextBox 20"/>
          <p:cNvSpPr txBox="1"/>
          <p:nvPr/>
        </p:nvSpPr>
        <p:spPr>
          <a:xfrm>
            <a:off x="8595360" y="2304288"/>
            <a:ext cx="2971800" cy="658368"/>
          </a:xfrm>
          <a:prstGeom prst="rect">
            <a:avLst/>
          </a:prstGeom>
          <a:noFill/>
        </p:spPr>
        <p:txBody>
          <a:bodyPr wrap="square" anchor="ctr"/>
          <a:lstStyle/>
          <a:p>
            <a:pPr algn="l"/>
            <a:r>
              <a:rPr sz="1200" b="0">
                <a:solidFill>
                  <a:srgbClr val="3D4A57"/>
                </a:solidFill>
                <a:latin typeface="Calibri"/>
              </a:rPr>
              <a:t>Obesity; asymptomatic murmur; controlled diabetes</a:t>
            </a:r>
          </a:p>
        </p:txBody>
      </p:sp>
      <p:sp>
        <p:nvSpPr>
          <p:cNvPr id="22" name="Rounded Rectangle 21"/>
          <p:cNvSpPr/>
          <p:nvPr/>
        </p:nvSpPr>
        <p:spPr>
          <a:xfrm>
            <a:off x="411480" y="307238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072384"/>
            <a:ext cx="21488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072384"/>
            <a:ext cx="2148840" cy="768096"/>
          </a:xfrm>
          <a:prstGeom prst="rect">
            <a:avLst/>
          </a:prstGeom>
          <a:noFill/>
        </p:spPr>
        <p:txBody>
          <a:bodyPr wrap="square" anchor="ctr"/>
          <a:lstStyle/>
          <a:p>
            <a:pPr algn="ctr"/>
            <a:r>
              <a:rPr sz="1800" b="1">
                <a:solidFill>
                  <a:srgbClr val="FFFFFF"/>
                </a:solidFill>
                <a:latin typeface="Calibri"/>
              </a:rPr>
              <a:t>Status 3</a:t>
            </a:r>
          </a:p>
        </p:txBody>
      </p:sp>
      <p:sp>
        <p:nvSpPr>
          <p:cNvPr id="25" name="TextBox 24"/>
          <p:cNvSpPr txBox="1"/>
          <p:nvPr/>
        </p:nvSpPr>
        <p:spPr>
          <a:xfrm>
            <a:off x="2697480" y="3127248"/>
            <a:ext cx="5806440" cy="658368"/>
          </a:xfrm>
          <a:prstGeom prst="rect">
            <a:avLst/>
          </a:prstGeom>
          <a:noFill/>
        </p:spPr>
        <p:txBody>
          <a:bodyPr wrap="square" anchor="ctr"/>
          <a:lstStyle/>
          <a:p>
            <a:pPr algn="l"/>
            <a:r>
              <a:rPr sz="1300" b="0">
                <a:solidFill>
                  <a:srgbClr val="1C1C1C"/>
                </a:solidFill>
                <a:latin typeface="Calibri"/>
              </a:rPr>
              <a:t>Moderate systemic disease that is ongoing but compensated; some functional limitations exist that increase the risk of anesthesia</a:t>
            </a:r>
          </a:p>
        </p:txBody>
      </p:sp>
      <p:sp>
        <p:nvSpPr>
          <p:cNvPr id="26" name="TextBox 25"/>
          <p:cNvSpPr txBox="1"/>
          <p:nvPr/>
        </p:nvSpPr>
        <p:spPr>
          <a:xfrm>
            <a:off x="8595360" y="3127248"/>
            <a:ext cx="2971800" cy="658368"/>
          </a:xfrm>
          <a:prstGeom prst="rect">
            <a:avLst/>
          </a:prstGeom>
          <a:noFill/>
        </p:spPr>
        <p:txBody>
          <a:bodyPr wrap="square" anchor="ctr"/>
          <a:lstStyle/>
          <a:p>
            <a:pPr algn="l"/>
            <a:r>
              <a:rPr sz="1200" b="0">
                <a:solidFill>
                  <a:srgbClr val="3D4A57"/>
                </a:solidFill>
                <a:latin typeface="Calibri"/>
              </a:rPr>
              <a:t>Willie: vestibular disease, otitis, walking, compensated murmur</a:t>
            </a:r>
          </a:p>
        </p:txBody>
      </p:sp>
      <p:sp>
        <p:nvSpPr>
          <p:cNvPr id="27" name="Rounded Rectangle 26"/>
          <p:cNvSpPr/>
          <p:nvPr/>
        </p:nvSpPr>
        <p:spPr>
          <a:xfrm>
            <a:off x="411480" y="389534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3895344"/>
            <a:ext cx="2148840" cy="76809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3895344"/>
            <a:ext cx="2148840" cy="768096"/>
          </a:xfrm>
          <a:prstGeom prst="rect">
            <a:avLst/>
          </a:prstGeom>
          <a:noFill/>
        </p:spPr>
        <p:txBody>
          <a:bodyPr wrap="square" anchor="ctr"/>
          <a:lstStyle/>
          <a:p>
            <a:pPr algn="ctr"/>
            <a:r>
              <a:rPr sz="1800" b="1">
                <a:solidFill>
                  <a:srgbClr val="FFFFFF"/>
                </a:solidFill>
                <a:latin typeface="Calibri"/>
              </a:rPr>
              <a:t>Status 4</a:t>
            </a:r>
          </a:p>
        </p:txBody>
      </p:sp>
      <p:sp>
        <p:nvSpPr>
          <p:cNvPr id="30" name="TextBox 29"/>
          <p:cNvSpPr txBox="1"/>
          <p:nvPr/>
        </p:nvSpPr>
        <p:spPr>
          <a:xfrm>
            <a:off x="2697480" y="3950208"/>
            <a:ext cx="5806440" cy="658368"/>
          </a:xfrm>
          <a:prstGeom prst="rect">
            <a:avLst/>
          </a:prstGeom>
          <a:noFill/>
        </p:spPr>
        <p:txBody>
          <a:bodyPr wrap="square" anchor="ctr"/>
          <a:lstStyle/>
          <a:p>
            <a:pPr algn="l"/>
            <a:r>
              <a:rPr sz="1300" b="0">
                <a:solidFill>
                  <a:srgbClr val="1C1C1C"/>
                </a:solidFill>
                <a:latin typeface="Calibri"/>
              </a:rPr>
              <a:t>Severe systemic disease that is a constant threat to life, uncompensated disease, high anesthetic risk because vital body systems involved</a:t>
            </a:r>
          </a:p>
        </p:txBody>
      </p:sp>
      <p:sp>
        <p:nvSpPr>
          <p:cNvPr id="31" name="TextBox 30"/>
          <p:cNvSpPr txBox="1"/>
          <p:nvPr/>
        </p:nvSpPr>
        <p:spPr>
          <a:xfrm>
            <a:off x="8595360" y="3950208"/>
            <a:ext cx="2971800" cy="658368"/>
          </a:xfrm>
          <a:prstGeom prst="rect">
            <a:avLst/>
          </a:prstGeom>
          <a:noFill/>
        </p:spPr>
        <p:txBody>
          <a:bodyPr wrap="square" anchor="ctr"/>
          <a:lstStyle/>
          <a:p>
            <a:pPr algn="l"/>
            <a:r>
              <a:rPr sz="1200" b="0">
                <a:solidFill>
                  <a:srgbClr val="3D4A57"/>
                </a:solidFill>
                <a:latin typeface="Calibri"/>
              </a:rPr>
              <a:t>MoMo: rising azotemia, non-functional kidney; GDV; septic abdomen</a:t>
            </a:r>
          </a:p>
        </p:txBody>
      </p:sp>
      <p:sp>
        <p:nvSpPr>
          <p:cNvPr id="32" name="Rounded Rectangle 31"/>
          <p:cNvSpPr/>
          <p:nvPr/>
        </p:nvSpPr>
        <p:spPr>
          <a:xfrm>
            <a:off x="411480" y="471830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4718304"/>
            <a:ext cx="2148840" cy="7680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4718304"/>
            <a:ext cx="2148840" cy="768096"/>
          </a:xfrm>
          <a:prstGeom prst="rect">
            <a:avLst/>
          </a:prstGeom>
          <a:noFill/>
        </p:spPr>
        <p:txBody>
          <a:bodyPr wrap="square" anchor="ctr"/>
          <a:lstStyle/>
          <a:p>
            <a:pPr algn="ctr"/>
            <a:r>
              <a:rPr sz="1800" b="1">
                <a:solidFill>
                  <a:srgbClr val="FFFFFF"/>
                </a:solidFill>
                <a:latin typeface="Calibri"/>
              </a:rPr>
              <a:t>Status 5</a:t>
            </a:r>
          </a:p>
        </p:txBody>
      </p:sp>
      <p:sp>
        <p:nvSpPr>
          <p:cNvPr id="35" name="TextBox 34"/>
          <p:cNvSpPr txBox="1"/>
          <p:nvPr/>
        </p:nvSpPr>
        <p:spPr>
          <a:xfrm>
            <a:off x="2697480" y="4773168"/>
            <a:ext cx="5806440" cy="658368"/>
          </a:xfrm>
          <a:prstGeom prst="rect">
            <a:avLst/>
          </a:prstGeom>
          <a:noFill/>
        </p:spPr>
        <p:txBody>
          <a:bodyPr wrap="square" anchor="ctr"/>
          <a:lstStyle/>
          <a:p>
            <a:pPr algn="l"/>
            <a:r>
              <a:rPr sz="1300" b="0">
                <a:solidFill>
                  <a:srgbClr val="1C1C1C"/>
                </a:solidFill>
                <a:latin typeface="Calibri"/>
              </a:rPr>
              <a:t>Moribund patient not expected to live more than 24 hours with or without surgery</a:t>
            </a:r>
          </a:p>
        </p:txBody>
      </p:sp>
      <p:sp>
        <p:nvSpPr>
          <p:cNvPr id="36" name="TextBox 35"/>
          <p:cNvSpPr txBox="1"/>
          <p:nvPr/>
        </p:nvSpPr>
        <p:spPr>
          <a:xfrm>
            <a:off x="8595360" y="4773168"/>
            <a:ext cx="2971800" cy="658368"/>
          </a:xfrm>
          <a:prstGeom prst="rect">
            <a:avLst/>
          </a:prstGeom>
          <a:noFill/>
        </p:spPr>
        <p:txBody>
          <a:bodyPr wrap="square" anchor="ctr"/>
          <a:lstStyle/>
          <a:p>
            <a:pPr algn="l"/>
            <a:r>
              <a:rPr sz="1200" b="0">
                <a:solidFill>
                  <a:srgbClr val="3D4A57"/>
                </a:solidFill>
                <a:latin typeface="Calibri"/>
              </a:rPr>
              <a:t>Gastric rupture; catastrophic trauma; end-stage disease</a:t>
            </a:r>
          </a:p>
        </p:txBody>
      </p:sp>
      <p:sp>
        <p:nvSpPr>
          <p:cNvPr id="37" name="Rounded Rectangle 36"/>
          <p:cNvSpPr/>
          <p:nvPr/>
        </p:nvSpPr>
        <p:spPr>
          <a:xfrm>
            <a:off x="411480" y="5596128"/>
            <a:ext cx="11338560" cy="8686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687568"/>
            <a:ext cx="11018520" cy="685800"/>
          </a:xfrm>
          <a:prstGeom prst="rect">
            <a:avLst/>
          </a:prstGeom>
          <a:noFill/>
        </p:spPr>
        <p:txBody>
          <a:bodyPr wrap="square" anchor="t"/>
          <a:lstStyle/>
          <a:p>
            <a:pPr algn="l"/>
            <a:r>
              <a:rPr sz="1400" b="0">
                <a:solidFill>
                  <a:srgbClr val="0B2C4A"/>
                </a:solidFill>
                <a:latin typeface="Calibri"/>
              </a:rPr>
              <a:t>E = emergency (written Status 3-E or 4-E). Willie is Status 3-E: acute, still compensated. MoMo is Status 4-E: acute, uncompensated, vital systems involved. Assign the number after today’s PE and labs, not from the appointment book.</a:t>
            </a:r>
          </a:p>
        </p:txBody>
      </p:sp>
      <p:sp>
        <p:nvSpPr>
          <p:cNvPr id="39" name="Rectangle 3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41" name="TextBox 4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11  /  59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ASSIGN STATUS, THEN SAY WHETHER YOU PROCEED TODAY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ASA practice cases</a:t>
            </a:r>
          </a:p>
        </p:txBody>
      </p:sp>
      <p:sp>
        <p:nvSpPr>
          <p:cNvPr id="8" name="Rounded Rectangle 7"/>
          <p:cNvSpPr/>
          <p:nvPr/>
        </p:nvSpPr>
        <p:spPr>
          <a:xfrm>
            <a:off x="457200" y="109728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640080" cy="111556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640080" cy="1115568"/>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325880" y="1207008"/>
            <a:ext cx="10058400" cy="457200"/>
          </a:xfrm>
          <a:prstGeom prst="rect">
            <a:avLst/>
          </a:prstGeom>
          <a:noFill/>
        </p:spPr>
        <p:txBody>
          <a:bodyPr wrap="square" anchor="t"/>
          <a:lstStyle/>
          <a:p>
            <a:pPr algn="l"/>
            <a:r>
              <a:rPr sz="1500" b="0">
                <a:solidFill>
                  <a:srgbClr val="1C1C1C"/>
                </a:solidFill>
                <a:latin typeface="Calibri"/>
              </a:rPr>
              <a:t>Healthy 8-month Labrador for elective OHE. Normal PE, PCV/TS normal.</a:t>
            </a:r>
          </a:p>
        </p:txBody>
      </p:sp>
      <p:sp>
        <p:nvSpPr>
          <p:cNvPr id="12" name="TextBox 11"/>
          <p:cNvSpPr txBox="1"/>
          <p:nvPr/>
        </p:nvSpPr>
        <p:spPr>
          <a:xfrm>
            <a:off x="1325880" y="1719072"/>
            <a:ext cx="10058400" cy="365760"/>
          </a:xfrm>
          <a:prstGeom prst="rect">
            <a:avLst/>
          </a:prstGeom>
          <a:noFill/>
        </p:spPr>
        <p:txBody>
          <a:bodyPr wrap="square" anchor="t"/>
          <a:lstStyle/>
          <a:p>
            <a:pPr algn="l"/>
            <a:r>
              <a:rPr sz="1400" b="1">
                <a:solidFill>
                  <a:srgbClr val="2E6B4F"/>
                </a:solidFill>
                <a:latin typeface="Calibri"/>
              </a:rPr>
              <a:t>ASA Status 1  ·  proceed</a:t>
            </a:r>
          </a:p>
        </p:txBody>
      </p:sp>
      <p:sp>
        <p:nvSpPr>
          <p:cNvPr id="13" name="Rounded Rectangle 12"/>
          <p:cNvSpPr/>
          <p:nvPr/>
        </p:nvSpPr>
        <p:spPr>
          <a:xfrm>
            <a:off x="457200" y="233172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640080" cy="111556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640080" cy="1115568"/>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325880" y="2441448"/>
            <a:ext cx="10058400" cy="457200"/>
          </a:xfrm>
          <a:prstGeom prst="rect">
            <a:avLst/>
          </a:prstGeom>
          <a:noFill/>
        </p:spPr>
        <p:txBody>
          <a:bodyPr wrap="square" anchor="t"/>
          <a:lstStyle/>
          <a:p>
            <a:pPr algn="l"/>
            <a:r>
              <a:rPr sz="1500" b="0">
                <a:solidFill>
                  <a:srgbClr val="1C1C1C"/>
                </a:solidFill>
                <a:latin typeface="Calibri"/>
              </a:rPr>
              <a:t>10-year MN Beagle, BCS 8/9, grade 2/6 murmur, no CHF, dental + mass removal.</a:t>
            </a:r>
          </a:p>
        </p:txBody>
      </p:sp>
      <p:sp>
        <p:nvSpPr>
          <p:cNvPr id="17" name="TextBox 16"/>
          <p:cNvSpPr txBox="1"/>
          <p:nvPr/>
        </p:nvSpPr>
        <p:spPr>
          <a:xfrm>
            <a:off x="1325880" y="2953512"/>
            <a:ext cx="10058400" cy="365760"/>
          </a:xfrm>
          <a:prstGeom prst="rect">
            <a:avLst/>
          </a:prstGeom>
          <a:noFill/>
        </p:spPr>
        <p:txBody>
          <a:bodyPr wrap="square" anchor="t"/>
          <a:lstStyle/>
          <a:p>
            <a:pPr algn="l"/>
            <a:r>
              <a:rPr sz="1400" b="1">
                <a:solidFill>
                  <a:srgbClr val="1B6B7A"/>
                </a:solidFill>
                <a:latin typeface="Calibri"/>
              </a:rPr>
              <a:t>ASA Status 2  ·  proceed with monitoring plan</a:t>
            </a:r>
          </a:p>
        </p:txBody>
      </p:sp>
      <p:sp>
        <p:nvSpPr>
          <p:cNvPr id="18" name="Rounded Rectangle 17"/>
          <p:cNvSpPr/>
          <p:nvPr/>
        </p:nvSpPr>
        <p:spPr>
          <a:xfrm>
            <a:off x="457200" y="356616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566160"/>
            <a:ext cx="64008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566160"/>
            <a:ext cx="640080" cy="1115568"/>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325880" y="3675888"/>
            <a:ext cx="10058400" cy="457200"/>
          </a:xfrm>
          <a:prstGeom prst="rect">
            <a:avLst/>
          </a:prstGeom>
          <a:noFill/>
        </p:spPr>
        <p:txBody>
          <a:bodyPr wrap="square" anchor="t"/>
          <a:lstStyle/>
          <a:p>
            <a:pPr algn="l"/>
            <a:r>
              <a:rPr sz="1500" b="0">
                <a:solidFill>
                  <a:srgbClr val="1C1C1C"/>
                </a:solidFill>
                <a:latin typeface="Calibri"/>
              </a:rPr>
              <a:t>Willie: 6 y 11 mo MN Cavalier, 13.7 kg. Acute ataxia 1 h. AS otitis, TM visible/swollen. Circling left, nystagmus fast-left, right knuckling. Grade II murmur. CV stable.</a:t>
            </a:r>
          </a:p>
        </p:txBody>
      </p:sp>
      <p:sp>
        <p:nvSpPr>
          <p:cNvPr id="22" name="TextBox 21"/>
          <p:cNvSpPr txBox="1"/>
          <p:nvPr/>
        </p:nvSpPr>
        <p:spPr>
          <a:xfrm>
            <a:off x="1325880" y="4187952"/>
            <a:ext cx="10058400" cy="365760"/>
          </a:xfrm>
          <a:prstGeom prst="rect">
            <a:avLst/>
          </a:prstGeom>
          <a:noFill/>
        </p:spPr>
        <p:txBody>
          <a:bodyPr wrap="square" anchor="t"/>
          <a:lstStyle/>
          <a:p>
            <a:pPr algn="l"/>
            <a:r>
              <a:rPr sz="1400" b="1">
                <a:solidFill>
                  <a:srgbClr val="C5A35A"/>
                </a:solidFill>
                <a:latin typeface="Calibri"/>
              </a:rPr>
              <a:t>ASA Status 3-E. Not an isolated otitis.</a:t>
            </a:r>
          </a:p>
        </p:txBody>
      </p:sp>
      <p:sp>
        <p:nvSpPr>
          <p:cNvPr id="23" name="Rounded Rectangle 22"/>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00600"/>
            <a:ext cx="640080" cy="1115568"/>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00600"/>
            <a:ext cx="640080" cy="1115568"/>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325880" y="4910328"/>
            <a:ext cx="10058400" cy="457200"/>
          </a:xfrm>
          <a:prstGeom prst="rect">
            <a:avLst/>
          </a:prstGeom>
          <a:noFill/>
        </p:spPr>
        <p:txBody>
          <a:bodyPr wrap="square" anchor="t"/>
          <a:lstStyle/>
          <a:p>
            <a:pPr algn="l"/>
            <a:r>
              <a:rPr sz="1500" b="0">
                <a:solidFill>
                  <a:srgbClr val="1C1C1C"/>
                </a:solidFill>
                <a:latin typeface="Calibri"/>
              </a:rPr>
              <a:t>MoMo: 6 yo SF DSH, 4.25 kg. Acute vomiting ×2, lethargy, construction at home; possible foreign body. T 98.0 °F, HR 200, mm pink tacky. Mildly enlarged abdomen.</a:t>
            </a:r>
          </a:p>
        </p:txBody>
      </p:sp>
      <p:sp>
        <p:nvSpPr>
          <p:cNvPr id="27" name="TextBox 26"/>
          <p:cNvSpPr txBox="1"/>
          <p:nvPr/>
        </p:nvSpPr>
        <p:spPr>
          <a:xfrm>
            <a:off x="1325880" y="5422392"/>
            <a:ext cx="10058400" cy="365760"/>
          </a:xfrm>
          <a:prstGeom prst="rect">
            <a:avLst/>
          </a:prstGeom>
          <a:noFill/>
        </p:spPr>
        <p:txBody>
          <a:bodyPr wrap="square" anchor="t"/>
          <a:lstStyle/>
          <a:p>
            <a:pPr algn="l"/>
            <a:r>
              <a:rPr sz="1400" b="1">
                <a:solidFill>
                  <a:srgbClr val="8B2E2E"/>
                </a:solidFill>
                <a:latin typeface="Calibri"/>
              </a:rPr>
              <a:t>Stabilize, image, and run labs first. This became ASA Status 4-E. Medical abdomen.</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12  /  59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6 Y 11 MO MN CAVALIER KING CHARLES SPANIEL, 13.7 KG, BCS 6/9</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Willie, ASA Status 3-E</a:t>
            </a:r>
          </a:p>
        </p:txBody>
      </p:sp>
      <p:sp>
        <p:nvSpPr>
          <p:cNvPr id="8" name="Rounded Rectangle 7"/>
          <p:cNvSpPr/>
          <p:nvPr/>
        </p:nvSpPr>
        <p:spPr>
          <a:xfrm>
            <a:off x="457200" y="1051560"/>
            <a:ext cx="11247120" cy="13258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43000"/>
            <a:ext cx="10789920" cy="1143000"/>
          </a:xfrm>
          <a:prstGeom prst="rect">
            <a:avLst/>
          </a:prstGeom>
          <a:noFill/>
        </p:spPr>
        <p:txBody>
          <a:bodyPr wrap="square" anchor="t"/>
          <a:lstStyle/>
          <a:p>
            <a:pPr algn="l"/>
            <a:r>
              <a:rPr sz="1400" b="0">
                <a:solidFill>
                  <a:srgbClr val="0B2C4A"/>
                </a:solidFill>
                <a:latin typeface="Calibri"/>
              </a:rPr>
              <a:t>Acute ataxia ~1 hour. Fell off the couch twice. Abnormal paw placement. Appetite/thirst normal. Cytopoint for allergies. No prior vestibular signs. Vitals: T 100.8 °F, HR 132, RR 52, mm pink, CRT 2 s, quiet/dull.</a:t>
            </a:r>
          </a:p>
        </p:txBody>
      </p:sp>
      <p:sp>
        <p:nvSpPr>
          <p:cNvPr id="10" name="Rounded Rectangle 9"/>
          <p:cNvSpPr/>
          <p:nvPr/>
        </p:nvSpPr>
        <p:spPr>
          <a:xfrm>
            <a:off x="45720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514600"/>
            <a:ext cx="91440" cy="36118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624328"/>
            <a:ext cx="3291840" cy="347472"/>
          </a:xfrm>
          <a:prstGeom prst="rect">
            <a:avLst/>
          </a:prstGeom>
          <a:noFill/>
        </p:spPr>
        <p:txBody>
          <a:bodyPr wrap="square" anchor="t"/>
          <a:lstStyle/>
          <a:p>
            <a:pPr algn="l"/>
            <a:r>
              <a:rPr sz="1500" b="1">
                <a:solidFill>
                  <a:srgbClr val="0B2C4A"/>
                </a:solidFill>
                <a:latin typeface="Calibri"/>
              </a:rPr>
              <a:t>Left ear (AS)</a:t>
            </a:r>
          </a:p>
        </p:txBody>
      </p:sp>
      <p:sp>
        <p:nvSpPr>
          <p:cNvPr id="13" name="TextBox 12"/>
          <p:cNvSpPr txBox="1"/>
          <p:nvPr/>
        </p:nvSpPr>
        <p:spPr>
          <a:xfrm>
            <a:off x="713232" y="2953512"/>
            <a:ext cx="3291840" cy="3081528"/>
          </a:xfrm>
          <a:prstGeom prst="rect">
            <a:avLst/>
          </a:prstGeom>
          <a:noFill/>
        </p:spPr>
        <p:txBody>
          <a:bodyPr wrap="square" anchor="t"/>
          <a:lstStyle/>
          <a:p>
            <a:pPr algn="l"/>
            <a:r>
              <a:rPr sz="13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514600"/>
            <a:ext cx="91440" cy="3611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624328"/>
            <a:ext cx="3291840" cy="347472"/>
          </a:xfrm>
          <a:prstGeom prst="rect">
            <a:avLst/>
          </a:prstGeom>
          <a:noFill/>
        </p:spPr>
        <p:txBody>
          <a:bodyPr wrap="square" anchor="t"/>
          <a:lstStyle/>
          <a:p>
            <a:pPr algn="l"/>
            <a:r>
              <a:rPr sz="1500" b="1">
                <a:solidFill>
                  <a:srgbClr val="0B2C4A"/>
                </a:solidFill>
                <a:latin typeface="Calibri"/>
              </a:rPr>
              <a:t>Neuro exam</a:t>
            </a:r>
          </a:p>
        </p:txBody>
      </p:sp>
      <p:sp>
        <p:nvSpPr>
          <p:cNvPr id="17" name="TextBox 16"/>
          <p:cNvSpPr txBox="1"/>
          <p:nvPr/>
        </p:nvSpPr>
        <p:spPr>
          <a:xfrm>
            <a:off x="4553712" y="2953512"/>
            <a:ext cx="3291840" cy="3081528"/>
          </a:xfrm>
          <a:prstGeom prst="rect">
            <a:avLst/>
          </a:prstGeom>
          <a:noFill/>
        </p:spPr>
        <p:txBody>
          <a:bodyPr wrap="square" anchor="t"/>
          <a:lstStyle/>
          <a:p>
            <a:pPr algn="l"/>
            <a:r>
              <a:rPr sz="1300" b="0">
                <a:solidFill>
                  <a:srgbClr val="3D4A57"/>
                </a:solidFill>
                <a:latin typeface="Calibri"/>
              </a:rPr>
              <a:t>Circling left. Horizontal nystagmus, fast left, slow right. Right knuckling and delayed proprioception. Wheelbarrow absent on the right. Treat as central vestibular disease until MRI.</a:t>
            </a:r>
          </a:p>
        </p:txBody>
      </p:sp>
      <p:sp>
        <p:nvSpPr>
          <p:cNvPr id="18" name="Rounded Rectangle 17"/>
          <p:cNvSpPr/>
          <p:nvPr/>
        </p:nvSpPr>
        <p:spPr>
          <a:xfrm>
            <a:off x="8138160" y="2514600"/>
            <a:ext cx="356616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514600"/>
            <a:ext cx="91440" cy="36118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624328"/>
            <a:ext cx="3200400" cy="347472"/>
          </a:xfrm>
          <a:prstGeom prst="rect">
            <a:avLst/>
          </a:prstGeom>
          <a:noFill/>
        </p:spPr>
        <p:txBody>
          <a:bodyPr wrap="square" anchor="t"/>
          <a:lstStyle/>
          <a:p>
            <a:pPr algn="l"/>
            <a:r>
              <a:rPr sz="1500" b="1">
                <a:solidFill>
                  <a:srgbClr val="0B2C4A"/>
                </a:solidFill>
                <a:latin typeface="Calibri"/>
              </a:rPr>
              <a:t>Also on PE</a:t>
            </a:r>
          </a:p>
        </p:txBody>
      </p:sp>
      <p:sp>
        <p:nvSpPr>
          <p:cNvPr id="21" name="TextBox 20"/>
          <p:cNvSpPr txBox="1"/>
          <p:nvPr/>
        </p:nvSpPr>
        <p:spPr>
          <a:xfrm>
            <a:off x="8394192" y="2953512"/>
            <a:ext cx="3200400" cy="3081528"/>
          </a:xfrm>
          <a:prstGeom prst="rect">
            <a:avLst/>
          </a:prstGeom>
          <a:noFill/>
        </p:spPr>
        <p:txBody>
          <a:bodyPr wrap="square" anchor="t"/>
          <a:lstStyle/>
          <a:p>
            <a:pPr algn="l"/>
            <a:r>
              <a:rPr sz="1300" b="0">
                <a:solidFill>
                  <a:srgbClr val="3D4A57"/>
                </a:solidFill>
                <a:latin typeface="Calibri"/>
              </a:rPr>
              <a:t>Grade II/VI left systolic murmur (Cavaliers). Heavy tartar. Nasal crusts. Soft non-painful abdomen. Compensated tonight.</a:t>
            </a:r>
          </a:p>
        </p:txBody>
      </p:sp>
      <p:sp>
        <p:nvSpPr>
          <p:cNvPr id="22" name="Rectangle 2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4" name="TextBox 2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13  /  59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COMPENSATED, FUNCTIONAL LIMITATION, ACUTE, NOT A CONSTANT THREAT TO LIFE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Why Willie is ASA Status 3-E</a:t>
            </a:r>
          </a:p>
        </p:txBody>
      </p:sp>
      <p:sp>
        <p:nvSpPr>
          <p:cNvPr id="8" name="Rounded Rectangle 7"/>
          <p:cNvSpPr/>
          <p:nvPr/>
        </p:nvSpPr>
        <p:spPr>
          <a:xfrm>
            <a:off x="411480" y="1078992"/>
            <a:ext cx="370332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234440"/>
            <a:ext cx="3383280" cy="411480"/>
          </a:xfrm>
          <a:prstGeom prst="rect">
            <a:avLst/>
          </a:prstGeom>
          <a:noFill/>
        </p:spPr>
        <p:txBody>
          <a:bodyPr wrap="square" anchor="t"/>
          <a:lstStyle/>
          <a:p>
            <a:pPr algn="l"/>
            <a:r>
              <a:rPr sz="1800" b="1">
                <a:solidFill>
                  <a:srgbClr val="2E6B4F"/>
                </a:solidFill>
                <a:latin typeface="Calibri"/>
              </a:rPr>
              <a:t>ASA III-E</a:t>
            </a:r>
          </a:p>
        </p:txBody>
      </p:sp>
      <p:sp>
        <p:nvSpPr>
          <p:cNvPr id="10" name="TextBox 9"/>
          <p:cNvSpPr txBox="1"/>
          <p:nvPr/>
        </p:nvSpPr>
        <p:spPr>
          <a:xfrm>
            <a:off x="594360" y="1691640"/>
            <a:ext cx="3383280" cy="4114800"/>
          </a:xfrm>
          <a:prstGeom prst="rect">
            <a:avLst/>
          </a:prstGeom>
          <a:noFill/>
        </p:spPr>
        <p:txBody>
          <a:bodyPr wrap="square" anchor="t"/>
          <a:lstStyle/>
          <a:p>
            <a:pPr algn="l"/>
            <a:r>
              <a:rPr sz="1400" b="0">
                <a:solidFill>
                  <a:srgbClr val="1C1C1C"/>
                </a:solidFill>
                <a:latin typeface="Calibri"/>
              </a:rPr>
              <a:t>II = murmur alone, or dirty ears without neuro signs.
III = acute vestibular disease plus severe AS otitis, still pink, walking, kidneys normal.
E = started an hour ago; sedation tonight.
IV = recumbent, seizing, septic, or in heart failure. He was not.</a:t>
            </a:r>
          </a:p>
        </p:txBody>
      </p:sp>
      <p:sp>
        <p:nvSpPr>
          <p:cNvPr id="11" name="Rounded Rectangle 10"/>
          <p:cNvSpPr/>
          <p:nvPr/>
        </p:nvSpPr>
        <p:spPr>
          <a:xfrm>
            <a:off x="4297680" y="1078992"/>
            <a:ext cx="74066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234440"/>
            <a:ext cx="6949440" cy="365760"/>
          </a:xfrm>
          <a:prstGeom prst="rect">
            <a:avLst/>
          </a:prstGeom>
          <a:noFill/>
        </p:spPr>
        <p:txBody>
          <a:bodyPr wrap="square" anchor="t"/>
          <a:lstStyle/>
          <a:p>
            <a:pPr algn="l"/>
            <a:r>
              <a:rPr sz="1600" b="1">
                <a:solidFill>
                  <a:srgbClr val="0B2C4A"/>
                </a:solidFill>
                <a:latin typeface="Calibri"/>
              </a:rPr>
              <a:t>Work-up and peri-op plan (this patient)</a:t>
            </a:r>
          </a:p>
        </p:txBody>
      </p:sp>
      <p:sp>
        <p:nvSpPr>
          <p:cNvPr id="13" name="TextBox 12"/>
          <p:cNvSpPr txBox="1"/>
          <p:nvPr/>
        </p:nvSpPr>
        <p:spPr>
          <a:xfrm>
            <a:off x="4480560" y="1645920"/>
            <a:ext cx="6949440" cy="4206240"/>
          </a:xfrm>
          <a:prstGeom prst="rect">
            <a:avLst/>
          </a:prstGeom>
          <a:noFill/>
        </p:spPr>
        <p:txBody>
          <a:bodyPr wrap="square">
            <a:spAutoFit/>
          </a:bodyPr>
          <a:lstStyle/>
          <a:p>
            <a:pPr algn="l">
              <a:spcAft>
                <a:spcPts val="500"/>
              </a:spcAft>
            </a:pPr>
            <a:r>
              <a:rPr sz="1300" b="0">
                <a:solidFill>
                  <a:srgbClr val="1C1C1C"/>
                </a:solidFill>
                <a:latin typeface="Calibri"/>
              </a:rPr>
              <a:t>▸  CBC WNL. Phosphorus 6.0 (high), glucose 130 (stress). Kidneys, liver, electrolytes normal.</a:t>
            </a:r>
          </a:p>
          <a:p>
            <a:pPr algn="l">
              <a:spcAft>
                <a:spcPts val="500"/>
              </a:spcAft>
            </a:pPr>
            <a:r>
              <a:rPr sz="1300" b="0">
                <a:solidFill>
                  <a:srgbClr val="1C1C1C"/>
                </a:solidFill>
                <a:latin typeface="Calibri"/>
              </a:rPr>
              <a:t>▸  IV fluids, Cerenia IV, DexSP 0.68 mL SQ. Skip NSAID after the steroid.</a:t>
            </a:r>
          </a:p>
          <a:p>
            <a:pPr algn="l">
              <a:spcAft>
                <a:spcPts val="500"/>
              </a:spcAft>
            </a:pPr>
            <a:r>
              <a:rPr sz="1300" b="0">
                <a:solidFill>
                  <a:srgbClr val="1C1C1C"/>
                </a:solidFill>
                <a:latin typeface="Calibri"/>
              </a:rPr>
              <a:t>▸  Alfaxalone sedation: deep left-ear clean, cytology/culture, 3-view skull/spine films.</a:t>
            </a:r>
          </a:p>
          <a:p>
            <a:pPr algn="l">
              <a:spcAft>
                <a:spcPts val="500"/>
              </a:spcAft>
            </a:pPr>
            <a:r>
              <a:rPr sz="1300" b="0">
                <a:solidFill>
                  <a:srgbClr val="1C1C1C"/>
                </a:solidFill>
                <a:latin typeface="Calibri"/>
              </a:rPr>
              <a:t>▸  Films: bullae radiographically intact, skull intact, L7–S1 discospondylosis. That does not explain acute circling.</a:t>
            </a:r>
          </a:p>
          <a:p>
            <a:pPr algn="l">
              <a:spcAft>
                <a:spcPts val="500"/>
              </a:spcAft>
            </a:pPr>
            <a:r>
              <a:rPr sz="1300" b="0">
                <a:solidFill>
                  <a:srgbClr val="1C1C1C"/>
                </a:solidFill>
                <a:latin typeface="Calibri"/>
              </a:rPr>
              <a:t>▸  Left circling + left-fast nystagmus + right proprioceptive deficit → central until MRI says otherwise.</a:t>
            </a:r>
          </a:p>
          <a:p>
            <a:pPr algn="l">
              <a:spcAft>
                <a:spcPts val="500"/>
              </a:spcAft>
            </a:pPr>
            <a:r>
              <a:rPr sz="1300" b="0">
                <a:solidFill>
                  <a:srgbClr val="1C1C1C"/>
                </a:solidFill>
                <a:latin typeface="Calibri"/>
              </a:rPr>
              <a:t>▸  Home: meclizine 25 mg PO BID × 5 d, Cerenia 60 mg PO SID × 4 d, confine, no stairs. MRI recommended. TECA-LBO if culture-guided medical therapy fails.</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14  /  59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6 YO SF DSH, 4.25 KG, BCS 5/9</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MoMo, ASA Status 4-E</a:t>
            </a:r>
          </a:p>
        </p:txBody>
      </p:sp>
      <p:sp>
        <p:nvSpPr>
          <p:cNvPr id="8" name="Rounded Rectangle 7"/>
          <p:cNvSpPr/>
          <p:nvPr/>
        </p:nvSpPr>
        <p:spPr>
          <a:xfrm>
            <a:off x="457200" y="1051560"/>
            <a:ext cx="11247120" cy="132588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43000"/>
            <a:ext cx="10789920" cy="1143000"/>
          </a:xfrm>
          <a:prstGeom prst="rect">
            <a:avLst/>
          </a:prstGeom>
          <a:noFill/>
        </p:spPr>
        <p:txBody>
          <a:bodyPr wrap="square" anchor="t"/>
          <a:lstStyle/>
          <a:p>
            <a:pPr algn="l"/>
            <a:r>
              <a:rPr sz="1400" b="0">
                <a:solidFill>
                  <a:srgbClr val="0B2C4A"/>
                </a:solidFill>
                <a:latin typeface="Calibri"/>
              </a:rPr>
              <a:t>Acute vomiting and lethargy this morning. Two vomits (food, then liquid). Ate normally yesterday. Household construction. Possible foreign material or toxin. Refused a favored treat. Vaccines uncertain; last wellness ~2 years. Vitals: T 98.0 °F, HR 200, RR 30, mm pink tacky, CRT &lt;2 s, QAR.</a:t>
            </a:r>
          </a:p>
        </p:txBody>
      </p:sp>
      <p:sp>
        <p:nvSpPr>
          <p:cNvPr id="10" name="Rounded Rectangle 9"/>
          <p:cNvSpPr/>
          <p:nvPr/>
        </p:nvSpPr>
        <p:spPr>
          <a:xfrm>
            <a:off x="45720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514600"/>
            <a:ext cx="91440" cy="3611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624328"/>
            <a:ext cx="3291840" cy="347472"/>
          </a:xfrm>
          <a:prstGeom prst="rect">
            <a:avLst/>
          </a:prstGeom>
          <a:noFill/>
        </p:spPr>
        <p:txBody>
          <a:bodyPr wrap="square" anchor="t"/>
          <a:lstStyle/>
          <a:p>
            <a:pPr algn="l"/>
            <a:r>
              <a:rPr sz="1500" b="1">
                <a:solidFill>
                  <a:srgbClr val="0B2C4A"/>
                </a:solidFill>
                <a:latin typeface="Calibri"/>
              </a:rPr>
              <a:t>Why this looked surgical</a:t>
            </a:r>
          </a:p>
        </p:txBody>
      </p:sp>
      <p:sp>
        <p:nvSpPr>
          <p:cNvPr id="13" name="TextBox 12"/>
          <p:cNvSpPr txBox="1"/>
          <p:nvPr/>
        </p:nvSpPr>
        <p:spPr>
          <a:xfrm>
            <a:off x="713232" y="2953512"/>
            <a:ext cx="3291840" cy="3081528"/>
          </a:xfrm>
          <a:prstGeom prst="rect">
            <a:avLst/>
          </a:prstGeom>
          <a:noFill/>
        </p:spPr>
        <p:txBody>
          <a:bodyPr wrap="square" anchor="t"/>
          <a:lstStyle/>
          <a:p>
            <a:pPr algn="l"/>
            <a:r>
              <a:rPr sz="1300" b="0">
                <a:solidFill>
                  <a:srgbClr val="3D4A57"/>
                </a:solidFill>
                <a:latin typeface="Calibri"/>
              </a:rPr>
              <a:t>FB obstruction was on the list. Discussed IV fluids, serial imaging, and surgery if indicated. Mildly enlarged abdomen. That is how cats get booked for an exploratory.</a:t>
            </a:r>
          </a:p>
        </p:txBody>
      </p:sp>
      <p:sp>
        <p:nvSpPr>
          <p:cNvPr id="14" name="Rounded Rectangle 13"/>
          <p:cNvSpPr/>
          <p:nvPr/>
        </p:nvSpPr>
        <p:spPr>
          <a:xfrm>
            <a:off x="429768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514600"/>
            <a:ext cx="91440" cy="36118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624328"/>
            <a:ext cx="3291840" cy="347472"/>
          </a:xfrm>
          <a:prstGeom prst="rect">
            <a:avLst/>
          </a:prstGeom>
          <a:noFill/>
        </p:spPr>
        <p:txBody>
          <a:bodyPr wrap="square" anchor="t"/>
          <a:lstStyle/>
          <a:p>
            <a:pPr algn="l"/>
            <a:r>
              <a:rPr sz="1500" b="1">
                <a:solidFill>
                  <a:srgbClr val="0B2C4A"/>
                </a:solidFill>
                <a:latin typeface="Calibri"/>
              </a:rPr>
              <a:t>What the PE actually showed</a:t>
            </a:r>
          </a:p>
        </p:txBody>
      </p:sp>
      <p:sp>
        <p:nvSpPr>
          <p:cNvPr id="17" name="TextBox 16"/>
          <p:cNvSpPr txBox="1"/>
          <p:nvPr/>
        </p:nvSpPr>
        <p:spPr>
          <a:xfrm>
            <a:off x="4553712" y="2953512"/>
            <a:ext cx="3291840" cy="3081528"/>
          </a:xfrm>
          <a:prstGeom prst="rect">
            <a:avLst/>
          </a:prstGeom>
          <a:noFill/>
        </p:spPr>
        <p:txBody>
          <a:bodyPr wrap="square" anchor="t"/>
          <a:lstStyle/>
          <a:p>
            <a:pPr algn="l"/>
            <a:r>
              <a:rPr sz="1300" b="0">
                <a:solidFill>
                  <a:srgbClr val="3D4A57"/>
                </a:solidFill>
                <a:latin typeface="Calibri"/>
              </a:rPr>
              <a:t>Heart/lungs normal. No murmur. Abdomen mildly enlarged. Ambulatory ×4. No oral, ear, or neuro deficits. Dehydrated. Generalized small stature. The PE did not prove a foreign body.</a:t>
            </a:r>
          </a:p>
        </p:txBody>
      </p:sp>
      <p:sp>
        <p:nvSpPr>
          <p:cNvPr id="18" name="Rounded Rectangle 17"/>
          <p:cNvSpPr/>
          <p:nvPr/>
        </p:nvSpPr>
        <p:spPr>
          <a:xfrm>
            <a:off x="8138160" y="2514600"/>
            <a:ext cx="356616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514600"/>
            <a:ext cx="91440" cy="36118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624328"/>
            <a:ext cx="3200400" cy="347472"/>
          </a:xfrm>
          <a:prstGeom prst="rect">
            <a:avLst/>
          </a:prstGeom>
          <a:noFill/>
        </p:spPr>
        <p:txBody>
          <a:bodyPr wrap="square" anchor="t"/>
          <a:lstStyle/>
          <a:p>
            <a:pPr algn="l"/>
            <a:r>
              <a:rPr sz="1500" b="1">
                <a:solidFill>
                  <a:srgbClr val="0B2C4A"/>
                </a:solidFill>
                <a:latin typeface="Calibri"/>
              </a:rPr>
              <a:t>Next: labs and imaging</a:t>
            </a:r>
          </a:p>
        </p:txBody>
      </p:sp>
      <p:sp>
        <p:nvSpPr>
          <p:cNvPr id="21" name="TextBox 20"/>
          <p:cNvSpPr txBox="1"/>
          <p:nvPr/>
        </p:nvSpPr>
        <p:spPr>
          <a:xfrm>
            <a:off x="8394192" y="2953512"/>
            <a:ext cx="3200400" cy="3081528"/>
          </a:xfrm>
          <a:prstGeom prst="rect">
            <a:avLst/>
          </a:prstGeom>
          <a:noFill/>
        </p:spPr>
        <p:txBody>
          <a:bodyPr wrap="square" anchor="t"/>
          <a:lstStyle/>
          <a:p>
            <a:pPr algn="l"/>
            <a:r>
              <a:rPr sz="1300" b="0">
                <a:solidFill>
                  <a:srgbClr val="3D4A57"/>
                </a:solidFill>
                <a:latin typeface="Calibri"/>
              </a:rPr>
              <a:t>POCUS: abnormal right kidney, left kidney enlarged, bladder intact. 3-view abdomen STAT. CBC/chem. Assign ASA after those results.</a:t>
            </a:r>
          </a:p>
        </p:txBody>
      </p:sp>
      <p:sp>
        <p:nvSpPr>
          <p:cNvPr id="22" name="Rectangle 2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4" name="TextBox 2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15  /  59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UNCOMPENSATED, CONSTANT THREAT, ACUTE; NOT A SURGICAL ABDOMEN</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Why MoMo is ASA Status 4-E</a:t>
            </a:r>
          </a:p>
        </p:txBody>
      </p:sp>
      <p:sp>
        <p:nvSpPr>
          <p:cNvPr id="8" name="Rounded Rectangle 7"/>
          <p:cNvSpPr/>
          <p:nvPr/>
        </p:nvSpPr>
        <p:spPr>
          <a:xfrm>
            <a:off x="411480" y="1078992"/>
            <a:ext cx="370332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234440"/>
            <a:ext cx="3383280" cy="411480"/>
          </a:xfrm>
          <a:prstGeom prst="rect">
            <a:avLst/>
          </a:prstGeom>
          <a:noFill/>
        </p:spPr>
        <p:txBody>
          <a:bodyPr wrap="square" anchor="t"/>
          <a:lstStyle/>
          <a:p>
            <a:pPr algn="l"/>
            <a:r>
              <a:rPr sz="1800" b="1">
                <a:solidFill>
                  <a:srgbClr val="8B2E2E"/>
                </a:solidFill>
                <a:latin typeface="Calibri"/>
              </a:rPr>
              <a:t>ASA IV-E</a:t>
            </a:r>
          </a:p>
        </p:txBody>
      </p:sp>
      <p:sp>
        <p:nvSpPr>
          <p:cNvPr id="10" name="TextBox 9"/>
          <p:cNvSpPr txBox="1"/>
          <p:nvPr/>
        </p:nvSpPr>
        <p:spPr>
          <a:xfrm>
            <a:off x="594360" y="1691640"/>
            <a:ext cx="3383280" cy="4114800"/>
          </a:xfrm>
          <a:prstGeom prst="rect">
            <a:avLst/>
          </a:prstGeom>
          <a:noFill/>
        </p:spPr>
        <p:txBody>
          <a:bodyPr wrap="square" anchor="t"/>
          <a:lstStyle/>
          <a:p>
            <a:pPr algn="l"/>
            <a:r>
              <a:rPr sz="1400" b="0">
                <a:solidFill>
                  <a:srgbClr val="1C1C1C"/>
                </a:solidFill>
                <a:latin typeface="Calibri"/>
              </a:rPr>
              <a:t>III = compensated disease you can still anesthetize with a plan.
IV = severe systemic disease that is a constant threat: rising azotemia and a non-functional kidney.
She was QAR and walking, so not ASA V (moribund).
E = acute presentation.
A cancelled exploratory is a successful preoperative evaluation.</a:t>
            </a:r>
          </a:p>
        </p:txBody>
      </p:sp>
      <p:sp>
        <p:nvSpPr>
          <p:cNvPr id="11" name="Rounded Rectangle 10"/>
          <p:cNvSpPr/>
          <p:nvPr/>
        </p:nvSpPr>
        <p:spPr>
          <a:xfrm>
            <a:off x="4297680" y="1078992"/>
            <a:ext cx="74066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234440"/>
            <a:ext cx="6949440" cy="365760"/>
          </a:xfrm>
          <a:prstGeom prst="rect">
            <a:avLst/>
          </a:prstGeom>
          <a:noFill/>
        </p:spPr>
        <p:txBody>
          <a:bodyPr wrap="square" anchor="t"/>
          <a:lstStyle/>
          <a:p>
            <a:pPr algn="l"/>
            <a:r>
              <a:rPr sz="1600" b="1">
                <a:solidFill>
                  <a:srgbClr val="0B2C4A"/>
                </a:solidFill>
                <a:latin typeface="Calibri"/>
              </a:rPr>
              <a:t>Work-up that cancelled surgery (this patient)</a:t>
            </a:r>
          </a:p>
        </p:txBody>
      </p:sp>
      <p:sp>
        <p:nvSpPr>
          <p:cNvPr id="13" name="TextBox 12"/>
          <p:cNvSpPr txBox="1"/>
          <p:nvPr/>
        </p:nvSpPr>
        <p:spPr>
          <a:xfrm>
            <a:off x="4480560" y="1645920"/>
            <a:ext cx="6949440" cy="4206240"/>
          </a:xfrm>
          <a:prstGeom prst="rect">
            <a:avLst/>
          </a:prstGeom>
          <a:noFill/>
        </p:spPr>
        <p:txBody>
          <a:bodyPr wrap="square">
            <a:spAutoFit/>
          </a:bodyPr>
          <a:lstStyle/>
          <a:p>
            <a:pPr algn="l">
              <a:spcAft>
                <a:spcPts val="500"/>
              </a:spcAft>
            </a:pPr>
            <a:r>
              <a:rPr sz="1300" b="0">
                <a:solidFill>
                  <a:srgbClr val="1C1C1C"/>
                </a:solidFill>
                <a:latin typeface="Calibri"/>
              </a:rPr>
              <a:t>▸  Admit: IVC, IVF 1.5× maintenance, Cerenia, ondansetron, Unasyn, aluminum hydroxide if eating.</a:t>
            </a:r>
          </a:p>
          <a:p>
            <a:pPr algn="l">
              <a:spcAft>
                <a:spcPts val="500"/>
              </a:spcAft>
            </a:pPr>
            <a:r>
              <a:rPr sz="1300" b="0">
                <a:solidFill>
                  <a:srgbClr val="1C1C1C"/>
                </a:solidFill>
                <a:latin typeface="Calibri"/>
              </a:rPr>
              <a:t>▸  CBC: WBC ~26K with neutrophilia. Platelets variable (74 then 123). Stress glucose.</a:t>
            </a:r>
          </a:p>
          <a:p>
            <a:pPr algn="l">
              <a:spcAft>
                <a:spcPts val="500"/>
              </a:spcAft>
            </a:pPr>
            <a:r>
              <a:rPr sz="1300" b="0">
                <a:solidFill>
                  <a:srgbClr val="1C1C1C"/>
                </a:solidFill>
                <a:latin typeface="Calibri"/>
              </a:rPr>
              <a:t>▸  Chem day 0: BUN 49.7, creatinine 3.0, phosphorus 8.0. USG 1.042 (concentrating). Repeat the values on fluids.</a:t>
            </a:r>
          </a:p>
          <a:p>
            <a:pPr algn="l">
              <a:spcAft>
                <a:spcPts val="500"/>
              </a:spcAft>
            </a:pPr>
            <a:r>
              <a:rPr sz="1300" b="0">
                <a:solidFill>
                  <a:srgbClr val="1C1C1C"/>
                </a:solidFill>
                <a:latin typeface="Calibri"/>
              </a:rPr>
              <a:t>▸  Repeat on fluids: BUN 100, creatinine 4.71. Act on the rising creatinine.</a:t>
            </a:r>
          </a:p>
          <a:p>
            <a:pPr algn="l">
              <a:spcAft>
                <a:spcPts val="500"/>
              </a:spcAft>
            </a:pPr>
            <a:r>
              <a:rPr sz="1300" b="0">
                <a:solidFill>
                  <a:srgbClr val="1C1C1C"/>
                </a:solidFill>
                <a:latin typeface="Calibri"/>
              </a:rPr>
              <a:t>▸  AUS: right kidney severely fluid-filled and non-functional; left kidney reduced corticomedullary architecture. Not an FNA target on the right.</a:t>
            </a:r>
          </a:p>
          <a:p>
            <a:pPr algn="l">
              <a:spcAft>
                <a:spcPts val="500"/>
              </a:spcAft>
            </a:pPr>
            <a:r>
              <a:rPr sz="1300" b="0">
                <a:solidFill>
                  <a:srgbClr val="1C1C1C"/>
                </a:solidFill>
                <a:latin typeface="Calibri"/>
              </a:rPr>
              <a:t>▸  Options: IM referral (FNA left kidney) vs palliative vs euthanasia. Prognosis guarded to poor. Owner elected humane euthanasia.</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16  /  59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TESTS INDICATED FOR THIS PATIENT AND THIS PROCEDURE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Preoperative diagnostics</a:t>
            </a:r>
          </a:p>
        </p:txBody>
      </p:sp>
      <p:sp>
        <p:nvSpPr>
          <p:cNvPr id="8" name="Rounded Rectangle 7"/>
          <p:cNvSpPr/>
          <p:nvPr/>
        </p:nvSpPr>
        <p:spPr>
          <a:xfrm>
            <a:off x="457200" y="1097280"/>
            <a:ext cx="557784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4688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212080" cy="347472"/>
          </a:xfrm>
          <a:prstGeom prst="rect">
            <a:avLst/>
          </a:prstGeom>
          <a:noFill/>
        </p:spPr>
        <p:txBody>
          <a:bodyPr wrap="square" anchor="t"/>
          <a:lstStyle/>
          <a:p>
            <a:pPr algn="l"/>
            <a:r>
              <a:rPr sz="1500" b="1">
                <a:solidFill>
                  <a:srgbClr val="0B2C4A"/>
                </a:solidFill>
                <a:latin typeface="Calibri"/>
              </a:rPr>
              <a:t>Young, healthy, elective (ASA I)</a:t>
            </a:r>
          </a:p>
        </p:txBody>
      </p:sp>
      <p:sp>
        <p:nvSpPr>
          <p:cNvPr id="11" name="TextBox 10"/>
          <p:cNvSpPr txBox="1"/>
          <p:nvPr/>
        </p:nvSpPr>
        <p:spPr>
          <a:xfrm>
            <a:off x="713232" y="1536192"/>
            <a:ext cx="5212080" cy="1938528"/>
          </a:xfrm>
          <a:prstGeom prst="rect">
            <a:avLst/>
          </a:prstGeom>
          <a:noFill/>
        </p:spPr>
        <p:txBody>
          <a:bodyPr wrap="square" anchor="t"/>
          <a:lstStyle/>
          <a:p>
            <a:pPr algn="l"/>
            <a:r>
              <a:rPr sz="1300" b="0">
                <a:solidFill>
                  <a:srgbClr val="3D4A57"/>
                </a:solidFill>
                <a:latin typeface="Calibri"/>
              </a:rPr>
              <a:t>PCV/TS ± blood glucose and Azo stick is a defensible minimum. Many hospitals still run a preanesthetic chemistry/CBC. Know your hospital policy and be able to defend either choice.</a:t>
            </a:r>
          </a:p>
        </p:txBody>
      </p:sp>
      <p:sp>
        <p:nvSpPr>
          <p:cNvPr id="12" name="Rounded Rectangle 11"/>
          <p:cNvSpPr/>
          <p:nvPr/>
        </p:nvSpPr>
        <p:spPr>
          <a:xfrm>
            <a:off x="6217920" y="1097280"/>
            <a:ext cx="548640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097280"/>
            <a:ext cx="91440" cy="2468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207008"/>
            <a:ext cx="5120640" cy="347472"/>
          </a:xfrm>
          <a:prstGeom prst="rect">
            <a:avLst/>
          </a:prstGeom>
          <a:noFill/>
        </p:spPr>
        <p:txBody>
          <a:bodyPr wrap="square" anchor="t"/>
          <a:lstStyle/>
          <a:p>
            <a:pPr algn="l"/>
            <a:r>
              <a:rPr sz="1500" b="1">
                <a:solidFill>
                  <a:srgbClr val="0B2C4A"/>
                </a:solidFill>
                <a:latin typeface="Calibri"/>
              </a:rPr>
              <a:t>Age, disease, or invasive procedure</a:t>
            </a:r>
          </a:p>
        </p:txBody>
      </p:sp>
      <p:sp>
        <p:nvSpPr>
          <p:cNvPr id="15" name="TextBox 14"/>
          <p:cNvSpPr txBox="1"/>
          <p:nvPr/>
        </p:nvSpPr>
        <p:spPr>
          <a:xfrm>
            <a:off x="6473952" y="1536192"/>
            <a:ext cx="5120640" cy="1938528"/>
          </a:xfrm>
          <a:prstGeom prst="rect">
            <a:avLst/>
          </a:prstGeom>
          <a:noFill/>
        </p:spPr>
        <p:txBody>
          <a:bodyPr wrap="square" anchor="t"/>
          <a:lstStyle/>
          <a:p>
            <a:pPr algn="l"/>
            <a:r>
              <a:rPr sz="1300" b="0">
                <a:solidFill>
                  <a:srgbClr val="3D4A57"/>
                </a:solidFill>
                <a:latin typeface="Calibri"/>
              </a:rPr>
              <a:t>CBC, chemistry, UA. Add clotting (PT/PTT or BMBT) if bleeding risk. T4 in older cats. Blood pressure. ECG if arrhythmia. Imaging if it changes the approach.</a:t>
            </a:r>
          </a:p>
        </p:txBody>
      </p:sp>
      <p:sp>
        <p:nvSpPr>
          <p:cNvPr id="16" name="Rounded Rectangle 15"/>
          <p:cNvSpPr/>
          <p:nvPr/>
        </p:nvSpPr>
        <p:spPr>
          <a:xfrm>
            <a:off x="457200" y="3749039"/>
            <a:ext cx="11247120"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886200"/>
            <a:ext cx="10789920" cy="365760"/>
          </a:xfrm>
          <a:prstGeom prst="rect">
            <a:avLst/>
          </a:prstGeom>
          <a:noFill/>
        </p:spPr>
        <p:txBody>
          <a:bodyPr wrap="square" anchor="t"/>
          <a:lstStyle/>
          <a:p>
            <a:pPr algn="l"/>
            <a:r>
              <a:rPr sz="1600" b="1">
                <a:solidFill>
                  <a:srgbClr val="0B2C4A"/>
                </a:solidFill>
                <a:latin typeface="Calibri"/>
              </a:rPr>
              <a:t>How to use the tests you order</a:t>
            </a:r>
          </a:p>
        </p:txBody>
      </p:sp>
      <p:sp>
        <p:nvSpPr>
          <p:cNvPr id="18" name="TextBox 17"/>
          <p:cNvSpPr txBox="1"/>
          <p:nvPr/>
        </p:nvSpPr>
        <p:spPr>
          <a:xfrm>
            <a:off x="685800" y="4343400"/>
            <a:ext cx="10789920" cy="1783080"/>
          </a:xfrm>
          <a:prstGeom prst="rect">
            <a:avLst/>
          </a:prstGeom>
          <a:noFill/>
        </p:spPr>
        <p:txBody>
          <a:bodyPr wrap="square">
            <a:spAutoFit/>
          </a:bodyPr>
          <a:lstStyle/>
          <a:p>
            <a:pPr algn="l">
              <a:spcAft>
                <a:spcPts val="700"/>
              </a:spcAft>
            </a:pPr>
            <a:r>
              <a:rPr sz="1500" b="0">
                <a:solidFill>
                  <a:srgbClr val="1C1C1C"/>
                </a:solidFill>
                <a:latin typeface="Calibri"/>
              </a:rPr>
              <a:t>▸  Anemia, hypoalbuminemia, azotemia, electrolyte storms, and thrombocytopenia change drugs, fluids, and whether you cut today.</a:t>
            </a:r>
          </a:p>
          <a:p>
            <a:pPr algn="l">
              <a:spcAft>
                <a:spcPts val="700"/>
              </a:spcAft>
            </a:pPr>
            <a:r>
              <a:rPr sz="1500" b="0">
                <a:solidFill>
                  <a:srgbClr val="1C1C1C"/>
                </a:solidFill>
                <a:latin typeface="Calibri"/>
              </a:rPr>
              <a:t>▸  For abdominal surgery: image first so you know whether you are cutting a pyometra, a mass that needs a different approach, or a medical abdomen. MoMo: POCUS/AUS cancelled the cut.</a:t>
            </a:r>
          </a:p>
          <a:p>
            <a:pPr algn="l">
              <a:spcAft>
                <a:spcPts val="700"/>
              </a:spcAft>
            </a:pPr>
            <a:r>
              <a:rPr sz="1500" b="0">
                <a:solidFill>
                  <a:srgbClr val="1C1C1C"/>
                </a:solidFill>
                <a:latin typeface="Calibri"/>
              </a:rPr>
              <a:t>▸  Large animal: stall-side PCV/TS, fibrinogen, and physical exam often outweigh a full chemistry in the field. Document the risk conversation.</a:t>
            </a:r>
          </a:p>
        </p:txBody>
      </p:sp>
      <p:sp>
        <p:nvSpPr>
          <p:cNvPr id="19" name="Rectangle 1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1" name="TextBox 2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17  /  59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THESE BANDS INFORM STATUS. TODAY’S PE WRITES IT.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CBC and chemistry → ASA Status</a:t>
            </a:r>
          </a:p>
        </p:txBody>
      </p:sp>
      <p:pic>
        <p:nvPicPr>
          <p:cNvPr id="8" name="Picture 7" descr="asa_cbc_chem.png"/>
          <p:cNvPicPr>
            <a:picLocks noChangeAspect="1"/>
          </p:cNvPicPr>
          <p:nvPr/>
        </p:nvPicPr>
        <p:blipFill>
          <a:blip r:embed="rId2"/>
          <a:stretch>
            <a:fillRect/>
          </a:stretch>
        </p:blipFill>
        <p:spPr>
          <a:xfrm>
            <a:off x="201168" y="960120"/>
            <a:ext cx="11795760" cy="5596128"/>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18  /  59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PH, LACTATE, GASES, BICARBONATE, BASE EXCESS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EPOC / blood gas → ASA Status</a:t>
            </a:r>
          </a:p>
        </p:txBody>
      </p:sp>
      <p:pic>
        <p:nvPicPr>
          <p:cNvPr id="8" name="Picture 7" descr="asa_epoc.png"/>
          <p:cNvPicPr>
            <a:picLocks noChangeAspect="1"/>
          </p:cNvPicPr>
          <p:nvPr/>
        </p:nvPicPr>
        <p:blipFill>
          <a:blip r:embed="rId2"/>
          <a:stretch>
            <a:fillRect/>
          </a:stretch>
        </p:blipFill>
        <p:spPr>
          <a:xfrm>
            <a:off x="201168" y="960120"/>
            <a:ext cx="11795760" cy="5596128"/>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19  /  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LABS INFORM ASA STATUS. THE PHYSICAL EXAMINATION ASSIGNS IT.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Applying the lab tables</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51560"/>
            <a:ext cx="91440" cy="50749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161288"/>
            <a:ext cx="5257800" cy="347472"/>
          </a:xfrm>
          <a:prstGeom prst="rect">
            <a:avLst/>
          </a:prstGeom>
          <a:noFill/>
        </p:spPr>
        <p:txBody>
          <a:bodyPr wrap="square" anchor="t"/>
          <a:lstStyle/>
          <a:p>
            <a:pPr algn="l"/>
            <a:r>
              <a:rPr sz="1500" b="1">
                <a:solidFill>
                  <a:srgbClr val="0B2C4A"/>
                </a:solidFill>
                <a:latin typeface="Calibri"/>
              </a:rPr>
              <a:t>Willie, laboratory results</a:t>
            </a:r>
          </a:p>
        </p:txBody>
      </p:sp>
      <p:sp>
        <p:nvSpPr>
          <p:cNvPr id="11" name="TextBox 10"/>
          <p:cNvSpPr txBox="1"/>
          <p:nvPr/>
        </p:nvSpPr>
        <p:spPr>
          <a:xfrm>
            <a:off x="667512" y="1490472"/>
            <a:ext cx="5257800" cy="4544568"/>
          </a:xfrm>
          <a:prstGeom prst="rect">
            <a:avLst/>
          </a:prstGeom>
          <a:noFill/>
        </p:spPr>
        <p:txBody>
          <a:bodyPr wrap="square" anchor="t"/>
          <a:lstStyle/>
          <a:p>
            <a:pPr algn="l"/>
            <a:r>
              <a:rPr sz="1300" b="0">
                <a:solidFill>
                  <a:srgbClr val="3D4A57"/>
                </a:solidFill>
                <a:latin typeface="Calibri"/>
              </a:rPr>
              <a:t>CBC WNL (Status 1 band).
Phosphorus 6.0, mild increase (Status 2).
Glucose 130, stress (Status 2 band).
Kidneys, liver, electrolytes normal.
Skip the EPOC for this ear clean.
ASA Status 3-E: acute vestibular disease, severe AS otitis, murmur. An unremarkable chemistry leaves the neurologic Status 3 in place.</a:t>
            </a:r>
          </a:p>
        </p:txBody>
      </p:sp>
      <p:sp>
        <p:nvSpPr>
          <p:cNvPr id="12" name="Rounded Rectangle 11"/>
          <p:cNvSpPr/>
          <p:nvPr/>
        </p:nvSpPr>
        <p:spPr>
          <a:xfrm>
            <a:off x="617220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51560"/>
            <a:ext cx="91440" cy="50749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161288"/>
            <a:ext cx="5257800" cy="347472"/>
          </a:xfrm>
          <a:prstGeom prst="rect">
            <a:avLst/>
          </a:prstGeom>
          <a:noFill/>
        </p:spPr>
        <p:txBody>
          <a:bodyPr wrap="square" anchor="t"/>
          <a:lstStyle/>
          <a:p>
            <a:pPr algn="l"/>
            <a:r>
              <a:rPr sz="1500" b="1">
                <a:solidFill>
                  <a:srgbClr val="0B2C4A"/>
                </a:solidFill>
                <a:latin typeface="Calibri"/>
              </a:rPr>
              <a:t>MoMo, laboratory results and EPOC</a:t>
            </a:r>
          </a:p>
        </p:txBody>
      </p:sp>
      <p:sp>
        <p:nvSpPr>
          <p:cNvPr id="15" name="TextBox 14"/>
          <p:cNvSpPr txBox="1"/>
          <p:nvPr/>
        </p:nvSpPr>
        <p:spPr>
          <a:xfrm>
            <a:off x="6428232" y="1490472"/>
            <a:ext cx="5257800" cy="4544568"/>
          </a:xfrm>
          <a:prstGeom prst="rect">
            <a:avLst/>
          </a:prstGeom>
          <a:noFill/>
        </p:spPr>
        <p:txBody>
          <a:bodyPr wrap="square" anchor="t"/>
          <a:lstStyle/>
          <a:p>
            <a:pPr algn="l"/>
            <a:r>
              <a:rPr sz="1300" b="0">
                <a:solidFill>
                  <a:srgbClr val="3D4A57"/>
                </a:solidFill>
                <a:latin typeface="Calibri"/>
              </a:rPr>
              <a:t>WBC about 26K with neutrophilia (Status 3 to 4 inflammatory band).
Platelets 74 K (Status 3).
Creatinine 3.0 to 4.71; BUN 49.7 to 100 (Status 4).
Phosphorus 8.0 (Status 3 to 4).
EPOC pH 7.255 (Status 3); BE −7.4 (Status 2); lactate 2.05 (Status 1).
Venous pO2 33 is venous, not arterial hypoxemia.
Whole-patient status is 4-E. Cancel the exploratory.</a:t>
            </a:r>
          </a:p>
        </p:txBody>
      </p:sp>
      <p:sp>
        <p:nvSpPr>
          <p:cNvPr id="16" name="Rectangle 1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8" name="TextBox 1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20  /  59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WHEN TO DELAY, WHEN TO PROCEED URGENTLY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Stabilization before elective surgery</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600" b="1">
                <a:solidFill>
                  <a:srgbClr val="FFFFFF"/>
                </a:solidFill>
                <a:latin typeface="Calibri"/>
              </a:rPr>
              <a:t>Fix first</a:t>
            </a:r>
          </a:p>
        </p:txBody>
      </p:sp>
      <p:sp>
        <p:nvSpPr>
          <p:cNvPr id="11" name="TextBox 10"/>
          <p:cNvSpPr txBox="1"/>
          <p:nvPr/>
        </p:nvSpPr>
        <p:spPr>
          <a:xfrm>
            <a:off x="640080" y="1828800"/>
            <a:ext cx="3246120" cy="4023360"/>
          </a:xfrm>
          <a:prstGeom prst="rect">
            <a:avLst/>
          </a:prstGeom>
          <a:noFill/>
        </p:spPr>
        <p:txBody>
          <a:bodyPr wrap="square" anchor="t"/>
          <a:lstStyle/>
          <a:p>
            <a:pPr algn="l"/>
            <a:r>
              <a:rPr sz="1500" b="0">
                <a:solidFill>
                  <a:srgbClr val="1C1C1C"/>
                </a:solidFill>
                <a:latin typeface="Calibri"/>
              </a:rPr>
              <a:t>Hypovolemia / shock
Electrolyte crises (K+, Na+)
Severe anemia (transfuse)
Respiratory distress
Uncontrolled pain
Hypoglycemia
Hyperthermia / heat stroke</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600" b="1">
                <a:solidFill>
                  <a:srgbClr val="FFFFFF"/>
                </a:solidFill>
                <a:latin typeface="Calibri"/>
              </a:rPr>
              <a:t>Often delay elective</a:t>
            </a:r>
          </a:p>
        </p:txBody>
      </p:sp>
      <p:sp>
        <p:nvSpPr>
          <p:cNvPr id="15" name="TextBox 14"/>
          <p:cNvSpPr txBox="1"/>
          <p:nvPr/>
        </p:nvSpPr>
        <p:spPr>
          <a:xfrm>
            <a:off x="4526280" y="1828800"/>
            <a:ext cx="3246120" cy="4023360"/>
          </a:xfrm>
          <a:prstGeom prst="rect">
            <a:avLst/>
          </a:prstGeom>
          <a:noFill/>
        </p:spPr>
        <p:txBody>
          <a:bodyPr wrap="square" anchor="t"/>
          <a:lstStyle/>
          <a:p>
            <a:pPr algn="l"/>
            <a:r>
              <a:rPr sz="1500" b="0">
                <a:solidFill>
                  <a:srgbClr val="1C1C1C"/>
                </a:solidFill>
                <a:latin typeface="Calibri"/>
              </a:rPr>
              <a:t>Pyoderma over the site
Anestrus vs. heat if policy
Unstable endocrine disease
Active URI in cats
Recent live vaccines (clinic policy)
Client cannot confine / medicate
Full-stomach elective: suction or reschedule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600" b="1">
                <a:solidFill>
                  <a:srgbClr val="FFFFFF"/>
                </a:solidFill>
                <a:latin typeface="Calibri"/>
              </a:rPr>
              <a:t>May proceed urgently</a:t>
            </a:r>
          </a:p>
        </p:txBody>
      </p:sp>
      <p:sp>
        <p:nvSpPr>
          <p:cNvPr id="19" name="TextBox 18"/>
          <p:cNvSpPr txBox="1"/>
          <p:nvPr/>
        </p:nvSpPr>
        <p:spPr>
          <a:xfrm>
            <a:off x="8412480" y="1828800"/>
            <a:ext cx="3246120" cy="4023360"/>
          </a:xfrm>
          <a:prstGeom prst="rect">
            <a:avLst/>
          </a:prstGeom>
          <a:noFill/>
        </p:spPr>
        <p:txBody>
          <a:bodyPr wrap="square" anchor="t"/>
          <a:lstStyle/>
          <a:p>
            <a:pPr algn="l"/>
            <a:r>
              <a:rPr sz="1500" b="0">
                <a:solidFill>
                  <a:srgbClr val="1C1C1C"/>
                </a:solidFill>
                <a:latin typeface="Calibri"/>
              </a:rPr>
              <a:t>GDV
Septic abdomen
C-section with fetal distress
Airway obstruction
Hemorrhage you cannot pack
Open fracture (after resuscitation)
Uterine rupture / pyometra shock</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21  /  59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AAHA 4 TO 6 HOURS IN HEALTHY DOGS AND CATS; FOSSUM-ERA 8 TO 12 HOURS STILL USED IN SOME HOSPITALS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Preoperative fasting</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Working guidance (small animal)</a:t>
            </a:r>
          </a:p>
        </p:txBody>
      </p:sp>
      <p:sp>
        <p:nvSpPr>
          <p:cNvPr id="10" name="TextBox 9"/>
          <p:cNvSpPr txBox="1"/>
          <p:nvPr/>
        </p:nvSpPr>
        <p:spPr>
          <a:xfrm>
            <a:off x="640080" y="1737360"/>
            <a:ext cx="5212080" cy="4114800"/>
          </a:xfrm>
          <a:prstGeom prst="rect">
            <a:avLst/>
          </a:prstGeom>
          <a:noFill/>
        </p:spPr>
        <p:txBody>
          <a:bodyPr wrap="square">
            <a:spAutoFit/>
          </a:bodyPr>
          <a:lstStyle/>
          <a:p>
            <a:pPr algn="l">
              <a:spcAft>
                <a:spcPts val="700"/>
              </a:spcAft>
            </a:pPr>
            <a:r>
              <a:rPr sz="1400" b="0">
                <a:solidFill>
                  <a:srgbClr val="1C1C1C"/>
                </a:solidFill>
                <a:latin typeface="Calibri"/>
              </a:rPr>
              <a:t>▸  Healthy adult dog/cat: food 4–6 h; water until premedication (AAHA-aligned).</a:t>
            </a:r>
          </a:p>
          <a:p>
            <a:pPr algn="l">
              <a:spcAft>
                <a:spcPts val="700"/>
              </a:spcAft>
            </a:pPr>
            <a:r>
              <a:rPr sz="1400" b="0">
                <a:solidFill>
                  <a:srgbClr val="1C1C1C"/>
                </a:solidFill>
                <a:latin typeface="Calibri"/>
              </a:rPr>
              <a:t>▸  Traditional/Fossum-era: often 8–12 h NPO, still used in some hospitals. Discuss aspiration versus hypoglycemia.</a:t>
            </a:r>
          </a:p>
          <a:p>
            <a:pPr algn="l">
              <a:spcAft>
                <a:spcPts val="700"/>
              </a:spcAft>
            </a:pPr>
            <a:r>
              <a:rPr sz="1400" b="0">
                <a:solidFill>
                  <a:srgbClr val="1C1C1C"/>
                </a:solidFill>
                <a:latin typeface="Calibri"/>
              </a:rPr>
              <a:t>▸  Neonates/pediatrics: much shorter fast; offer a small meal 1–2 h prior as directed.</a:t>
            </a:r>
          </a:p>
          <a:p>
            <a:pPr algn="l">
              <a:spcAft>
                <a:spcPts val="700"/>
              </a:spcAft>
            </a:pPr>
            <a:r>
              <a:rPr sz="1400" b="0">
                <a:solidFill>
                  <a:srgbClr val="1C1C1C"/>
                </a:solidFill>
                <a:latin typeface="Calibri"/>
              </a:rPr>
              <a:t>▸  Brachycephalics: shorter fast, careful pre-oxygenation; regurgitation risk is high either way.</a:t>
            </a:r>
          </a:p>
          <a:p>
            <a:pPr algn="l">
              <a:spcAft>
                <a:spcPts val="700"/>
              </a:spcAft>
            </a:pPr>
            <a:r>
              <a:rPr sz="1400" b="0">
                <a:solidFill>
                  <a:srgbClr val="1C1C1C"/>
                </a:solidFill>
                <a:latin typeface="Calibri"/>
              </a:rPr>
              <a:t>▸  Ruminants: longer food withhold (often 12–24 h+) to reduce rumen fill/pressure; water 6–12 h per species/protocol.</a:t>
            </a:r>
          </a:p>
          <a:p>
            <a:pPr algn="l">
              <a:spcAft>
                <a:spcPts val="700"/>
              </a:spcAft>
            </a:pPr>
            <a:r>
              <a:rPr sz="1400" b="0">
                <a:solidFill>
                  <a:srgbClr val="1C1C1C"/>
                </a:solidFill>
                <a:latin typeface="Calibri"/>
              </a:rPr>
              <a:t>▸  Horses: typically 8–12 h grain/hay protocols vary. Follow the hospital or field SOP.</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8B2E2E"/>
                </a:solidFill>
                <a:latin typeface="Calibri"/>
              </a:rPr>
              <a:t>Why it matters</a:t>
            </a:r>
          </a:p>
        </p:txBody>
      </p:sp>
      <p:sp>
        <p:nvSpPr>
          <p:cNvPr id="13" name="TextBox 12"/>
          <p:cNvSpPr txBox="1"/>
          <p:nvPr/>
        </p:nvSpPr>
        <p:spPr>
          <a:xfrm>
            <a:off x="6492240" y="1783080"/>
            <a:ext cx="5029200" cy="4023360"/>
          </a:xfrm>
          <a:prstGeom prst="rect">
            <a:avLst/>
          </a:prstGeom>
          <a:noFill/>
        </p:spPr>
        <p:txBody>
          <a:bodyPr wrap="square">
            <a:spAutoFit/>
          </a:bodyPr>
          <a:lstStyle/>
          <a:p>
            <a:pPr algn="l">
              <a:spcAft>
                <a:spcPts val="800"/>
              </a:spcAft>
            </a:pPr>
            <a:r>
              <a:rPr sz="1400" b="0">
                <a:solidFill>
                  <a:srgbClr val="1C1C1C"/>
                </a:solidFill>
                <a:latin typeface="Calibri"/>
              </a:rPr>
              <a:t>▸  Goal: less gastric volume and acidity without starving a small patient into hypoglycemia.</a:t>
            </a:r>
          </a:p>
          <a:p>
            <a:pPr algn="l">
              <a:spcAft>
                <a:spcPts val="800"/>
              </a:spcAft>
            </a:pPr>
            <a:r>
              <a:rPr sz="1400" b="0">
                <a:solidFill>
                  <a:srgbClr val="1C1C1C"/>
                </a:solidFill>
                <a:latin typeface="Calibri"/>
              </a:rPr>
              <a:t>▸  A full stomach + recumbency + opioids = regurgitation and aspiration.</a:t>
            </a:r>
          </a:p>
          <a:p>
            <a:pPr algn="l">
              <a:spcAft>
                <a:spcPts val="800"/>
              </a:spcAft>
            </a:pPr>
            <a:r>
              <a:rPr sz="1400" b="0">
                <a:solidFill>
                  <a:srgbClr val="1C1C1C"/>
                </a:solidFill>
                <a:latin typeface="Calibri"/>
              </a:rPr>
              <a:t>▸  Prolonged fasting increases reflux in some dogs and stress in cats.</a:t>
            </a:r>
          </a:p>
          <a:p>
            <a:pPr algn="l">
              <a:spcAft>
                <a:spcPts val="800"/>
              </a:spcAft>
            </a:pPr>
            <a:r>
              <a:rPr sz="1400" b="0">
                <a:solidFill>
                  <a:srgbClr val="1C1C1C"/>
                </a:solidFill>
                <a:latin typeface="Calibri"/>
              </a:rPr>
              <a:t>▸  Always ask what was eaten this morning. Clients feed ‘just a biscuit.’</a:t>
            </a:r>
          </a:p>
          <a:p>
            <a:pPr algn="l">
              <a:spcAft>
                <a:spcPts val="800"/>
              </a:spcAft>
            </a:pPr>
            <a:r>
              <a:rPr sz="1400" b="0">
                <a:solidFill>
                  <a:srgbClr val="1C1C1C"/>
                </a:solidFill>
                <a:latin typeface="Calibri"/>
              </a:rPr>
              <a:t>▸  Diabetics: write the insulin dose and a small meal with anesthesia before drop-off.</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22  /  59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PROCEDURE, RISKS, ALTERNATIVES, ESTIMATE, RESUSCITATION CODE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Informed consent</a:t>
            </a:r>
          </a:p>
        </p:txBody>
      </p:sp>
      <p:sp>
        <p:nvSpPr>
          <p:cNvPr id="8" name="TextBox 7"/>
          <p:cNvSpPr txBox="1"/>
          <p:nvPr/>
        </p:nvSpPr>
        <p:spPr>
          <a:xfrm>
            <a:off x="457200" y="1097280"/>
            <a:ext cx="6858000" cy="5029200"/>
          </a:xfrm>
          <a:prstGeom prst="rect">
            <a:avLst/>
          </a:prstGeom>
          <a:noFill/>
        </p:spPr>
        <p:txBody>
          <a:bodyPr wrap="square">
            <a:spAutoFit/>
          </a:bodyPr>
          <a:lstStyle/>
          <a:p>
            <a:pPr algn="l">
              <a:spcAft>
                <a:spcPts val="900"/>
              </a:spcAft>
            </a:pPr>
            <a:r>
              <a:rPr sz="1600" b="0">
                <a:solidFill>
                  <a:srgbClr val="1C1C1C"/>
                </a:solidFill>
                <a:latin typeface="Calibri"/>
              </a:rPr>
              <a:t>▸  Procedure name in plain language, and the reason.</a:t>
            </a:r>
          </a:p>
          <a:p>
            <a:pPr algn="l">
              <a:spcAft>
                <a:spcPts val="900"/>
              </a:spcAft>
            </a:pPr>
            <a:r>
              <a:rPr sz="1600" b="0">
                <a:solidFill>
                  <a:srgbClr val="1C1C1C"/>
                </a:solidFill>
                <a:latin typeface="Calibri"/>
              </a:rPr>
              <a:t>▸  Benefits, alternatives (including no surgery), and what happens if we wait.</a:t>
            </a:r>
          </a:p>
          <a:p>
            <a:pPr algn="l">
              <a:spcAft>
                <a:spcPts val="900"/>
              </a:spcAft>
            </a:pPr>
            <a:r>
              <a:rPr sz="1600" b="0">
                <a:solidFill>
                  <a:srgbClr val="1C1C1C"/>
                </a:solidFill>
                <a:latin typeface="Calibri"/>
              </a:rPr>
              <a:t>▸  Material risks, in one sentence each: anesthesia death, hemorrhage, infection, dehiscence, incomplete excision, recurrence. After OHE, name urinary incontinence (especially large-breed bitches) and give the true frequency.</a:t>
            </a:r>
          </a:p>
          <a:p>
            <a:pPr algn="l">
              <a:spcAft>
                <a:spcPts val="900"/>
              </a:spcAft>
            </a:pPr>
            <a:r>
              <a:rPr sz="1600" b="0">
                <a:solidFill>
                  <a:srgbClr val="1C1C1C"/>
                </a:solidFill>
                <a:latin typeface="Calibri"/>
              </a:rPr>
              <a:t>▸  Estimate: professional fees vs. supplies; what is not included (histopathology, overnight, complications).</a:t>
            </a:r>
          </a:p>
          <a:p>
            <a:pPr algn="l">
              <a:spcAft>
                <a:spcPts val="900"/>
              </a:spcAft>
            </a:pPr>
            <a:r>
              <a:rPr sz="1600" b="0">
                <a:solidFill>
                  <a:srgbClr val="1C1C1C"/>
                </a:solidFill>
                <a:latin typeface="Calibri"/>
              </a:rPr>
              <a:t>▸  Resuscitation code / DNR. Do this before induction, not in recovery.</a:t>
            </a:r>
          </a:p>
          <a:p>
            <a:pPr algn="l">
              <a:spcAft>
                <a:spcPts val="900"/>
              </a:spcAft>
            </a:pPr>
            <a:r>
              <a:rPr sz="1600" b="0">
                <a:solidFill>
                  <a:srgbClr val="1C1C1C"/>
                </a:solidFill>
                <a:latin typeface="Calibri"/>
              </a:rPr>
              <a:t>▸  Who will call whom, and when. Write the client’s phone number on the board.</a:t>
            </a:r>
          </a:p>
        </p:txBody>
      </p:sp>
      <p:sp>
        <p:nvSpPr>
          <p:cNvPr id="9" name="Rounded Rectangle 8"/>
          <p:cNvSpPr/>
          <p:nvPr/>
        </p:nvSpPr>
        <p:spPr>
          <a:xfrm>
            <a:off x="7498079" y="1097280"/>
            <a:ext cx="420624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26679" y="1325880"/>
            <a:ext cx="3794760" cy="457200"/>
          </a:xfrm>
          <a:prstGeom prst="rect">
            <a:avLst/>
          </a:prstGeom>
          <a:noFill/>
        </p:spPr>
        <p:txBody>
          <a:bodyPr wrap="square" anchor="t"/>
          <a:lstStyle/>
          <a:p>
            <a:pPr algn="l"/>
            <a:r>
              <a:rPr sz="1600" b="1">
                <a:solidFill>
                  <a:srgbClr val="C5A35A"/>
                </a:solidFill>
                <a:latin typeface="Calibri"/>
              </a:rPr>
              <a:t>Client-owned patients</a:t>
            </a:r>
          </a:p>
        </p:txBody>
      </p:sp>
      <p:sp>
        <p:nvSpPr>
          <p:cNvPr id="11" name="TextBox 10"/>
          <p:cNvSpPr txBox="1"/>
          <p:nvPr/>
        </p:nvSpPr>
        <p:spPr>
          <a:xfrm>
            <a:off x="7726679" y="1920240"/>
            <a:ext cx="3794760" cy="3840480"/>
          </a:xfrm>
          <a:prstGeom prst="rect">
            <a:avLst/>
          </a:prstGeom>
          <a:noFill/>
        </p:spPr>
        <p:txBody>
          <a:bodyPr wrap="square" anchor="t"/>
          <a:lstStyle/>
          <a:p>
            <a:pPr algn="l"/>
            <a:r>
              <a:rPr sz="1500" b="0">
                <a:solidFill>
                  <a:srgbClr val="FFFFFF"/>
                </a:solidFill>
                <a:latin typeface="Calibri"/>
              </a:rPr>
              <a:t>Assume every OHE is a client-owned animal going home after recovery in your hospital.
Operate, document, and speak as if that client is waiting in reception.</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23  /  59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WHO-ADAPTED TIMEOUT AND MULTIMODAL PLAN</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Pre-incision checklist and analgesia</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Pre-incision checklist (WHO-adapted)</a:t>
            </a:r>
          </a:p>
        </p:txBody>
      </p:sp>
      <p:sp>
        <p:nvSpPr>
          <p:cNvPr id="10" name="TextBox 9"/>
          <p:cNvSpPr txBox="1"/>
          <p:nvPr/>
        </p:nvSpPr>
        <p:spPr>
          <a:xfrm>
            <a:off x="640080" y="1737360"/>
            <a:ext cx="5212080" cy="4114800"/>
          </a:xfrm>
          <a:prstGeom prst="rect">
            <a:avLst/>
          </a:prstGeom>
          <a:noFill/>
        </p:spPr>
        <p:txBody>
          <a:bodyPr wrap="square">
            <a:spAutoFit/>
          </a:bodyPr>
          <a:lstStyle/>
          <a:p>
            <a:pPr algn="l">
              <a:spcAft>
                <a:spcPts val="600"/>
              </a:spcAft>
            </a:pPr>
            <a:r>
              <a:rPr sz="1400" b="0">
                <a:solidFill>
                  <a:srgbClr val="1C1C1C"/>
                </a:solidFill>
                <a:latin typeface="Calibri"/>
              </a:rPr>
              <a:t>▸  Identity, procedure, site/side confirmed.</a:t>
            </a:r>
          </a:p>
          <a:p>
            <a:pPr algn="l">
              <a:spcAft>
                <a:spcPts val="600"/>
              </a:spcAft>
            </a:pPr>
            <a:r>
              <a:rPr sz="1400" b="0">
                <a:solidFill>
                  <a:srgbClr val="1C1C1C"/>
                </a:solidFill>
                <a:latin typeface="Calibri"/>
              </a:rPr>
              <a:t>▸  Consent, estimate, DNR documented.</a:t>
            </a:r>
          </a:p>
          <a:p>
            <a:pPr algn="l">
              <a:spcAft>
                <a:spcPts val="600"/>
              </a:spcAft>
            </a:pPr>
            <a:r>
              <a:rPr sz="1400" b="0">
                <a:solidFill>
                  <a:srgbClr val="1C1C1C"/>
                </a:solidFill>
                <a:latin typeface="Calibri"/>
              </a:rPr>
              <a:t>▸  ASA, allergies, last meal.</a:t>
            </a:r>
          </a:p>
          <a:p>
            <a:pPr algn="l">
              <a:spcAft>
                <a:spcPts val="600"/>
              </a:spcAft>
            </a:pPr>
            <a:r>
              <a:rPr sz="1400" b="0">
                <a:solidFill>
                  <a:srgbClr val="1C1C1C"/>
                </a:solidFill>
                <a:latin typeface="Calibri"/>
              </a:rPr>
              <a:t>▸  IV catheter patent; fluids running.</a:t>
            </a:r>
          </a:p>
          <a:p>
            <a:pPr algn="l">
              <a:spcAft>
                <a:spcPts val="600"/>
              </a:spcAft>
            </a:pPr>
            <a:r>
              <a:rPr sz="1400" b="0">
                <a:solidFill>
                  <a:srgbClr val="1C1C1C"/>
                </a:solidFill>
                <a:latin typeface="Calibri"/>
              </a:rPr>
              <a:t>▸  Airway secured; monitoring on.</a:t>
            </a:r>
          </a:p>
          <a:p>
            <a:pPr algn="l">
              <a:spcAft>
                <a:spcPts val="600"/>
              </a:spcAft>
            </a:pPr>
            <a:r>
              <a:rPr sz="1400" b="0">
                <a:solidFill>
                  <a:srgbClr val="1C1C1C"/>
                </a:solidFill>
                <a:latin typeface="Calibri"/>
              </a:rPr>
              <a:t>▸  Antibiotics given (if indicated) 30 minutes before incision.</a:t>
            </a:r>
          </a:p>
          <a:p>
            <a:pPr algn="l">
              <a:spcAft>
                <a:spcPts val="600"/>
              </a:spcAft>
            </a:pPr>
            <a:r>
              <a:rPr sz="1400" b="0">
                <a:solidFill>
                  <a:srgbClr val="1C1C1C"/>
                </a:solidFill>
                <a:latin typeface="Calibri"/>
              </a:rPr>
              <a:t>▸  Local block planned (incisional, testicular, TAP, splash).</a:t>
            </a:r>
          </a:p>
          <a:p>
            <a:pPr algn="l">
              <a:spcAft>
                <a:spcPts val="600"/>
              </a:spcAft>
            </a:pPr>
            <a:r>
              <a:rPr sz="1400" b="0">
                <a:solidFill>
                  <a:srgbClr val="1C1C1C"/>
                </a:solidFill>
                <a:latin typeface="Calibri"/>
              </a:rPr>
              <a:t>▸  Instruments, suture, extra gloves, cautery, suction.</a:t>
            </a:r>
          </a:p>
          <a:p>
            <a:pPr algn="l">
              <a:spcAft>
                <a:spcPts val="600"/>
              </a:spcAft>
            </a:pPr>
            <a:r>
              <a:rPr sz="1400" b="0">
                <a:solidFill>
                  <a:srgbClr val="1C1C1C"/>
                </a:solidFill>
                <a:latin typeface="Calibri"/>
              </a:rPr>
              <a:t>▸  Image / implants in the room if needed.</a:t>
            </a:r>
          </a:p>
        </p:txBody>
      </p:sp>
      <p:sp>
        <p:nvSpPr>
          <p:cNvPr id="11" name="Rounded Rectangle 10"/>
          <p:cNvSpPr/>
          <p:nvPr/>
        </p:nvSpPr>
        <p:spPr>
          <a:xfrm>
            <a:off x="6263640" y="1097280"/>
            <a:ext cx="544068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0B2C4A"/>
                </a:solidFill>
                <a:latin typeface="Calibri"/>
              </a:rPr>
              <a:t>Multimodal analgesia</a:t>
            </a:r>
          </a:p>
        </p:txBody>
      </p:sp>
      <p:sp>
        <p:nvSpPr>
          <p:cNvPr id="13" name="TextBox 12"/>
          <p:cNvSpPr txBox="1"/>
          <p:nvPr/>
        </p:nvSpPr>
        <p:spPr>
          <a:xfrm>
            <a:off x="6446520" y="1737360"/>
            <a:ext cx="5074920" cy="4114800"/>
          </a:xfrm>
          <a:prstGeom prst="rect">
            <a:avLst/>
          </a:prstGeom>
          <a:noFill/>
        </p:spPr>
        <p:txBody>
          <a:bodyPr wrap="square">
            <a:spAutoFit/>
          </a:bodyPr>
          <a:lstStyle/>
          <a:p>
            <a:pPr algn="l">
              <a:spcAft>
                <a:spcPts val="700"/>
              </a:spcAft>
            </a:pPr>
            <a:r>
              <a:rPr sz="1400" b="0">
                <a:solidFill>
                  <a:srgbClr val="1C1C1C"/>
                </a:solidFill>
                <a:latin typeface="Calibri"/>
              </a:rPr>
              <a:t>▸  Opioid (pure µ for most laparotomies) as part of premed or induction.</a:t>
            </a:r>
          </a:p>
          <a:p>
            <a:pPr algn="l">
              <a:spcAft>
                <a:spcPts val="700"/>
              </a:spcAft>
            </a:pPr>
            <a:r>
              <a:rPr sz="1400" b="0">
                <a:solidFill>
                  <a:srgbClr val="1C1C1C"/>
                </a:solidFill>
                <a:latin typeface="Calibri"/>
              </a:rPr>
              <a:t>▸  NSAID if perfusion, kidneys, and GI tract allow. Often given at recovery, not during hypotensive shock.</a:t>
            </a:r>
          </a:p>
          <a:p>
            <a:pPr algn="l">
              <a:spcAft>
                <a:spcPts val="700"/>
              </a:spcAft>
            </a:pPr>
            <a:r>
              <a:rPr sz="1400" b="0">
                <a:solidFill>
                  <a:srgbClr val="1C1C1C"/>
                </a:solidFill>
                <a:latin typeface="Calibri"/>
              </a:rPr>
              <a:t>▸  Local/regional: the cheapest, safest MAC-sparing tool you have.</a:t>
            </a:r>
          </a:p>
          <a:p>
            <a:pPr algn="l">
              <a:spcAft>
                <a:spcPts val="700"/>
              </a:spcAft>
            </a:pPr>
            <a:r>
              <a:rPr sz="1400" b="0">
                <a:solidFill>
                  <a:srgbClr val="1C1C1C"/>
                </a:solidFill>
                <a:latin typeface="Calibri"/>
              </a:rPr>
              <a:t>▸  Adjuncts: ketamine CRI, dexmedetomidine CRI, gabapentin, acetaminophen (dog only).</a:t>
            </a:r>
          </a:p>
          <a:p>
            <a:pPr algn="l">
              <a:spcAft>
                <a:spcPts val="700"/>
              </a:spcAft>
            </a:pPr>
            <a:r>
              <a:rPr sz="1400" b="0">
                <a:solidFill>
                  <a:srgbClr val="1C1C1C"/>
                </a:solidFill>
                <a:latin typeface="Calibri"/>
              </a:rPr>
              <a:t>▸  Cats: no acetaminophen; careful NSAID choice and dose.</a:t>
            </a:r>
          </a:p>
          <a:p>
            <a:pPr algn="l">
              <a:spcAft>
                <a:spcPts val="700"/>
              </a:spcAft>
            </a:pPr>
            <a:r>
              <a:rPr sz="1400" b="0">
                <a:solidFill>
                  <a:srgbClr val="1C1C1C"/>
                </a:solidFill>
                <a:latin typeface="Calibri"/>
              </a:rPr>
              <a:t>▸  You must be able to discuss recovery and postoperative pain management before the dog leaves the table.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24  /  59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CONFIRM BEFORE INDUCTION</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Equipment and supplies</a:t>
            </a:r>
          </a:p>
        </p:txBody>
      </p:sp>
      <p:pic>
        <p:nvPicPr>
          <p:cNvPr id="8" name="Picture 7" descr="what_you_need.png"/>
          <p:cNvPicPr>
            <a:picLocks noChangeAspect="1"/>
          </p:cNvPicPr>
          <p:nvPr/>
        </p:nvPicPr>
        <p:blipFill>
          <a:blip r:embed="rId2"/>
          <a:stretch>
            <a:fillRect/>
          </a:stretch>
        </p:blipFill>
        <p:spPr>
          <a:xfrm>
            <a:off x="320040" y="1024128"/>
            <a:ext cx="11521440" cy="553212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25  /  59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TEACHING FORM. COMPLETE THE HEADER BEFORE THE FIRST DRUG.</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Anesthesia record, Willie</a:t>
            </a:r>
          </a:p>
        </p:txBody>
      </p:sp>
      <p:pic>
        <p:nvPicPr>
          <p:cNvPr id="8" name="Picture 7" descr="anesthesia_record_willie.png"/>
          <p:cNvPicPr>
            <a:picLocks noChangeAspect="1"/>
          </p:cNvPicPr>
          <p:nvPr/>
        </p:nvPicPr>
        <p:blipFill>
          <a:blip r:embed="rId2"/>
          <a:stretch>
            <a:fillRect/>
          </a:stretch>
        </p:blipFill>
        <p:spPr>
          <a:xfrm>
            <a:off x="256032" y="987552"/>
            <a:ext cx="11658600" cy="557784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26  /  59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PREOPERATIVE EVALUATION DOCUMENTED; INDUCTION CANCELLED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Anesthesia record, MoMo</a:t>
            </a:r>
          </a:p>
        </p:txBody>
      </p:sp>
      <p:pic>
        <p:nvPicPr>
          <p:cNvPr id="8" name="Picture 7" descr="anesthesia_record_momo.png"/>
          <p:cNvPicPr>
            <a:picLocks noChangeAspect="1"/>
          </p:cNvPicPr>
          <p:nvPr/>
        </p:nvPicPr>
        <p:blipFill>
          <a:blip r:embed="rId2"/>
          <a:stretch>
            <a:fillRect/>
          </a:stretch>
        </p:blipFill>
        <p:spPr>
          <a:xfrm>
            <a:off x="256032" y="987552"/>
            <a:ext cx="11658600" cy="557784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27  /  59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AAHA/AAFP 2022</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Surgical antimicrobial prophylaxis</a:t>
            </a:r>
          </a:p>
        </p:txBody>
      </p:sp>
      <p:sp>
        <p:nvSpPr>
          <p:cNvPr id="8" name="Rounded Rectangle 7"/>
          <p:cNvSpPr/>
          <p:nvPr/>
        </p:nvSpPr>
        <p:spPr>
          <a:xfrm>
            <a:off x="457200" y="1097280"/>
            <a:ext cx="557784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411480"/>
          </a:xfrm>
          <a:prstGeom prst="rect">
            <a:avLst/>
          </a:prstGeom>
          <a:noFill/>
        </p:spPr>
        <p:txBody>
          <a:bodyPr wrap="square" anchor="t"/>
          <a:lstStyle/>
          <a:p>
            <a:pPr algn="l"/>
            <a:r>
              <a:rPr sz="1800" b="1">
                <a:solidFill>
                  <a:srgbClr val="2E6B4F"/>
                </a:solidFill>
                <a:latin typeface="Calibri"/>
              </a:rPr>
              <a:t>Clean elective: skip prophylaxis</a:t>
            </a:r>
          </a:p>
        </p:txBody>
      </p:sp>
      <p:sp>
        <p:nvSpPr>
          <p:cNvPr id="10" name="TextBox 9"/>
          <p:cNvSpPr txBox="1"/>
          <p:nvPr/>
        </p:nvSpPr>
        <p:spPr>
          <a:xfrm>
            <a:off x="685800" y="1737360"/>
            <a:ext cx="5120640" cy="4023360"/>
          </a:xfrm>
          <a:prstGeom prst="rect">
            <a:avLst/>
          </a:prstGeom>
          <a:noFill/>
        </p:spPr>
        <p:txBody>
          <a:bodyPr wrap="square" anchor="t"/>
          <a:lstStyle/>
          <a:p>
            <a:pPr algn="l"/>
            <a:r>
              <a:rPr sz="1500" b="0">
                <a:solidFill>
                  <a:srgbClr val="1C1C1C"/>
                </a:solidFill>
                <a:latin typeface="Calibri"/>
              </a:rPr>
              <a:t>Clean procedures with excellent asepsis:
• Elective OHE / castration
• Most clean mass removals
• Many short soft-tissue surgeries
1. Hold asepsis, Halsted, and a dry field.
2. Skip peri-op antibiotics on these cases.
3. After an uncomplicated clean surgery, stop at closure.</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411480"/>
          </a:xfrm>
          <a:prstGeom prst="rect">
            <a:avLst/>
          </a:prstGeom>
          <a:noFill/>
        </p:spPr>
        <p:txBody>
          <a:bodyPr wrap="square" anchor="t"/>
          <a:lstStyle/>
          <a:p>
            <a:pPr algn="l"/>
            <a:r>
              <a:rPr sz="1800" b="1">
                <a:solidFill>
                  <a:srgbClr val="8B2E2E"/>
                </a:solidFill>
                <a:latin typeface="Calibri"/>
              </a:rPr>
              <a:t>Indicated: timed IV, then stop</a:t>
            </a:r>
          </a:p>
        </p:txBody>
      </p:sp>
      <p:sp>
        <p:nvSpPr>
          <p:cNvPr id="13" name="TextBox 12"/>
          <p:cNvSpPr txBox="1"/>
          <p:nvPr/>
        </p:nvSpPr>
        <p:spPr>
          <a:xfrm>
            <a:off x="6492240" y="1737360"/>
            <a:ext cx="5029200" cy="4023360"/>
          </a:xfrm>
          <a:prstGeom prst="rect">
            <a:avLst/>
          </a:prstGeom>
          <a:noFill/>
        </p:spPr>
        <p:txBody>
          <a:bodyPr wrap="square" anchor="t"/>
          <a:lstStyle/>
          <a:p>
            <a:pPr algn="l"/>
            <a:r>
              <a:rPr sz="1500" b="0">
                <a:solidFill>
                  <a:srgbClr val="1C1C1C"/>
                </a:solidFill>
                <a:latin typeface="Calibri"/>
              </a:rPr>
              <a:t>1. Give IV cefazolin 22 mg/kg 30 minutes before incision.
2. Redose every 90 minutes if the surgery is still open or blood loss is large.
3. Write the first-dose time from the wound class:
• Clean-contaminated / contaminated / dirty
• Implant (orthopedic, mesh)
• Hollow viscus entry
• Surgery &gt;90 minutes or a known break in asepsis
• Patient immunocompromised
• Infection would be catastrophic (neurologic or implant): decide from this case, then time the dose.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28  /  59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Knowledge check: preoperative evaluation</a:t>
            </a:r>
          </a:p>
        </p:txBody>
      </p:sp>
      <p:sp>
        <p:nvSpPr>
          <p:cNvPr id="7" name="Rounded Rectangle 6"/>
          <p:cNvSpPr/>
          <p:nvPr/>
        </p:nvSpPr>
        <p:spPr>
          <a:xfrm>
            <a:off x="457200" y="109728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97280"/>
            <a:ext cx="640080" cy="1508760"/>
          </a:xfrm>
          <a:prstGeom prst="rect">
            <a:avLst/>
          </a:prstGeom>
          <a:noFill/>
        </p:spPr>
        <p:txBody>
          <a:bodyPr wrap="square" anchor="ctr"/>
          <a:lstStyle/>
          <a:p>
            <a:pPr algn="ctr"/>
            <a:r>
              <a:rPr sz="2200" b="1">
                <a:solidFill>
                  <a:srgbClr val="FFFFFF"/>
                </a:solidFill>
                <a:latin typeface="Calibri"/>
              </a:rPr>
              <a:t>1</a:t>
            </a:r>
          </a:p>
        </p:txBody>
      </p:sp>
      <p:sp>
        <p:nvSpPr>
          <p:cNvPr id="10" name="TextBox 9"/>
          <p:cNvSpPr txBox="1"/>
          <p:nvPr/>
        </p:nvSpPr>
        <p:spPr>
          <a:xfrm>
            <a:off x="1325880" y="1234440"/>
            <a:ext cx="10058400" cy="502920"/>
          </a:xfrm>
          <a:prstGeom prst="rect">
            <a:avLst/>
          </a:prstGeom>
          <a:noFill/>
        </p:spPr>
        <p:txBody>
          <a:bodyPr wrap="square" anchor="t"/>
          <a:lstStyle/>
          <a:p>
            <a:pPr algn="l"/>
            <a:r>
              <a:rPr sz="1600" b="1">
                <a:solidFill>
                  <a:srgbClr val="0B2C4A"/>
                </a:solidFill>
                <a:latin typeface="Calibri"/>
              </a:rPr>
              <a:t>A blocked cat with K+ 8.2 is booked for perineal urethrostomy this morning. First move?</a:t>
            </a:r>
          </a:p>
        </p:txBody>
      </p:sp>
      <p:sp>
        <p:nvSpPr>
          <p:cNvPr id="11" name="TextBox 10"/>
          <p:cNvSpPr txBox="1"/>
          <p:nvPr/>
        </p:nvSpPr>
        <p:spPr>
          <a:xfrm>
            <a:off x="1325880" y="1783080"/>
            <a:ext cx="10058400" cy="640080"/>
          </a:xfrm>
          <a:prstGeom prst="rect">
            <a:avLst/>
          </a:prstGeom>
          <a:noFill/>
        </p:spPr>
        <p:txBody>
          <a:bodyPr wrap="square" anchor="t"/>
          <a:lstStyle/>
          <a:p>
            <a:pPr algn="l"/>
            <a:r>
              <a:rPr sz="1400" b="0">
                <a:solidFill>
                  <a:srgbClr val="3D4A57"/>
                </a:solidFill>
                <a:latin typeface="Calibri"/>
              </a:rPr>
              <a:t>1. Calcium, fluids, insulin/dextrose as indicated. 2. Decompress the bladder. 3. Recheck K+. 4. Then decide on anesthesia.</a:t>
            </a:r>
          </a:p>
        </p:txBody>
      </p:sp>
      <p:sp>
        <p:nvSpPr>
          <p:cNvPr id="12" name="Rounded Rectangle 11"/>
          <p:cNvSpPr/>
          <p:nvPr/>
        </p:nvSpPr>
        <p:spPr>
          <a:xfrm>
            <a:off x="457200" y="274320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74320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743200"/>
            <a:ext cx="640080" cy="1508760"/>
          </a:xfrm>
          <a:prstGeom prst="rect">
            <a:avLst/>
          </a:prstGeom>
          <a:noFill/>
        </p:spPr>
        <p:txBody>
          <a:bodyPr wrap="square" anchor="ctr"/>
          <a:lstStyle/>
          <a:p>
            <a:pPr algn="ctr"/>
            <a:r>
              <a:rPr sz="2200" b="1">
                <a:solidFill>
                  <a:srgbClr val="FFFFFF"/>
                </a:solidFill>
                <a:latin typeface="Calibri"/>
              </a:rPr>
              <a:t>2</a:t>
            </a:r>
          </a:p>
        </p:txBody>
      </p:sp>
      <p:sp>
        <p:nvSpPr>
          <p:cNvPr id="15" name="TextBox 14"/>
          <p:cNvSpPr txBox="1"/>
          <p:nvPr/>
        </p:nvSpPr>
        <p:spPr>
          <a:xfrm>
            <a:off x="1325880" y="2880360"/>
            <a:ext cx="10058400" cy="502920"/>
          </a:xfrm>
          <a:prstGeom prst="rect">
            <a:avLst/>
          </a:prstGeom>
          <a:noFill/>
        </p:spPr>
        <p:txBody>
          <a:bodyPr wrap="square" anchor="t"/>
          <a:lstStyle/>
          <a:p>
            <a:pPr algn="l"/>
            <a:r>
              <a:rPr sz="1600" b="1">
                <a:solidFill>
                  <a:srgbClr val="0B2C4A"/>
                </a:solidFill>
                <a:latin typeface="Calibri"/>
              </a:rPr>
              <a:t>Healthy 1-year-old OHE. Client asks for ‘antibiotics just in case.’</a:t>
            </a:r>
          </a:p>
        </p:txBody>
      </p:sp>
      <p:sp>
        <p:nvSpPr>
          <p:cNvPr id="16" name="TextBox 15"/>
          <p:cNvSpPr txBox="1"/>
          <p:nvPr/>
        </p:nvSpPr>
        <p:spPr>
          <a:xfrm>
            <a:off x="1325880" y="3429000"/>
            <a:ext cx="10058400" cy="640080"/>
          </a:xfrm>
          <a:prstGeom prst="rect">
            <a:avLst/>
          </a:prstGeom>
          <a:noFill/>
        </p:spPr>
        <p:txBody>
          <a:bodyPr wrap="square" anchor="t"/>
          <a:lstStyle/>
          <a:p>
            <a:pPr algn="l"/>
            <a:r>
              <a:rPr sz="1400" b="0">
                <a:solidFill>
                  <a:srgbClr val="3D4A57"/>
                </a:solidFill>
                <a:latin typeface="Calibri"/>
              </a:rPr>
              <a:t>Decline routine prophylaxis. Explain asepsis + short clean procedure. Offer a written SSI-watch list instead.</a:t>
            </a:r>
          </a:p>
        </p:txBody>
      </p:sp>
      <p:sp>
        <p:nvSpPr>
          <p:cNvPr id="17" name="Rounded Rectangle 16"/>
          <p:cNvSpPr/>
          <p:nvPr/>
        </p:nvSpPr>
        <p:spPr>
          <a:xfrm>
            <a:off x="457200" y="438912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438912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4389120"/>
            <a:ext cx="640080" cy="1508760"/>
          </a:xfrm>
          <a:prstGeom prst="rect">
            <a:avLst/>
          </a:prstGeom>
          <a:noFill/>
        </p:spPr>
        <p:txBody>
          <a:bodyPr wrap="square" anchor="ctr"/>
          <a:lstStyle/>
          <a:p>
            <a:pPr algn="ctr"/>
            <a:r>
              <a:rPr sz="2200" b="1">
                <a:solidFill>
                  <a:srgbClr val="FFFFFF"/>
                </a:solidFill>
                <a:latin typeface="Calibri"/>
              </a:rPr>
              <a:t>3</a:t>
            </a:r>
          </a:p>
        </p:txBody>
      </p:sp>
      <p:sp>
        <p:nvSpPr>
          <p:cNvPr id="20" name="TextBox 19"/>
          <p:cNvSpPr txBox="1"/>
          <p:nvPr/>
        </p:nvSpPr>
        <p:spPr>
          <a:xfrm>
            <a:off x="1325880" y="4526280"/>
            <a:ext cx="10058400" cy="502920"/>
          </a:xfrm>
          <a:prstGeom prst="rect">
            <a:avLst/>
          </a:prstGeom>
          <a:noFill/>
        </p:spPr>
        <p:txBody>
          <a:bodyPr wrap="square" anchor="t"/>
          <a:lstStyle/>
          <a:p>
            <a:pPr algn="l"/>
            <a:r>
              <a:rPr sz="1600" b="1">
                <a:solidFill>
                  <a:srgbClr val="0B2C4A"/>
                </a:solidFill>
                <a:latin typeface="Calibri"/>
              </a:rPr>
              <a:t>You assigned ASA I yesterday. Today the dog has a productive cough and fever.</a:t>
            </a:r>
          </a:p>
        </p:txBody>
      </p:sp>
      <p:sp>
        <p:nvSpPr>
          <p:cNvPr id="21" name="TextBox 20"/>
          <p:cNvSpPr txBox="1"/>
          <p:nvPr/>
        </p:nvSpPr>
        <p:spPr>
          <a:xfrm>
            <a:off x="1325880" y="5074920"/>
            <a:ext cx="10058400" cy="640080"/>
          </a:xfrm>
          <a:prstGeom prst="rect">
            <a:avLst/>
          </a:prstGeom>
          <a:noFill/>
        </p:spPr>
        <p:txBody>
          <a:bodyPr wrap="square" anchor="t"/>
          <a:lstStyle/>
          <a:p>
            <a:pPr algn="l"/>
            <a:r>
              <a:rPr sz="1400" b="0">
                <a:solidFill>
                  <a:srgbClr val="3D4A57"/>
                </a:solidFill>
                <a:latin typeface="Calibri"/>
              </a:rPr>
              <a:t>Reassign ASA, delay elective surgery, work up respiratory disease. ASA is a live assessment.</a:t>
            </a:r>
          </a:p>
        </p:txBody>
      </p:sp>
      <p:sp>
        <p:nvSpPr>
          <p:cNvPr id="22" name="Rectangle 2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4" name="TextBox 2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29  /  59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II  ·  24–44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Patient and surgeon
preparation</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Clip · antiseptic · position · four-quadrant drape · scrub · gown · closed glove · asepsis</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~20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30  /  59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HAIR, SKIN, POSITIONING, SCRUB, GOWN AND GLOVE, DRAPE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Patient and surgeon preparation</a:t>
            </a:r>
          </a:p>
        </p:txBody>
      </p:sp>
      <p:sp>
        <p:nvSpPr>
          <p:cNvPr id="8" name="TextBox 7"/>
          <p:cNvSpPr txBox="1"/>
          <p:nvPr/>
        </p:nvSpPr>
        <p:spPr>
          <a:xfrm>
            <a:off x="457200" y="1051560"/>
            <a:ext cx="11247120" cy="365760"/>
          </a:xfrm>
          <a:prstGeom prst="rect">
            <a:avLst/>
          </a:prstGeom>
          <a:noFill/>
        </p:spPr>
        <p:txBody>
          <a:bodyPr wrap="square" anchor="t"/>
          <a:lstStyle/>
          <a:p>
            <a:pPr algn="l"/>
            <a:r>
              <a:rPr sz="1600" b="1">
                <a:solidFill>
                  <a:srgbClr val="1B6B7A"/>
                </a:solidFill>
                <a:latin typeface="Calibri"/>
              </a:rPr>
              <a:t>Patient preparation</a:t>
            </a:r>
          </a:p>
        </p:txBody>
      </p:sp>
      <p:sp>
        <p:nvSpPr>
          <p:cNvPr id="9" name="Rounded Rectangle 8"/>
          <p:cNvSpPr/>
          <p:nvPr/>
        </p:nvSpPr>
        <p:spPr>
          <a:xfrm>
            <a:off x="45720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527048"/>
            <a:ext cx="3291840" cy="347472"/>
          </a:xfrm>
          <a:prstGeom prst="rect">
            <a:avLst/>
          </a:prstGeom>
          <a:noFill/>
        </p:spPr>
        <p:txBody>
          <a:bodyPr wrap="square" anchor="t"/>
          <a:lstStyle/>
          <a:p>
            <a:pPr algn="l"/>
            <a:r>
              <a:rPr sz="1500" b="1">
                <a:solidFill>
                  <a:srgbClr val="0B2C4A"/>
                </a:solidFill>
                <a:latin typeface="Calibri"/>
              </a:rPr>
              <a:t>Hair removal</a:t>
            </a:r>
          </a:p>
        </p:txBody>
      </p:sp>
      <p:sp>
        <p:nvSpPr>
          <p:cNvPr id="12" name="TextBox 11"/>
          <p:cNvSpPr txBox="1"/>
          <p:nvPr/>
        </p:nvSpPr>
        <p:spPr>
          <a:xfrm>
            <a:off x="713232" y="1856232"/>
            <a:ext cx="3291840" cy="1435608"/>
          </a:xfrm>
          <a:prstGeom prst="rect">
            <a:avLst/>
          </a:prstGeom>
          <a:noFill/>
        </p:spPr>
        <p:txBody>
          <a:bodyPr wrap="square" anchor="t"/>
          <a:lstStyle/>
          <a:p>
            <a:pPr algn="l"/>
            <a:r>
              <a:rPr sz="1300" b="0">
                <a:solidFill>
                  <a:srgbClr val="3D4A57"/>
                </a:solidFill>
                <a:latin typeface="Calibri"/>
              </a:rPr>
              <a:t>Clipper, not razor. Adequate field. Clip to skin without clipper burn or missed patches.</a:t>
            </a:r>
          </a:p>
        </p:txBody>
      </p:sp>
      <p:sp>
        <p:nvSpPr>
          <p:cNvPr id="13" name="Rounded Rectangle 12"/>
          <p:cNvSpPr/>
          <p:nvPr/>
        </p:nvSpPr>
        <p:spPr>
          <a:xfrm>
            <a:off x="429768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1527048"/>
            <a:ext cx="3291840" cy="347472"/>
          </a:xfrm>
          <a:prstGeom prst="rect">
            <a:avLst/>
          </a:prstGeom>
          <a:noFill/>
        </p:spPr>
        <p:txBody>
          <a:bodyPr wrap="square" anchor="t"/>
          <a:lstStyle/>
          <a:p>
            <a:pPr algn="l"/>
            <a:r>
              <a:rPr sz="1500" b="1">
                <a:solidFill>
                  <a:srgbClr val="0B2C4A"/>
                </a:solidFill>
                <a:latin typeface="Calibri"/>
              </a:rPr>
              <a:t>Skin preparation</a:t>
            </a:r>
          </a:p>
        </p:txBody>
      </p:sp>
      <p:sp>
        <p:nvSpPr>
          <p:cNvPr id="16" name="TextBox 15"/>
          <p:cNvSpPr txBox="1"/>
          <p:nvPr/>
        </p:nvSpPr>
        <p:spPr>
          <a:xfrm>
            <a:off x="4553712" y="1856232"/>
            <a:ext cx="3291840" cy="1435608"/>
          </a:xfrm>
          <a:prstGeom prst="rect">
            <a:avLst/>
          </a:prstGeom>
          <a:noFill/>
        </p:spPr>
        <p:txBody>
          <a:bodyPr wrap="square" anchor="t"/>
          <a:lstStyle/>
          <a:p>
            <a:pPr algn="l"/>
            <a:r>
              <a:rPr sz="1300" b="0">
                <a:solidFill>
                  <a:srgbClr val="3D4A57"/>
                </a:solidFill>
                <a:latin typeface="Calibri"/>
              </a:rPr>
              <a:t>Dirty then sterile. PVP-I: 5 minutes wet contact. Mucosa/eye: 1 to 20 to 1 to 50.</a:t>
            </a:r>
          </a:p>
        </p:txBody>
      </p:sp>
      <p:sp>
        <p:nvSpPr>
          <p:cNvPr id="17" name="Rounded Rectangle 16"/>
          <p:cNvSpPr/>
          <p:nvPr/>
        </p:nvSpPr>
        <p:spPr>
          <a:xfrm>
            <a:off x="813816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1527048"/>
            <a:ext cx="3291840" cy="347472"/>
          </a:xfrm>
          <a:prstGeom prst="rect">
            <a:avLst/>
          </a:prstGeom>
          <a:noFill/>
        </p:spPr>
        <p:txBody>
          <a:bodyPr wrap="square" anchor="t"/>
          <a:lstStyle/>
          <a:p>
            <a:pPr algn="l"/>
            <a:r>
              <a:rPr sz="1500" b="1">
                <a:solidFill>
                  <a:srgbClr val="0B2C4A"/>
                </a:solidFill>
                <a:latin typeface="Calibri"/>
              </a:rPr>
              <a:t>Patient positioning</a:t>
            </a:r>
          </a:p>
        </p:txBody>
      </p:sp>
      <p:sp>
        <p:nvSpPr>
          <p:cNvPr id="20" name="TextBox 19"/>
          <p:cNvSpPr txBox="1"/>
          <p:nvPr/>
        </p:nvSpPr>
        <p:spPr>
          <a:xfrm>
            <a:off x="8394192" y="1856232"/>
            <a:ext cx="3291840" cy="1435608"/>
          </a:xfrm>
          <a:prstGeom prst="rect">
            <a:avLst/>
          </a:prstGeom>
          <a:noFill/>
        </p:spPr>
        <p:txBody>
          <a:bodyPr wrap="square" anchor="t"/>
          <a:lstStyle/>
          <a:p>
            <a:pPr algn="l"/>
            <a:r>
              <a:rPr sz="1300" b="0">
                <a:solidFill>
                  <a:srgbClr val="3D4A57"/>
                </a:solidFill>
                <a:latin typeface="Calibri"/>
              </a:rPr>
              <a:t>Secure, padded, physiologically sensible. OHE: dorsal recumbency, straight.</a:t>
            </a:r>
          </a:p>
        </p:txBody>
      </p:sp>
      <p:sp>
        <p:nvSpPr>
          <p:cNvPr id="21" name="TextBox 20"/>
          <p:cNvSpPr txBox="1"/>
          <p:nvPr/>
        </p:nvSpPr>
        <p:spPr>
          <a:xfrm>
            <a:off x="457200" y="3520440"/>
            <a:ext cx="11247120" cy="320040"/>
          </a:xfrm>
          <a:prstGeom prst="rect">
            <a:avLst/>
          </a:prstGeom>
          <a:noFill/>
        </p:spPr>
        <p:txBody>
          <a:bodyPr wrap="square" anchor="t"/>
          <a:lstStyle/>
          <a:p>
            <a:pPr algn="l"/>
            <a:r>
              <a:rPr sz="1600" b="1">
                <a:solidFill>
                  <a:srgbClr val="C5A35A"/>
                </a:solidFill>
                <a:latin typeface="Calibri"/>
              </a:rPr>
              <a:t>Surgeon preparation</a:t>
            </a:r>
          </a:p>
        </p:txBody>
      </p:sp>
      <p:sp>
        <p:nvSpPr>
          <p:cNvPr id="22" name="Rounded Rectangle 21"/>
          <p:cNvSpPr/>
          <p:nvPr/>
        </p:nvSpPr>
        <p:spPr>
          <a:xfrm>
            <a:off x="45720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3995928"/>
            <a:ext cx="3291840" cy="347472"/>
          </a:xfrm>
          <a:prstGeom prst="rect">
            <a:avLst/>
          </a:prstGeom>
          <a:noFill/>
        </p:spPr>
        <p:txBody>
          <a:bodyPr wrap="square" anchor="t"/>
          <a:lstStyle/>
          <a:p>
            <a:pPr algn="l"/>
            <a:r>
              <a:rPr sz="1500" b="1">
                <a:solidFill>
                  <a:srgbClr val="0B2C4A"/>
                </a:solidFill>
                <a:latin typeface="Calibri"/>
              </a:rPr>
              <a:t>Scrubbing &amp; attire</a:t>
            </a:r>
          </a:p>
        </p:txBody>
      </p:sp>
      <p:sp>
        <p:nvSpPr>
          <p:cNvPr id="25" name="TextBox 24"/>
          <p:cNvSpPr txBox="1"/>
          <p:nvPr/>
        </p:nvSpPr>
        <p:spPr>
          <a:xfrm>
            <a:off x="713232" y="4325112"/>
            <a:ext cx="3291840" cy="1755648"/>
          </a:xfrm>
          <a:prstGeom prst="rect">
            <a:avLst/>
          </a:prstGeom>
          <a:noFill/>
        </p:spPr>
        <p:txBody>
          <a:bodyPr wrap="square" anchor="t"/>
          <a:lstStyle/>
          <a:p>
            <a:pPr algn="l"/>
            <a:r>
              <a:rPr sz="1300" b="0">
                <a:solidFill>
                  <a:srgbClr val="3D4A57"/>
                </a:solidFill>
                <a:latin typeface="Calibri"/>
              </a:rPr>
              <a:t>Cap, mask, clean scrubs. Timed or brushless surgical scrub. Hands above elbows.</a:t>
            </a:r>
          </a:p>
        </p:txBody>
      </p:sp>
      <p:sp>
        <p:nvSpPr>
          <p:cNvPr id="26" name="Rounded Rectangle 25"/>
          <p:cNvSpPr/>
          <p:nvPr/>
        </p:nvSpPr>
        <p:spPr>
          <a:xfrm>
            <a:off x="429768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9768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53712" y="3995928"/>
            <a:ext cx="3291840" cy="347472"/>
          </a:xfrm>
          <a:prstGeom prst="rect">
            <a:avLst/>
          </a:prstGeom>
          <a:noFill/>
        </p:spPr>
        <p:txBody>
          <a:bodyPr wrap="square" anchor="t"/>
          <a:lstStyle/>
          <a:p>
            <a:pPr algn="l"/>
            <a:r>
              <a:rPr sz="1500" b="1">
                <a:solidFill>
                  <a:srgbClr val="0B2C4A"/>
                </a:solidFill>
                <a:latin typeface="Calibri"/>
              </a:rPr>
              <a:t>Gowning / gloving</a:t>
            </a:r>
          </a:p>
        </p:txBody>
      </p:sp>
      <p:sp>
        <p:nvSpPr>
          <p:cNvPr id="29" name="TextBox 28"/>
          <p:cNvSpPr txBox="1"/>
          <p:nvPr/>
        </p:nvSpPr>
        <p:spPr>
          <a:xfrm>
            <a:off x="4553712" y="4325112"/>
            <a:ext cx="3291840" cy="1755648"/>
          </a:xfrm>
          <a:prstGeom prst="rect">
            <a:avLst/>
          </a:prstGeom>
          <a:noFill/>
        </p:spPr>
        <p:txBody>
          <a:bodyPr wrap="square" anchor="t"/>
          <a:lstStyle/>
          <a:p>
            <a:pPr algn="l"/>
            <a:r>
              <a:rPr sz="1300" b="0">
                <a:solidFill>
                  <a:srgbClr val="3D4A57"/>
                </a:solidFill>
                <a:latin typeface="Calibri"/>
              </a:rPr>
              <a:t>Sterile gown. Closed gloving preferred. Know open gloving for reglove.</a:t>
            </a:r>
          </a:p>
        </p:txBody>
      </p:sp>
      <p:sp>
        <p:nvSpPr>
          <p:cNvPr id="30" name="Rounded Rectangle 29"/>
          <p:cNvSpPr/>
          <p:nvPr/>
        </p:nvSpPr>
        <p:spPr>
          <a:xfrm>
            <a:off x="813816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3816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94192" y="3995928"/>
            <a:ext cx="3291840" cy="347472"/>
          </a:xfrm>
          <a:prstGeom prst="rect">
            <a:avLst/>
          </a:prstGeom>
          <a:noFill/>
        </p:spPr>
        <p:txBody>
          <a:bodyPr wrap="square" anchor="t"/>
          <a:lstStyle/>
          <a:p>
            <a:pPr algn="l"/>
            <a:r>
              <a:rPr sz="1500" b="1">
                <a:solidFill>
                  <a:srgbClr val="0B2C4A"/>
                </a:solidFill>
                <a:latin typeface="Calibri"/>
              </a:rPr>
              <a:t>Draping</a:t>
            </a:r>
          </a:p>
        </p:txBody>
      </p:sp>
      <p:sp>
        <p:nvSpPr>
          <p:cNvPr id="33" name="TextBox 32"/>
          <p:cNvSpPr txBox="1"/>
          <p:nvPr/>
        </p:nvSpPr>
        <p:spPr>
          <a:xfrm>
            <a:off x="8394192" y="4325112"/>
            <a:ext cx="3291840" cy="1755648"/>
          </a:xfrm>
          <a:prstGeom prst="rect">
            <a:avLst/>
          </a:prstGeom>
          <a:noFill/>
        </p:spPr>
        <p:txBody>
          <a:bodyPr wrap="square" anchor="t"/>
          <a:lstStyle/>
          <a:p>
            <a:pPr algn="l"/>
            <a:r>
              <a:rPr sz="1300" b="0">
                <a:solidFill>
                  <a:srgbClr val="3D4A57"/>
                </a:solidFill>
                <a:latin typeface="Calibri"/>
              </a:rPr>
              <a:t>Four-quadrant draping is the standard. Hair must not show at the drape edge. Maintain the field.</a:t>
            </a:r>
          </a:p>
        </p:txBody>
      </p:sp>
      <p:sp>
        <p:nvSpPr>
          <p:cNvPr id="34" name="Rectangle 3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6" name="TextBox 3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31  /  59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PREP ROOM, THEN OPERATING ROOM</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Sequence of patient preparation</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4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500" b="0">
                <a:solidFill>
                  <a:srgbClr val="1C1C1C"/>
                </a:solidFill>
                <a:latin typeface="Calibri"/>
              </a:rPr>
              <a:t>Anesthetized, airway in, IV in, depth adequate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4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5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4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5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4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5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4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500" b="0">
                <a:solidFill>
                  <a:srgbClr val="1C1C1C"/>
                </a:solidFill>
                <a:latin typeface="Calibri"/>
              </a:rPr>
              <a:t>Sterile prep (gloved). PVP-I 5 min wet contact. Mucosa/eye: 1 to 20 to 1 to 50</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4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5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4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500" b="0">
                <a:solidFill>
                  <a:srgbClr val="1C1C1C"/>
                </a:solidFill>
                <a:latin typeface="Calibri"/>
              </a:rPr>
              <a:t>Surgeon gowns/gloves (or already gowned)</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4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500" b="0">
                <a:solidFill>
                  <a:srgbClr val="1C1C1C"/>
                </a:solidFill>
                <a:latin typeface="Calibri"/>
              </a:rPr>
              <a:t>Timeout / checklist → announce incision</a:t>
            </a:r>
          </a:p>
        </p:txBody>
      </p:sp>
      <p:sp>
        <p:nvSpPr>
          <p:cNvPr id="40" name="Rectangle 3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42" name="TextBox 4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32  /  59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#40 CLIPPER AFTER INDUCTION. FIELD 20 CM BEYOND THE PLANNED INCISION.</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Hair removal</a:t>
            </a:r>
          </a:p>
        </p:txBody>
      </p:sp>
      <p:sp>
        <p:nvSpPr>
          <p:cNvPr id="8" name="Rounded Rectangle 7"/>
          <p:cNvSpPr/>
          <p:nvPr/>
        </p:nvSpPr>
        <p:spPr>
          <a:xfrm>
            <a:off x="365760" y="1005840"/>
            <a:ext cx="5669280" cy="347472"/>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347472"/>
          </a:xfrm>
          <a:prstGeom prst="rect">
            <a:avLst/>
          </a:prstGeom>
          <a:noFill/>
        </p:spPr>
        <p:txBody>
          <a:bodyPr wrap="square" anchor="ctr"/>
          <a:lstStyle/>
          <a:p>
            <a:pPr algn="ctr"/>
            <a:r>
              <a:rPr sz="1300" b="1">
                <a:solidFill>
                  <a:srgbClr val="FFFFFF"/>
                </a:solidFill>
                <a:latin typeface="Calibri"/>
              </a:rPr>
              <a:t>Too narrow. Hair remains at the margin.</a:t>
            </a:r>
          </a:p>
        </p:txBody>
      </p:sp>
      <p:pic>
        <p:nvPicPr>
          <p:cNvPr id="10" name="Picture 9" descr="clip_cat.jpg"/>
          <p:cNvPicPr>
            <a:picLocks noChangeAspect="1"/>
          </p:cNvPicPr>
          <p:nvPr/>
        </p:nvPicPr>
        <p:blipFill>
          <a:blip r:embed="rId2"/>
          <a:stretch>
            <a:fillRect/>
          </a:stretch>
        </p:blipFill>
        <p:spPr>
          <a:xfrm>
            <a:off x="365760" y="1371600"/>
            <a:ext cx="5669280" cy="3246120"/>
          </a:xfrm>
          <a:prstGeom prst="rect">
            <a:avLst/>
          </a:prstGeom>
        </p:spPr>
      </p:pic>
      <p:sp>
        <p:nvSpPr>
          <p:cNvPr id="11" name="Rounded Rectangle 10"/>
          <p:cNvSpPr/>
          <p:nvPr/>
        </p:nvSpPr>
        <p:spPr>
          <a:xfrm>
            <a:off x="6172200" y="1005840"/>
            <a:ext cx="5669280" cy="347472"/>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347472"/>
          </a:xfrm>
          <a:prstGeom prst="rect">
            <a:avLst/>
          </a:prstGeom>
          <a:noFill/>
        </p:spPr>
        <p:txBody>
          <a:bodyPr wrap="square" anchor="ctr"/>
          <a:lstStyle/>
          <a:p>
            <a:pPr algn="ctr"/>
            <a:r>
              <a:rPr sz="1300" b="1">
                <a:solidFill>
                  <a:srgbClr val="FFFFFF"/>
                </a:solidFill>
                <a:latin typeface="Calibri"/>
              </a:rPr>
              <a:t>24 hours after OHE. Clip width was adequate.</a:t>
            </a:r>
          </a:p>
        </p:txBody>
      </p:sp>
      <p:pic>
        <p:nvPicPr>
          <p:cNvPr id="13" name="Picture 12" descr="spay_incision.jpg"/>
          <p:cNvPicPr>
            <a:picLocks noChangeAspect="1"/>
          </p:cNvPicPr>
          <p:nvPr/>
        </p:nvPicPr>
        <p:blipFill>
          <a:blip r:embed="rId3"/>
          <a:stretch>
            <a:fillRect/>
          </a:stretch>
        </p:blipFill>
        <p:spPr>
          <a:xfrm>
            <a:off x="6172200" y="1371600"/>
            <a:ext cx="5669280" cy="3246120"/>
          </a:xfrm>
          <a:prstGeom prst="rect">
            <a:avLst/>
          </a:prstGeom>
        </p:spPr>
      </p:pic>
      <p:sp>
        <p:nvSpPr>
          <p:cNvPr id="14" name="Rounded Rectangle 13"/>
          <p:cNvSpPr/>
          <p:nvPr/>
        </p:nvSpPr>
        <p:spPr>
          <a:xfrm>
            <a:off x="365760" y="4736592"/>
            <a:ext cx="11475720" cy="1737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64608"/>
            <a:ext cx="11155680" cy="1463040"/>
          </a:xfrm>
          <a:prstGeom prst="rect">
            <a:avLst/>
          </a:prstGeom>
          <a:noFill/>
        </p:spPr>
        <p:txBody>
          <a:bodyPr wrap="square" anchor="t"/>
          <a:lstStyle/>
          <a:p>
            <a:pPr algn="l"/>
            <a:r>
              <a:rPr sz="1400" b="0">
                <a:solidFill>
                  <a:srgbClr val="1C1C1C"/>
                </a:solidFill>
                <a:latin typeface="Calibri"/>
              </a:rPr>
              <a:t>1. Airway in and a surgical plane before the clippers start.  2. #40 clipper, with the grain then against, to the skin.  3. Rectangle: xiphoid (or slightly cranial) to the pubis, widely lateral past the nipples, 20 cm beyond the incision.  4. Vacuum.  5. Clip after induction, immediately before the scrub.
Photos: Uwe Gille, CC0 (cat clip); Liannadavis, CC BY-SA 4.0 (OHE incision).</a:t>
            </a:r>
          </a:p>
        </p:txBody>
      </p:sp>
      <p:sp>
        <p:nvSpPr>
          <p:cNvPr id="16" name="Rectangle 1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8" name="TextBox 1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33  /  59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OHE, CASTRATION, ORTHOPEDIC, FIELD SURGERY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Clip fields</a:t>
            </a:r>
          </a:p>
        </p:txBody>
      </p:sp>
      <p:sp>
        <p:nvSpPr>
          <p:cNvPr id="8" name="Rounded Rectangle 7"/>
          <p:cNvSpPr/>
          <p:nvPr/>
        </p:nvSpPr>
        <p:spPr>
          <a:xfrm>
            <a:off x="4114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3337560" cy="347472"/>
          </a:xfrm>
          <a:prstGeom prst="rect">
            <a:avLst/>
          </a:prstGeom>
          <a:noFill/>
        </p:spPr>
        <p:txBody>
          <a:bodyPr wrap="square" anchor="t"/>
          <a:lstStyle/>
          <a:p>
            <a:pPr algn="l"/>
            <a:r>
              <a:rPr sz="1500" b="1">
                <a:solidFill>
                  <a:srgbClr val="0B2C4A"/>
                </a:solidFill>
                <a:latin typeface="Calibri"/>
              </a:rPr>
              <a:t>Canine OHE / celiotomy</a:t>
            </a:r>
          </a:p>
        </p:txBody>
      </p:sp>
      <p:sp>
        <p:nvSpPr>
          <p:cNvPr id="11" name="TextBox 10"/>
          <p:cNvSpPr txBox="1"/>
          <p:nvPr/>
        </p:nvSpPr>
        <p:spPr>
          <a:xfrm>
            <a:off x="667512" y="1536192"/>
            <a:ext cx="3337560" cy="1801368"/>
          </a:xfrm>
          <a:prstGeom prst="rect">
            <a:avLst/>
          </a:prstGeom>
          <a:noFill/>
        </p:spPr>
        <p:txBody>
          <a:bodyPr wrap="square" anchor="t"/>
          <a:lstStyle/>
          <a:p>
            <a:pPr algn="l"/>
            <a:r>
              <a:rPr sz="1300" b="0">
                <a:solidFill>
                  <a:srgbClr val="3D4A57"/>
                </a:solidFill>
                <a:latin typeface="Calibri"/>
              </a:rPr>
              <a:t>Xiphoid → pubis, widely lateral past nipples. Dorsal recumbency.</a:t>
            </a:r>
          </a:p>
        </p:txBody>
      </p:sp>
      <p:sp>
        <p:nvSpPr>
          <p:cNvPr id="12" name="Rounded Rectangle 11"/>
          <p:cNvSpPr/>
          <p:nvPr/>
        </p:nvSpPr>
        <p:spPr>
          <a:xfrm>
            <a:off x="42976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337560" cy="347472"/>
          </a:xfrm>
          <a:prstGeom prst="rect">
            <a:avLst/>
          </a:prstGeom>
          <a:noFill/>
        </p:spPr>
        <p:txBody>
          <a:bodyPr wrap="square" anchor="t"/>
          <a:lstStyle/>
          <a:p>
            <a:pPr algn="l"/>
            <a:r>
              <a:rPr sz="1500" b="1">
                <a:solidFill>
                  <a:srgbClr val="0B2C4A"/>
                </a:solidFill>
                <a:latin typeface="Calibri"/>
              </a:rPr>
              <a:t>Canine castration (prescrotal)</a:t>
            </a:r>
          </a:p>
        </p:txBody>
      </p:sp>
      <p:sp>
        <p:nvSpPr>
          <p:cNvPr id="15" name="TextBox 14"/>
          <p:cNvSpPr txBox="1"/>
          <p:nvPr/>
        </p:nvSpPr>
        <p:spPr>
          <a:xfrm>
            <a:off x="4553712" y="1536192"/>
            <a:ext cx="3337560" cy="1801368"/>
          </a:xfrm>
          <a:prstGeom prst="rect">
            <a:avLst/>
          </a:prstGeom>
          <a:noFill/>
        </p:spPr>
        <p:txBody>
          <a:bodyPr wrap="square" anchor="t"/>
          <a:lstStyle/>
          <a:p>
            <a:pPr algn="l"/>
            <a:r>
              <a:rPr sz="1300" b="0">
                <a:solidFill>
                  <a:srgbClr val="3D4A57"/>
                </a:solidFill>
                <a:latin typeface="Calibri"/>
              </a:rPr>
              <a:t>Scrotum ± prescrotal abdomen; some surgeons shave scrotum, some do not. Follow your hospital SOP. Clip wide enough for drape.</a:t>
            </a:r>
          </a:p>
        </p:txBody>
      </p:sp>
      <p:sp>
        <p:nvSpPr>
          <p:cNvPr id="16" name="Rounded Rectangle 15"/>
          <p:cNvSpPr/>
          <p:nvPr/>
        </p:nvSpPr>
        <p:spPr>
          <a:xfrm>
            <a:off x="81838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39912" y="1207008"/>
            <a:ext cx="3337560" cy="347472"/>
          </a:xfrm>
          <a:prstGeom prst="rect">
            <a:avLst/>
          </a:prstGeom>
          <a:noFill/>
        </p:spPr>
        <p:txBody>
          <a:bodyPr wrap="square" anchor="t"/>
          <a:lstStyle/>
          <a:p>
            <a:pPr algn="l"/>
            <a:r>
              <a:rPr sz="1500" b="1">
                <a:solidFill>
                  <a:srgbClr val="0B2C4A"/>
                </a:solidFill>
                <a:latin typeface="Calibri"/>
              </a:rPr>
              <a:t>Feline castration</a:t>
            </a:r>
          </a:p>
        </p:txBody>
      </p:sp>
      <p:sp>
        <p:nvSpPr>
          <p:cNvPr id="19" name="TextBox 18"/>
          <p:cNvSpPr txBox="1"/>
          <p:nvPr/>
        </p:nvSpPr>
        <p:spPr>
          <a:xfrm>
            <a:off x="8439912" y="1536192"/>
            <a:ext cx="3337560" cy="1801368"/>
          </a:xfrm>
          <a:prstGeom prst="rect">
            <a:avLst/>
          </a:prstGeom>
          <a:noFill/>
        </p:spPr>
        <p:txBody>
          <a:bodyPr wrap="square" anchor="t"/>
          <a:lstStyle/>
          <a:p>
            <a:pPr algn="l"/>
            <a:r>
              <a:rPr sz="1300" b="0">
                <a:solidFill>
                  <a:srgbClr val="3D4A57"/>
                </a:solidFill>
                <a:latin typeface="Calibri"/>
              </a:rPr>
              <a:t>Pluck or clip scrotum per SOP. Still aseptic skin prep.</a:t>
            </a:r>
          </a:p>
        </p:txBody>
      </p:sp>
      <p:sp>
        <p:nvSpPr>
          <p:cNvPr id="20" name="Rounded Rectangle 19"/>
          <p:cNvSpPr/>
          <p:nvPr/>
        </p:nvSpPr>
        <p:spPr>
          <a:xfrm>
            <a:off x="4114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721608"/>
            <a:ext cx="3337560" cy="347472"/>
          </a:xfrm>
          <a:prstGeom prst="rect">
            <a:avLst/>
          </a:prstGeom>
          <a:noFill/>
        </p:spPr>
        <p:txBody>
          <a:bodyPr wrap="square" anchor="t"/>
          <a:lstStyle/>
          <a:p>
            <a:pPr algn="l"/>
            <a:r>
              <a:rPr sz="1500" b="1">
                <a:solidFill>
                  <a:srgbClr val="0B2C4A"/>
                </a:solidFill>
                <a:latin typeface="Calibri"/>
              </a:rPr>
              <a:t>Canine castration (scrotal ablation)</a:t>
            </a:r>
          </a:p>
        </p:txBody>
      </p:sp>
      <p:sp>
        <p:nvSpPr>
          <p:cNvPr id="23" name="TextBox 22"/>
          <p:cNvSpPr txBox="1"/>
          <p:nvPr/>
        </p:nvSpPr>
        <p:spPr>
          <a:xfrm>
            <a:off x="667512" y="4050792"/>
            <a:ext cx="3337560" cy="1801368"/>
          </a:xfrm>
          <a:prstGeom prst="rect">
            <a:avLst/>
          </a:prstGeom>
          <a:noFill/>
        </p:spPr>
        <p:txBody>
          <a:bodyPr wrap="square" anchor="t"/>
          <a:lstStyle/>
          <a:p>
            <a:pPr algn="l"/>
            <a:r>
              <a:rPr sz="1300" b="0">
                <a:solidFill>
                  <a:srgbClr val="3D4A57"/>
                </a:solidFill>
                <a:latin typeface="Calibri"/>
              </a:rPr>
              <a:t>Wider perineal/scrotal field; purse-string anus if needed.</a:t>
            </a:r>
          </a:p>
        </p:txBody>
      </p:sp>
      <p:sp>
        <p:nvSpPr>
          <p:cNvPr id="24" name="Rounded Rectangle 23"/>
          <p:cNvSpPr/>
          <p:nvPr/>
        </p:nvSpPr>
        <p:spPr>
          <a:xfrm>
            <a:off x="42976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976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53712" y="3721608"/>
            <a:ext cx="3337560" cy="347472"/>
          </a:xfrm>
          <a:prstGeom prst="rect">
            <a:avLst/>
          </a:prstGeom>
          <a:noFill/>
        </p:spPr>
        <p:txBody>
          <a:bodyPr wrap="square" anchor="t"/>
          <a:lstStyle/>
          <a:p>
            <a:pPr algn="l"/>
            <a:r>
              <a:rPr sz="1500" b="1">
                <a:solidFill>
                  <a:srgbClr val="0B2C4A"/>
                </a:solidFill>
                <a:latin typeface="Calibri"/>
              </a:rPr>
              <a:t>Limb / orthopedic</a:t>
            </a:r>
          </a:p>
        </p:txBody>
      </p:sp>
      <p:sp>
        <p:nvSpPr>
          <p:cNvPr id="27" name="TextBox 26"/>
          <p:cNvSpPr txBox="1"/>
          <p:nvPr/>
        </p:nvSpPr>
        <p:spPr>
          <a:xfrm>
            <a:off x="4553712" y="4050792"/>
            <a:ext cx="3337560" cy="1801368"/>
          </a:xfrm>
          <a:prstGeom prst="rect">
            <a:avLst/>
          </a:prstGeom>
          <a:noFill/>
        </p:spPr>
        <p:txBody>
          <a:bodyPr wrap="square" anchor="t"/>
          <a:lstStyle/>
          <a:p>
            <a:pPr algn="l"/>
            <a:r>
              <a:rPr sz="1300" b="0">
                <a:solidFill>
                  <a:srgbClr val="3D4A57"/>
                </a:solidFill>
                <a:latin typeface="Calibri"/>
              </a:rPr>
              <a:t>Joint above to joint below; hang limb; stirrup; circumferential prep (‘around the world’).</a:t>
            </a:r>
          </a:p>
        </p:txBody>
      </p:sp>
      <p:sp>
        <p:nvSpPr>
          <p:cNvPr id="28" name="Rounded Rectangle 27"/>
          <p:cNvSpPr/>
          <p:nvPr/>
        </p:nvSpPr>
        <p:spPr>
          <a:xfrm>
            <a:off x="81838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838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39912" y="3721608"/>
            <a:ext cx="3337560" cy="347472"/>
          </a:xfrm>
          <a:prstGeom prst="rect">
            <a:avLst/>
          </a:prstGeom>
          <a:noFill/>
        </p:spPr>
        <p:txBody>
          <a:bodyPr wrap="square" anchor="t"/>
          <a:lstStyle/>
          <a:p>
            <a:pPr algn="l"/>
            <a:r>
              <a:rPr sz="1500" b="1">
                <a:solidFill>
                  <a:srgbClr val="0B2C4A"/>
                </a:solidFill>
                <a:latin typeface="Calibri"/>
              </a:rPr>
              <a:t>Field LA surgery</a:t>
            </a:r>
          </a:p>
        </p:txBody>
      </p:sp>
      <p:sp>
        <p:nvSpPr>
          <p:cNvPr id="31" name="TextBox 30"/>
          <p:cNvSpPr txBox="1"/>
          <p:nvPr/>
        </p:nvSpPr>
        <p:spPr>
          <a:xfrm>
            <a:off x="8439912" y="4050792"/>
            <a:ext cx="3337560" cy="1801368"/>
          </a:xfrm>
          <a:prstGeom prst="rect">
            <a:avLst/>
          </a:prstGeom>
          <a:noFill/>
        </p:spPr>
        <p:txBody>
          <a:bodyPr wrap="square" anchor="t"/>
          <a:lstStyle/>
          <a:p>
            <a:pPr algn="l"/>
            <a:r>
              <a:rPr sz="1300" b="0">
                <a:solidFill>
                  <a:srgbClr val="3D4A57"/>
                </a:solidFill>
                <a:latin typeface="Calibri"/>
              </a:rPr>
              <a:t>Clip still matters. Dirt and fecal contamination are the enemy; sterile-drape ideals are adapted, not abandoned.</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34  /  59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CONCENTRATIONS, DILUTION, AND CONTACT TIMES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Skin antiseptics</a:t>
            </a:r>
          </a:p>
        </p:txBody>
      </p:sp>
      <p:sp>
        <p:nvSpPr>
          <p:cNvPr id="8" name="Rounded Rectangle 7"/>
          <p:cNvSpPr/>
          <p:nvPr/>
        </p:nvSpPr>
        <p:spPr>
          <a:xfrm>
            <a:off x="365760" y="987552"/>
            <a:ext cx="11448288" cy="1298448"/>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24128"/>
            <a:ext cx="11155680" cy="384048"/>
          </a:xfrm>
          <a:prstGeom prst="rect">
            <a:avLst/>
          </a:prstGeom>
          <a:noFill/>
        </p:spPr>
        <p:txBody>
          <a:bodyPr wrap="square" anchor="ctr"/>
          <a:lstStyle/>
          <a:p>
            <a:pPr algn="ctr"/>
            <a:r>
              <a:rPr sz="1600" b="1">
                <a:solidFill>
                  <a:srgbClr val="0B2C4A"/>
                </a:solidFill>
                <a:latin typeface="Calibri"/>
              </a:rPr>
              <a:t>10% povidone-iodine SOLUTION  ·  mucosa, conjunctiva, prepuce  ·  dilute  1 to 20  through  1 to 50  in sterile saline</a:t>
            </a:r>
          </a:p>
        </p:txBody>
      </p:sp>
      <p:sp>
        <p:nvSpPr>
          <p:cNvPr id="10" name="TextBox 9"/>
          <p:cNvSpPr txBox="1"/>
          <p:nvPr/>
        </p:nvSpPr>
        <p:spPr>
          <a:xfrm>
            <a:off x="502920" y="1389888"/>
            <a:ext cx="11155680" cy="804672"/>
          </a:xfrm>
          <a:prstGeom prst="rect">
            <a:avLst/>
          </a:prstGeom>
          <a:noFill/>
        </p:spPr>
        <p:txBody>
          <a:bodyPr wrap="square" anchor="t"/>
          <a:lstStyle/>
          <a:p>
            <a:pPr algn="ctr"/>
            <a:r>
              <a:rPr sz="1400" b="0">
                <a:solidFill>
                  <a:srgbClr val="1C1C1C"/>
                </a:solidFill>
                <a:latin typeface="Calibri"/>
              </a:rPr>
              <a:t>1 mL stock + 19 mL saline = 1:20 = 0.5% PVP-I        ·        1 mL stock + 49 mL saline = 1:50 = 0.2% PVP-I
Intact skin: 5 minutes wet contact.  Eye at 1:50: 2-minute scrub + 2-minute soak.  Eye, mucosa, prepuce: 10% SOLUTION only.</a:t>
            </a:r>
          </a:p>
        </p:txBody>
      </p:sp>
      <p:sp>
        <p:nvSpPr>
          <p:cNvPr id="11" name="Rounded Rectangle 10"/>
          <p:cNvSpPr/>
          <p:nvPr/>
        </p:nvSpPr>
        <p:spPr>
          <a:xfrm>
            <a:off x="365760" y="2395728"/>
            <a:ext cx="3749039" cy="40416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2395728"/>
            <a:ext cx="3749039" cy="45720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2395728"/>
            <a:ext cx="3749039" cy="457200"/>
          </a:xfrm>
          <a:prstGeom prst="rect">
            <a:avLst/>
          </a:prstGeom>
          <a:noFill/>
        </p:spPr>
        <p:txBody>
          <a:bodyPr wrap="square" anchor="ctr"/>
          <a:lstStyle/>
          <a:p>
            <a:pPr algn="ctr"/>
            <a:r>
              <a:rPr sz="1500" b="1">
                <a:solidFill>
                  <a:srgbClr val="FFFFFF"/>
                </a:solidFill>
                <a:latin typeface="Calibri"/>
              </a:rPr>
              <a:t>Chlorhexidine (3 min)</a:t>
            </a:r>
          </a:p>
        </p:txBody>
      </p:sp>
      <p:sp>
        <p:nvSpPr>
          <p:cNvPr id="14" name="TextBox 13"/>
          <p:cNvSpPr txBox="1"/>
          <p:nvPr/>
        </p:nvSpPr>
        <p:spPr>
          <a:xfrm>
            <a:off x="502920" y="2944368"/>
            <a:ext cx="3474720" cy="3337560"/>
          </a:xfrm>
          <a:prstGeom prst="rect">
            <a:avLst/>
          </a:prstGeom>
          <a:noFill/>
        </p:spPr>
        <p:txBody>
          <a:bodyPr wrap="square" anchor="t"/>
          <a:lstStyle/>
          <a:p>
            <a:pPr algn="l"/>
            <a:r>
              <a:rPr sz="1200" b="0">
                <a:solidFill>
                  <a:srgbClr val="1C1C1C"/>
                </a:solidFill>
                <a:latin typeface="Calibri"/>
              </a:rPr>
              <a:t>Intact skin: 2% or 4% CHG.
1. Aqueous CHG: 3 minutes wet.
2. CHG–alcohol (2%/70%): 30 s dry skin, 2 min moist.
3. Leave residual 6 hours.
4. Trunk and intact skin. Cornea or middle ear: switch to dilute PVP-I.
5. Choose one agent for the field: CHG or iodine.
6. Mix each dilution immediately before use.</a:t>
            </a:r>
          </a:p>
        </p:txBody>
      </p:sp>
      <p:sp>
        <p:nvSpPr>
          <p:cNvPr id="15" name="Rounded Rectangle 14"/>
          <p:cNvSpPr/>
          <p:nvPr/>
        </p:nvSpPr>
        <p:spPr>
          <a:xfrm>
            <a:off x="4224528" y="2395728"/>
            <a:ext cx="3749039" cy="40416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24528" y="2395728"/>
            <a:ext cx="3749039" cy="457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24528" y="2395728"/>
            <a:ext cx="3749039" cy="457200"/>
          </a:xfrm>
          <a:prstGeom prst="rect">
            <a:avLst/>
          </a:prstGeom>
          <a:noFill/>
        </p:spPr>
        <p:txBody>
          <a:bodyPr wrap="square" anchor="ctr"/>
          <a:lstStyle/>
          <a:p>
            <a:pPr algn="ctr"/>
            <a:r>
              <a:rPr sz="1500" b="1">
                <a:solidFill>
                  <a:srgbClr val="0B2C4A"/>
                </a:solidFill>
                <a:latin typeface="Calibri"/>
              </a:rPr>
              <a:t>Povidone-iodine (5 min)</a:t>
            </a:r>
          </a:p>
        </p:txBody>
      </p:sp>
      <p:sp>
        <p:nvSpPr>
          <p:cNvPr id="18" name="TextBox 17"/>
          <p:cNvSpPr txBox="1"/>
          <p:nvPr/>
        </p:nvSpPr>
        <p:spPr>
          <a:xfrm>
            <a:off x="4361688" y="2944368"/>
            <a:ext cx="3474720" cy="3337560"/>
          </a:xfrm>
          <a:prstGeom prst="rect">
            <a:avLst/>
          </a:prstGeom>
          <a:noFill/>
        </p:spPr>
        <p:txBody>
          <a:bodyPr wrap="square" anchor="t"/>
          <a:lstStyle/>
          <a:p>
            <a:pPr algn="l"/>
            <a:r>
              <a:rPr sz="1200" b="0">
                <a:solidFill>
                  <a:srgbClr val="1C1C1C"/>
                </a:solidFill>
                <a:latin typeface="Calibri"/>
              </a:rPr>
              <a:t>1. Dirty prep first (organic matter inactivates iodine).
2. Intact skin: 7.5% scrub, lather 5 min, rinse, paint 10% solution, dry, drape.
3. Mucosa / eye / prepuce: 10% SOLUTION, dilute 1 to 20 to 1 to 50.
4. Eye at 1:50: 2-minute scrub + 2-minute soak.
Not sporicidal at 5 minutes. Residual 90 minutes after dry. Hypersensitivity. Stains.</a:t>
            </a:r>
          </a:p>
        </p:txBody>
      </p:sp>
      <p:sp>
        <p:nvSpPr>
          <p:cNvPr id="19" name="Rounded Rectangle 18"/>
          <p:cNvSpPr/>
          <p:nvPr/>
        </p:nvSpPr>
        <p:spPr>
          <a:xfrm>
            <a:off x="8083296" y="2395728"/>
            <a:ext cx="3730752" cy="40416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83296" y="2395728"/>
            <a:ext cx="3730752" cy="4572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3296" y="2395728"/>
            <a:ext cx="3730752" cy="457200"/>
          </a:xfrm>
          <a:prstGeom prst="rect">
            <a:avLst/>
          </a:prstGeom>
          <a:noFill/>
        </p:spPr>
        <p:txBody>
          <a:bodyPr wrap="square" anchor="ctr"/>
          <a:lstStyle/>
          <a:p>
            <a:pPr algn="ctr"/>
            <a:r>
              <a:rPr sz="1500" b="1">
                <a:solidFill>
                  <a:srgbClr val="C5A35A"/>
                </a:solidFill>
                <a:latin typeface="Calibri"/>
              </a:rPr>
              <a:t>Alcohol (30 sec)</a:t>
            </a:r>
          </a:p>
        </p:txBody>
      </p:sp>
      <p:sp>
        <p:nvSpPr>
          <p:cNvPr id="22" name="TextBox 21"/>
          <p:cNvSpPr txBox="1"/>
          <p:nvPr/>
        </p:nvSpPr>
        <p:spPr>
          <a:xfrm>
            <a:off x="8220456" y="2944368"/>
            <a:ext cx="3456432" cy="3337560"/>
          </a:xfrm>
          <a:prstGeom prst="rect">
            <a:avLst/>
          </a:prstGeom>
          <a:noFill/>
        </p:spPr>
        <p:txBody>
          <a:bodyPr wrap="square" anchor="t"/>
          <a:lstStyle/>
          <a:p>
            <a:pPr algn="l"/>
            <a:r>
              <a:rPr sz="1300" b="0">
                <a:solidFill>
                  <a:srgbClr val="1C1C1C"/>
                </a:solidFill>
                <a:latin typeface="Calibri"/>
              </a:rPr>
              <a:t>1. 70% isopropyl or ethyl: 30 seconds, then dry.
2. Keep fluid off the table and off cautery.
3. Rinse or paint between CHG cycles on intact skin.
4. Intact skin only. Wounds, mucosa, or eye: dilute PVP-I.
Surgical antiseptic = CHG, PVP-I, or alcohol.</a:t>
            </a:r>
          </a:p>
        </p:txBody>
      </p:sp>
      <p:sp>
        <p:nvSpPr>
          <p:cNvPr id="23" name="Rectangle 22"/>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5" name="TextBox 24"/>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35  /  59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CENTER TO PERIPHERY. DIRTY PREP, THEN STERILE PREP.</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Patient skin preparation technique</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6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600"/>
              </a:spcAft>
            </a:pPr>
            <a:r>
              <a:rPr sz="1300" b="0">
                <a:solidFill>
                  <a:srgbClr val="1C1C1C"/>
                </a:solidFill>
                <a:latin typeface="Calibri"/>
              </a:rPr>
              <a:t>▸  1. Dirty prep in the prep room; sterile prep in the OR.</a:t>
            </a:r>
          </a:p>
          <a:p>
            <a:pPr algn="l">
              <a:spcAft>
                <a:spcPts val="600"/>
              </a:spcAft>
            </a:pPr>
            <a:r>
              <a:rPr sz="1300" b="0">
                <a:solidFill>
                  <a:srgbClr val="1C1C1C"/>
                </a:solidFill>
                <a:latin typeface="Calibri"/>
              </a:rPr>
              <a:t>▸  2. Start at the planned incision. Spiral out. Drop each sponge after the outer ring.</a:t>
            </a:r>
          </a:p>
          <a:p>
            <a:pPr algn="l">
              <a:spcAft>
                <a:spcPts val="600"/>
              </a:spcAft>
            </a:pPr>
            <a:r>
              <a:rPr sz="1300" b="0">
                <a:solidFill>
                  <a:srgbClr val="1C1C1C"/>
                </a:solidFill>
                <a:latin typeface="Calibri"/>
              </a:rPr>
              <a:t>▸  3. PVP-I: 5 minutes wet, rinse, paint 10%, dry. Aqueous CHG: 3 minutes. Drain pools, then drape.</a:t>
            </a:r>
          </a:p>
          <a:p>
            <a:pPr algn="l">
              <a:spcAft>
                <a:spcPts val="600"/>
              </a:spcAft>
            </a:pPr>
            <a:r>
              <a:rPr sz="1300" b="0">
                <a:solidFill>
                  <a:srgbClr val="1C1C1C"/>
                </a:solidFill>
                <a:latin typeface="Calibri"/>
              </a:rPr>
              <a:t>▸  4. Mucosa, conjunctiva, prepuce: 10% PVP-I solution, 1 to 20 to 1 to 50. Eye at 1:50: 2-minute scrub + 2-minute soak.</a:t>
            </a:r>
          </a:p>
          <a:p>
            <a:pPr algn="l">
              <a:spcAft>
                <a:spcPts val="600"/>
              </a:spcAft>
            </a:pPr>
            <a:r>
              <a:rPr sz="1300" b="0">
                <a:solidFill>
                  <a:srgbClr val="1C1C1C"/>
                </a:solidFill>
                <a:latin typeface="Calibri"/>
              </a:rPr>
              <a:t>▸  5. Willie: swollen tympanic membrane. Periocular and canal mucosa: dilute PVP-I.</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36  /  59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DORSAL RECUMBENCY, AIRWAY, IV CATHETER, MONITORING, V-TROUGH</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Patient positioning</a:t>
            </a:r>
          </a:p>
        </p:txBody>
      </p:sp>
      <p:pic>
        <p:nvPicPr>
          <p:cNvPr id="8" name="Picture 7" descr="dog_or.jpg"/>
          <p:cNvPicPr>
            <a:picLocks noChangeAspect="1"/>
          </p:cNvPicPr>
          <p:nvPr/>
        </p:nvPicPr>
        <p:blipFill>
          <a:blip r:embed="rId2"/>
          <a:stretch>
            <a:fillRect/>
          </a:stretch>
        </p:blipFill>
        <p:spPr>
          <a:xfrm>
            <a:off x="320040" y="1024128"/>
            <a:ext cx="7635240" cy="5440680"/>
          </a:xfrm>
          <a:prstGeom prst="rect">
            <a:avLst/>
          </a:prstGeom>
        </p:spPr>
      </p:pic>
      <p:sp>
        <p:nvSpPr>
          <p:cNvPr id="9" name="Rounded Rectangle 8"/>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170432"/>
            <a:ext cx="3429000" cy="411480"/>
          </a:xfrm>
          <a:prstGeom prst="rect">
            <a:avLst/>
          </a:prstGeom>
          <a:noFill/>
        </p:spPr>
        <p:txBody>
          <a:bodyPr wrap="square" anchor="t"/>
          <a:lstStyle/>
          <a:p>
            <a:pPr algn="l"/>
            <a:r>
              <a:rPr sz="1600" b="1">
                <a:solidFill>
                  <a:srgbClr val="0B2C4A"/>
                </a:solidFill>
                <a:latin typeface="Calibri"/>
              </a:rPr>
              <a:t>Visible in this photograph</a:t>
            </a:r>
          </a:p>
        </p:txBody>
      </p:sp>
      <p:sp>
        <p:nvSpPr>
          <p:cNvPr id="11" name="TextBox 10"/>
          <p:cNvSpPr txBox="1"/>
          <p:nvPr/>
        </p:nvSpPr>
        <p:spPr>
          <a:xfrm>
            <a:off x="8275320" y="1645920"/>
            <a:ext cx="3429000" cy="4572000"/>
          </a:xfrm>
          <a:prstGeom prst="rect">
            <a:avLst/>
          </a:prstGeom>
          <a:noFill/>
        </p:spPr>
        <p:txBody>
          <a:bodyPr wrap="square" anchor="t"/>
          <a:lstStyle/>
          <a:p>
            <a:pPr algn="l"/>
            <a:r>
              <a:rPr sz="1400" b="0">
                <a:solidFill>
                  <a:srgbClr val="1C1C1C"/>
                </a:solidFill>
                <a:latin typeface="Calibri"/>
              </a:rPr>
              <a:t>• ET tube + pulse ox
• IV catheter + fluids
• Anesthesia machine
• V-trough / padding
• Ties snug, then check the pulse distal to each tie
• Clip after a surgical plane of anesthesia
Keep the hips in a neutral spread.
Lubricate the eyes. Confirm the tube is patent.
Photo: Anja, CC BY-SA 4.0.</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37  /  59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FOUR-QUADRANT TOWELS, THEN THE LARGE DRAPE. HAIR MUST NOT SHOW AT THE EDGE.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Draping</a:t>
            </a:r>
          </a:p>
        </p:txBody>
      </p:sp>
      <p:sp>
        <p:nvSpPr>
          <p:cNvPr id="8" name="Rounded Rectangle 7"/>
          <p:cNvSpPr/>
          <p:nvPr/>
        </p:nvSpPr>
        <p:spPr>
          <a:xfrm>
            <a:off x="365760" y="1005840"/>
            <a:ext cx="5669280" cy="347472"/>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347472"/>
          </a:xfrm>
          <a:prstGeom prst="rect">
            <a:avLst/>
          </a:prstGeom>
          <a:noFill/>
        </p:spPr>
        <p:txBody>
          <a:bodyPr wrap="square" anchor="ctr"/>
          <a:lstStyle/>
          <a:p>
            <a:pPr algn="ctr"/>
            <a:r>
              <a:rPr sz="1300" b="1">
                <a:solidFill>
                  <a:srgbClr val="FFFFFF"/>
                </a:solidFill>
                <a:latin typeface="Calibri"/>
              </a:rPr>
              <a:t>OHE: hair visible at the drape edge</a:t>
            </a:r>
          </a:p>
        </p:txBody>
      </p:sp>
      <p:pic>
        <p:nvPicPr>
          <p:cNvPr id="10" name="Picture 9" descr="cherry_point_spay.jpg"/>
          <p:cNvPicPr>
            <a:picLocks noChangeAspect="1"/>
          </p:cNvPicPr>
          <p:nvPr/>
        </p:nvPicPr>
        <p:blipFill>
          <a:blip r:embed="rId2"/>
          <a:stretch>
            <a:fillRect/>
          </a:stretch>
        </p:blipFill>
        <p:spPr>
          <a:xfrm>
            <a:off x="365760" y="1371600"/>
            <a:ext cx="5669280" cy="3246120"/>
          </a:xfrm>
          <a:prstGeom prst="rect">
            <a:avLst/>
          </a:prstGeom>
        </p:spPr>
      </p:pic>
      <p:sp>
        <p:nvSpPr>
          <p:cNvPr id="11" name="Rounded Rectangle 10"/>
          <p:cNvSpPr/>
          <p:nvPr/>
        </p:nvSpPr>
        <p:spPr>
          <a:xfrm>
            <a:off x="6172200" y="1005840"/>
            <a:ext cx="5669280" cy="347472"/>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347472"/>
          </a:xfrm>
          <a:prstGeom prst="rect">
            <a:avLst/>
          </a:prstGeom>
          <a:noFill/>
        </p:spPr>
        <p:txBody>
          <a:bodyPr wrap="square" anchor="ctr"/>
          <a:lstStyle/>
          <a:p>
            <a:pPr algn="ctr"/>
            <a:r>
              <a:rPr sz="1300" b="1">
                <a:solidFill>
                  <a:srgbClr val="FFFFFF"/>
                </a:solidFill>
                <a:latin typeface="Calibri"/>
              </a:rPr>
              <a:t>Sterile field: gown, glove, drape</a:t>
            </a:r>
          </a:p>
        </p:txBody>
      </p:sp>
      <p:pic>
        <p:nvPicPr>
          <p:cNvPr id="13" name="Picture 12" descr="hektor_drape.jpg"/>
          <p:cNvPicPr>
            <a:picLocks noChangeAspect="1"/>
          </p:cNvPicPr>
          <p:nvPr/>
        </p:nvPicPr>
        <p:blipFill>
          <a:blip r:embed="rId3"/>
          <a:stretch>
            <a:fillRect/>
          </a:stretch>
        </p:blipFill>
        <p:spPr>
          <a:xfrm>
            <a:off x="6172200" y="1371600"/>
            <a:ext cx="5669280" cy="3246120"/>
          </a:xfrm>
          <a:prstGeom prst="rect">
            <a:avLst/>
          </a:prstGeom>
        </p:spPr>
      </p:pic>
      <p:sp>
        <p:nvSpPr>
          <p:cNvPr id="14" name="Rounded Rectangle 13"/>
          <p:cNvSpPr/>
          <p:nvPr/>
        </p:nvSpPr>
        <p:spPr>
          <a:xfrm>
            <a:off x="365760" y="4736592"/>
            <a:ext cx="11475720" cy="1737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64608"/>
            <a:ext cx="11155680" cy="1463040"/>
          </a:xfrm>
          <a:prstGeom prst="rect">
            <a:avLst/>
          </a:prstGeom>
          <a:noFill/>
        </p:spPr>
        <p:txBody>
          <a:bodyPr wrap="square" anchor="t"/>
          <a:lstStyle/>
          <a:p>
            <a:pPr algn="l"/>
            <a:r>
              <a:rPr sz="1400" b="0">
                <a:solidFill>
                  <a:srgbClr val="1C1C1C"/>
                </a:solidFill>
                <a:latin typeface="Calibri"/>
              </a:rPr>
              <a:t>Four towels box the field (near towel first). Hair must not show at any edge. Re-clip or re-drape. Large drape over towels; cuff your hands. Wet-through is contaminated. Hands stay on the field.
Photos: Cpl. Samuel A. Nasso, U.S. Marine Corps, public domain (left); MSgt Carlotta Holley, U.S. Air Force, public domain (right).</a:t>
            </a:r>
          </a:p>
        </p:txBody>
      </p:sp>
      <p:sp>
        <p:nvSpPr>
          <p:cNvPr id="16" name="Rectangle 1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8" name="TextBox 1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38  /  59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TECHNIQUE DIAGRAM AND OPERATING-ROOM PHOTOGRAPH</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Closed gloving and the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hektor_or.jp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400" b="0">
                <a:solidFill>
                  <a:srgbClr val="1C1C1C"/>
                </a:solidFill>
                <a:latin typeface="Calibri"/>
              </a:rPr>
              <a:t>Left: closed-gloving technique diagram (hands stay inside the gown cuffs). Right: working K9 anesthesia: cap, mask, ECG/SpO2/ETCO2 monitors, circle system, IV fluids, airway. Monitoring is on before the first drug. Willie needed this for an ear clean. MoMo: the record stopped at preoperative evaluation.
Photo: MSgt Carlotta Holley, U.S. Air Force, public domain.</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39  /  59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RECOGNIZE, ANNOUNCE, AND CORRECT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Breaks in asepsis</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1B6B7A"/>
                </a:solidFill>
                <a:latin typeface="Calibri"/>
              </a:rPr>
              <a:t>Before the incision (prep / drape)</a:t>
            </a:r>
          </a:p>
        </p:txBody>
      </p:sp>
      <p:sp>
        <p:nvSpPr>
          <p:cNvPr id="10" name="TextBox 9"/>
          <p:cNvSpPr txBox="1"/>
          <p:nvPr/>
        </p:nvSpPr>
        <p:spPr>
          <a:xfrm>
            <a:off x="685800" y="1783080"/>
            <a:ext cx="5120640" cy="4023360"/>
          </a:xfrm>
          <a:prstGeom prst="rect">
            <a:avLst/>
          </a:prstGeom>
          <a:noFill/>
        </p:spPr>
        <p:txBody>
          <a:bodyPr wrap="square" anchor="t"/>
          <a:lstStyle/>
          <a:p>
            <a:pPr algn="l"/>
            <a:r>
              <a:rPr sz="1500" b="0">
                <a:solidFill>
                  <a:srgbClr val="1C1C1C"/>
                </a:solidFill>
                <a:latin typeface="Calibri"/>
              </a:rPr>
              <a:t>If you contaminate yourself or the field: say it immediately and correct it. Re-glove, re-gown, or re-drape.
Name the break once. Fix it completely.
A second unrecognized break means you cannot maintain an aseptic field. Stop.
This is how we protect a client-owned animal.</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8B2E2E"/>
                </a:solidFill>
                <a:latin typeface="Calibri"/>
              </a:rPr>
              <a:t>After the incision is made</a:t>
            </a:r>
          </a:p>
        </p:txBody>
      </p:sp>
      <p:sp>
        <p:nvSpPr>
          <p:cNvPr id="13" name="TextBox 12"/>
          <p:cNvSpPr txBox="1"/>
          <p:nvPr/>
        </p:nvSpPr>
        <p:spPr>
          <a:xfrm>
            <a:off x="6492240" y="1783080"/>
            <a:ext cx="5029200" cy="4023360"/>
          </a:xfrm>
          <a:prstGeom prst="rect">
            <a:avLst/>
          </a:prstGeom>
          <a:noFill/>
        </p:spPr>
        <p:txBody>
          <a:bodyPr wrap="square" anchor="t"/>
          <a:lstStyle/>
          <a:p>
            <a:pPr algn="l"/>
            <a:r>
              <a:rPr sz="1500" b="0">
                <a:solidFill>
                  <a:srgbClr val="1C1C1C"/>
                </a:solidFill>
                <a:latin typeface="Calibri"/>
              </a:rPr>
              <a:t>Once the incision is made, contamination must still be noticed, announced, and corrected.
Incomplete correction puts the animal at risk.
Examples: sleeve in the abdomen, instrument off the table used again, hole in glove ignored, dripping sweat onto the field.</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40  /  59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DVM 612 PROFESSIONAL STANDARD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Protect the patient</a:t>
            </a:r>
          </a:p>
        </p:txBody>
      </p:sp>
      <p:sp>
        <p:nvSpPr>
          <p:cNvPr id="8" name="TextBox 7"/>
          <p:cNvSpPr txBox="1"/>
          <p:nvPr/>
        </p:nvSpPr>
        <p:spPr>
          <a:xfrm>
            <a:off x="502920" y="1097280"/>
            <a:ext cx="11155680" cy="3840480"/>
          </a:xfrm>
          <a:prstGeom prst="rect">
            <a:avLst/>
          </a:prstGeom>
          <a:noFill/>
        </p:spPr>
        <p:txBody>
          <a:bodyPr wrap="square">
            <a:spAutoFit/>
          </a:bodyPr>
          <a:lstStyle/>
          <a:p>
            <a:pPr algn="l">
              <a:spcAft>
                <a:spcPts val="1200"/>
              </a:spcAft>
            </a:pPr>
            <a:r>
              <a:rPr sz="1800" b="0">
                <a:solidFill>
                  <a:srgbClr val="1C1C1C"/>
                </a:solidFill>
                <a:latin typeface="Calibri"/>
              </a:rPr>
              <a:t>▸  1. Control significant hemorrhage.</a:t>
            </a:r>
          </a:p>
          <a:p>
            <a:pPr algn="l">
              <a:spcAft>
                <a:spcPts val="1200"/>
              </a:spcAft>
            </a:pPr>
            <a:r>
              <a:rPr sz="1800" b="0">
                <a:solidFill>
                  <a:srgbClr val="1C1C1C"/>
                </a:solidFill>
                <a:latin typeface="Calibri"/>
              </a:rPr>
              <a:t>▸  2. Create a secure abdominal wall closure.</a:t>
            </a:r>
          </a:p>
          <a:p>
            <a:pPr algn="l">
              <a:spcAft>
                <a:spcPts val="1200"/>
              </a:spcAft>
            </a:pPr>
            <a:r>
              <a:rPr sz="1800" b="0">
                <a:solidFill>
                  <a:srgbClr val="1C1C1C"/>
                </a:solidFill>
                <a:latin typeface="Calibri"/>
              </a:rPr>
              <a:t>▸  3. Achieve and maintain an aseptic field (patient and surgeon preparation included).</a:t>
            </a:r>
          </a:p>
          <a:p>
            <a:pPr algn="l">
              <a:spcAft>
                <a:spcPts val="1200"/>
              </a:spcAft>
            </a:pPr>
            <a:r>
              <a:rPr sz="1800" b="0">
                <a:solidFill>
                  <a:srgbClr val="1C1C1C"/>
                </a:solidFill>
                <a:latin typeface="Calibri"/>
              </a:rPr>
              <a:t>▸  4. Identify and protect adjacent organs (ureter, cervix) before you clamp or ligate.</a:t>
            </a:r>
          </a:p>
          <a:p>
            <a:pPr algn="l">
              <a:spcAft>
                <a:spcPts val="1200"/>
              </a:spcAft>
            </a:pPr>
            <a:r>
              <a:rPr sz="1800" b="0">
                <a:solidFill>
                  <a:srgbClr val="1C1C1C"/>
                </a:solidFill>
                <a:latin typeface="Calibri"/>
              </a:rPr>
              <a:t>▸  5. Complete a sponge and instrument count before closure.</a:t>
            </a:r>
          </a:p>
        </p:txBody>
      </p:sp>
      <p:sp>
        <p:nvSpPr>
          <p:cNvPr id="9" name="Rounded Rectangle 8"/>
          <p:cNvSpPr/>
          <p:nvPr/>
        </p:nvSpPr>
        <p:spPr>
          <a:xfrm>
            <a:off x="457200" y="5120640"/>
            <a:ext cx="1124712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257800"/>
            <a:ext cx="10789920" cy="960120"/>
          </a:xfrm>
          <a:prstGeom prst="rect">
            <a:avLst/>
          </a:prstGeom>
          <a:noFill/>
        </p:spPr>
        <p:txBody>
          <a:bodyPr wrap="square" anchor="t"/>
          <a:lstStyle/>
          <a:p>
            <a:pPr algn="l"/>
            <a:r>
              <a:rPr sz="1500" b="0">
                <a:solidFill>
                  <a:srgbClr val="0B2C4A"/>
                </a:solidFill>
                <a:latin typeface="Calibri"/>
              </a:rPr>
              <a:t>The operation is not over when the last skin suture is placed. Intra-abdominal hemorrhage from poor ligation, or herniation from a weak linea, can kill the patient after you have left the OR. That is why postoperative care is part of this lecture.</a:t>
            </a:r>
          </a:p>
        </p:txBody>
      </p:sp>
      <p:sp>
        <p:nvSpPr>
          <p:cNvPr id="11" name="Rectangle 10"/>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3" name="TextBox 12"/>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41  /  59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Knowledge check: preparation</a:t>
            </a:r>
          </a:p>
        </p:txBody>
      </p:sp>
      <p:sp>
        <p:nvSpPr>
          <p:cNvPr id="7" name="Rounded Rectangle 6"/>
          <p:cNvSpPr/>
          <p:nvPr/>
        </p:nvSpPr>
        <p:spPr>
          <a:xfrm>
            <a:off x="457200" y="105156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640080" cy="1170432"/>
          </a:xfrm>
          <a:prstGeom prst="rect">
            <a:avLst/>
          </a:prstGeom>
          <a:noFill/>
        </p:spPr>
        <p:txBody>
          <a:bodyPr wrap="square" anchor="ctr"/>
          <a:lstStyle/>
          <a:p>
            <a:pPr algn="ctr"/>
            <a:r>
              <a:rPr sz="2000" b="1">
                <a:solidFill>
                  <a:srgbClr val="C5A35A"/>
                </a:solidFill>
                <a:latin typeface="Calibri"/>
              </a:rPr>
              <a:t>A</a:t>
            </a:r>
          </a:p>
        </p:txBody>
      </p:sp>
      <p:sp>
        <p:nvSpPr>
          <p:cNvPr id="10" name="TextBox 9"/>
          <p:cNvSpPr txBox="1"/>
          <p:nvPr/>
        </p:nvSpPr>
        <p:spPr>
          <a:xfrm>
            <a:off x="1280160" y="1143000"/>
            <a:ext cx="10149840" cy="457200"/>
          </a:xfrm>
          <a:prstGeom prst="rect">
            <a:avLst/>
          </a:prstGeom>
          <a:noFill/>
        </p:spPr>
        <p:txBody>
          <a:bodyPr wrap="square" anchor="t"/>
          <a:lstStyle/>
          <a:p>
            <a:pPr algn="l"/>
            <a:r>
              <a:rPr sz="1500" b="1">
                <a:solidFill>
                  <a:srgbClr val="1C1C1C"/>
                </a:solidFill>
                <a:latin typeface="Calibri"/>
              </a:rPr>
              <a:t>When do you clip the OHE field?</a:t>
            </a:r>
          </a:p>
        </p:txBody>
      </p:sp>
      <p:sp>
        <p:nvSpPr>
          <p:cNvPr id="11" name="TextBox 10"/>
          <p:cNvSpPr txBox="1"/>
          <p:nvPr/>
        </p:nvSpPr>
        <p:spPr>
          <a:xfrm>
            <a:off x="1280160" y="1645920"/>
            <a:ext cx="10149840" cy="457200"/>
          </a:xfrm>
          <a:prstGeom prst="rect">
            <a:avLst/>
          </a:prstGeom>
          <a:noFill/>
        </p:spPr>
        <p:txBody>
          <a:bodyPr wrap="square" anchor="t"/>
          <a:lstStyle/>
          <a:p>
            <a:pPr algn="l"/>
            <a:r>
              <a:rPr sz="1400" b="0">
                <a:solidFill>
                  <a:srgbClr val="1B6B7A"/>
                </a:solidFill>
                <a:latin typeface="Calibri"/>
              </a:rPr>
              <a:t>After induction, immediately before the scrub.</a:t>
            </a:r>
          </a:p>
        </p:txBody>
      </p:sp>
      <p:sp>
        <p:nvSpPr>
          <p:cNvPr id="12" name="Rounded Rectangle 11"/>
          <p:cNvSpPr/>
          <p:nvPr/>
        </p:nvSpPr>
        <p:spPr>
          <a:xfrm>
            <a:off x="457200" y="233172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33172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331720"/>
            <a:ext cx="640080" cy="1170432"/>
          </a:xfrm>
          <a:prstGeom prst="rect">
            <a:avLst/>
          </a:prstGeom>
          <a:noFill/>
        </p:spPr>
        <p:txBody>
          <a:bodyPr wrap="square" anchor="ctr"/>
          <a:lstStyle/>
          <a:p>
            <a:pPr algn="ctr"/>
            <a:r>
              <a:rPr sz="2000" b="1">
                <a:solidFill>
                  <a:srgbClr val="C5A35A"/>
                </a:solidFill>
                <a:latin typeface="Calibri"/>
              </a:rPr>
              <a:t>B</a:t>
            </a:r>
          </a:p>
        </p:txBody>
      </p:sp>
      <p:sp>
        <p:nvSpPr>
          <p:cNvPr id="15" name="TextBox 14"/>
          <p:cNvSpPr txBox="1"/>
          <p:nvPr/>
        </p:nvSpPr>
        <p:spPr>
          <a:xfrm>
            <a:off x="1280160" y="2423160"/>
            <a:ext cx="10149840" cy="457200"/>
          </a:xfrm>
          <a:prstGeom prst="rect">
            <a:avLst/>
          </a:prstGeom>
          <a:noFill/>
        </p:spPr>
        <p:txBody>
          <a:bodyPr wrap="square" anchor="t"/>
          <a:lstStyle/>
          <a:p>
            <a:pPr algn="l"/>
            <a:r>
              <a:rPr sz="1500" b="1">
                <a:solidFill>
                  <a:srgbClr val="1C1C1C"/>
                </a:solidFill>
                <a:latin typeface="Calibri"/>
              </a:rPr>
              <a:t>How do you take hair down to the skin at the incision?</a:t>
            </a:r>
          </a:p>
        </p:txBody>
      </p:sp>
      <p:sp>
        <p:nvSpPr>
          <p:cNvPr id="16" name="TextBox 15"/>
          <p:cNvSpPr txBox="1"/>
          <p:nvPr/>
        </p:nvSpPr>
        <p:spPr>
          <a:xfrm>
            <a:off x="1280160" y="2926080"/>
            <a:ext cx="10149840" cy="457200"/>
          </a:xfrm>
          <a:prstGeom prst="rect">
            <a:avLst/>
          </a:prstGeom>
          <a:noFill/>
        </p:spPr>
        <p:txBody>
          <a:bodyPr wrap="square" anchor="t"/>
          <a:lstStyle/>
          <a:p>
            <a:pPr algn="l"/>
            <a:r>
              <a:rPr sz="1400" b="0">
                <a:solidFill>
                  <a:srgbClr val="1B6B7A"/>
                </a:solidFill>
                <a:latin typeface="Calibri"/>
              </a:rPr>
              <a:t>#40 clipper, with the grain then against. Clippers, not razors.</a:t>
            </a:r>
          </a:p>
        </p:txBody>
      </p:sp>
      <p:sp>
        <p:nvSpPr>
          <p:cNvPr id="17" name="Rounded Rectangle 16"/>
          <p:cNvSpPr/>
          <p:nvPr/>
        </p:nvSpPr>
        <p:spPr>
          <a:xfrm>
            <a:off x="457200" y="361188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61188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611880"/>
            <a:ext cx="640080" cy="1170432"/>
          </a:xfrm>
          <a:prstGeom prst="rect">
            <a:avLst/>
          </a:prstGeom>
          <a:noFill/>
        </p:spPr>
        <p:txBody>
          <a:bodyPr wrap="square" anchor="ctr"/>
          <a:lstStyle/>
          <a:p>
            <a:pPr algn="ctr"/>
            <a:r>
              <a:rPr sz="2000" b="1">
                <a:solidFill>
                  <a:srgbClr val="C5A35A"/>
                </a:solidFill>
                <a:latin typeface="Calibri"/>
              </a:rPr>
              <a:t>C</a:t>
            </a:r>
          </a:p>
        </p:txBody>
      </p:sp>
      <p:sp>
        <p:nvSpPr>
          <p:cNvPr id="20" name="TextBox 19"/>
          <p:cNvSpPr txBox="1"/>
          <p:nvPr/>
        </p:nvSpPr>
        <p:spPr>
          <a:xfrm>
            <a:off x="1280160" y="3703320"/>
            <a:ext cx="10149840" cy="457200"/>
          </a:xfrm>
          <a:prstGeom prst="rect">
            <a:avLst/>
          </a:prstGeom>
          <a:noFill/>
        </p:spPr>
        <p:txBody>
          <a:bodyPr wrap="square" anchor="t"/>
          <a:lstStyle/>
          <a:p>
            <a:pPr algn="l"/>
            <a:r>
              <a:rPr sz="1500" b="1">
                <a:solidFill>
                  <a:srgbClr val="1C1C1C"/>
                </a:solidFill>
                <a:latin typeface="Calibri"/>
              </a:rPr>
              <a:t>CHG runs into the eye during a trunk scrub. Next three steps?</a:t>
            </a:r>
          </a:p>
        </p:txBody>
      </p:sp>
      <p:sp>
        <p:nvSpPr>
          <p:cNvPr id="21" name="TextBox 20"/>
          <p:cNvSpPr txBox="1"/>
          <p:nvPr/>
        </p:nvSpPr>
        <p:spPr>
          <a:xfrm>
            <a:off x="1280160" y="4206240"/>
            <a:ext cx="10149840" cy="457200"/>
          </a:xfrm>
          <a:prstGeom prst="rect">
            <a:avLst/>
          </a:prstGeom>
          <a:noFill/>
        </p:spPr>
        <p:txBody>
          <a:bodyPr wrap="square" anchor="t"/>
          <a:lstStyle/>
          <a:p>
            <a:pPr algn="l"/>
            <a:r>
              <a:rPr sz="1400" b="0">
                <a:solidFill>
                  <a:srgbClr val="1B6B7A"/>
                </a:solidFill>
                <a:latin typeface="Calibri"/>
              </a:rPr>
              <a:t>1. Stop the prep. 2. Irrigate with sterile saline. 3. Reassess the cornea, then finish the field with dilute PVP-I.</a:t>
            </a:r>
          </a:p>
        </p:txBody>
      </p:sp>
      <p:sp>
        <p:nvSpPr>
          <p:cNvPr id="22" name="Rounded Rectangle 21"/>
          <p:cNvSpPr/>
          <p:nvPr/>
        </p:nvSpPr>
        <p:spPr>
          <a:xfrm>
            <a:off x="457200" y="4892039"/>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892039"/>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892039"/>
            <a:ext cx="640080" cy="1170432"/>
          </a:xfrm>
          <a:prstGeom prst="rect">
            <a:avLst/>
          </a:prstGeom>
          <a:noFill/>
        </p:spPr>
        <p:txBody>
          <a:bodyPr wrap="square" anchor="ctr"/>
          <a:lstStyle/>
          <a:p>
            <a:pPr algn="ctr"/>
            <a:r>
              <a:rPr sz="2000" b="1">
                <a:solidFill>
                  <a:srgbClr val="C5A35A"/>
                </a:solidFill>
                <a:latin typeface="Calibri"/>
              </a:rPr>
              <a:t>D</a:t>
            </a:r>
          </a:p>
        </p:txBody>
      </p:sp>
      <p:sp>
        <p:nvSpPr>
          <p:cNvPr id="25" name="TextBox 24"/>
          <p:cNvSpPr txBox="1"/>
          <p:nvPr/>
        </p:nvSpPr>
        <p:spPr>
          <a:xfrm>
            <a:off x="1280160" y="4983479"/>
            <a:ext cx="10149840" cy="457200"/>
          </a:xfrm>
          <a:prstGeom prst="rect">
            <a:avLst/>
          </a:prstGeom>
          <a:noFill/>
        </p:spPr>
        <p:txBody>
          <a:bodyPr wrap="square" anchor="t"/>
          <a:lstStyle/>
          <a:p>
            <a:pPr algn="l"/>
            <a:r>
              <a:rPr sz="1500" b="1">
                <a:solidFill>
                  <a:srgbClr val="1C1C1C"/>
                </a:solidFill>
                <a:latin typeface="Calibri"/>
              </a:rPr>
              <a:t>How do you prep conjunctiva or a prepuce with iodine?</a:t>
            </a:r>
          </a:p>
        </p:txBody>
      </p:sp>
      <p:sp>
        <p:nvSpPr>
          <p:cNvPr id="26" name="TextBox 25"/>
          <p:cNvSpPr txBox="1"/>
          <p:nvPr/>
        </p:nvSpPr>
        <p:spPr>
          <a:xfrm>
            <a:off x="1280160" y="5486399"/>
            <a:ext cx="10149840" cy="457200"/>
          </a:xfrm>
          <a:prstGeom prst="rect">
            <a:avLst/>
          </a:prstGeom>
          <a:noFill/>
        </p:spPr>
        <p:txBody>
          <a:bodyPr wrap="square" anchor="t"/>
          <a:lstStyle/>
          <a:p>
            <a:pPr algn="l"/>
            <a:r>
              <a:rPr sz="1400" b="0">
                <a:solidFill>
                  <a:srgbClr val="1B6B7A"/>
                </a:solidFill>
                <a:latin typeface="Calibri"/>
              </a:rPr>
              <a:t>Draw 10% SOLUTION. Dilute 1 to 20 to 1 to 50. Intact skin: 5 min wet. Eye: 2 min scrub + 2 min soak.</a:t>
            </a:r>
          </a:p>
        </p:txBody>
      </p:sp>
      <p:sp>
        <p:nvSpPr>
          <p:cNvPr id="27" name="Rectangle 26"/>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9" name="TextBox 28"/>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42  /  59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III  ·  44–57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Postoperative care</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Recovery · pain · warmth · wound · 24-hour complications · report · discharge</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~13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43  /  59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REMAIN WITH THE PATIENT UNTIL AIRWAY AND CIRCULATION ARE STABLE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Immediate recovery</a:t>
            </a:r>
          </a:p>
        </p:txBody>
      </p:sp>
      <p:pic>
        <p:nvPicPr>
          <p:cNvPr id="8" name="Picture 7"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600" b="1">
                <a:solidFill>
                  <a:srgbClr val="0B2C4A"/>
                </a:solidFill>
                <a:latin typeface="Calibri"/>
              </a:rPr>
              <a:t>Recovery priorities</a:t>
            </a:r>
          </a:p>
        </p:txBody>
      </p:sp>
      <p:sp>
        <p:nvSpPr>
          <p:cNvPr id="11" name="TextBox 10"/>
          <p:cNvSpPr txBox="1"/>
          <p:nvPr/>
        </p:nvSpPr>
        <p:spPr>
          <a:xfrm>
            <a:off x="8001000" y="1600200"/>
            <a:ext cx="3703320" cy="4023360"/>
          </a:xfrm>
          <a:prstGeom prst="rect">
            <a:avLst/>
          </a:prstGeom>
          <a:noFill/>
        </p:spPr>
        <p:txBody>
          <a:bodyPr wrap="square">
            <a:spAutoFit/>
          </a:bodyPr>
          <a:lstStyle/>
          <a:p>
            <a:pPr algn="l">
              <a:spcAft>
                <a:spcPts val="600"/>
              </a:spcAft>
            </a:pPr>
            <a:r>
              <a:rPr sz="1300" b="0">
                <a:solidFill>
                  <a:srgbClr val="1C1C1C"/>
                </a:solidFill>
                <a:latin typeface="Calibri"/>
              </a:rPr>
              <a:t>▸  Extubate when swallow/gag returns (later in brachycephalics).</a:t>
            </a:r>
          </a:p>
          <a:p>
            <a:pPr algn="l">
              <a:spcAft>
                <a:spcPts val="600"/>
              </a:spcAft>
            </a:pPr>
            <a:r>
              <a:rPr sz="1300" b="0">
                <a:solidFill>
                  <a:srgbClr val="1C1C1C"/>
                </a:solidFill>
                <a:latin typeface="Calibri"/>
              </a:rPr>
              <a:t>▸  SpO2, mm, CRT, pulse. Pale + tachycardia after celiotomy = hemorrhage until proven otherwise.</a:t>
            </a:r>
          </a:p>
          <a:p>
            <a:pPr algn="l">
              <a:spcAft>
                <a:spcPts val="600"/>
              </a:spcAft>
            </a:pPr>
            <a:r>
              <a:rPr sz="1300" b="0">
                <a:solidFill>
                  <a:srgbClr val="1C1C1C"/>
                </a:solidFill>
                <a:latin typeface="Calibri"/>
              </a:rPr>
              <a:t>▸  Rewarm with a blanket or Bair Hugger. Check skin every 15 minutes.</a:t>
            </a:r>
          </a:p>
          <a:p>
            <a:pPr algn="l">
              <a:spcAft>
                <a:spcPts val="600"/>
              </a:spcAft>
            </a:pPr>
            <a:r>
              <a:rPr sz="1300" b="0">
                <a:solidFill>
                  <a:srgbClr val="1C1C1C"/>
                </a:solidFill>
                <a:latin typeface="Calibri"/>
              </a:rPr>
              <a:t>▸  E-collar on before they can lick.</a:t>
            </a:r>
          </a:p>
          <a:p>
            <a:pPr algn="l">
              <a:spcAft>
                <a:spcPts val="600"/>
              </a:spcAft>
            </a:pPr>
            <a:r>
              <a:rPr sz="1300" b="0">
                <a:solidFill>
                  <a:srgbClr val="1C1C1C"/>
                </a:solidFill>
                <a:latin typeface="Calibri"/>
              </a:rPr>
              <a:t>▸  Willie: no NSAID after DexSP.</a:t>
            </a:r>
          </a:p>
        </p:txBody>
      </p:sp>
      <p:sp>
        <p:nvSpPr>
          <p:cNvPr id="12" name="TextBox 11"/>
          <p:cNvSpPr txBox="1"/>
          <p:nvPr/>
        </p:nvSpPr>
        <p:spPr>
          <a:xfrm>
            <a:off x="8046720" y="5806440"/>
            <a:ext cx="3657600" cy="502920"/>
          </a:xfrm>
          <a:prstGeom prst="rect">
            <a:avLst/>
          </a:prstGeom>
          <a:noFill/>
        </p:spPr>
        <p:txBody>
          <a:bodyPr wrap="square" anchor="t"/>
          <a:lstStyle/>
          <a:p>
            <a:pPr algn="l"/>
            <a:r>
              <a:rPr sz="1100" b="0">
                <a:solidFill>
                  <a:srgbClr val="5B646E"/>
                </a:solidFill>
                <a:latin typeface="Calibri"/>
              </a:rPr>
              <a:t>Photo: Anja, CC BY-SA 4.0.</a:t>
            </a:r>
          </a:p>
        </p:txBody>
      </p:sp>
      <p:sp>
        <p:nvSpPr>
          <p:cNvPr id="13" name="Rectangle 12"/>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5" name="TextBox 14"/>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44  /  59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TEACHING FORM</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Postoperative flowsheet, first 2 hours</a:t>
            </a:r>
          </a:p>
        </p:txBody>
      </p:sp>
      <p:pic>
        <p:nvPicPr>
          <p:cNvPr id="8" name="Picture 7" descr="recovery_flowsheet.png"/>
          <p:cNvPicPr>
            <a:picLocks noChangeAspect="1"/>
          </p:cNvPicPr>
          <p:nvPr/>
        </p:nvPicPr>
        <p:blipFill>
          <a:blip r:embed="rId2"/>
          <a:stretch>
            <a:fillRect/>
          </a:stretch>
        </p:blipFill>
        <p:spPr>
          <a:xfrm>
            <a:off x="256032" y="987552"/>
            <a:ext cx="11658600" cy="557784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45  /  59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GLASGOW CMPS-SF, FELINE GRIMACE SCALE, CSU SCALES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Pain assessment</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Score pain and record the number</a:t>
            </a:r>
          </a:p>
        </p:txBody>
      </p:sp>
      <p:sp>
        <p:nvSpPr>
          <p:cNvPr id="10" name="TextBox 9"/>
          <p:cNvSpPr txBox="1"/>
          <p:nvPr/>
        </p:nvSpPr>
        <p:spPr>
          <a:xfrm>
            <a:off x="640080" y="1783080"/>
            <a:ext cx="5212080" cy="4114800"/>
          </a:xfrm>
          <a:prstGeom prst="rect">
            <a:avLst/>
          </a:prstGeom>
          <a:noFill/>
        </p:spPr>
        <p:txBody>
          <a:bodyPr wrap="square">
            <a:spAutoFit/>
          </a:bodyPr>
          <a:lstStyle/>
          <a:p>
            <a:pPr algn="l">
              <a:spcAft>
                <a:spcPts val="800"/>
              </a:spcAft>
            </a:pPr>
            <a:r>
              <a:rPr sz="1500" b="0">
                <a:solidFill>
                  <a:srgbClr val="1C1C1C"/>
                </a:solidFill>
                <a:latin typeface="Calibri"/>
              </a:rPr>
              <a:t>▸  Dogs: Glasgow Composite Measure Pain Scale (short form) is a common teaching standard.</a:t>
            </a:r>
          </a:p>
          <a:p>
            <a:pPr algn="l">
              <a:spcAft>
                <a:spcPts val="800"/>
              </a:spcAft>
            </a:pPr>
            <a:r>
              <a:rPr sz="1500" b="0">
                <a:solidFill>
                  <a:srgbClr val="1C1C1C"/>
                </a:solidFill>
                <a:latin typeface="Calibri"/>
              </a:rPr>
              <a:t>▸  Cats: Feline Grimace Scale + behavior (hide, hunched, no groom).</a:t>
            </a:r>
          </a:p>
          <a:p>
            <a:pPr algn="l">
              <a:spcAft>
                <a:spcPts val="800"/>
              </a:spcAft>
            </a:pPr>
            <a:r>
              <a:rPr sz="1500" b="0">
                <a:solidFill>
                  <a:srgbClr val="1C1C1C"/>
                </a:solidFill>
                <a:latin typeface="Calibri"/>
              </a:rPr>
              <a:t>▸  Colorado State University scales are also widely used in teaching hospitals.</a:t>
            </a:r>
          </a:p>
          <a:p>
            <a:pPr algn="l">
              <a:spcAft>
                <a:spcPts val="800"/>
              </a:spcAft>
            </a:pPr>
            <a:r>
              <a:rPr sz="1500" b="0">
                <a:solidFill>
                  <a:srgbClr val="1C1C1C"/>
                </a:solidFill>
                <a:latin typeface="Calibri"/>
              </a:rPr>
              <a:t>▸  Re-score after intervention. A single ‘looks comfortable’ at 10 pm is not a plan.</a:t>
            </a:r>
          </a:p>
          <a:p>
            <a:pPr algn="l">
              <a:spcAft>
                <a:spcPts val="800"/>
              </a:spcAft>
            </a:pPr>
            <a:r>
              <a:rPr sz="1500" b="0">
                <a:solidFill>
                  <a:srgbClr val="1C1C1C"/>
                </a:solidFill>
                <a:latin typeface="Calibri"/>
              </a:rPr>
              <a:t>▸  Large animals: species-specific (horse: pawing, flank watching, reduced appetite; cattle: isolation, bruxism).</a:t>
            </a:r>
          </a:p>
        </p:txBody>
      </p:sp>
      <p:sp>
        <p:nvSpPr>
          <p:cNvPr id="11" name="Rounded Rectangle 10"/>
          <p:cNvSpPr/>
          <p:nvPr/>
        </p:nvSpPr>
        <p:spPr>
          <a:xfrm>
            <a:off x="6263640" y="1097280"/>
            <a:ext cx="544068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0B2C4A"/>
                </a:solidFill>
                <a:latin typeface="Calibri"/>
              </a:rPr>
              <a:t>Match analgesia to the procedure</a:t>
            </a:r>
          </a:p>
        </p:txBody>
      </p:sp>
      <p:sp>
        <p:nvSpPr>
          <p:cNvPr id="13" name="TextBox 12"/>
          <p:cNvSpPr txBox="1"/>
          <p:nvPr/>
        </p:nvSpPr>
        <p:spPr>
          <a:xfrm>
            <a:off x="6446520" y="1783080"/>
            <a:ext cx="5074920" cy="4114800"/>
          </a:xfrm>
          <a:prstGeom prst="rect">
            <a:avLst/>
          </a:prstGeom>
          <a:noFill/>
        </p:spPr>
        <p:txBody>
          <a:bodyPr wrap="square">
            <a:spAutoFit/>
          </a:bodyPr>
          <a:lstStyle/>
          <a:p>
            <a:pPr algn="l">
              <a:spcAft>
                <a:spcPts val="800"/>
              </a:spcAft>
            </a:pPr>
            <a:r>
              <a:rPr sz="1500" b="0">
                <a:solidFill>
                  <a:srgbClr val="1C1C1C"/>
                </a:solidFill>
                <a:latin typeface="Calibri"/>
              </a:rPr>
              <a:t>▸  Soft tissue elective: opioid ± NSAID ± local is often enough.</a:t>
            </a:r>
          </a:p>
          <a:p>
            <a:pPr algn="l">
              <a:spcAft>
                <a:spcPts val="800"/>
              </a:spcAft>
            </a:pPr>
            <a:r>
              <a:rPr sz="1500" b="0">
                <a:solidFill>
                  <a:srgbClr val="1C1C1C"/>
                </a:solidFill>
                <a:latin typeface="Calibri"/>
              </a:rPr>
              <a:t>▸  Celiotomy / orthopedic: expect more: CRIs, additional local blocks, overnight monitoring.</a:t>
            </a:r>
          </a:p>
          <a:p>
            <a:pPr algn="l">
              <a:spcAft>
                <a:spcPts val="800"/>
              </a:spcAft>
            </a:pPr>
            <a:r>
              <a:rPr sz="1500" b="0">
                <a:solidFill>
                  <a:srgbClr val="1C1C1C"/>
                </a:solidFill>
                <a:latin typeface="Calibri"/>
              </a:rPr>
              <a:t>▸  Send home the opioid + NSAID (if kidneys and GI allow) + the local you already placed. Write the dosing times.</a:t>
            </a:r>
          </a:p>
          <a:p>
            <a:pPr algn="l">
              <a:spcAft>
                <a:spcPts val="800"/>
              </a:spcAft>
            </a:pPr>
            <a:r>
              <a:rPr sz="1500" b="0">
                <a:solidFill>
                  <a:srgbClr val="1C1C1C"/>
                </a:solidFill>
                <a:latin typeface="Calibri"/>
              </a:rPr>
              <a:t>▸  Client: how to give meds, what sedation vs. pain looks like, when to call.</a:t>
            </a:r>
          </a:p>
          <a:p>
            <a:pPr algn="l">
              <a:spcAft>
                <a:spcPts val="800"/>
              </a:spcAft>
            </a:pPr>
            <a:r>
              <a:rPr sz="1500" b="0">
                <a:solidFill>
                  <a:srgbClr val="1C1C1C"/>
                </a:solidFill>
                <a:latin typeface="Calibri"/>
              </a:rPr>
              <a:t>▸  Dysphoria ≠ pain, but treat pain first if unsure.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46  /  59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24-HOUR OHE PHOTOGRAPH</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Incision care</a:t>
            </a:r>
          </a:p>
        </p:txBody>
      </p:sp>
      <p:pic>
        <p:nvPicPr>
          <p:cNvPr id="8" name="Picture 7" descr="spay_incision.jpg"/>
          <p:cNvPicPr>
            <a:picLocks noChangeAspect="1"/>
          </p:cNvPicPr>
          <p:nvPr/>
        </p:nvPicPr>
        <p:blipFill>
          <a:blip r:embed="rId2"/>
          <a:stretch>
            <a:fillRect/>
          </a:stretch>
        </p:blipFill>
        <p:spPr>
          <a:xfrm>
            <a:off x="365760" y="1024128"/>
            <a:ext cx="5852160" cy="5440680"/>
          </a:xfrm>
          <a:prstGeom prst="rect">
            <a:avLst/>
          </a:prstGeom>
        </p:spPr>
      </p:pic>
      <p:sp>
        <p:nvSpPr>
          <p:cNvPr id="9" name="Rounded Rectangle 8"/>
          <p:cNvSpPr/>
          <p:nvPr/>
        </p:nvSpPr>
        <p:spPr>
          <a:xfrm>
            <a:off x="6355080" y="1024128"/>
            <a:ext cx="5440680"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37960" y="1170432"/>
            <a:ext cx="5074920" cy="365760"/>
          </a:xfrm>
          <a:prstGeom prst="rect">
            <a:avLst/>
          </a:prstGeom>
          <a:noFill/>
        </p:spPr>
        <p:txBody>
          <a:bodyPr wrap="square" anchor="t"/>
          <a:lstStyle/>
          <a:p>
            <a:pPr algn="l"/>
            <a:r>
              <a:rPr sz="1600" b="1">
                <a:solidFill>
                  <a:srgbClr val="0B2C4A"/>
                </a:solidFill>
                <a:latin typeface="Calibri"/>
              </a:rPr>
              <a:t>Incision care</a:t>
            </a:r>
          </a:p>
        </p:txBody>
      </p:sp>
      <p:sp>
        <p:nvSpPr>
          <p:cNvPr id="11" name="TextBox 10"/>
          <p:cNvSpPr txBox="1"/>
          <p:nvPr/>
        </p:nvSpPr>
        <p:spPr>
          <a:xfrm>
            <a:off x="6492240" y="1600200"/>
            <a:ext cx="5120640" cy="4297680"/>
          </a:xfrm>
          <a:prstGeom prst="rect">
            <a:avLst/>
          </a:prstGeom>
          <a:noFill/>
        </p:spPr>
        <p:txBody>
          <a:bodyPr wrap="square">
            <a:spAutoFit/>
          </a:bodyPr>
          <a:lstStyle/>
          <a:p>
            <a:pPr algn="l">
              <a:spcAft>
                <a:spcPts val="700"/>
              </a:spcAft>
            </a:pPr>
            <a:r>
              <a:rPr sz="1400" b="0">
                <a:solidFill>
                  <a:srgbClr val="1C1C1C"/>
                </a:solidFill>
                <a:latin typeface="Calibri"/>
              </a:rPr>
              <a:t>▸  Look twice daily: swelling, discharge, gapping, smell, heat.</a:t>
            </a:r>
          </a:p>
          <a:p>
            <a:pPr algn="l">
              <a:spcAft>
                <a:spcPts val="700"/>
              </a:spcAft>
            </a:pPr>
            <a:r>
              <a:rPr sz="1400" b="0">
                <a:solidFill>
                  <a:srgbClr val="1C1C1C"/>
                </a:solidFill>
                <a:latin typeface="Calibri"/>
              </a:rPr>
              <a:t>▸  E-collar that actually stays on. Licking is the most common cause of dehiscence after otherwise adequate closure.</a:t>
            </a:r>
          </a:p>
          <a:p>
            <a:pPr algn="l">
              <a:spcAft>
                <a:spcPts val="700"/>
              </a:spcAft>
            </a:pPr>
            <a:r>
              <a:rPr sz="1400" b="0">
                <a:solidFill>
                  <a:srgbClr val="1C1C1C"/>
                </a:solidFill>
                <a:latin typeface="Calibri"/>
              </a:rPr>
              <a:t>▸  Leash walks only for 14 days. Keep the patient confined indoors otherwise.</a:t>
            </a:r>
          </a:p>
          <a:p>
            <a:pPr algn="l">
              <a:spcAft>
                <a:spcPts val="700"/>
              </a:spcAft>
            </a:pPr>
            <a:r>
              <a:rPr sz="1400" b="0">
                <a:solidFill>
                  <a:srgbClr val="1C1C1C"/>
                </a:solidFill>
                <a:latin typeface="Calibri"/>
              </a:rPr>
              <a:t>▸  Usually no daily CHG scrub. Saline if dirty.</a:t>
            </a:r>
          </a:p>
          <a:p>
            <a:pPr algn="l">
              <a:spcAft>
                <a:spcPts val="700"/>
              </a:spcAft>
            </a:pPr>
            <a:r>
              <a:rPr sz="1400" b="0">
                <a:solidFill>
                  <a:srgbClr val="1C1C1C"/>
                </a:solidFill>
                <a:latin typeface="Calibri"/>
              </a:rPr>
              <a:t>▸  Skin sutures typically 10–14 days if healing is routine.</a:t>
            </a:r>
          </a:p>
          <a:p>
            <a:pPr algn="l">
              <a:spcAft>
                <a:spcPts val="700"/>
              </a:spcAft>
            </a:pPr>
            <a:r>
              <a:rPr sz="1400" b="0">
                <a:solidFill>
                  <a:srgbClr val="1C1C1C"/>
                </a:solidFill>
                <a:latin typeface="Calibri"/>
              </a:rPr>
              <a:t>▸  Photo: Liannadavis, CC BY-SA 4.0.</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47  /  59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HEMORRHAGE, AIRWAY, HERNIA, DEHISCENCE, SSI, SEROMA</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Complications in the first 24 hours</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6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300" b="0">
                <a:solidFill>
                  <a:srgbClr val="3D4A57"/>
                </a:solidFill>
                <a:latin typeface="Calibri"/>
              </a:rPr>
              <a:t>Pale mm, tachycardia, distending abdomen, drip from incision, collapsing. Stabilize and return to OR.</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6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3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6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3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6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300" b="0">
                <a:solidFill>
                  <a:srgbClr val="3D4A57"/>
                </a:solidFill>
                <a:latin typeface="Calibri"/>
              </a:rPr>
              <a:t>Often day 3–5 as inflammation peaks and the patient licks. Skin versus fascia: fascial dehiscence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6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300" b="0">
                <a:solidFill>
                  <a:srgbClr val="3D4A57"/>
                </a:solidFill>
                <a:latin typeface="Calibri"/>
              </a:rPr>
              <a:t>Redness, pain, discharge, fever, usually after day 3. Culture. Open, lavage, and treat the organism you grow.</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6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300" b="0">
                <a:solidFill>
                  <a:srgbClr val="3D4A57"/>
                </a:solidFill>
                <a:latin typeface="Calibri"/>
              </a:rPr>
              <a:t>Dead space + motion. Restrict activity. Bandage if needed. Leave the fluid unless it is infected.</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48  /  59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REQUIRED ELEMENTS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Surgical report</a:t>
            </a:r>
          </a:p>
        </p:txBody>
      </p:sp>
      <p:sp>
        <p:nvSpPr>
          <p:cNvPr id="8" name="Rounded Rectangle 7"/>
          <p:cNvSpPr/>
          <p:nvPr/>
        </p:nvSpPr>
        <p:spPr>
          <a:xfrm>
            <a:off x="457200" y="1097280"/>
            <a:ext cx="57607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303520" cy="365760"/>
          </a:xfrm>
          <a:prstGeom prst="rect">
            <a:avLst/>
          </a:prstGeom>
          <a:noFill/>
        </p:spPr>
        <p:txBody>
          <a:bodyPr wrap="square" anchor="t"/>
          <a:lstStyle/>
          <a:p>
            <a:pPr algn="l"/>
            <a:r>
              <a:rPr sz="1600" b="1">
                <a:solidFill>
                  <a:srgbClr val="0B2C4A"/>
                </a:solidFill>
                <a:latin typeface="Calibri"/>
              </a:rPr>
              <a:t>Minimum elements</a:t>
            </a:r>
          </a:p>
        </p:txBody>
      </p:sp>
      <p:sp>
        <p:nvSpPr>
          <p:cNvPr id="10" name="TextBox 9"/>
          <p:cNvSpPr txBox="1"/>
          <p:nvPr/>
        </p:nvSpPr>
        <p:spPr>
          <a:xfrm>
            <a:off x="640080" y="1737360"/>
            <a:ext cx="5394960" cy="4114800"/>
          </a:xfrm>
          <a:prstGeom prst="rect">
            <a:avLst/>
          </a:prstGeom>
          <a:noFill/>
        </p:spPr>
        <p:txBody>
          <a:bodyPr wrap="square">
            <a:spAutoFit/>
          </a:bodyPr>
          <a:lstStyle/>
          <a:p>
            <a:pPr algn="l">
              <a:spcAft>
                <a:spcPts val="500"/>
              </a:spcAft>
            </a:pPr>
            <a:r>
              <a:rPr sz="1500" b="0">
                <a:solidFill>
                  <a:srgbClr val="1C1C1C"/>
                </a:solidFill>
                <a:latin typeface="Calibri"/>
              </a:rPr>
              <a:t>▸  Date/time, patient ID, surgeon, assistant, anesthesia.</a:t>
            </a:r>
          </a:p>
          <a:p>
            <a:pPr algn="l">
              <a:spcAft>
                <a:spcPts val="500"/>
              </a:spcAft>
            </a:pPr>
            <a:r>
              <a:rPr sz="1500" b="0">
                <a:solidFill>
                  <a:srgbClr val="1C1C1C"/>
                </a:solidFill>
                <a:latin typeface="Calibri"/>
              </a:rPr>
              <a:t>▸  Preop diagnosis and ASA.</a:t>
            </a:r>
          </a:p>
          <a:p>
            <a:pPr algn="l">
              <a:spcAft>
                <a:spcPts val="500"/>
              </a:spcAft>
            </a:pPr>
            <a:r>
              <a:rPr sz="1500" b="0">
                <a:solidFill>
                  <a:srgbClr val="1C1C1C"/>
                </a:solidFill>
                <a:latin typeface="Calibri"/>
              </a:rPr>
              <a:t>▸  Procedure name (and side).</a:t>
            </a:r>
          </a:p>
          <a:p>
            <a:pPr algn="l">
              <a:spcAft>
                <a:spcPts val="500"/>
              </a:spcAft>
            </a:pPr>
            <a:r>
              <a:rPr sz="1500" b="0">
                <a:solidFill>
                  <a:srgbClr val="1C1C1C"/>
                </a:solidFill>
                <a:latin typeface="Calibri"/>
              </a:rPr>
              <a:t>▸  Position, clip/prep, approach.</a:t>
            </a:r>
          </a:p>
          <a:p>
            <a:pPr algn="l">
              <a:spcAft>
                <a:spcPts val="500"/>
              </a:spcAft>
            </a:pPr>
            <a:r>
              <a:rPr sz="1500" b="0">
                <a:solidFill>
                  <a:srgbClr val="1C1C1C"/>
                </a:solidFill>
                <a:latin typeface="Calibri"/>
              </a:rPr>
              <a:t>▸  Findings in order of encounter.</a:t>
            </a:r>
          </a:p>
          <a:p>
            <a:pPr algn="l">
              <a:spcAft>
                <a:spcPts val="500"/>
              </a:spcAft>
            </a:pPr>
            <a:r>
              <a:rPr sz="1500" b="0">
                <a:solidFill>
                  <a:srgbClr val="1C1C1C"/>
                </a:solidFill>
                <a:latin typeface="Calibri"/>
              </a:rPr>
              <a:t>▸  What was done: ligatures, implants, samples.</a:t>
            </a:r>
          </a:p>
          <a:p>
            <a:pPr algn="l">
              <a:spcAft>
                <a:spcPts val="500"/>
              </a:spcAft>
            </a:pPr>
            <a:r>
              <a:rPr sz="1500" b="0">
                <a:solidFill>
                  <a:srgbClr val="1C1C1C"/>
                </a:solidFill>
                <a:latin typeface="Calibri"/>
              </a:rPr>
              <a:t>▸  Suture: layer, material, size, pattern.</a:t>
            </a:r>
          </a:p>
          <a:p>
            <a:pPr algn="l">
              <a:spcAft>
                <a:spcPts val="500"/>
              </a:spcAft>
            </a:pPr>
            <a:r>
              <a:rPr sz="1500" b="0">
                <a:solidFill>
                  <a:srgbClr val="1C1C1C"/>
                </a:solidFill>
                <a:latin typeface="Calibri"/>
              </a:rPr>
              <a:t>▸  Hemostasis, estimated blood loss, complications.</a:t>
            </a:r>
          </a:p>
          <a:p>
            <a:pPr algn="l">
              <a:spcAft>
                <a:spcPts val="500"/>
              </a:spcAft>
            </a:pPr>
            <a:r>
              <a:rPr sz="1500" b="0">
                <a:solidFill>
                  <a:srgbClr val="1C1C1C"/>
                </a:solidFill>
                <a:latin typeface="Calibri"/>
              </a:rPr>
              <a:t>▸  Specimens to pathology / culture.</a:t>
            </a:r>
          </a:p>
          <a:p>
            <a:pPr algn="l">
              <a:spcAft>
                <a:spcPts val="500"/>
              </a:spcAft>
            </a:pPr>
            <a:r>
              <a:rPr sz="1500" b="0">
                <a:solidFill>
                  <a:srgbClr val="1C1C1C"/>
                </a:solidFill>
                <a:latin typeface="Calibri"/>
              </a:rPr>
              <a:t>▸  Postop plan: fluids, pain, feeding, urinary, recheck.</a:t>
            </a:r>
          </a:p>
        </p:txBody>
      </p:sp>
      <p:sp>
        <p:nvSpPr>
          <p:cNvPr id="11" name="Rounded Rectangle 10"/>
          <p:cNvSpPr/>
          <p:nvPr/>
        </p:nvSpPr>
        <p:spPr>
          <a:xfrm>
            <a:off x="6446520" y="1097280"/>
            <a:ext cx="525780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325880"/>
            <a:ext cx="4846320" cy="365760"/>
          </a:xfrm>
          <a:prstGeom prst="rect">
            <a:avLst/>
          </a:prstGeom>
          <a:noFill/>
        </p:spPr>
        <p:txBody>
          <a:bodyPr wrap="square" anchor="t"/>
          <a:lstStyle/>
          <a:p>
            <a:pPr algn="l"/>
            <a:r>
              <a:rPr sz="1600" b="1">
                <a:solidFill>
                  <a:srgbClr val="C5A35A"/>
                </a:solidFill>
                <a:latin typeface="Calibri"/>
              </a:rPr>
              <a:t>What the overnight clinician needs</a:t>
            </a:r>
          </a:p>
        </p:txBody>
      </p:sp>
      <p:sp>
        <p:nvSpPr>
          <p:cNvPr id="13" name="TextBox 12"/>
          <p:cNvSpPr txBox="1"/>
          <p:nvPr/>
        </p:nvSpPr>
        <p:spPr>
          <a:xfrm>
            <a:off x="6675120" y="1874519"/>
            <a:ext cx="4846320" cy="3931920"/>
          </a:xfrm>
          <a:prstGeom prst="rect">
            <a:avLst/>
          </a:prstGeom>
          <a:noFill/>
        </p:spPr>
        <p:txBody>
          <a:bodyPr wrap="square" anchor="t"/>
          <a:lstStyle/>
          <a:p>
            <a:pPr algn="l"/>
            <a:r>
              <a:rPr sz="1600" b="0">
                <a:solidFill>
                  <a:srgbClr val="FFFFFF"/>
                </a:solidFill>
                <a:latin typeface="Calibri"/>
              </a:rPr>
              <a:t>At 2 a.m. someone will open this record because the abdomen is swelling.
They need how the pedicles were ligated, whether a sponge count was complete, what suture is in the linea, and whether the client was already called.</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49  /  59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VERBAL AND WRITTEN. TEACH-BACK. ONE CAREGIVER DEMONSTRATES THE E-COLLAR.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Discharge instructions</a:t>
            </a:r>
          </a:p>
        </p:txBody>
      </p:sp>
      <p:sp>
        <p:nvSpPr>
          <p:cNvPr id="8" name="Rounded Rectangle 7"/>
          <p:cNvSpPr/>
          <p:nvPr/>
        </p:nvSpPr>
        <p:spPr>
          <a:xfrm>
            <a:off x="411480" y="109728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097280"/>
            <a:ext cx="5212080" cy="1115568"/>
          </a:xfrm>
          <a:prstGeom prst="rect">
            <a:avLst/>
          </a:prstGeom>
          <a:noFill/>
        </p:spPr>
        <p:txBody>
          <a:bodyPr wrap="square" anchor="ctr"/>
          <a:lstStyle/>
          <a:p>
            <a:pPr algn="l"/>
            <a:r>
              <a:rPr sz="1500" b="0">
                <a:solidFill>
                  <a:srgbClr val="1C1C1C"/>
                </a:solidFill>
                <a:latin typeface="Calibri"/>
              </a:rPr>
              <a:t>What we did, in one sentence.</a:t>
            </a:r>
          </a:p>
        </p:txBody>
      </p:sp>
      <p:sp>
        <p:nvSpPr>
          <p:cNvPr id="11" name="Rounded Rectangle 10"/>
          <p:cNvSpPr/>
          <p:nvPr/>
        </p:nvSpPr>
        <p:spPr>
          <a:xfrm>
            <a:off x="6309360" y="109728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9728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0" y="1097280"/>
            <a:ext cx="5212080" cy="1115568"/>
          </a:xfrm>
          <a:prstGeom prst="rect">
            <a:avLst/>
          </a:prstGeom>
          <a:noFill/>
        </p:spPr>
        <p:txBody>
          <a:bodyPr wrap="square" anchor="ctr"/>
          <a:lstStyle/>
          <a:p>
            <a:pPr algn="l"/>
            <a:r>
              <a:rPr sz="1500" b="0">
                <a:solidFill>
                  <a:srgbClr val="1C1C1C"/>
                </a:solidFill>
                <a:latin typeface="Calibri"/>
              </a:rPr>
              <a:t>When to start food and water, and how much.</a:t>
            </a:r>
          </a:p>
        </p:txBody>
      </p:sp>
      <p:sp>
        <p:nvSpPr>
          <p:cNvPr id="14" name="Rounded Rectangle 13"/>
          <p:cNvSpPr/>
          <p:nvPr/>
        </p:nvSpPr>
        <p:spPr>
          <a:xfrm>
            <a:off x="411480" y="233172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33172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331720"/>
            <a:ext cx="5212080" cy="1115568"/>
          </a:xfrm>
          <a:prstGeom prst="rect">
            <a:avLst/>
          </a:prstGeom>
          <a:noFill/>
        </p:spPr>
        <p:txBody>
          <a:bodyPr wrap="square" anchor="ctr"/>
          <a:lstStyle/>
          <a:p>
            <a:pPr algn="l"/>
            <a:r>
              <a:rPr sz="1500" b="0">
                <a:solidFill>
                  <a:srgbClr val="1C1C1C"/>
                </a:solidFill>
                <a:latin typeface="Calibri"/>
              </a:rPr>
              <a:t>Every medication: name, dose, time, with food?, what if a dose is missed.</a:t>
            </a:r>
          </a:p>
        </p:txBody>
      </p:sp>
      <p:sp>
        <p:nvSpPr>
          <p:cNvPr id="17" name="Rounded Rectangle 16"/>
          <p:cNvSpPr/>
          <p:nvPr/>
        </p:nvSpPr>
        <p:spPr>
          <a:xfrm>
            <a:off x="6309360" y="233172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09360" y="233172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0" y="2331720"/>
            <a:ext cx="5212080" cy="1115568"/>
          </a:xfrm>
          <a:prstGeom prst="rect">
            <a:avLst/>
          </a:prstGeom>
          <a:noFill/>
        </p:spPr>
        <p:txBody>
          <a:bodyPr wrap="square" anchor="ctr"/>
          <a:lstStyle/>
          <a:p>
            <a:pPr algn="l"/>
            <a:r>
              <a:rPr sz="1500" b="0">
                <a:solidFill>
                  <a:srgbClr val="1C1C1C"/>
                </a:solidFill>
                <a:latin typeface="Calibri"/>
              </a:rPr>
              <a:t>Incision care and activity restriction. Specify duration (example: 14 days leash only).</a:t>
            </a:r>
          </a:p>
        </p:txBody>
      </p:sp>
      <p:sp>
        <p:nvSpPr>
          <p:cNvPr id="20" name="Rounded Rectangle 19"/>
          <p:cNvSpPr/>
          <p:nvPr/>
        </p:nvSpPr>
        <p:spPr>
          <a:xfrm>
            <a:off x="411480" y="356616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56616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3566160"/>
            <a:ext cx="5212080" cy="1115568"/>
          </a:xfrm>
          <a:prstGeom prst="rect">
            <a:avLst/>
          </a:prstGeom>
          <a:noFill/>
        </p:spPr>
        <p:txBody>
          <a:bodyPr wrap="square" anchor="ctr"/>
          <a:lstStyle/>
          <a:p>
            <a:pPr algn="l"/>
            <a:r>
              <a:rPr sz="1500" b="0">
                <a:solidFill>
                  <a:srgbClr val="1C1C1C"/>
                </a:solidFill>
                <a:latin typeface="Calibri"/>
              </a:rPr>
              <a:t>E-collar on except when directly watching.</a:t>
            </a:r>
          </a:p>
        </p:txBody>
      </p:sp>
      <p:sp>
        <p:nvSpPr>
          <p:cNvPr id="23" name="Rounded Rectangle 22"/>
          <p:cNvSpPr/>
          <p:nvPr/>
        </p:nvSpPr>
        <p:spPr>
          <a:xfrm>
            <a:off x="6309360" y="356616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356616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0" y="3566160"/>
            <a:ext cx="5212080" cy="1115568"/>
          </a:xfrm>
          <a:prstGeom prst="rect">
            <a:avLst/>
          </a:prstGeom>
          <a:noFill/>
        </p:spPr>
        <p:txBody>
          <a:bodyPr wrap="square" anchor="ctr"/>
          <a:lstStyle/>
          <a:p>
            <a:pPr algn="l"/>
            <a:r>
              <a:rPr sz="1500" b="0">
                <a:solidFill>
                  <a:srgbClr val="1C1C1C"/>
                </a:solidFill>
                <a:latin typeface="Calibri"/>
              </a:rPr>
              <a:t>Next appointment (recheck / suture removal / histopath call).</a:t>
            </a:r>
          </a:p>
        </p:txBody>
      </p:sp>
      <p:sp>
        <p:nvSpPr>
          <p:cNvPr id="26" name="Rounded Rectangle 25"/>
          <p:cNvSpPr/>
          <p:nvPr/>
        </p:nvSpPr>
        <p:spPr>
          <a:xfrm>
            <a:off x="411480" y="480060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80060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4800600"/>
            <a:ext cx="5212080" cy="1115568"/>
          </a:xfrm>
          <a:prstGeom prst="rect">
            <a:avLst/>
          </a:prstGeom>
          <a:noFill/>
        </p:spPr>
        <p:txBody>
          <a:bodyPr wrap="square" anchor="ctr"/>
          <a:lstStyle/>
          <a:p>
            <a:pPr algn="l"/>
            <a:r>
              <a:rPr sz="1500" b="0">
                <a:solidFill>
                  <a:srgbClr val="1C1C1C"/>
                </a:solidFill>
                <a:latin typeface="Calibri"/>
              </a:rPr>
              <a:t>ER criteria (next slide) with a phone number that answers.</a:t>
            </a:r>
          </a:p>
        </p:txBody>
      </p:sp>
      <p:sp>
        <p:nvSpPr>
          <p:cNvPr id="29" name="Rounded Rectangle 28"/>
          <p:cNvSpPr/>
          <p:nvPr/>
        </p:nvSpPr>
        <p:spPr>
          <a:xfrm>
            <a:off x="6309360" y="480060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309360" y="480060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0" y="4800600"/>
            <a:ext cx="5212080" cy="1115568"/>
          </a:xfrm>
          <a:prstGeom prst="rect">
            <a:avLst/>
          </a:prstGeom>
          <a:noFill/>
        </p:spPr>
        <p:txBody>
          <a:bodyPr wrap="square" anchor="ctr"/>
          <a:lstStyle/>
          <a:p>
            <a:pPr algn="l"/>
            <a:r>
              <a:rPr sz="1500" b="0">
                <a:solidFill>
                  <a:srgbClr val="1C1C1C"/>
                </a:solidFill>
                <a:latin typeface="Calibri"/>
              </a:rPr>
              <a:t>Your name. The hospital number. After-hours number.</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50  /  59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THE CLIENT MUST BE ABLE TO REPEAT THESE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Emergency criteria for discharge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18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500" b="0">
                <a:solidFill>
                  <a:srgbClr val="1C1C1C"/>
                </a:solidFill>
                <a:latin typeface="Calibri"/>
              </a:rPr>
              <a:t>Collapse, pale gums, distended/painful abdomen, unstoppable bleeding, vomiting that prevents meds, difficulty breathing, inability to urinate, evisceration, uncontrolled pain, or you are frightened.</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18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500" b="0">
                <a:solidFill>
                  <a:srgbClr val="1C1C1C"/>
                </a:solidFill>
                <a:latin typeface="Calibri"/>
              </a:rPr>
              <a:t>Not eating by the next morning (species/procedure dependent), a few episodes of vomiting, mild incision redness, diarrhea, e-collar problems, constipation vs. straining.</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18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500" b="0">
                <a:solidFill>
                  <a:srgbClr val="1C1C1C"/>
                </a:solidFill>
                <a:latin typeface="Calibri"/>
              </a:rPr>
              <a:t>Sleepiness tonight, a small bruise near the incision, a slightly tacky incision, a reduced appetite the evening of surgery.</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51  /  59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Fluids, feeding, and other systems</a:t>
            </a:r>
          </a:p>
        </p:txBody>
      </p:sp>
      <p:sp>
        <p:nvSpPr>
          <p:cNvPr id="7" name="Rounded Rectangle 6"/>
          <p:cNvSpPr/>
          <p:nvPr/>
        </p:nvSpPr>
        <p:spPr>
          <a:xfrm>
            <a:off x="457200" y="1097280"/>
            <a:ext cx="365760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91440" cy="502920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207008"/>
            <a:ext cx="3291840" cy="347472"/>
          </a:xfrm>
          <a:prstGeom prst="rect">
            <a:avLst/>
          </a:prstGeom>
          <a:noFill/>
        </p:spPr>
        <p:txBody>
          <a:bodyPr wrap="square" anchor="t"/>
          <a:lstStyle/>
          <a:p>
            <a:pPr algn="l"/>
            <a:r>
              <a:rPr sz="1500" b="1">
                <a:solidFill>
                  <a:srgbClr val="0B2C4A"/>
                </a:solidFill>
                <a:latin typeface="Calibri"/>
              </a:rPr>
              <a:t>Fluids</a:t>
            </a:r>
          </a:p>
        </p:txBody>
      </p:sp>
      <p:sp>
        <p:nvSpPr>
          <p:cNvPr id="10" name="TextBox 9"/>
          <p:cNvSpPr txBox="1"/>
          <p:nvPr/>
        </p:nvSpPr>
        <p:spPr>
          <a:xfrm>
            <a:off x="713232" y="1536192"/>
            <a:ext cx="3291840" cy="4498848"/>
          </a:xfrm>
          <a:prstGeom prst="rect">
            <a:avLst/>
          </a:prstGeom>
          <a:noFill/>
        </p:spPr>
        <p:txBody>
          <a:bodyPr wrap="square" anchor="t"/>
          <a:lstStyle/>
          <a:p>
            <a:pPr algn="l"/>
            <a:r>
              <a:rPr sz="1300" b="0">
                <a:solidFill>
                  <a:srgbClr val="3D4A57"/>
                </a:solidFill>
                <a:latin typeface="Calibri"/>
              </a:rPr>
              <a:t>Continue until eating/drinking and not hypotensive. Match losses (vomiting, drains). Heart or kidney patients: measured rate and a written stop time. Recheck PCV/TS if hemorrhage is suspected.</a:t>
            </a:r>
          </a:p>
        </p:txBody>
      </p:sp>
      <p:sp>
        <p:nvSpPr>
          <p:cNvPr id="11" name="Rounded Rectangle 10"/>
          <p:cNvSpPr/>
          <p:nvPr/>
        </p:nvSpPr>
        <p:spPr>
          <a:xfrm>
            <a:off x="4297680" y="1097280"/>
            <a:ext cx="365760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207008"/>
            <a:ext cx="3291840" cy="347472"/>
          </a:xfrm>
          <a:prstGeom prst="rect">
            <a:avLst/>
          </a:prstGeom>
          <a:noFill/>
        </p:spPr>
        <p:txBody>
          <a:bodyPr wrap="square" anchor="t"/>
          <a:lstStyle/>
          <a:p>
            <a:pPr algn="l"/>
            <a:r>
              <a:rPr sz="1500" b="1">
                <a:solidFill>
                  <a:srgbClr val="0B2C4A"/>
                </a:solidFill>
                <a:latin typeface="Calibri"/>
              </a:rPr>
              <a:t>Nutrition</a:t>
            </a:r>
          </a:p>
        </p:txBody>
      </p:sp>
      <p:sp>
        <p:nvSpPr>
          <p:cNvPr id="14" name="TextBox 13"/>
          <p:cNvSpPr txBox="1"/>
          <p:nvPr/>
        </p:nvSpPr>
        <p:spPr>
          <a:xfrm>
            <a:off x="4553712" y="1536192"/>
            <a:ext cx="3291840" cy="4498848"/>
          </a:xfrm>
          <a:prstGeom prst="rect">
            <a:avLst/>
          </a:prstGeom>
          <a:noFill/>
        </p:spPr>
        <p:txBody>
          <a:bodyPr wrap="square" anchor="t"/>
          <a:lstStyle/>
          <a:p>
            <a:pPr algn="l"/>
            <a:r>
              <a:rPr sz="1300" b="0">
                <a:solidFill>
                  <a:srgbClr val="3D4A57"/>
                </a:solidFill>
                <a:latin typeface="Calibri"/>
              </a:rPr>
              <a:t>1. Offer water when fully awake. 2. Small bland or usual meal (procedure-dependent). 3. GI surgery: follow the surgeon’s timeline. 4. Cats: start a meal the night of surgery. Add mirtazapine or capromorelin if intake is low.</a:t>
            </a:r>
          </a:p>
        </p:txBody>
      </p:sp>
      <p:sp>
        <p:nvSpPr>
          <p:cNvPr id="15" name="Rounded Rectangle 14"/>
          <p:cNvSpPr/>
          <p:nvPr/>
        </p:nvSpPr>
        <p:spPr>
          <a:xfrm>
            <a:off x="8138160" y="1097280"/>
            <a:ext cx="35661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097280"/>
            <a:ext cx="91440" cy="502920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94192" y="1207008"/>
            <a:ext cx="3200400" cy="347472"/>
          </a:xfrm>
          <a:prstGeom prst="rect">
            <a:avLst/>
          </a:prstGeom>
          <a:noFill/>
        </p:spPr>
        <p:txBody>
          <a:bodyPr wrap="square" anchor="t"/>
          <a:lstStyle/>
          <a:p>
            <a:pPr algn="l"/>
            <a:r>
              <a:rPr sz="1500" b="1">
                <a:solidFill>
                  <a:srgbClr val="0B2C4A"/>
                </a:solidFill>
                <a:latin typeface="Calibri"/>
              </a:rPr>
              <a:t>Other systems</a:t>
            </a:r>
          </a:p>
        </p:txBody>
      </p:sp>
      <p:sp>
        <p:nvSpPr>
          <p:cNvPr id="18" name="TextBox 17"/>
          <p:cNvSpPr txBox="1"/>
          <p:nvPr/>
        </p:nvSpPr>
        <p:spPr>
          <a:xfrm>
            <a:off x="8394192" y="1536192"/>
            <a:ext cx="3200400" cy="4498848"/>
          </a:xfrm>
          <a:prstGeom prst="rect">
            <a:avLst/>
          </a:prstGeom>
          <a:noFill/>
        </p:spPr>
        <p:txBody>
          <a:bodyPr wrap="square" anchor="t"/>
          <a:lstStyle/>
          <a:p>
            <a:pPr algn="l"/>
            <a:r>
              <a:rPr sz="1300" b="0">
                <a:solidFill>
                  <a:srgbClr val="3D4A57"/>
                </a:solidFill>
                <a:latin typeface="Calibri"/>
              </a:rPr>
              <a:t>Walk the dog out. Confirm a urination. Lubricate the eyes. Recheck glucose in diabetics. Bowel movements after laparotomy may lag. Confirm the crate actually confines.</a:t>
            </a:r>
          </a:p>
        </p:txBody>
      </p:sp>
      <p:sp>
        <p:nvSpPr>
          <p:cNvPr id="19" name="Rectangle 1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1" name="TextBox 2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52  /  59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CLIP, GLOVES, AND A DRAPE STILL APPLY IN THE FIELD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Large animal surgery</a:t>
            </a:r>
          </a:p>
        </p:txBody>
      </p:sp>
      <p:sp>
        <p:nvSpPr>
          <p:cNvPr id="8" name="TextBox 7"/>
          <p:cNvSpPr txBox="1"/>
          <p:nvPr/>
        </p:nvSpPr>
        <p:spPr>
          <a:xfrm>
            <a:off x="502920" y="1097280"/>
            <a:ext cx="11155680" cy="5029200"/>
          </a:xfrm>
          <a:prstGeom prst="rect">
            <a:avLst/>
          </a:prstGeom>
          <a:noFill/>
        </p:spPr>
        <p:txBody>
          <a:bodyPr wrap="square">
            <a:spAutoFit/>
          </a:bodyPr>
          <a:lstStyle/>
          <a:p>
            <a:pPr algn="l">
              <a:spcAft>
                <a:spcPts val="1000"/>
              </a:spcAft>
            </a:pPr>
            <a:r>
              <a:rPr sz="1700" b="0">
                <a:solidFill>
                  <a:srgbClr val="1C1C1C"/>
                </a:solidFill>
                <a:latin typeface="Calibri"/>
              </a:rPr>
              <a:t>▸  Field surgery can be aseptic, not ‘sterile theater.’ Clip, wash, sterile gloves/instruments, and a drape still prevent SSI in a castration or displaced abomasum.</a:t>
            </a:r>
          </a:p>
          <a:p>
            <a:pPr algn="l">
              <a:spcAft>
                <a:spcPts val="1000"/>
              </a:spcAft>
            </a:pPr>
            <a:r>
              <a:rPr sz="1700" b="0">
                <a:solidFill>
                  <a:srgbClr val="1C1C1C"/>
                </a:solidFill>
                <a:latin typeface="Calibri"/>
              </a:rPr>
              <a:t>▸  Standing sedation vs. general anesthesia changes aspiration, padding, and recovery risk (especially horses).</a:t>
            </a:r>
          </a:p>
          <a:p>
            <a:pPr algn="l">
              <a:spcAft>
                <a:spcPts val="1000"/>
              </a:spcAft>
            </a:pPr>
            <a:r>
              <a:rPr sz="1700" b="0">
                <a:solidFill>
                  <a:srgbClr val="1C1C1C"/>
                </a:solidFill>
                <a:latin typeface="Calibri"/>
              </a:rPr>
              <a:t>▸  Tetanus prophylaxis is part of equine/farm-animal postop planning, not an afterthought.</a:t>
            </a:r>
          </a:p>
          <a:p>
            <a:pPr algn="l">
              <a:spcAft>
                <a:spcPts val="1000"/>
              </a:spcAft>
            </a:pPr>
            <a:r>
              <a:rPr sz="1700" b="0">
                <a:solidFill>
                  <a:srgbClr val="1C1C1C"/>
                </a:solidFill>
                <a:latin typeface="Calibri"/>
              </a:rPr>
              <a:t>▸  Recovery in a stall: protect the head and eyes, assist to standing, then trailer after the horse is stable.</a:t>
            </a:r>
          </a:p>
          <a:p>
            <a:pPr algn="l">
              <a:spcAft>
                <a:spcPts val="1000"/>
              </a:spcAft>
            </a:pPr>
            <a:r>
              <a:rPr sz="1700" b="0">
                <a:solidFill>
                  <a:srgbClr val="1C1C1C"/>
                </a:solidFill>
                <a:latin typeface="Calibri"/>
              </a:rPr>
              <a:t>▸  Antimicrobial use in food animals: write milk and slaughter withhold, then time the dose.</a:t>
            </a:r>
          </a:p>
          <a:p>
            <a:pPr algn="l">
              <a:spcAft>
                <a:spcPts val="1000"/>
              </a:spcAft>
            </a:pPr>
            <a:r>
              <a:rPr sz="1700" b="0">
                <a:solidFill>
                  <a:srgbClr val="1C1C1C"/>
                </a:solidFill>
                <a:latin typeface="Calibri"/>
              </a:rPr>
              <a:t>▸  Discharge is often a producer conversation: milk withhold, slaughter withhold, when the animal can rejoin the group.</a:t>
            </a:r>
          </a:p>
        </p:txBody>
      </p:sp>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53  /  59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ASA STATUS 3-E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Willie: complete perioperative plan</a:t>
            </a:r>
          </a:p>
        </p:txBody>
      </p:sp>
      <p:sp>
        <p:nvSpPr>
          <p:cNvPr id="8" name="Rounded Rectangle 7"/>
          <p:cNvSpPr/>
          <p:nvPr/>
        </p:nvSpPr>
        <p:spPr>
          <a:xfrm>
            <a:off x="457200" y="1051560"/>
            <a:ext cx="11247120" cy="14173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88720"/>
            <a:ext cx="10789920" cy="1143000"/>
          </a:xfrm>
          <a:prstGeom prst="rect">
            <a:avLst/>
          </a:prstGeom>
          <a:noFill/>
        </p:spPr>
        <p:txBody>
          <a:bodyPr wrap="square" anchor="t"/>
          <a:lstStyle/>
          <a:p>
            <a:pPr algn="l"/>
            <a:r>
              <a:rPr sz="1500" b="0">
                <a:solidFill>
                  <a:srgbClr val="0B2C4A"/>
                </a:solidFill>
                <a:latin typeface="Calibri"/>
              </a:rPr>
              <a:t>Willie, 6 y 11 mo MN Cavalier, 13.7 kg. Acute vestibular crisis. Severe AS otitis, TM visible/swollen. Circling left, nystagmus fast-left, right knuckling. Grade II murmur. CBC WNL. This is ASA III-E. Client-owned.</a:t>
            </a:r>
          </a:p>
        </p:txBody>
      </p:sp>
      <p:sp>
        <p:nvSpPr>
          <p:cNvPr id="10" name="Rounded Rectangle 9"/>
          <p:cNvSpPr/>
          <p:nvPr/>
        </p:nvSpPr>
        <p:spPr>
          <a:xfrm>
            <a:off x="41148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2651760"/>
            <a:ext cx="2788920" cy="502920"/>
          </a:xfrm>
          <a:prstGeom prst="rect">
            <a:avLst/>
          </a:prstGeom>
          <a:noFill/>
        </p:spPr>
        <p:txBody>
          <a:bodyPr wrap="square" anchor="ctr"/>
          <a:lstStyle/>
          <a:p>
            <a:pPr algn="ctr"/>
            <a:r>
              <a:rPr sz="1400" b="1">
                <a:solidFill>
                  <a:srgbClr val="C5A35A"/>
                </a:solidFill>
                <a:latin typeface="Calibri"/>
              </a:rPr>
              <a:t>Pre-op</a:t>
            </a:r>
          </a:p>
        </p:txBody>
      </p:sp>
      <p:sp>
        <p:nvSpPr>
          <p:cNvPr id="13" name="TextBox 12"/>
          <p:cNvSpPr txBox="1"/>
          <p:nvPr/>
        </p:nvSpPr>
        <p:spPr>
          <a:xfrm>
            <a:off x="548640" y="3246120"/>
            <a:ext cx="2514600" cy="2743200"/>
          </a:xfrm>
          <a:prstGeom prst="rect">
            <a:avLst/>
          </a:prstGeom>
          <a:noFill/>
        </p:spPr>
        <p:txBody>
          <a:bodyPr wrap="square" anchor="t"/>
          <a:lstStyle/>
          <a:p>
            <a:pPr algn="l"/>
            <a:r>
              <a:rPr sz="1200" b="0">
                <a:solidFill>
                  <a:srgbClr val="1C1C1C"/>
                </a:solidFill>
                <a:latin typeface="Calibri"/>
              </a:rPr>
              <a:t>ASA III-E. Neuro exam. Skip NSAID (DexSP already given). IVF, Cerenia, meclizine. Culture the ear. Radiographs ≠ MRI. Central until proven otherwise.</a:t>
            </a:r>
          </a:p>
        </p:txBody>
      </p:sp>
      <p:sp>
        <p:nvSpPr>
          <p:cNvPr id="14" name="Rounded Rectangle 13"/>
          <p:cNvSpPr/>
          <p:nvPr/>
        </p:nvSpPr>
        <p:spPr>
          <a:xfrm>
            <a:off x="333756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2651760"/>
            <a:ext cx="2788920" cy="502920"/>
          </a:xfrm>
          <a:prstGeom prst="rect">
            <a:avLst/>
          </a:prstGeom>
          <a:noFill/>
        </p:spPr>
        <p:txBody>
          <a:bodyPr wrap="square" anchor="ctr"/>
          <a:lstStyle/>
          <a:p>
            <a:pPr algn="ctr"/>
            <a:r>
              <a:rPr sz="1400" b="1">
                <a:solidFill>
                  <a:srgbClr val="C5A35A"/>
                </a:solidFill>
                <a:latin typeface="Calibri"/>
              </a:rPr>
              <a:t>Prep</a:t>
            </a:r>
          </a:p>
        </p:txBody>
      </p:sp>
      <p:sp>
        <p:nvSpPr>
          <p:cNvPr id="17" name="TextBox 16"/>
          <p:cNvSpPr txBox="1"/>
          <p:nvPr/>
        </p:nvSpPr>
        <p:spPr>
          <a:xfrm>
            <a:off x="3474720" y="3246120"/>
            <a:ext cx="2514600" cy="2743200"/>
          </a:xfrm>
          <a:prstGeom prst="rect">
            <a:avLst/>
          </a:prstGeom>
          <a:noFill/>
        </p:spPr>
        <p:txBody>
          <a:bodyPr wrap="square" anchor="t"/>
          <a:lstStyle/>
          <a:p>
            <a:pPr algn="l"/>
            <a:r>
              <a:rPr sz="1200" b="0">
                <a:solidFill>
                  <a:srgbClr val="1C1C1C"/>
                </a:solidFill>
                <a:latin typeface="Calibri"/>
              </a:rPr>
              <a:t>Airway protected, monitors on, then alfaxalone to a depth that is safe to clip and flush. Periocular and canal mucosa: 10% PVP-I 1 to 20 to 1 to 50; eye 2 min scrub + 2 min soak. Pad him. He falls.</a:t>
            </a:r>
          </a:p>
        </p:txBody>
      </p:sp>
      <p:sp>
        <p:nvSpPr>
          <p:cNvPr id="18" name="Rounded Rectangle 17"/>
          <p:cNvSpPr/>
          <p:nvPr/>
        </p:nvSpPr>
        <p:spPr>
          <a:xfrm>
            <a:off x="626364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2651760"/>
            <a:ext cx="2788920" cy="502920"/>
          </a:xfrm>
          <a:prstGeom prst="rect">
            <a:avLst/>
          </a:prstGeom>
          <a:noFill/>
        </p:spPr>
        <p:txBody>
          <a:bodyPr wrap="square" anchor="ctr"/>
          <a:lstStyle/>
          <a:p>
            <a:pPr algn="ctr"/>
            <a:r>
              <a:rPr sz="1400" b="1">
                <a:solidFill>
                  <a:srgbClr val="C5A35A"/>
                </a:solidFill>
                <a:latin typeface="Calibri"/>
              </a:rPr>
              <a:t>Intra</a:t>
            </a:r>
          </a:p>
        </p:txBody>
      </p:sp>
      <p:sp>
        <p:nvSpPr>
          <p:cNvPr id="21" name="TextBox 20"/>
          <p:cNvSpPr txBox="1"/>
          <p:nvPr/>
        </p:nvSpPr>
        <p:spPr>
          <a:xfrm>
            <a:off x="6400800" y="3246120"/>
            <a:ext cx="2514600" cy="2743200"/>
          </a:xfrm>
          <a:prstGeom prst="rect">
            <a:avLst/>
          </a:prstGeom>
          <a:noFill/>
        </p:spPr>
        <p:txBody>
          <a:bodyPr wrap="square" anchor="t"/>
          <a:lstStyle/>
          <a:p>
            <a:pPr algn="l"/>
            <a:r>
              <a:rPr sz="1200" b="0">
                <a:solidFill>
                  <a:srgbClr val="1C1C1C"/>
                </a:solidFill>
                <a:latin typeface="Calibri"/>
              </a:rPr>
              <a:t>Timeout. Deep clean + cytology. If you contaminate, say it and re-glove. Stay until the canal is clean.</a:t>
            </a:r>
          </a:p>
        </p:txBody>
      </p:sp>
      <p:sp>
        <p:nvSpPr>
          <p:cNvPr id="22" name="Rounded Rectangle 21"/>
          <p:cNvSpPr/>
          <p:nvPr/>
        </p:nvSpPr>
        <p:spPr>
          <a:xfrm>
            <a:off x="918972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2651760"/>
            <a:ext cx="2788920" cy="502920"/>
          </a:xfrm>
          <a:prstGeom prst="rect">
            <a:avLst/>
          </a:prstGeom>
          <a:noFill/>
        </p:spPr>
        <p:txBody>
          <a:bodyPr wrap="square" anchor="ctr"/>
          <a:lstStyle/>
          <a:p>
            <a:pPr algn="ctr"/>
            <a:r>
              <a:rPr sz="1400" b="1">
                <a:solidFill>
                  <a:srgbClr val="C5A35A"/>
                </a:solidFill>
                <a:latin typeface="Calibri"/>
              </a:rPr>
              <a:t>Post</a:t>
            </a:r>
          </a:p>
        </p:txBody>
      </p:sp>
      <p:sp>
        <p:nvSpPr>
          <p:cNvPr id="25" name="TextBox 24"/>
          <p:cNvSpPr txBox="1"/>
          <p:nvPr/>
        </p:nvSpPr>
        <p:spPr>
          <a:xfrm>
            <a:off x="9326880" y="3246120"/>
            <a:ext cx="2514600" cy="2743200"/>
          </a:xfrm>
          <a:prstGeom prst="rect">
            <a:avLst/>
          </a:prstGeom>
          <a:noFill/>
        </p:spPr>
        <p:txBody>
          <a:bodyPr wrap="square" anchor="t"/>
          <a:lstStyle/>
          <a:p>
            <a:pPr algn="l"/>
            <a:r>
              <a:rPr sz="1200" b="0">
                <a:solidFill>
                  <a:srgbClr val="1C1C1C"/>
                </a:solidFill>
                <a:latin typeface="Calibri"/>
              </a:rPr>
              <a:t>Confine, no stairs. Watch neuro signs, vomiting, seizures. MRI next. TECA-LBO only after culture if medical therapy fails.</a:t>
            </a:r>
          </a:p>
        </p:txBody>
      </p:sp>
      <p:sp>
        <p:nvSpPr>
          <p:cNvPr id="26" name="Rectangle 2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8" name="TextBox 2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54  /  59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BOTH RECEIVED A PREOPERATIVE EVALUATION. ONLY WILLIE WAS ANESTHETIZED.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Willie and MoMo</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47472"/>
          </a:xfrm>
          <a:prstGeom prst="rect">
            <a:avLst/>
          </a:prstGeom>
          <a:noFill/>
        </p:spPr>
        <p:txBody>
          <a:bodyPr wrap="square" anchor="t"/>
          <a:lstStyle/>
          <a:p>
            <a:pPr algn="l"/>
            <a:r>
              <a:rPr sz="1500" b="1">
                <a:solidFill>
                  <a:srgbClr val="0B2C4A"/>
                </a:solidFill>
                <a:latin typeface="Calibri"/>
              </a:rPr>
              <a:t>Willie, ASA Status 3-E. Proceed with sedation.</a:t>
            </a:r>
          </a:p>
        </p:txBody>
      </p:sp>
      <p:sp>
        <p:nvSpPr>
          <p:cNvPr id="11" name="TextBox 10"/>
          <p:cNvSpPr txBox="1"/>
          <p:nvPr/>
        </p:nvSpPr>
        <p:spPr>
          <a:xfrm>
            <a:off x="667512" y="1536192"/>
            <a:ext cx="5257800" cy="4498848"/>
          </a:xfrm>
          <a:prstGeom prst="rect">
            <a:avLst/>
          </a:prstGeom>
          <a:noFill/>
        </p:spPr>
        <p:txBody>
          <a:bodyPr wrap="square" anchor="t"/>
          <a:lstStyle/>
          <a:p>
            <a:pPr algn="l"/>
            <a:r>
              <a:rPr sz="1300" b="0">
                <a:solidFill>
                  <a:srgbClr val="3D4A57"/>
                </a:solidFill>
                <a:latin typeface="Calibri"/>
              </a:rPr>
              <a:t>Cavalier, 13.7 kg. Acute vestibular + AS otitis + murmur. Compensated. Fill the anesthesia record. Alfaxalone, monitoring, ear clean, skip NSAID after DexSP. Own the next 24 hours. MRI / possible TECA-LBO later. Assign a new ASA status on the day of that surgery.</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47472"/>
          </a:xfrm>
          <a:prstGeom prst="rect">
            <a:avLst/>
          </a:prstGeom>
          <a:noFill/>
        </p:spPr>
        <p:txBody>
          <a:bodyPr wrap="square" anchor="t"/>
          <a:lstStyle/>
          <a:p>
            <a:pPr algn="l"/>
            <a:r>
              <a:rPr sz="1500" b="1">
                <a:solidFill>
                  <a:srgbClr val="0B2C4A"/>
                </a:solidFill>
                <a:latin typeface="Calibri"/>
              </a:rPr>
              <a:t>MoMo, ASA Status 4-E. Cancel the exploratory.</a:t>
            </a:r>
          </a:p>
        </p:txBody>
      </p:sp>
      <p:sp>
        <p:nvSpPr>
          <p:cNvPr id="15" name="TextBox 14"/>
          <p:cNvSpPr txBox="1"/>
          <p:nvPr/>
        </p:nvSpPr>
        <p:spPr>
          <a:xfrm>
            <a:off x="6428232" y="1536192"/>
            <a:ext cx="5257800" cy="4498848"/>
          </a:xfrm>
          <a:prstGeom prst="rect">
            <a:avLst/>
          </a:prstGeom>
          <a:noFill/>
        </p:spPr>
        <p:txBody>
          <a:bodyPr wrap="square" anchor="t"/>
          <a:lstStyle/>
          <a:p>
            <a:pPr algn="l"/>
            <a:r>
              <a:rPr sz="1300" b="0">
                <a:solidFill>
                  <a:srgbClr val="3D4A57"/>
                </a:solidFill>
                <a:latin typeface="Calibri"/>
              </a:rPr>
              <a:t>DSH, 4.25 kg. Vomiting that looked like FB. Labs + POCUS + AUS: structural renal disease, creatinine 3.0 → 4.71 on fluids. Exploratory cancelled. NSAIDs contraindicated. Record the decision. Offer supportive care, referral, or euthanasia. That conversation is still surgery.</a:t>
            </a:r>
          </a:p>
        </p:txBody>
      </p:sp>
      <p:sp>
        <p:nvSpPr>
          <p:cNvPr id="16" name="Rectangle 1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8" name="TextBox 1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55  /  59</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Key points</a:t>
            </a:r>
          </a:p>
        </p:txBody>
      </p:sp>
      <p:sp>
        <p:nvSpPr>
          <p:cNvPr id="7" name="Rounded Rectangle 6"/>
          <p:cNvSpPr/>
          <p:nvPr/>
        </p:nvSpPr>
        <p:spPr>
          <a:xfrm>
            <a:off x="457200" y="105156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640080" cy="731520"/>
          </a:xfrm>
          <a:prstGeom prst="rect">
            <a:avLst/>
          </a:prstGeom>
          <a:noFill/>
        </p:spPr>
        <p:txBody>
          <a:bodyPr wrap="square" anchor="ctr"/>
          <a:lstStyle/>
          <a:p>
            <a:pPr algn="ctr"/>
            <a:r>
              <a:rPr sz="1800" b="1">
                <a:solidFill>
                  <a:srgbClr val="0B2C4A"/>
                </a:solidFill>
                <a:latin typeface="Calibri"/>
              </a:rPr>
              <a:t>1</a:t>
            </a:r>
          </a:p>
        </p:txBody>
      </p:sp>
      <p:sp>
        <p:nvSpPr>
          <p:cNvPr id="10" name="TextBox 9"/>
          <p:cNvSpPr txBox="1"/>
          <p:nvPr/>
        </p:nvSpPr>
        <p:spPr>
          <a:xfrm>
            <a:off x="1280160" y="1051560"/>
            <a:ext cx="10149840" cy="731520"/>
          </a:xfrm>
          <a:prstGeom prst="rect">
            <a:avLst/>
          </a:prstGeom>
          <a:noFill/>
        </p:spPr>
        <p:txBody>
          <a:bodyPr wrap="square" anchor="ctr"/>
          <a:lstStyle/>
          <a:p>
            <a:pPr algn="l"/>
            <a:r>
              <a:rPr sz="1600" b="0">
                <a:solidFill>
                  <a:srgbClr val="1C1C1C"/>
                </a:solidFill>
                <a:latin typeface="Calibri"/>
              </a:rPr>
              <a:t>ASA is assigned after today’s PE and labs. Willie is III-E (sedate with a plan). MoMo is IV-E (image first, then cancel the exploratory).</a:t>
            </a:r>
          </a:p>
        </p:txBody>
      </p:sp>
      <p:sp>
        <p:nvSpPr>
          <p:cNvPr id="11" name="Rounded Rectangle 10"/>
          <p:cNvSpPr/>
          <p:nvPr/>
        </p:nvSpPr>
        <p:spPr>
          <a:xfrm>
            <a:off x="457200" y="187452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7452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74520"/>
            <a:ext cx="640080" cy="731520"/>
          </a:xfrm>
          <a:prstGeom prst="rect">
            <a:avLst/>
          </a:prstGeom>
          <a:noFill/>
        </p:spPr>
        <p:txBody>
          <a:bodyPr wrap="square" anchor="ctr"/>
          <a:lstStyle/>
          <a:p>
            <a:pPr algn="ctr"/>
            <a:r>
              <a:rPr sz="1800" b="1">
                <a:solidFill>
                  <a:srgbClr val="0B2C4A"/>
                </a:solidFill>
                <a:latin typeface="Calibri"/>
              </a:rPr>
              <a:t>2</a:t>
            </a:r>
          </a:p>
        </p:txBody>
      </p:sp>
      <p:sp>
        <p:nvSpPr>
          <p:cNvPr id="14" name="TextBox 13"/>
          <p:cNvSpPr txBox="1"/>
          <p:nvPr/>
        </p:nvSpPr>
        <p:spPr>
          <a:xfrm>
            <a:off x="1280160" y="1874520"/>
            <a:ext cx="10149840" cy="731520"/>
          </a:xfrm>
          <a:prstGeom prst="rect">
            <a:avLst/>
          </a:prstGeom>
          <a:noFill/>
        </p:spPr>
        <p:txBody>
          <a:bodyPr wrap="square" anchor="ctr"/>
          <a:lstStyle/>
          <a:p>
            <a:pPr algn="l"/>
            <a:r>
              <a:rPr sz="1600" b="0">
                <a:solidFill>
                  <a:srgbClr val="1C1C1C"/>
                </a:solidFill>
                <a:latin typeface="Calibri"/>
              </a:rPr>
              <a:t>Imaging and serial creatinine can cancel a surgery. That is a successful preoperative evaluation.</a:t>
            </a:r>
          </a:p>
        </p:txBody>
      </p:sp>
      <p:sp>
        <p:nvSpPr>
          <p:cNvPr id="15" name="Rounded Rectangle 14"/>
          <p:cNvSpPr/>
          <p:nvPr/>
        </p:nvSpPr>
        <p:spPr>
          <a:xfrm>
            <a:off x="457200" y="269748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69748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697480"/>
            <a:ext cx="640080" cy="731520"/>
          </a:xfrm>
          <a:prstGeom prst="rect">
            <a:avLst/>
          </a:prstGeom>
          <a:noFill/>
        </p:spPr>
        <p:txBody>
          <a:bodyPr wrap="square" anchor="ctr"/>
          <a:lstStyle/>
          <a:p>
            <a:pPr algn="ctr"/>
            <a:r>
              <a:rPr sz="1800" b="1">
                <a:solidFill>
                  <a:srgbClr val="0B2C4A"/>
                </a:solidFill>
                <a:latin typeface="Calibri"/>
              </a:rPr>
              <a:t>3</a:t>
            </a:r>
          </a:p>
        </p:txBody>
      </p:sp>
      <p:sp>
        <p:nvSpPr>
          <p:cNvPr id="18" name="TextBox 17"/>
          <p:cNvSpPr txBox="1"/>
          <p:nvPr/>
        </p:nvSpPr>
        <p:spPr>
          <a:xfrm>
            <a:off x="1280160" y="2697480"/>
            <a:ext cx="10149840" cy="731520"/>
          </a:xfrm>
          <a:prstGeom prst="rect">
            <a:avLst/>
          </a:prstGeom>
          <a:noFill/>
        </p:spPr>
        <p:txBody>
          <a:bodyPr wrap="square" anchor="ctr"/>
          <a:lstStyle/>
          <a:p>
            <a:pPr algn="l"/>
            <a:r>
              <a:rPr sz="1600" b="0">
                <a:solidFill>
                  <a:srgbClr val="1C1C1C"/>
                </a:solidFill>
                <a:latin typeface="Calibri"/>
              </a:rPr>
              <a:t>Elective clean OHE: skip routine postoperative antibiotics. Fill the anesthesia record and the 2-hour recovery sheet.</a:t>
            </a:r>
          </a:p>
        </p:txBody>
      </p:sp>
      <p:sp>
        <p:nvSpPr>
          <p:cNvPr id="19" name="Rounded Rectangle 18"/>
          <p:cNvSpPr/>
          <p:nvPr/>
        </p:nvSpPr>
        <p:spPr>
          <a:xfrm>
            <a:off x="457200" y="352044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2044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20440"/>
            <a:ext cx="640080" cy="731520"/>
          </a:xfrm>
          <a:prstGeom prst="rect">
            <a:avLst/>
          </a:prstGeom>
          <a:noFill/>
        </p:spPr>
        <p:txBody>
          <a:bodyPr wrap="square" anchor="ctr"/>
          <a:lstStyle/>
          <a:p>
            <a:pPr algn="ctr"/>
            <a:r>
              <a:rPr sz="1800" b="1">
                <a:solidFill>
                  <a:srgbClr val="0B2C4A"/>
                </a:solidFill>
                <a:latin typeface="Calibri"/>
              </a:rPr>
              <a:t>4</a:t>
            </a:r>
          </a:p>
        </p:txBody>
      </p:sp>
      <p:sp>
        <p:nvSpPr>
          <p:cNvPr id="22" name="TextBox 21"/>
          <p:cNvSpPr txBox="1"/>
          <p:nvPr/>
        </p:nvSpPr>
        <p:spPr>
          <a:xfrm>
            <a:off x="1280160" y="3520440"/>
            <a:ext cx="10149840" cy="731520"/>
          </a:xfrm>
          <a:prstGeom prst="rect">
            <a:avLst/>
          </a:prstGeom>
          <a:noFill/>
        </p:spPr>
        <p:txBody>
          <a:bodyPr wrap="square" anchor="ctr"/>
          <a:lstStyle/>
          <a:p>
            <a:pPr algn="l"/>
            <a:r>
              <a:rPr sz="1600" b="0">
                <a:solidFill>
                  <a:srgbClr val="1C1C1C"/>
                </a:solidFill>
                <a:latin typeface="Calibri"/>
              </a:rPr>
              <a:t>Clip after induction, #40, not razor; spiral prep center → out; hair in the drape window fails the prep.</a:t>
            </a:r>
          </a:p>
        </p:txBody>
      </p:sp>
      <p:sp>
        <p:nvSpPr>
          <p:cNvPr id="23" name="Rounded Rectangle 22"/>
          <p:cNvSpPr/>
          <p:nvPr/>
        </p:nvSpPr>
        <p:spPr>
          <a:xfrm>
            <a:off x="457200" y="434340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34340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343400"/>
            <a:ext cx="640080" cy="731520"/>
          </a:xfrm>
          <a:prstGeom prst="rect">
            <a:avLst/>
          </a:prstGeom>
          <a:noFill/>
        </p:spPr>
        <p:txBody>
          <a:bodyPr wrap="square" anchor="ctr"/>
          <a:lstStyle/>
          <a:p>
            <a:pPr algn="ctr"/>
            <a:r>
              <a:rPr sz="1800" b="1">
                <a:solidFill>
                  <a:srgbClr val="0B2C4A"/>
                </a:solidFill>
                <a:latin typeface="Calibri"/>
              </a:rPr>
              <a:t>5</a:t>
            </a:r>
          </a:p>
        </p:txBody>
      </p:sp>
      <p:sp>
        <p:nvSpPr>
          <p:cNvPr id="26" name="TextBox 25"/>
          <p:cNvSpPr txBox="1"/>
          <p:nvPr/>
        </p:nvSpPr>
        <p:spPr>
          <a:xfrm>
            <a:off x="1280160" y="4343400"/>
            <a:ext cx="10149840" cy="731520"/>
          </a:xfrm>
          <a:prstGeom prst="rect">
            <a:avLst/>
          </a:prstGeom>
          <a:noFill/>
        </p:spPr>
        <p:txBody>
          <a:bodyPr wrap="square" anchor="ctr"/>
          <a:lstStyle/>
          <a:p>
            <a:pPr algn="l"/>
            <a:r>
              <a:rPr sz="1600" b="0">
                <a:solidFill>
                  <a:srgbClr val="1C1C1C"/>
                </a:solidFill>
                <a:latin typeface="Calibri"/>
              </a:rPr>
              <a:t>Intact skin: PVP-I 5 minutes wet (then paint and dry), or aqueous CHG 3 minutes. Mucosa/eye: 10% PVP-I 1 to 20 to 1 to 50; eye 2 min + 2 min. Cornea and middle ear: dilute PVP-I.</a:t>
            </a:r>
          </a:p>
        </p:txBody>
      </p:sp>
      <p:sp>
        <p:nvSpPr>
          <p:cNvPr id="27" name="Rounded Rectangle 26"/>
          <p:cNvSpPr/>
          <p:nvPr/>
        </p:nvSpPr>
        <p:spPr>
          <a:xfrm>
            <a:off x="457200" y="516636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16636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166360"/>
            <a:ext cx="640080" cy="731520"/>
          </a:xfrm>
          <a:prstGeom prst="rect">
            <a:avLst/>
          </a:prstGeom>
          <a:noFill/>
        </p:spPr>
        <p:txBody>
          <a:bodyPr wrap="square" anchor="ctr"/>
          <a:lstStyle/>
          <a:p>
            <a:pPr algn="ctr"/>
            <a:r>
              <a:rPr sz="1800" b="1">
                <a:solidFill>
                  <a:srgbClr val="0B2C4A"/>
                </a:solidFill>
                <a:latin typeface="Calibri"/>
              </a:rPr>
              <a:t>6</a:t>
            </a:r>
          </a:p>
        </p:txBody>
      </p:sp>
      <p:sp>
        <p:nvSpPr>
          <p:cNvPr id="30" name="TextBox 29"/>
          <p:cNvSpPr txBox="1"/>
          <p:nvPr/>
        </p:nvSpPr>
        <p:spPr>
          <a:xfrm>
            <a:off x="1280160" y="5166360"/>
            <a:ext cx="10149840" cy="731520"/>
          </a:xfrm>
          <a:prstGeom prst="rect">
            <a:avLst/>
          </a:prstGeom>
          <a:noFill/>
        </p:spPr>
        <p:txBody>
          <a:bodyPr wrap="square" anchor="ctr"/>
          <a:lstStyle/>
          <a:p>
            <a:pPr algn="l"/>
            <a:r>
              <a:rPr sz="1600" b="0">
                <a:solidFill>
                  <a:srgbClr val="1C1C1C"/>
                </a:solidFill>
                <a:latin typeface="Calibri"/>
              </a:rPr>
              <a:t>Pale + tachycardic after celiotomy: treat as hemorrhage, return to OR; the first 24 hours still count.</a:t>
            </a:r>
          </a:p>
        </p:txBody>
      </p:sp>
      <p:sp>
        <p:nvSpPr>
          <p:cNvPr id="31" name="Rectangle 30"/>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3" name="TextBox 32"/>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56  /  59</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Summary</a:t>
            </a:r>
          </a:p>
        </p:txBody>
      </p:sp>
      <p:sp>
        <p:nvSpPr>
          <p:cNvPr id="7" name="Rounded Rectangle 6"/>
          <p:cNvSpPr/>
          <p:nvPr/>
        </p:nvSpPr>
        <p:spPr>
          <a:xfrm>
            <a:off x="457200" y="1143000"/>
            <a:ext cx="11247120" cy="4937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63040"/>
            <a:ext cx="10607040" cy="4389120"/>
          </a:xfrm>
          <a:prstGeom prst="rect">
            <a:avLst/>
          </a:prstGeom>
          <a:noFill/>
        </p:spPr>
        <p:txBody>
          <a:bodyPr wrap="square" anchor="t"/>
          <a:lstStyle/>
          <a:p>
            <a:pPr algn="l"/>
            <a:r>
              <a:rPr sz="2000" b="0">
                <a:solidFill>
                  <a:srgbClr val="0B2C4A"/>
                </a:solidFill>
                <a:latin typeface="Calibri"/>
              </a:rPr>
              <a:t>Preoperative evaluation is a decision to proceed, delay, stabilize, or not to operate.
Patient and surgeon preparation prevents surgical site infection.
Postoperative care includes pain, temperature, the incision, the record, and the client conversation.
Halsted’s principles apply through the first 24 hours.</a:t>
            </a:r>
          </a:p>
        </p:txBody>
      </p:sp>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57  /  59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References</a:t>
            </a:r>
          </a:p>
        </p:txBody>
      </p:sp>
      <p:sp>
        <p:nvSpPr>
          <p:cNvPr id="7" name="TextBox 6"/>
          <p:cNvSpPr txBox="1"/>
          <p:nvPr/>
        </p:nvSpPr>
        <p:spPr>
          <a:xfrm>
            <a:off x="457200" y="1051560"/>
            <a:ext cx="11155680" cy="5120640"/>
          </a:xfrm>
          <a:prstGeom prst="rect">
            <a:avLst/>
          </a:prstGeom>
          <a:noFill/>
        </p:spPr>
        <p:txBody>
          <a:bodyPr wrap="square">
            <a:spAutoFit/>
          </a:bodyPr>
          <a:lstStyle/>
          <a:p>
            <a:pPr algn="l">
              <a:spcAft>
                <a:spcPts val="700"/>
              </a:spcAft>
            </a:pPr>
            <a:r>
              <a:rPr sz="1400" b="0">
                <a:solidFill>
                  <a:srgbClr val="1C1C1C"/>
                </a:solidFill>
                <a:latin typeface="Calibri"/>
              </a:rPr>
              <a:t>▸  Fossum T.W. Small Animal Surgery. 5th ed. Elsevier; 2018. Preoperative evaluation, patient preparation, postoperative care.</a:t>
            </a:r>
          </a:p>
          <a:p>
            <a:pPr algn="l">
              <a:spcAft>
                <a:spcPts val="700"/>
              </a:spcAft>
            </a:pPr>
            <a:r>
              <a:rPr sz="1400" b="0">
                <a:solidFill>
                  <a:srgbClr val="1C1C1C"/>
                </a:solidFill>
                <a:latin typeface="Calibri"/>
              </a:rPr>
              <a:t>▸  Johnston S.A., Tobias K.M. Veterinary Surgery: Small Animal. 2nd ed. Elsevier; 2017.</a:t>
            </a:r>
          </a:p>
          <a:p>
            <a:pPr algn="l">
              <a:spcAft>
                <a:spcPts val="700"/>
              </a:spcAft>
            </a:pPr>
            <a:r>
              <a:rPr sz="1400" b="0">
                <a:solidFill>
                  <a:srgbClr val="1C1C1C"/>
                </a:solidFill>
                <a:latin typeface="Calibri"/>
              </a:rPr>
              <a:t>▸  Hendrickson D.A., Baird A.N. Turner and McIlwraith’s Techniques in Large Animal Surgery. 4th ed. Wiley-Blackwell; 2013.</a:t>
            </a:r>
          </a:p>
          <a:p>
            <a:pPr algn="l">
              <a:spcAft>
                <a:spcPts val="700"/>
              </a:spcAft>
            </a:pPr>
            <a:r>
              <a:rPr sz="1400" b="0">
                <a:solidFill>
                  <a:srgbClr val="1C1C1C"/>
                </a:solidFill>
                <a:latin typeface="Calibri"/>
              </a:rPr>
              <a:t>▸  Roberts S.M., Severin G.A., Lavach J.D. Am J Vet Res. 1986;47(6):1207–1210. Canine ocular 1:50 (0.2%): 2-minute scrub + 2-minute soak. 1:2 (5%) caused corneal edema.</a:t>
            </a:r>
          </a:p>
          <a:p>
            <a:pPr algn="l">
              <a:spcAft>
                <a:spcPts val="700"/>
              </a:spcAft>
            </a:pPr>
            <a:r>
              <a:rPr sz="1400" b="0">
                <a:solidFill>
                  <a:srgbClr val="1C1C1C"/>
                </a:solidFill>
                <a:latin typeface="Calibri"/>
              </a:rPr>
              <a:t>▸  Betadine Surgical Scrub (povidone-iodine 7.5%), veterinary label: lather 5 minutes, rinse, paint 10% solution, dry.  ·  AAHA/AAFP Antimicrobial Stewardship 2022: cefazolin 22 mg/kg IV 30 minutes before incision; redose every 90 minutes.</a:t>
            </a:r>
          </a:p>
          <a:p>
            <a:pPr algn="l">
              <a:spcAft>
                <a:spcPts val="700"/>
              </a:spcAft>
            </a:pPr>
            <a:r>
              <a:rPr sz="1400" b="0">
                <a:solidFill>
                  <a:srgbClr val="1C1C1C"/>
                </a:solidFill>
                <a:latin typeface="Calibri"/>
              </a:rPr>
              <a:t>▸  Clinical photographs (open license or U.S. government work): Uwe Gille (CC0); Anja (CC BY-SA 4.0); Liannadavis (CC BY-SA 4.0); Cpl. Samuel A. Nasso, USMC (public domain); MSgt Carlotta Holley, USAF (public domain). Closed-gloving and spiral-prep figures are technique diagrams, not clinic photographs.</a:t>
            </a:r>
          </a:p>
        </p:txBody>
      </p:sp>
      <p:sp>
        <p:nvSpPr>
          <p:cNvPr id="8" name="Rectangle 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0" name="TextBox 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58  /  59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03120"/>
            <a:ext cx="10972800" cy="457200"/>
          </a:xfrm>
          <a:prstGeom prst="rect">
            <a:avLst/>
          </a:prstGeom>
          <a:noFill/>
        </p:spPr>
        <p:txBody>
          <a:bodyPr wrap="square" anchor="t"/>
          <a:lstStyle/>
          <a:p>
            <a:pPr algn="l"/>
            <a:r>
              <a:rPr sz="1600" b="1">
                <a:solidFill>
                  <a:srgbClr val="C5A35A"/>
                </a:solidFill>
                <a:latin typeface="Calibri"/>
              </a:rPr>
              <a:t>DVM 612  ·  PRINCIPLES OF SURGERY</a:t>
            </a:r>
          </a:p>
        </p:txBody>
      </p:sp>
      <p:sp>
        <p:nvSpPr>
          <p:cNvPr id="6" name="TextBox 5"/>
          <p:cNvSpPr txBox="1"/>
          <p:nvPr/>
        </p:nvSpPr>
        <p:spPr>
          <a:xfrm>
            <a:off x="685800" y="2606040"/>
            <a:ext cx="10972800" cy="1097280"/>
          </a:xfrm>
          <a:prstGeom prst="rect">
            <a:avLst/>
          </a:prstGeom>
          <a:noFill/>
        </p:spPr>
        <p:txBody>
          <a:bodyPr wrap="square" anchor="t"/>
          <a:lstStyle/>
          <a:p>
            <a:pPr algn="l"/>
            <a:r>
              <a:rPr sz="5400" b="1">
                <a:solidFill>
                  <a:srgbClr val="FFFFFF"/>
                </a:solidFill>
                <a:latin typeface="Calibri"/>
              </a:rPr>
              <a:t>Questions</a:t>
            </a:r>
          </a:p>
        </p:txBody>
      </p:sp>
      <p:sp>
        <p:nvSpPr>
          <p:cNvPr id="7" name="TextBox 6"/>
          <p:cNvSpPr txBox="1"/>
          <p:nvPr/>
        </p:nvSpPr>
        <p:spPr>
          <a:xfrm>
            <a:off x="685800" y="3931920"/>
            <a:ext cx="10972800" cy="1097280"/>
          </a:xfrm>
          <a:prstGeom prst="rect">
            <a:avLst/>
          </a:prstGeom>
          <a:noFill/>
        </p:spPr>
        <p:txBody>
          <a:bodyPr wrap="square" anchor="t"/>
          <a:lstStyle/>
          <a:p>
            <a:pPr algn="l"/>
            <a:r>
              <a:rPr sz="1800" b="0">
                <a:solidFill>
                  <a:srgbClr val="F4EBD3"/>
                </a:solidFill>
                <a:latin typeface="Calibri"/>
              </a:rPr>
              <a:t>If there are no questions: why was Willie ASA III-E and MoMo ASA IV-E,
and how do you dilute 10% povidone-iodine for conjunctiva or prepuce?</a:t>
            </a:r>
          </a:p>
        </p:txBody>
      </p:sp>
      <p:sp>
        <p:nvSpPr>
          <p:cNvPr id="8" name="TextBox 7"/>
          <p:cNvSpPr txBox="1"/>
          <p:nvPr/>
        </p:nvSpPr>
        <p:spPr>
          <a:xfrm>
            <a:off x="685800" y="5760720"/>
            <a:ext cx="10972800" cy="365760"/>
          </a:xfrm>
          <a:prstGeom prst="rect">
            <a:avLst/>
          </a:prstGeom>
          <a:noFill/>
        </p:spPr>
        <p:txBody>
          <a:bodyPr wrap="square" anchor="t"/>
          <a:lstStyle/>
          <a:p>
            <a:pPr algn="l"/>
            <a:r>
              <a:rPr sz="1400" b="0">
                <a:solidFill>
                  <a:srgbClr val="C5A35A"/>
                </a:solidFill>
                <a:latin typeface="Calibri"/>
              </a:rPr>
              <a:t>Dr. Yujin Kim, D.V.M., Ph.D., FFCP  ·  Lewyt College of Veterinary Medicine  ·  Long Island University</a:t>
            </a:r>
          </a:p>
        </p:txBody>
      </p:sp>
      <p:sp>
        <p:nvSpPr>
          <p:cNvPr id="9" name="TextBox 8"/>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59  /  59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