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We sedated him. MoMo, a 6-year SF DSH, 4.25 kg, vomiting that looked like a foreign-body surgery. Imaging cancelled the exploratory. Assign both ASA statuses. Owner identifiers stay off these slides. We use the 2026 CPE Manual of Administration anesthesia and surgery chapters as the competency list for this hour, not as an exam-prep course. Thirty-eight slides. If discussion runs, protect antiseptics, both cases,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Part II (prep pictures) and both cases.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own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Premedicating before the examination is a dismissible event. Add other labs if the PE says so. Willie: the exam wrote 3-E; CBC did not write Status 1. MoMo: BUN/creatinine cancelled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Status 1 healthy neuter, Status 2 compensated mild mitral, Status 3 moderate disease such as IRIS 3 CKD, Status 4 threat to life such as bleeding splenic mass, Status 5 moribund septic cat. CPE MOA 2026 Appendix 2 uses the same five statuses. Then map Willie to 3-E and MoMo to 4-E. E means emergency.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(sedation). D is MoMo (exploratory cancelled).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murmur. Right-sided knuckling with left circling: treat as central vestibular plus otitis, then sedate. Aminoglycosides are a risk if the middle ear is involved even when the drum looks present.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on the photograph. This is MoMo. Be respectful; this cat died. Cold-call: who would have clipped her on history alone? The photograph is a quiet, recumbent cat. It does not prove a foreign body. Then labs and imaging cancelled the cut.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anesthesia record in CPE MOA 2026 Appendix 3 has three lab blanks: PCV, TP, BUN. That is the minimum you request and interpret. Hospital policy may add a full CBC and chemistry. Do not invent Willie or MoMo numbers you do not have. Willie: CBC did not write Status 1. MoMo: azotemia cancelled the cut.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Willie: CBC is unremarkable; Status 3-E is the exam. MoMo: creatinine 3.0 then 4.71.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anesthesia vocabulary for this hour. ASA, then premed IM or SQ, then induction IV to effect, then inhalant to MAC. DKT and BAA are healthy-patient combinations. Willie got alfaxalone because of the murmur. MAC is how we talk about the vaporizer. Premed lowers it. Grubb 2020: mask induction is not recommended. Surgical plane: no palpebral, mild jaw tone.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MoMo was not an albumin case; her deficit was the kidney, and cancelling was the correct preoperative move.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A 2-minute risk talk prevents a 2-hour complaint.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Willie 13.7: start 7.0 millimeter, 6.5 and 7.5 in the hand. Bag: kilograms times 60, round up. Willie 822 milliliters is a 1 liter bag, circle. Fluids: Pardo 2024, dog 5 milliliters per kilogram per hour. Willie 68.5, write 69 milliliters per hour. Circle FGF: 2 to 3 liters per minute at induction, then 20 to 40 milliliters per kilogram per minute, minimum 500 milliliters per minute (Grubb 2020). NRC 200 to 400 milliliters per kilogram per minute. MoMo is teaching math only; the exploratory was cancelled. After the tube is in: inhalant to effect. Premed already lowered MAC. Then clip,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Skip NSAID after DexSP. Recovery is on the same page. This hour is preop, patient prep, and recovery, not the intra-op grid.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22 milligrams per kilogram IV out loud. Do not attribute that dose to AAHA 2022. Frey 2022 says when: 30 to 60 minutes before incision, skip clean OHE, stop postop. Whittem 1999 timed a second dose if surgery lasted more than 90 minutes. Gonzalez 2017 used 22 mg/kg IV. Elective canine OHE: skip the 14-day cephalexin prescription.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Willie: TECA field is pinna and skull. MoMo: skip the clippers.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fluids off the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Before incision, one unrecognized break is a warning. After incision, there is no warning. Ureter injury is a calm, well-exposed patient problem. The 24-hour window is why recovery is in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Willie: 7.0 millimeter, 1 liter circle, 69 milliliters per hour, alfaxalone because of the murmur. B is Roberts 1986.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Photograph it. Pale plus tachycardic after celiotomy: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carprofen for dogs and Onsior 2 mg/kg SQ for cats or dogs per label.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cancelled her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versus MoMo ASA, then albumin 1.6 elective mass: delay, treat the cause, do not crystalloid-flood.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Willie (Cavalier, ASA Status 3-E): sedate.
MoMo (cat, ASA Status 4-E): cancel the exploratory.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800" b="0">
                <a:solidFill>
                  <a:srgbClr val="0B2C4A"/>
                </a:solidFill>
                <a:latin typeface="Calibri"/>
              </a:rPr>
              <a:t>Willie: examine, ASA 3-E, then sedate.   MoMo: examine, image, labs, then cancel.</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WHY THIS HOUR EXISTS. CPE MOA 2026 SURGERY: PREPARE THE PATIENT, PREPARE YOURSELF, PERFORM THE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site infection</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Decisions made before incision</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from a weak ligature, or herniation from a weak linea, is still the operation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own the first 24 hours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TPR, MM/CRT, THEN PCV, TP, BUN. THEN ASA. THEN PREMED.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8" name="Rounded Rectangle 7"/>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1" name="TextBox 10"/>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Temperature, heart rate, respiratory rate. Write the numbers. Do not copy yesterday’s chart.</a:t>
            </a:r>
          </a:p>
        </p:txBody>
      </p:sp>
      <p:sp>
        <p:nvSpPr>
          <p:cNvPr id="12" name="Rounded Rectangle 11"/>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5" name="TextBox 14"/>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6" name="Rounded Rectangle 15"/>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9" name="TextBox 18"/>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Murmur, arrhythmia, crackles. A rebreathing bag can unmask a murmur.</a:t>
            </a:r>
          </a:p>
        </p:txBody>
      </p:sp>
      <p:sp>
        <p:nvSpPr>
          <p:cNvPr id="20" name="Rounded Rectangle 19"/>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3" name="TextBox 22"/>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4" name="Rectangle 23"/>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6" name="Rounded Rectangle 25"/>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9" name="TextBox 28"/>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30" name="Rounded Rectangle 29"/>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3" name="TextBox 32"/>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4" name="Rounded Rectangle 33"/>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7" name="TextBox 36"/>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Willie = Status 3-E. MoMo = Status 4-E.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Willie: 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MoMo: vomiting cat. Looks like FB. T 98.0 °F, HR 200, tacky.</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Image and labs first. Became ASA Status 4-E.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 11 MO MN CAVALIER KING CHARLES SPANIEL, 13.7 KG, BCS 6/9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(acute vestibular plus severe AS otitis). Still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Plan: CBC WNL. Skip NSAID after DexSP 0.68 mL SQ. Alfaxalone sedation, deep left-ear clean, cytology/culture, 3-view films. Home: meclizine 25 mg PO BID × 5 d, Cerenia 60 mg PO SID × 4 d, confine. MRI recommended. TECA-LBO if culture-guided medical therapy fails.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 THIS IS HER, BEFORE THE EXPLORATORY WAS CANCELLED.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8" name="Picture 7" descr="momo.jpg"/>
          <p:cNvPicPr>
            <a:picLocks noChangeAspect="1"/>
          </p:cNvPicPr>
          <p:nvPr/>
        </p:nvPicPr>
        <p:blipFill>
          <a:blip r:embed="rId2"/>
          <a:stretch>
            <a:fillRect/>
          </a:stretch>
        </p:blipFill>
        <p:spPr>
          <a:xfrm>
            <a:off x="365760" y="1024128"/>
            <a:ext cx="4041648" cy="5394960"/>
          </a:xfrm>
          <a:prstGeom prst="rect">
            <a:avLst/>
          </a:prstGeom>
        </p:spPr>
      </p:pic>
      <p:sp>
        <p:nvSpPr>
          <p:cNvPr id="9" name="Rounded Rectangle 8"/>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severe systemic disease that is a constant threat to life.</a:t>
            </a:r>
          </a:p>
        </p:txBody>
      </p:sp>
      <p:sp>
        <p:nvSpPr>
          <p:cNvPr id="11" name="Rounded Rectangle 10"/>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4" name="TextBox 13"/>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5" name="Rounded Rectangle 14"/>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8" name="TextBox 17"/>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9" name="Rounded Rectangle 18"/>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cancel</a:t>
            </a:r>
          </a:p>
        </p:txBody>
      </p:sp>
      <p:sp>
        <p:nvSpPr>
          <p:cNvPr id="22" name="TextBox 21"/>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POCUS: abnormal kidneys. Creatinine 3.0 → 4.71 on fluids. AUS: right kidney fluid-filled and non-functional. Skip NSAIDs. Cancel the exploratory. Owner elected humane euthanasia. Record the decision.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MINIMUM: PCV, TP, BUN. ADD MORE IF TODAY’S PE SAYS SO.</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diagnostics</a:t>
            </a:r>
          </a:p>
        </p:txBody>
      </p:sp>
      <p:sp>
        <p:nvSpPr>
          <p:cNvPr id="8" name="Rounded Rectangle 7"/>
          <p:cNvSpPr/>
          <p:nvPr/>
        </p:nvSpPr>
        <p:spPr>
          <a:xfrm>
            <a:off x="457200" y="1097280"/>
            <a:ext cx="557784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29184"/>
          </a:xfrm>
          <a:prstGeom prst="rect">
            <a:avLst/>
          </a:prstGeom>
          <a:noFill/>
        </p:spPr>
        <p:txBody>
          <a:bodyPr wrap="square" anchor="t"/>
          <a:lstStyle/>
          <a:p>
            <a:pPr algn="l"/>
            <a:r>
              <a:rPr sz="1800" b="1">
                <a:solidFill>
                  <a:srgbClr val="0B2C4A"/>
                </a:solidFill>
                <a:latin typeface="Calibri"/>
              </a:rPr>
              <a:t>Minimum (MOA record)</a:t>
            </a:r>
          </a:p>
        </p:txBody>
      </p:sp>
      <p:sp>
        <p:nvSpPr>
          <p:cNvPr id="11" name="TextBox 10"/>
          <p:cNvSpPr txBox="1"/>
          <p:nvPr/>
        </p:nvSpPr>
        <p:spPr>
          <a:xfrm>
            <a:off x="713232" y="1554480"/>
            <a:ext cx="5212080" cy="1764792"/>
          </a:xfrm>
          <a:prstGeom prst="rect">
            <a:avLst/>
          </a:prstGeom>
          <a:noFill/>
        </p:spPr>
        <p:txBody>
          <a:bodyPr wrap="square" anchor="t"/>
          <a:lstStyle/>
          <a:p>
            <a:pPr algn="l"/>
            <a:r>
              <a:rPr sz="1600" b="0">
                <a:solidFill>
                  <a:srgbClr val="3D4A57"/>
                </a:solidFill>
                <a:latin typeface="Calibri"/>
              </a:rPr>
              <a:t>Write PCV, TP, and BUN. Request them. Interpret them. Then assign ASA. Azo stick is a BUN screen. PCV/TS is PCV plus TP. Young healthy elective still gets these three numbers on the record.</a:t>
            </a:r>
          </a:p>
        </p:txBody>
      </p:sp>
      <p:sp>
        <p:nvSpPr>
          <p:cNvPr id="12" name="Rounded Rectangle 11"/>
          <p:cNvSpPr/>
          <p:nvPr/>
        </p:nvSpPr>
        <p:spPr>
          <a:xfrm>
            <a:off x="6217920" y="1097280"/>
            <a:ext cx="54864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29184"/>
          </a:xfrm>
          <a:prstGeom prst="rect">
            <a:avLst/>
          </a:prstGeom>
          <a:noFill/>
        </p:spPr>
        <p:txBody>
          <a:bodyPr wrap="square" anchor="t"/>
          <a:lstStyle/>
          <a:p>
            <a:pPr algn="l"/>
            <a:r>
              <a:rPr sz="1800" b="1">
                <a:solidFill>
                  <a:srgbClr val="0B2C4A"/>
                </a:solidFill>
                <a:latin typeface="Calibri"/>
              </a:rPr>
              <a:t>Add if the PE says so</a:t>
            </a:r>
          </a:p>
        </p:txBody>
      </p:sp>
      <p:sp>
        <p:nvSpPr>
          <p:cNvPr id="15" name="TextBox 14"/>
          <p:cNvSpPr txBox="1"/>
          <p:nvPr/>
        </p:nvSpPr>
        <p:spPr>
          <a:xfrm>
            <a:off x="6473952" y="1554480"/>
            <a:ext cx="5120640" cy="1764792"/>
          </a:xfrm>
          <a:prstGeom prst="rect">
            <a:avLst/>
          </a:prstGeom>
          <a:noFill/>
        </p:spPr>
        <p:txBody>
          <a:bodyPr wrap="square" anchor="t"/>
          <a:lstStyle/>
          <a:p>
            <a:pPr algn="l"/>
            <a:r>
              <a:rPr sz="1600" b="0">
                <a:solidFill>
                  <a:srgbClr val="3D4A57"/>
                </a:solidFill>
                <a:latin typeface="Calibri"/>
              </a:rPr>
              <a:t>CBC, chemistry, UA. Clotting (PT/PTT or BMBT) if bleeding risk. T4 in older cats. Blood pressure. ECG if arrhythmia. Imaging if it changes the approach. MoMo: POCUS/AUS cancelled the cut.</a:t>
            </a:r>
          </a:p>
        </p:txBody>
      </p:sp>
      <p:sp>
        <p:nvSpPr>
          <p:cNvPr id="16" name="Rounded Rectangle 15"/>
          <p:cNvSpPr/>
          <p:nvPr/>
        </p:nvSpPr>
        <p:spPr>
          <a:xfrm>
            <a:off x="457200" y="3611880"/>
            <a:ext cx="11247120" cy="2743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749039"/>
            <a:ext cx="10789920" cy="320040"/>
          </a:xfrm>
          <a:prstGeom prst="rect">
            <a:avLst/>
          </a:prstGeom>
          <a:noFill/>
        </p:spPr>
        <p:txBody>
          <a:bodyPr wrap="square" anchor="t"/>
          <a:lstStyle/>
          <a:p>
            <a:pPr algn="l"/>
            <a:r>
              <a:rPr sz="1800" b="1">
                <a:solidFill>
                  <a:srgbClr val="0B2C4A"/>
                </a:solidFill>
                <a:latin typeface="Calibri"/>
              </a:rPr>
              <a:t>How to use PCV, TP, and BUN together</a:t>
            </a:r>
          </a:p>
        </p:txBody>
      </p:sp>
      <p:sp>
        <p:nvSpPr>
          <p:cNvPr id="18" name="TextBox 17"/>
          <p:cNvSpPr txBox="1"/>
          <p:nvPr/>
        </p:nvSpPr>
        <p:spPr>
          <a:xfrm>
            <a:off x="685800" y="4160520"/>
            <a:ext cx="10789920" cy="2011680"/>
          </a:xfrm>
          <a:prstGeom prst="rect">
            <a:avLst/>
          </a:prstGeom>
          <a:noFill/>
        </p:spPr>
        <p:txBody>
          <a:bodyPr wrap="square">
            <a:spAutoFit/>
          </a:bodyPr>
          <a:lstStyle/>
          <a:p>
            <a:pPr algn="l">
              <a:spcAft>
                <a:spcPts val="700"/>
              </a:spcAft>
            </a:pPr>
            <a:r>
              <a:rPr sz="1800" b="0">
                <a:solidFill>
                  <a:srgbClr val="1C1C1C"/>
                </a:solidFill>
                <a:latin typeface="Calibri"/>
              </a:rPr>
              <a:t>▸  High PCV + high TP: dehydration. Correct it before elective anesthesia.</a:t>
            </a:r>
          </a:p>
          <a:p>
            <a:pPr algn="l">
              <a:spcAft>
                <a:spcPts val="700"/>
              </a:spcAft>
            </a:pPr>
            <a:r>
              <a:rPr sz="1800" b="0">
                <a:solidFill>
                  <a:srgbClr val="1C1C1C"/>
                </a:solidFill>
                <a:latin typeface="Calibri"/>
              </a:rPr>
              <a:t>▸  Low PCV + low TP: blood loss or third-space loss. Do not call that a healthy Status 1.</a:t>
            </a:r>
          </a:p>
          <a:p>
            <a:pPr algn="l">
              <a:spcAft>
                <a:spcPts val="700"/>
              </a:spcAft>
            </a:pPr>
            <a:r>
              <a:rPr sz="1800" b="0">
                <a:solidFill>
                  <a:srgbClr val="1C1C1C"/>
                </a:solidFill>
                <a:latin typeface="Calibri"/>
              </a:rPr>
              <a:t>▸  High BUN: kidney, dehydration, or GI bleed. Skip NSAIDs. Repeat if it changes whether you cut. MoMo: rising creatinine (and azotemia) cancelled the exploratory.</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Teaching: &lt;20% dog / &lt;15% cat</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Willie: CBC does not assign Status 1. MoMo: azotemia cancelled the cut. Low albumin is a deficit, not an ASA number.</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FIRST. THEN THE DRUG PLAN. GRUBB ET AL. 2020; CPE MOA 2026 ANESTHESIA.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Premedication, induction, and MAC</a:t>
            </a:r>
          </a:p>
        </p:txBody>
      </p:sp>
      <p:sp>
        <p:nvSpPr>
          <p:cNvPr id="8" name="Rounded Rectangle 7"/>
          <p:cNvSpPr/>
          <p:nvPr/>
        </p:nvSpPr>
        <p:spPr>
          <a:xfrm>
            <a:off x="365760"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051560"/>
            <a:ext cx="3767328" cy="5029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767328" cy="502920"/>
          </a:xfrm>
          <a:prstGeom prst="rect">
            <a:avLst/>
          </a:prstGeom>
          <a:noFill/>
        </p:spPr>
        <p:txBody>
          <a:bodyPr wrap="square" anchor="ctr"/>
          <a:lstStyle/>
          <a:p>
            <a:pPr algn="ctr"/>
            <a:r>
              <a:rPr sz="1600" b="1">
                <a:solidFill>
                  <a:srgbClr val="FFFFFF"/>
                </a:solidFill>
                <a:latin typeface="Calibri"/>
              </a:rPr>
              <a:t>1. Premedication</a:t>
            </a:r>
          </a:p>
        </p:txBody>
      </p:sp>
      <p:sp>
        <p:nvSpPr>
          <p:cNvPr id="11" name="TextBox 10"/>
          <p:cNvSpPr txBox="1"/>
          <p:nvPr/>
        </p:nvSpPr>
        <p:spPr>
          <a:xfrm>
            <a:off x="512064" y="1645920"/>
            <a:ext cx="3474720" cy="4315968"/>
          </a:xfrm>
          <a:prstGeom prst="rect">
            <a:avLst/>
          </a:prstGeom>
          <a:noFill/>
        </p:spPr>
        <p:txBody>
          <a:bodyPr wrap="square" anchor="t"/>
          <a:lstStyle/>
          <a:p>
            <a:pPr algn="l"/>
            <a:r>
              <a:rPr sz="1500" b="0">
                <a:solidFill>
                  <a:srgbClr val="1C1C1C"/>
                </a:solidFill>
                <a:latin typeface="Calibri"/>
              </a:rPr>
              <a:t>After the PE, labs, and ASA. IM or SQ (CPE MOA). Not before the exam.
Calm the patient. Give analgesia. Lower the induction dose. Lower MAC. Safer clip (Grubb 2020).
DKT: dexmedetomidine + ketamine + butorphanol. One IM syringe. Healthy ASA 1–2.
BAA: butorphanol + acepromazine + atropine. Healthy patients.
Heart / murmur: skip ace and dexmed as the default. Opioid + alfaxalone. That is Willie.</a:t>
            </a:r>
          </a:p>
        </p:txBody>
      </p:sp>
      <p:sp>
        <p:nvSpPr>
          <p:cNvPr id="12" name="Rounded Rectangle 11"/>
          <p:cNvSpPr/>
          <p:nvPr/>
        </p:nvSpPr>
        <p:spPr>
          <a:xfrm>
            <a:off x="4279392"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1051560"/>
            <a:ext cx="3767328" cy="502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1051560"/>
            <a:ext cx="3767328" cy="502920"/>
          </a:xfrm>
          <a:prstGeom prst="rect">
            <a:avLst/>
          </a:prstGeom>
          <a:noFill/>
        </p:spPr>
        <p:txBody>
          <a:bodyPr wrap="square" anchor="ctr"/>
          <a:lstStyle/>
          <a:p>
            <a:pPr algn="ctr"/>
            <a:r>
              <a:rPr sz="1600" b="1">
                <a:solidFill>
                  <a:srgbClr val="FFFFFF"/>
                </a:solidFill>
                <a:latin typeface="Calibri"/>
              </a:rPr>
              <a:t>2. Induction</a:t>
            </a:r>
          </a:p>
        </p:txBody>
      </p:sp>
      <p:sp>
        <p:nvSpPr>
          <p:cNvPr id="15" name="TextBox 14"/>
          <p:cNvSpPr txBox="1"/>
          <p:nvPr/>
        </p:nvSpPr>
        <p:spPr>
          <a:xfrm>
            <a:off x="4425696" y="1645920"/>
            <a:ext cx="3474720" cy="4315968"/>
          </a:xfrm>
          <a:prstGeom prst="rect">
            <a:avLst/>
          </a:prstGeom>
          <a:noFill/>
        </p:spPr>
        <p:txBody>
          <a:bodyPr wrap="square" anchor="t"/>
          <a:lstStyle/>
          <a:p>
            <a:pPr algn="l"/>
            <a:r>
              <a:rPr sz="1500" b="0">
                <a:solidFill>
                  <a:srgbClr val="1C1C1C"/>
                </a:solidFill>
                <a:latin typeface="Calibri"/>
              </a:rPr>
              <a:t>IV catheter first. Then induce IV to effect (Grubb 2020).
Propofol, alfaxalone, ketamine + benzo, or etomidate. Premed and sick patients need less.
Mask or chamber induction is not recommended.
Then intubate, confirm, cuff to 20 cm H2O, connect the machine (CPE MOA: start that clock when induction starts).
Willie: alfaxalone sedation for the ear clean.</a:t>
            </a:r>
          </a:p>
        </p:txBody>
      </p:sp>
      <p:sp>
        <p:nvSpPr>
          <p:cNvPr id="16" name="Rounded Rectangle 15"/>
          <p:cNvSpPr/>
          <p:nvPr/>
        </p:nvSpPr>
        <p:spPr>
          <a:xfrm>
            <a:off x="8193024"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1051560"/>
            <a:ext cx="3767328"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1051560"/>
            <a:ext cx="3767328" cy="502920"/>
          </a:xfrm>
          <a:prstGeom prst="rect">
            <a:avLst/>
          </a:prstGeom>
          <a:noFill/>
        </p:spPr>
        <p:txBody>
          <a:bodyPr wrap="square" anchor="ctr"/>
          <a:lstStyle/>
          <a:p>
            <a:pPr algn="ctr"/>
            <a:r>
              <a:rPr sz="1600" b="1">
                <a:solidFill>
                  <a:srgbClr val="FFFFFF"/>
                </a:solidFill>
                <a:latin typeface="Calibri"/>
              </a:rPr>
              <a:t>3. Gas and MAC</a:t>
            </a:r>
          </a:p>
        </p:txBody>
      </p:sp>
      <p:sp>
        <p:nvSpPr>
          <p:cNvPr id="19" name="TextBox 18"/>
          <p:cNvSpPr txBox="1"/>
          <p:nvPr/>
        </p:nvSpPr>
        <p:spPr>
          <a:xfrm>
            <a:off x="8339328" y="1645920"/>
            <a:ext cx="3474720" cy="4315968"/>
          </a:xfrm>
          <a:prstGeom prst="rect">
            <a:avLst/>
          </a:prstGeom>
          <a:noFill/>
        </p:spPr>
        <p:txBody>
          <a:bodyPr wrap="square" anchor="t"/>
          <a:lstStyle/>
          <a:p>
            <a:pPr algn="l"/>
            <a:r>
              <a:rPr sz="1500" b="0">
                <a:solidFill>
                  <a:srgbClr val="1C1C1C"/>
                </a:solidFill>
                <a:latin typeface="Calibri"/>
              </a:rPr>
              <a:t>MAC = minimum alveolar concentration: the alveolar % of inhalant that stops movement in 50% of patients to a surgical stimulus.
Isoflurane or sevoflurane in oxygen, dosed to effect (Grubb 2020).
Premeds, local blocks, and hypothermia lower MAC. Turn the vaporizer down.
Surgical plane: no palpebral reflex, mild jaw tone, no purposeful movement.
Hypotension: often too much inhalant. Add opioid or a block. Do not just turn the dial up.</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STABILIZE FIRST. PARDO ET AL. 2024: ALBUMIN &lt;2.0 G/DL.</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1" name="TextBox 10"/>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5" name="TextBox 14"/>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9" name="TextBox 18"/>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MoMo: rising creatinine cancelled the cut. That is a successful preoperative evaluation.</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pre-oxygenate. Fasting follows the healthy-adult or neonate row above.</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ASA, ETT SIZE, BAG, CIRCUIT, IV FLUID NAME/RATE, FRESH-GAS FLOW.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8" name="Rounded Rectangle 7"/>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1" name="TextBox 10"/>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2" name="TextBox 11"/>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3" name="Rounded Rectangle 12"/>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6" name="TextBox 15"/>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7" name="TextBox 16"/>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8" name="Rounded Rectangle 17"/>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1" name="TextBox 20"/>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2" name="TextBox 21"/>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Willie: 13.7 × 5 = 69 mL/hr.</a:t>
            </a:r>
          </a:p>
        </p:txBody>
      </p:sp>
      <p:pic>
        <p:nvPicPr>
          <p:cNvPr id="23" name="Picture 22"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PREOP HEADER AND RECOVERY.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FREY ET AL. 2022: WHEN. GONZALEZ 2017: 22 MG/KG IV. WHITTEM 1999: REDOSE IF &gt;90 MIN.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Perioperative cefazolin</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34440"/>
            <a:ext cx="5120640" cy="457200"/>
          </a:xfrm>
          <a:prstGeom prst="rect">
            <a:avLst/>
          </a:prstGeom>
          <a:noFill/>
        </p:spPr>
        <p:txBody>
          <a:bodyPr wrap="square" anchor="t"/>
          <a:lstStyle/>
          <a:p>
            <a:pPr algn="l"/>
            <a:r>
              <a:rPr sz="1800" b="1">
                <a:solidFill>
                  <a:srgbClr val="2E6B4F"/>
                </a:solidFill>
                <a:latin typeface="Calibri"/>
              </a:rPr>
              <a:t>Clean elective: skip prophylaxis</a:t>
            </a:r>
          </a:p>
        </p:txBody>
      </p:sp>
      <p:sp>
        <p:nvSpPr>
          <p:cNvPr id="10" name="TextBox 9"/>
          <p:cNvSpPr txBox="1"/>
          <p:nvPr/>
        </p:nvSpPr>
        <p:spPr>
          <a:xfrm>
            <a:off x="685800" y="1783080"/>
            <a:ext cx="5120640" cy="4114800"/>
          </a:xfrm>
          <a:prstGeom prst="rect">
            <a:avLst/>
          </a:prstGeom>
          <a:noFill/>
        </p:spPr>
        <p:txBody>
          <a:bodyPr wrap="square" anchor="t"/>
          <a:lstStyle/>
          <a:p>
            <a:pPr algn="l"/>
            <a:r>
              <a:rPr sz="1600" b="0">
                <a:solidFill>
                  <a:srgbClr val="1C1C1C"/>
                </a:solidFill>
                <a:latin typeface="Calibri"/>
              </a:rPr>
              <a:t>2022 AAFP/AAHA (Frey et al.)
Start 30–60 min before incision.
Not usually needed for clean procedures.
Skip OHE, orchiectomy, most sterile cases.
Postop antimicrobials are rarely required.
Hold asepsis. Stop at closure.
A postoperative antibiotic injection is treatment, not a gift after every spay.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34440"/>
            <a:ext cx="5029200" cy="411480"/>
          </a:xfrm>
          <a:prstGeom prst="rect">
            <a:avLst/>
          </a:prstGeom>
          <a:noFill/>
        </p:spPr>
        <p:txBody>
          <a:bodyPr wrap="square" anchor="t"/>
          <a:lstStyle/>
          <a:p>
            <a:pPr algn="l"/>
            <a:r>
              <a:rPr sz="1800" b="1">
                <a:solidFill>
                  <a:srgbClr val="8B2E2E"/>
                </a:solidFill>
                <a:latin typeface="Calibri"/>
              </a:rPr>
              <a:t>When indicated</a:t>
            </a:r>
          </a:p>
        </p:txBody>
      </p:sp>
      <p:sp>
        <p:nvSpPr>
          <p:cNvPr id="13" name="TextBox 12"/>
          <p:cNvSpPr txBox="1"/>
          <p:nvPr/>
        </p:nvSpPr>
        <p:spPr>
          <a:xfrm>
            <a:off x="6492240" y="1691640"/>
            <a:ext cx="5029200" cy="777240"/>
          </a:xfrm>
          <a:prstGeom prst="rect">
            <a:avLst/>
          </a:prstGeom>
          <a:noFill/>
        </p:spPr>
        <p:txBody>
          <a:bodyPr wrap="square" anchor="t"/>
          <a:lstStyle/>
          <a:p>
            <a:pPr algn="l"/>
            <a:r>
              <a:rPr sz="2800" b="1">
                <a:solidFill>
                  <a:srgbClr val="8B2E2E"/>
                </a:solidFill>
                <a:latin typeface="Calibri"/>
              </a:rPr>
              <a:t>Cefazolin 22 mg/kg IV</a:t>
            </a:r>
          </a:p>
        </p:txBody>
      </p:sp>
      <p:sp>
        <p:nvSpPr>
          <p:cNvPr id="14" name="TextBox 13"/>
          <p:cNvSpPr txBox="1"/>
          <p:nvPr/>
        </p:nvSpPr>
        <p:spPr>
          <a:xfrm>
            <a:off x="6492240" y="2468880"/>
            <a:ext cx="5029200" cy="3383280"/>
          </a:xfrm>
          <a:prstGeom prst="rect">
            <a:avLst/>
          </a:prstGeom>
          <a:noFill/>
        </p:spPr>
        <p:txBody>
          <a:bodyPr wrap="square" anchor="t"/>
          <a:lstStyle/>
          <a:p>
            <a:pPr algn="l"/>
            <a:r>
              <a:rPr sz="1600" b="0">
                <a:solidFill>
                  <a:srgbClr val="1C1C1C"/>
                </a:solidFill>
                <a:latin typeface="Calibri"/>
              </a:rPr>
              <a:t>Gonzalez 2017: extra-label 22 mg/kg IV in dogs.
1. Give 30–60 min before incision (Frey 2022).
2. Second dose if surgery lasts &gt;90 min (Whittem 1999).
3. Stop at closure unless you are treating infection.
AAFP/AAHA 2022 has no cefazolin mg/kg.
Willie’s infected ear: treatment, not prophylaxis.</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Roberts 1986: 1 mL of 10% + 49 mL saline = 1:50.   5% bottle: 1 mL + 24 mL (1:25).</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10% stock, dilute 1:50
MIN contact: 2 min + 2 min
1:2: corneal edema (1/15)
5% bottle: use 1:25
Not full strength on cornea</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1:50 of 10% stock, 2-min scrub + 2-min soak. If the bottle is 5% veterinary solution, 1:25 matches 0.2%.</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stock 1:50. 2 min + 2 min.</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ECG/SpO2/ETCO2, circle system, IV fluids, airway. The vaporizer delivers inhalant; MAC is how we talk about that dose. Monitoring is on before the first drug. Willie: alfaxalone sedation. MoMo: the record stopped at preoperative evaluation.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ONE UNRECOGNIZED BREAK BEFORE INCISION. NONE AFTER.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One unrecognized break gets a warning. A second unrecognized break stops the case.
After the incision: notice, announce, and fully correct. There is no warning.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The operation is not over at the last skin suture. CPE MOA 2026 Surgery still scores the first 24 hours: intra-abdominal hemorrhage from a weak ligature, or herniation from a weak linea, is still the operation.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MIN contact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Willie is 13.7 kg. Tube, bag, and IV fluid rate?</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LRS 69 mL/hr (5 mL/kg/hr). Murmur: opioid + alfaxalone.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injection if kidneys and GI allow. Willie: skip after DexSP.</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AIRWAY, PERFUSION, HEAT, PAIN, INCISION. STAY WITH THE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Postoperative flowsheet, first 2 hours</a:t>
            </a:r>
          </a:p>
        </p:txBody>
      </p:sp>
      <p:pic>
        <p:nvPicPr>
          <p:cNvPr id="8" name="Picture 7" descr="recovery_flowsheet.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INJECTIONS AT RECOVERY.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Analgesia injection at recovery</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500"/>
              </a:spcAft>
            </a:pPr>
            <a:r>
              <a:rPr sz="1500" b="0">
                <a:solidFill>
                  <a:srgbClr val="1C1C1C"/>
                </a:solidFill>
                <a:latin typeface="Calibri"/>
              </a:rPr>
              <a:t>▸  Score pain. Dogs: Glasgow CMPS-SF. Cats: Feline Grimace Scale.</a:t>
            </a:r>
          </a:p>
          <a:p>
            <a:pPr algn="l">
              <a:spcAft>
                <a:spcPts val="500"/>
              </a:spcAft>
            </a:pPr>
            <a:r>
              <a:rPr sz="1500" b="0">
                <a:solidFill>
                  <a:srgbClr val="1C1C1C"/>
                </a:solidFill>
                <a:latin typeface="Calibri"/>
              </a:rPr>
              <a:t>▸  Opioid injection as planned. Re-score after you give it.</a:t>
            </a:r>
          </a:p>
          <a:p>
            <a:pPr algn="l">
              <a:spcAft>
                <a:spcPts val="500"/>
              </a:spcAft>
            </a:pPr>
            <a:r>
              <a:rPr sz="1500" b="0">
                <a:solidFill>
                  <a:srgbClr val="1C1C1C"/>
                </a:solidFill>
                <a:latin typeface="Calibri"/>
              </a:rPr>
              <a:t>▸  NSAID if perfusion, kidneys, and GI allow. Do not stack with a steroid.</a:t>
            </a:r>
          </a:p>
          <a:p>
            <a:pPr algn="l">
              <a:spcAft>
                <a:spcPts val="500"/>
              </a:spcAft>
            </a:pPr>
            <a:r>
              <a:rPr sz="1500" b="0">
                <a:solidFill>
                  <a:srgbClr val="1C1C1C"/>
                </a:solidFill>
                <a:latin typeface="Calibri"/>
              </a:rPr>
              <a:t>▸  Carprofen: dog. Onsior (robenacoxib) 2 mg/kg SQ: dog or cat, labeled up to 3 days.</a:t>
            </a:r>
          </a:p>
          <a:p>
            <a:pPr algn="l">
              <a:spcAft>
                <a:spcPts val="500"/>
              </a:spcAft>
            </a:pPr>
            <a:r>
              <a:rPr sz="1500" b="0">
                <a:solidFill>
                  <a:srgbClr val="1C1C1C"/>
                </a:solidFill>
                <a:latin typeface="Calibri"/>
              </a:rPr>
              <a:t>▸  Onsior first dose: about 45 min before incision in dogs, 30 min in cats (label). Later doses at recovery or SQ/PO.</a:t>
            </a:r>
          </a:p>
          <a:p>
            <a:pPr algn="l">
              <a:spcAft>
                <a:spcPts val="500"/>
              </a:spcAft>
            </a:pPr>
            <a:r>
              <a:rPr sz="1500" b="0">
                <a:solidFill>
                  <a:srgbClr val="1C1C1C"/>
                </a:solidFill>
                <a:latin typeface="Calibri"/>
              </a:rPr>
              <a:t>▸  Willie already received DexSP: skip NSAID. MoMo: azotemic,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500"/>
              </a:spcAft>
            </a:pPr>
            <a:r>
              <a:rPr sz="1500" b="0">
                <a:solidFill>
                  <a:srgbClr val="1C1C1C"/>
                </a:solidFill>
                <a:latin typeface="Calibri"/>
              </a:rPr>
              <a:t>▸  A postoperative antibiotic injection is treatment. Write the drug, dose, and why.</a:t>
            </a:r>
          </a:p>
          <a:p>
            <a:pPr algn="l">
              <a:spcAft>
                <a:spcPts val="500"/>
              </a:spcAft>
            </a:pPr>
            <a:r>
              <a:rPr sz="1500" b="0">
                <a:solidFill>
                  <a:srgbClr val="1C1C1C"/>
                </a:solidFill>
                <a:latin typeface="Calibri"/>
              </a:rPr>
              <a:t>▸  Clean elective OHE: skip (Frey 2022). Do not send home 14 days of cephalexin.</a:t>
            </a:r>
          </a:p>
          <a:p>
            <a:pPr algn="l">
              <a:spcAft>
                <a:spcPts val="500"/>
              </a:spcAft>
            </a:pPr>
            <a:r>
              <a:rPr sz="1500" b="0">
                <a:solidFill>
                  <a:srgbClr val="1C1C1C"/>
                </a:solidFill>
                <a:latin typeface="Calibri"/>
              </a:rPr>
              <a:t>▸  Dirty or infected: continue as therapy. Willie’s ear is treatment, not prophylaxis.</a:t>
            </a:r>
          </a:p>
          <a:p>
            <a:pPr algn="l">
              <a:spcAft>
                <a:spcPts val="500"/>
              </a:spcAft>
            </a:pPr>
            <a:r>
              <a:rPr sz="1500" b="0">
                <a:solidFill>
                  <a:srgbClr val="1C1C1C"/>
                </a:solidFill>
                <a:latin typeface="Calibri"/>
              </a:rPr>
              <a:t>▸  Look twice daily: swelling, discharge, gapping, smell, heat.</a:t>
            </a:r>
          </a:p>
          <a:p>
            <a:pPr algn="l">
              <a:spcAft>
                <a:spcPts val="500"/>
              </a:spcAft>
            </a:pPr>
            <a:r>
              <a:rPr sz="1500" b="0">
                <a:solidFill>
                  <a:srgbClr val="1C1C1C"/>
                </a:solidFill>
                <a:latin typeface="Calibri"/>
              </a:rPr>
              <a:t>▸  E-collar that stays on. Leash walks 14 days.</a:t>
            </a:r>
          </a:p>
          <a:p>
            <a:pPr algn="l">
              <a:spcAft>
                <a:spcPts val="500"/>
              </a:spcAft>
            </a:pPr>
            <a:r>
              <a:rPr sz="1500" b="0">
                <a:solidFill>
                  <a:srgbClr val="1C1C1C"/>
                </a:solidFill>
                <a:latin typeface="Calibri"/>
              </a:rPr>
              <a:t>▸  Skin sutures typically 10–14 days. Cats: start a meal the night of surgery.</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STILL SCORES THIS WINDOW. HEMORRHAGE, HERNIA, DEHISCENCE.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STATUS 3-E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III-E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Prep</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If intubated: 7.0 mm ETT, 1 L bag, circle, LRS 69 mL/hr. Canal and eye: dilute PVP-I, 1:50 of 10%.</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next. TECA-LBO only if medical therapy fails.</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BOTH RECEIVED A PREOPERATIVE EVALUATION. ONLY WILLIE WAS ANESTHETIZED.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 Proceed with sedation.</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 AS otitis + murmur. Compensated. Fill the anesthesia record. Alfaxalone, monitoring, ear clean, skip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 Cancel the exploratory.</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DSH, 4.25 kg. Vomiting that looked like FB. Labs + POCUS + AUS: structural renal disease, creatinine 3.0 → 4.71 on fluids. Exploratory cancelled. NSAIDs contraindicated. Record the decision. Offer supportive care, referral, or euthanasia. That conversation is still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Willie is ASA Status 3-E: sedate with a plan. MoMo is Status 4-E: image first, then cancel.</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Before induction write ASA, ETT, bag, circuit, FGF, and IV rate (dog 5 mL/kg/hr; cat 3–5).</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Correct deficits before elective. Albumin &lt;2.0 g/dL: delay, treat the cause, do not crystalloid-flood.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When prophylaxis is indicated: cefazolin 22 mg/kg IV 30–60 min before incision. Clean OHE: skip.</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Clock minimum contact time. Then four-quadrant towels and the large drape. Hair out of the window.</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Pale + tachycardic after celiotomy: hemorrhage until proven otherwise. Return to OR.</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Why was Willie ASA Status 3-E and MoMo ASA Status 4-E?
Albumin is 1.6 g/dL and the mass is elective. What do you do before you cut?</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12. ECFVG. CPE Manual of Administration. 2026 ed. Anesthesia; Surgery.
13. Pardo et al. 2024 AAHA Fluid Therapy. JAAHA. 2024;60:131–163.</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