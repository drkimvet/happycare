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Two hospital patients are only ASA examples: Willie, compensated, Status 3-E, sedated for an ear clean; MoMo, uncompensated, Status 4-E, exploratory cancelled.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The two hospital patients are ASA practice, not the point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own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Then use the two hospital patients only as practice: compensated vestibular crisis is 3-E; uncompensated azotemia that threatens life is 4-E.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a compensated emergency (sedation). D is uncompensated; labs cancelled the exploratory. The names on later slides are only these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ASA example, not the point of the hour. Record the murmur. Right-sided knuckling with left circling: treat as central vestibular plus otitis, then sedate. Aminoglycosides are a risk if the middle ear is involved even when the drum looks present. Skip NSAID after DexSP. Do not put extra-label home milligrams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ASA example, not the point of the hour. Pause on the photograph. Be respectful; this cat died. Cold-call: who would have clipped her on history alone? The photograph is a quiet, recumbent cat. It does not prove a foreign body. Status 3 would be compensated kidney disease. Rising creatinine, hypothermia, and a non-functional kidney made this Status 4-E.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are weight, HR, RR, mucous membranes and CRT, temperature, other PE findings, PCV, TP, BUN, other labs, then ASA 1 through 5. Perform and record the preoperative examination. Request, record, and interpret the minimum labs. Assign ASA. PCV and TP method: EDTA, spin, read PCV, snap the capillary tube, refractometer TP. Do not invent percentages. A normal CBC does not write Status 1. Azotemia can cancel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taught as an original record, not the copyrighted form. Students write drug, concentration, dose, volume, and route for premed, induction, and analgesics. Then IV fluid name and rate. Then why those drugs. Then sedation and induction quality 1 to 5, isoflurane or sevoflurane, rebreathing or non-rebreathing, tube size, and fresh-gas flow. Heart murmur: alfaxalone IV to effect. Do not invent milligrams. Skip NSAID after DexSP. If you intubate a 13.7 kg dog: 7.0 millimeter, 1 liter circle, LRS 69 milliliters per hour.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A cancelled cut after you find uncompensated azotemia is a successful preoperative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A 2-minute risk talk prevents a 2-hour complaint.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13.7 kg dog: start 7.0 millimeter, 6.5 and 7.5 in the hand. Bag: kilograms times 60, round up. 822 milliliters is a 1 liter bag, circle. Fluids: Pardo 2024, dog 5 milliliters per kilogram per hour; write 69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Do not teach tube math as if a sedated ear-clean patient was intubated.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PCV, TP, BUN WNL. Skip NSAID after DexSP. Recovery is on the same page. Drug protocol is slide 13. The intra-op chart is slide 30. Tube and bag numbers are only if you intubate.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Willie’s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TECA clip on a patient whose procedure that day was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and fluids off the workstation photo. Do not mix MAC and case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13.7 kg dog if you intubate: 7.0 millimeter, 1 liter circle, 69 milliliters per hour, alfaxalone if there is a murmur. B is Roberts 1986.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taught as an original chart, not the copyrighted grid. Students name every row: heart rate, respiratory rate, SAP DAP MAP, isoflurane or sevoflurane percent, oxygen flow, end-tidal CO2, SpO2, temperature, fluid rate, total milliliters. Then the end of the case: complications or none, fluid type rate and total volume, recovery analgesics, and a signature. Willie start rate is 69 milliliters per hour.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Dog: carprofen 4.4 milligrams per kilogram SQ, about 2 hours before surgery, for postoperative pain. Do not use carprofen in cats. Cat: Onsior 2 milligrams per kilogram SQ, first dose about 30 minutes before surgery. Do not teach Onsior in the dog.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as an ASA example, not as the lecture thesis. One sentence on the other example: the same preoperative evaluation cancelled an exploratory when the disease was uncompensated.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These two patients are ASA examples only. Healthy Lab OHE is the ASA Status 1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These six lines are the hour: exam and ASA, ready for prep, equipment math, hair-skin-position-drape, correct asepsis, own 24 hours. Do not make the hospital patients the takeaway.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ASA, then prep. Own the first 24 hours.
Two hospital cases are ASA examples only.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correct deficits → premed → induce → ready for prep → clip, prep, drape → first 24 hours.</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THEN OWN THE FIRST 24 HOURS. CPE MOA 2026 SURGERY COMPETENCIES.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from a weak ligature, or herniation from a weak linea, is still the operation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own the first 24 hours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TPR, MM/CRT, THEN PCV, TP, BUN. THEN ASA. THEN PREMED.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8" name="Rounded Rectangle 7"/>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1" name="TextBox 10"/>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Temperature, heart rate, respiratory rate. Write the numbers. Do not copy yesterday’s chart.</a:t>
            </a:r>
          </a:p>
        </p:txBody>
      </p:sp>
      <p:sp>
        <p:nvSpPr>
          <p:cNvPr id="12" name="Rounded Rectangle 11"/>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5" name="TextBox 14"/>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6" name="Rounded Rectangle 15"/>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9" name="TextBox 18"/>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20" name="Rounded Rectangle 19"/>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3" name="TextBox 22"/>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4" name="Rectangle 23"/>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6" name="Rounded Rectangle 25"/>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9" name="TextBox 28"/>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30" name="Rounded Rectangle 29"/>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3" name="TextBox 32"/>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4" name="Rounded Rectangle 33"/>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7" name="TextBox 36"/>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compensated. Status 4 is uncompensated and a threat to life.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Compensated emergency.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Vomiting cat. Looks like FB. T 98.0 °F, HR 200, tacky mm.</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Image and labs first. Uncompensated: ASA Status 4-E. Do not cut today.</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 11 MO MN CAVALIER KING CHARLES SPANIEL, 13.7 KG, BCS 6/9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that is still compensated (acute vestibular disease plus AS otitis plus murmur).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Plan: CBC WNL. DexSP already given: skip NSAID. Alfaxalone sedation, deep left-ear clean, cytology/culture, 3-view films. Confine. MRI if neurologic signs persist. TECA-LBO only if culture-guided medical therapy fails. New ASA on the day of that surgery.</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uncompensated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cancel</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POCUS: abnormal kidneys. Creatinine 3.0 → 4.71 on fluids. AUS: right kidney fluid-filled and non-functional. Skip NSAIDs. Cancel the exploratory. Owner elected humane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PAGE 1: TODAY’S PE, THEN PCV, TP, BUN. INTERPRET. THEN CIRCLE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8" name="Rounded Rectangle 7"/>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10" name="Picture 9"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WRITE DRUG, CONCENTRATION, DOSE, VOLUME, ROUTE. IVF NAME AND RATE. THEN WHY. CPE MOA 2026 APPENDIX 3.</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8" name="Rounded Rectangle 7"/>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1" name="TextBox 10"/>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DKT or BAA if healthy. Willie: skip ace/dexmed.</a:t>
            </a:r>
          </a:p>
        </p:txBody>
      </p:sp>
      <p:sp>
        <p:nvSpPr>
          <p:cNvPr id="12" name="Rounded Rectangle 11"/>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5" name="TextBox 14"/>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6" name="Rounded Rectangle 15"/>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9" name="TextBox 18"/>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20" name="Picture 19"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1" name="Rectangle 2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3" name="TextBox 2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STABILIZE FIRST. PARDO ET AL. 2024: ALBUMIN &lt;2.0 G/DL.</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1" name="TextBox 10"/>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5" name="TextBox 14"/>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9" name="TextBox 18"/>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pre-oxygenate. Fasting follows the healthy-adult or neonate row above.</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ASA, ETT SIZE, BAG, CIRCUIT, IV FLUID NAME/RATE, FRESH-GAS FLOW.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8" name="Rounded Rectangle 7"/>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1" name="TextBox 10"/>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2" name="TextBox 11"/>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3" name="Rounded Rectangle 12"/>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6" name="TextBox 15"/>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7" name="TextBox 16"/>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8" name="Rounded Rectangle 17"/>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1" name="TextBox 20"/>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2" name="TextBox 21"/>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3" name="Picture 22"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PAGE 1 OF THE TEACHING RECORD: PE, PCV/TP/BUN, ASA.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CLEAN, CLEAN-CONTAMINATED, CONTAMINATED, DIRTY. THEN DECIDE ANTIBIOTICS. FOSSUM 2018; FREY ET AL. 2022.</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8" name="Rounded Rectangle 7"/>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1" name="TextBox 10"/>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2" name="Rounded Rectangle 11"/>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5" name="TextBox 14"/>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6" name="Rounded Rectangle 15"/>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9" name="TextBox 18"/>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20" name="Rounded Rectangle 19"/>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3" name="TextBox 22"/>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Willie’s ear. Pyometra with pus.
This is treatment, not prophylaxis.</a:t>
            </a:r>
          </a:p>
        </p:txBody>
      </p:sp>
      <p:sp>
        <p:nvSpPr>
          <p:cNvPr id="24" name="Rounded Rectangle 23"/>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cap, mask, gown, closed glove</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Roberts 1986: 1 mL of 10% + 49 mL saline = 1:50.   5% bottle: 1 mL + 24 mL (1:25).</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10% stock, dilute 1:50
MIN contact: 2 min + 2 min
1:2: corneal edema (1/15)
5% bottle: use 1:25
Not full strength on cornea</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1:50 of 10% stock, 2-min scrub + 2-min soak. If the bottle is 5% veterinary solution, 1:25 matches 0.2%.</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stock 1:50. 2 min + 2 min.</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 SpO2, ETCO2, circle system, IV fluids, airway. Name every monitor on the workstation before the first incision.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SAY IT. CORRECT IT. AFTER THE INCISION, EVERY BREAK MUST BE FULLY CORRECTED.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The operation is not over at the last skin suture. The first 24 hours still count: intra-abdominal hemorrhage from a weak ligature, or herniation from a weak linea, is still the operation (CPE MOA 2026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MIN contact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13.7 kg dog. Tube, bag, and IV fluid rate if you intubate?</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Willie: skip after DexSP.</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PLOT HR, RR, BP, INHALANT, O2, ETCO2, SPO2, TEMP, FLUID RATE AND TOTAL. THEN COMPLICATIONS, FLUIDS, RECOVERY ANALGESICS.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and end of case</a:t>
            </a:r>
          </a:p>
        </p:txBody>
      </p:sp>
      <p:pic>
        <p:nvPicPr>
          <p:cNvPr id="8" name="Picture 7"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ON-LABEL NSAIDS. DOG: CARPROFEN. CAT: ONSIOR.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Label: dogs only. Do not use in cats. For postoperative pain, give about 2 hours before surgery.</a:t>
            </a:r>
          </a:p>
          <a:p>
            <a:pPr algn="l">
              <a:spcAft>
                <a:spcPts val="600"/>
              </a:spcAft>
            </a:pPr>
            <a:r>
              <a:rPr sz="1600" b="0">
                <a:solidFill>
                  <a:srgbClr val="1C1C1C"/>
                </a:solidFill>
                <a:latin typeface="Calibri"/>
              </a:rPr>
              <a:t>▸  Cat: Onsior (robenacoxib) 2 mg/kg SQ. Label: cats. First dose about 30 min before surgery.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Willie: DexSP, skip NSAID. MoMo: azotemic,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Willie’s ear is treatment,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OPERATION IS NOT OVER AT THE LAST SKIN SUTURE. HEMORRHAGE, HERNIA, DEHISCENCE.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STATUS 3-E. EXAMPLE ONLY: A COMPENSATED EMERGENCY.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Status 3-E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Sedation</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for an ear clean. Tube, bag, and 69 mL/hr only if you intubate a 13.7 kg dog. Canal: dilute PVP-I, not 7.5% scrub.</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if signs persist. New ASA before any later surgery.</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EXAMPLES. BOTH RECEIVED A PREOPERATIVE EVALUATION. ONLY WILLIE WAS SEDATED.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 Proceed with sedation.</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 Cancel the exploratory.</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Recording the cancellation is still the preoperative evaluation.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ANESTHESIA AND SURGERY COMPETENCIES. CASES ARE ASA EXAMPLES ONLY.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8" name="Rounded Rectangle 7"/>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1" name="TextBox 10"/>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Exam, then PCV, TP, BUN. Interpret. Write ASA. Then IM or SQ premed. Not before the exam.</a:t>
            </a:r>
          </a:p>
        </p:txBody>
      </p:sp>
      <p:sp>
        <p:nvSpPr>
          <p:cNvPr id="12" name="Rounded Rectangle 11"/>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5" name="TextBox 14"/>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6" name="Rounded Rectangle 15"/>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9" name="TextBox 18"/>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Before induction write ASA, ETT, bag, circuit, FGF, and IV rate (dog 5 mL/kg/hr; cat 3–5).</a:t>
            </a:r>
          </a:p>
        </p:txBody>
      </p:sp>
      <p:sp>
        <p:nvSpPr>
          <p:cNvPr id="20" name="Rounded Rectangle 19"/>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3" name="TextBox 22"/>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prep: hair, skin, position, drape. Surgeon: gown and closed glove. Announce incision.</a:t>
            </a:r>
          </a:p>
        </p:txBody>
      </p:sp>
      <p:sp>
        <p:nvSpPr>
          <p:cNvPr id="24" name="Rounded Rectangle 23"/>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7" name="TextBox 26"/>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Name a break in asepsis and correct it. After the incision, every break must be fully corrected.</a:t>
            </a:r>
          </a:p>
        </p:txBody>
      </p:sp>
      <p:sp>
        <p:nvSpPr>
          <p:cNvPr id="28" name="Rounded Rectangle 27"/>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1" name="TextBox 30"/>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still count: hemorrhage from a weak ligature, or hernia from a weak linea. Return to OR.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12. ECFVG. CPE Manual of Administration. 2026 ed. Anesthesia; Surgery.
13. Pardo et al. 2024 AAHA Fluid Therapy. JAAHA. 2024;60:131–163.</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