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Thirty-seven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34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them write the numbers. Dog: HCT 36.9 to 60.0, TP 5.5 to 7.6, BUN 9.0 to 29.0, creatinine 0.4 to 1.4, from today’s canine printout. Cat: HCT 28 to 50, BUN 15 to 32, creatinine 0.8 to 1.8, from today’s feline printout. Later feline creatinine range on the second panel was 0.50 to 1.90; do not invent a third band. Cat total protein 5.1 had no printed interval. Potassium: do not invent 3.5 to 5.5. Correct if greater than 6.0, Grubb 2020. Albumin: do not invent a full interval. Pardo 2024, less than 2.0 grams per deciliter is a negative prognostic indicator. These are not ASA cutoffs. A normal CBC does not assign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Spell chlorhexidine, povidone-iodine, and alcohol. Do not say C-H-G or P-V-P-I. Walk the table: as a scrub, contact time, use on, do not. Chlorhexidine: Nolvasan 2 percent, 2 to 4 minutes, intact skin, not eyes or mucosa. Povidone-iodine: 7.5 percent scrub about 5 minutes on intact skin, then 5 percent veterinary paint. Eye is 0.2 percent on a healthy cornea, 2 plus 2 minutes, Roberts 1986. Do not put 7.5 percent detergent scrub on the cornea or in the ear. Alcohol: rinse on intact skin after the detergent scrub and let it dry. Not on cornea, mucosa, or an open wound. Alcohol does not replace the timed chlorhexidine or povidone-iodine contact.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one continuous spiral out from the incision, not a stack of closed circles.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photograph is the overhead window: fenestrated drape, clipped skin in the hole, Backhaus towel clamps at the corners. Hair stays under the 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photograph of two people in gowns putting on sterile gloves. Not a drawing. Call out the door: shoe covers, cap, mask. Gown after the hand scrub, not in the hallway. Closed glove for this course: hands stay in the cuffs.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after the patient is anesthetized and intubated. Do not clip a conscious patient. Then clip and dirty-scrub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37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292608" y="1024128"/>
            <a:ext cx="11612880" cy="420624"/>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24128"/>
            <a:ext cx="1965960" cy="420624"/>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2377440" y="1024128"/>
            <a:ext cx="2331720" cy="420624"/>
          </a:xfrm>
          <a:prstGeom prst="rect">
            <a:avLst/>
          </a:prstGeom>
          <a:noFill/>
        </p:spPr>
        <p:txBody>
          <a:bodyPr wrap="square" anchor="ctr"/>
          <a:lstStyle/>
          <a:p>
            <a:pPr algn="l"/>
            <a:r>
              <a:rPr sz="1600" b="1">
                <a:solidFill>
                  <a:srgbClr val="FFFFFF"/>
                </a:solidFill>
                <a:latin typeface="Calibri"/>
              </a:rPr>
              <a:t>Dog  ·  this lab</a:t>
            </a:r>
          </a:p>
        </p:txBody>
      </p:sp>
      <p:sp>
        <p:nvSpPr>
          <p:cNvPr id="10" name="TextBox 9"/>
          <p:cNvSpPr txBox="1"/>
          <p:nvPr/>
        </p:nvSpPr>
        <p:spPr>
          <a:xfrm>
            <a:off x="4754880" y="1024128"/>
            <a:ext cx="2331720" cy="420624"/>
          </a:xfrm>
          <a:prstGeom prst="rect">
            <a:avLst/>
          </a:prstGeom>
          <a:noFill/>
        </p:spPr>
        <p:txBody>
          <a:bodyPr wrap="square" anchor="ctr"/>
          <a:lstStyle/>
          <a:p>
            <a:pPr algn="l"/>
            <a:r>
              <a:rPr sz="1600" b="1">
                <a:solidFill>
                  <a:srgbClr val="FFFFFF"/>
                </a:solidFill>
                <a:latin typeface="Calibri"/>
              </a:rPr>
              <a:t>Cat  ·  this lab</a:t>
            </a:r>
          </a:p>
        </p:txBody>
      </p:sp>
      <p:sp>
        <p:nvSpPr>
          <p:cNvPr id="11" name="TextBox 10"/>
          <p:cNvSpPr txBox="1"/>
          <p:nvPr/>
        </p:nvSpPr>
        <p:spPr>
          <a:xfrm>
            <a:off x="7132320" y="1024128"/>
            <a:ext cx="4663440" cy="420624"/>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292608" y="149961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99616"/>
            <a:ext cx="1965960" cy="658368"/>
          </a:xfrm>
          <a:prstGeom prst="rect">
            <a:avLst/>
          </a:prstGeom>
          <a:noFill/>
        </p:spPr>
        <p:txBody>
          <a:bodyPr wrap="square" anchor="ctr"/>
          <a:lstStyle/>
          <a:p>
            <a:pPr algn="l"/>
            <a:r>
              <a:rPr sz="1600" b="1">
                <a:solidFill>
                  <a:srgbClr val="0B2C4A"/>
                </a:solidFill>
                <a:latin typeface="Calibri"/>
              </a:rPr>
              <a:t>PCV / HCT</a:t>
            </a:r>
          </a:p>
        </p:txBody>
      </p:sp>
      <p:sp>
        <p:nvSpPr>
          <p:cNvPr id="14" name="TextBox 13"/>
          <p:cNvSpPr txBox="1"/>
          <p:nvPr/>
        </p:nvSpPr>
        <p:spPr>
          <a:xfrm>
            <a:off x="2377440" y="1499616"/>
            <a:ext cx="2331720" cy="658368"/>
          </a:xfrm>
          <a:prstGeom prst="rect">
            <a:avLst/>
          </a:prstGeom>
          <a:noFill/>
        </p:spPr>
        <p:txBody>
          <a:bodyPr wrap="square" anchor="ctr"/>
          <a:lstStyle/>
          <a:p>
            <a:pPr algn="l"/>
            <a:r>
              <a:rPr sz="1600" b="0">
                <a:solidFill>
                  <a:srgbClr val="1C1C1C"/>
                </a:solidFill>
                <a:latin typeface="Calibri"/>
              </a:rPr>
              <a:t>36.9–60.0%</a:t>
            </a:r>
          </a:p>
        </p:txBody>
      </p:sp>
      <p:sp>
        <p:nvSpPr>
          <p:cNvPr id="15" name="TextBox 14"/>
          <p:cNvSpPr txBox="1"/>
          <p:nvPr/>
        </p:nvSpPr>
        <p:spPr>
          <a:xfrm>
            <a:off x="4754880" y="1499616"/>
            <a:ext cx="2331720" cy="658368"/>
          </a:xfrm>
          <a:prstGeom prst="rect">
            <a:avLst/>
          </a:prstGeom>
          <a:noFill/>
        </p:spPr>
        <p:txBody>
          <a:bodyPr wrap="square" anchor="ctr"/>
          <a:lstStyle/>
          <a:p>
            <a:pPr algn="l"/>
            <a:r>
              <a:rPr sz="1600" b="0">
                <a:solidFill>
                  <a:srgbClr val="1C1C1C"/>
                </a:solidFill>
                <a:latin typeface="Calibri"/>
              </a:rPr>
              <a:t>28–50%</a:t>
            </a:r>
          </a:p>
        </p:txBody>
      </p:sp>
      <p:sp>
        <p:nvSpPr>
          <p:cNvPr id="16" name="TextBox 15"/>
          <p:cNvSpPr txBox="1"/>
          <p:nvPr/>
        </p:nvSpPr>
        <p:spPr>
          <a:xfrm>
            <a:off x="7132320" y="1499616"/>
            <a:ext cx="4663440" cy="658368"/>
          </a:xfrm>
          <a:prstGeom prst="rect">
            <a:avLst/>
          </a:prstGeom>
          <a:noFill/>
        </p:spPr>
        <p:txBody>
          <a:bodyPr wrap="square" anchor="ctr"/>
          <a:lstStyle/>
          <a:p>
            <a:pPr algn="l"/>
            <a:r>
              <a:rPr sz="1600" b="0">
                <a:solidFill>
                  <a:srgbClr val="8B2E2E"/>
                </a:solidFill>
                <a:latin typeface="Calibri"/>
              </a:rPr>
              <a:t>Anemia: severity and chronicity (Grubb 2020)</a:t>
            </a:r>
          </a:p>
        </p:txBody>
      </p:sp>
      <p:sp>
        <p:nvSpPr>
          <p:cNvPr id="17" name="Rounded Rectangle 16"/>
          <p:cNvSpPr/>
          <p:nvPr/>
        </p:nvSpPr>
        <p:spPr>
          <a:xfrm>
            <a:off x="292608" y="2212848"/>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2212848"/>
            <a:ext cx="1965960" cy="658368"/>
          </a:xfrm>
          <a:prstGeom prst="rect">
            <a:avLst/>
          </a:prstGeom>
          <a:noFill/>
        </p:spPr>
        <p:txBody>
          <a:bodyPr wrap="square" anchor="ctr"/>
          <a:lstStyle/>
          <a:p>
            <a:pPr algn="l"/>
            <a:r>
              <a:rPr sz="1600" b="1">
                <a:solidFill>
                  <a:srgbClr val="0B2C4A"/>
                </a:solidFill>
                <a:latin typeface="Calibri"/>
              </a:rPr>
              <a:t>TP</a:t>
            </a:r>
          </a:p>
        </p:txBody>
      </p:sp>
      <p:sp>
        <p:nvSpPr>
          <p:cNvPr id="19" name="TextBox 18"/>
          <p:cNvSpPr txBox="1"/>
          <p:nvPr/>
        </p:nvSpPr>
        <p:spPr>
          <a:xfrm>
            <a:off x="2377440" y="2212848"/>
            <a:ext cx="2331720" cy="658368"/>
          </a:xfrm>
          <a:prstGeom prst="rect">
            <a:avLst/>
          </a:prstGeom>
          <a:noFill/>
        </p:spPr>
        <p:txBody>
          <a:bodyPr wrap="square" anchor="ctr"/>
          <a:lstStyle/>
          <a:p>
            <a:pPr algn="l"/>
            <a:r>
              <a:rPr sz="1600" b="0">
                <a:solidFill>
                  <a:srgbClr val="1C1C1C"/>
                </a:solidFill>
                <a:latin typeface="Calibri"/>
              </a:rPr>
              <a:t>5.5–7.6 g/dL</a:t>
            </a:r>
          </a:p>
        </p:txBody>
      </p:sp>
      <p:sp>
        <p:nvSpPr>
          <p:cNvPr id="20" name="TextBox 19"/>
          <p:cNvSpPr txBox="1"/>
          <p:nvPr/>
        </p:nvSpPr>
        <p:spPr>
          <a:xfrm>
            <a:off x="4754880" y="2212848"/>
            <a:ext cx="2331720" cy="658368"/>
          </a:xfrm>
          <a:prstGeom prst="rect">
            <a:avLst/>
          </a:prstGeom>
          <a:noFill/>
        </p:spPr>
        <p:txBody>
          <a:bodyPr wrap="square" anchor="ctr"/>
          <a:lstStyle/>
          <a:p>
            <a:pPr algn="l"/>
            <a:r>
              <a:rPr sz="1600" b="0">
                <a:solidFill>
                  <a:srgbClr val="1C1C1C"/>
                </a:solidFill>
                <a:latin typeface="Calibri"/>
              </a:rPr>
              <a:t>Read today’s printout</a:t>
            </a:r>
          </a:p>
        </p:txBody>
      </p:sp>
      <p:sp>
        <p:nvSpPr>
          <p:cNvPr id="21" name="TextBox 20"/>
          <p:cNvSpPr txBox="1"/>
          <p:nvPr/>
        </p:nvSpPr>
        <p:spPr>
          <a:xfrm>
            <a:off x="7132320" y="2212848"/>
            <a:ext cx="4663440" cy="658368"/>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2" name="Rounded Rectangle 21"/>
          <p:cNvSpPr/>
          <p:nvPr/>
        </p:nvSpPr>
        <p:spPr>
          <a:xfrm>
            <a:off x="292608" y="2926080"/>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2926080"/>
            <a:ext cx="1965960" cy="658368"/>
          </a:xfrm>
          <a:prstGeom prst="rect">
            <a:avLst/>
          </a:prstGeom>
          <a:noFill/>
        </p:spPr>
        <p:txBody>
          <a:bodyPr wrap="square" anchor="ctr"/>
          <a:lstStyle/>
          <a:p>
            <a:pPr algn="l"/>
            <a:r>
              <a:rPr sz="1600" b="1">
                <a:solidFill>
                  <a:srgbClr val="0B2C4A"/>
                </a:solidFill>
                <a:latin typeface="Calibri"/>
              </a:rPr>
              <a:t>BUN</a:t>
            </a:r>
          </a:p>
        </p:txBody>
      </p:sp>
      <p:sp>
        <p:nvSpPr>
          <p:cNvPr id="24" name="TextBox 23"/>
          <p:cNvSpPr txBox="1"/>
          <p:nvPr/>
        </p:nvSpPr>
        <p:spPr>
          <a:xfrm>
            <a:off x="2377440" y="2926080"/>
            <a:ext cx="2331720" cy="658368"/>
          </a:xfrm>
          <a:prstGeom prst="rect">
            <a:avLst/>
          </a:prstGeom>
          <a:noFill/>
        </p:spPr>
        <p:txBody>
          <a:bodyPr wrap="square" anchor="ctr"/>
          <a:lstStyle/>
          <a:p>
            <a:pPr algn="l"/>
            <a:r>
              <a:rPr sz="1600" b="0">
                <a:solidFill>
                  <a:srgbClr val="1C1C1C"/>
                </a:solidFill>
                <a:latin typeface="Calibri"/>
              </a:rPr>
              <a:t>9.0–29.0 mg/dL</a:t>
            </a:r>
          </a:p>
        </p:txBody>
      </p:sp>
      <p:sp>
        <p:nvSpPr>
          <p:cNvPr id="25" name="TextBox 24"/>
          <p:cNvSpPr txBox="1"/>
          <p:nvPr/>
        </p:nvSpPr>
        <p:spPr>
          <a:xfrm>
            <a:off x="4754880" y="2926080"/>
            <a:ext cx="2331720" cy="658368"/>
          </a:xfrm>
          <a:prstGeom prst="rect">
            <a:avLst/>
          </a:prstGeom>
          <a:noFill/>
        </p:spPr>
        <p:txBody>
          <a:bodyPr wrap="square" anchor="ctr"/>
          <a:lstStyle/>
          <a:p>
            <a:pPr algn="l"/>
            <a:r>
              <a:rPr sz="1600" b="0">
                <a:solidFill>
                  <a:srgbClr val="1C1C1C"/>
                </a:solidFill>
                <a:latin typeface="Calibri"/>
              </a:rPr>
              <a:t>15–32 mg/dL</a:t>
            </a:r>
          </a:p>
        </p:txBody>
      </p:sp>
      <p:sp>
        <p:nvSpPr>
          <p:cNvPr id="26" name="TextBox 25"/>
          <p:cNvSpPr txBox="1"/>
          <p:nvPr/>
        </p:nvSpPr>
        <p:spPr>
          <a:xfrm>
            <a:off x="7132320" y="2926080"/>
            <a:ext cx="4663440" cy="658368"/>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7" name="Rounded Rectangle 26"/>
          <p:cNvSpPr/>
          <p:nvPr/>
        </p:nvSpPr>
        <p:spPr>
          <a:xfrm>
            <a:off x="292608" y="3639312"/>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639312"/>
            <a:ext cx="1965960" cy="658368"/>
          </a:xfrm>
          <a:prstGeom prst="rect">
            <a:avLst/>
          </a:prstGeom>
          <a:noFill/>
        </p:spPr>
        <p:txBody>
          <a:bodyPr wrap="square" anchor="ctr"/>
          <a:lstStyle/>
          <a:p>
            <a:pPr algn="l"/>
            <a:r>
              <a:rPr sz="1600" b="1">
                <a:solidFill>
                  <a:srgbClr val="0B2C4A"/>
                </a:solidFill>
                <a:latin typeface="Calibri"/>
              </a:rPr>
              <a:t>Creatinine</a:t>
            </a:r>
          </a:p>
        </p:txBody>
      </p:sp>
      <p:sp>
        <p:nvSpPr>
          <p:cNvPr id="29" name="TextBox 28"/>
          <p:cNvSpPr txBox="1"/>
          <p:nvPr/>
        </p:nvSpPr>
        <p:spPr>
          <a:xfrm>
            <a:off x="2377440" y="3639312"/>
            <a:ext cx="2331720" cy="658368"/>
          </a:xfrm>
          <a:prstGeom prst="rect">
            <a:avLst/>
          </a:prstGeom>
          <a:noFill/>
        </p:spPr>
        <p:txBody>
          <a:bodyPr wrap="square" anchor="ctr"/>
          <a:lstStyle/>
          <a:p>
            <a:pPr algn="l"/>
            <a:r>
              <a:rPr sz="1600" b="0">
                <a:solidFill>
                  <a:srgbClr val="1C1C1C"/>
                </a:solidFill>
                <a:latin typeface="Calibri"/>
              </a:rPr>
              <a:t>0.4–1.4 mg/dL</a:t>
            </a:r>
          </a:p>
        </p:txBody>
      </p:sp>
      <p:sp>
        <p:nvSpPr>
          <p:cNvPr id="30" name="TextBox 29"/>
          <p:cNvSpPr txBox="1"/>
          <p:nvPr/>
        </p:nvSpPr>
        <p:spPr>
          <a:xfrm>
            <a:off x="4754880" y="3639312"/>
            <a:ext cx="2331720" cy="658368"/>
          </a:xfrm>
          <a:prstGeom prst="rect">
            <a:avLst/>
          </a:prstGeom>
          <a:noFill/>
        </p:spPr>
        <p:txBody>
          <a:bodyPr wrap="square" anchor="ctr"/>
          <a:lstStyle/>
          <a:p>
            <a:pPr algn="l"/>
            <a:r>
              <a:rPr sz="1600" b="0">
                <a:solidFill>
                  <a:srgbClr val="1C1C1C"/>
                </a:solidFill>
                <a:latin typeface="Calibri"/>
              </a:rPr>
              <a:t>0.8–1.8 mg/dL</a:t>
            </a:r>
          </a:p>
        </p:txBody>
      </p:sp>
      <p:sp>
        <p:nvSpPr>
          <p:cNvPr id="31" name="TextBox 30"/>
          <p:cNvSpPr txBox="1"/>
          <p:nvPr/>
        </p:nvSpPr>
        <p:spPr>
          <a:xfrm>
            <a:off x="7132320" y="3639312"/>
            <a:ext cx="4663440" cy="658368"/>
          </a:xfrm>
          <a:prstGeom prst="rect">
            <a:avLst/>
          </a:prstGeom>
          <a:noFill/>
        </p:spPr>
        <p:txBody>
          <a:bodyPr wrap="square" anchor="ctr"/>
          <a:lstStyle/>
          <a:p>
            <a:pPr algn="l"/>
            <a:r>
              <a:rPr sz="1600" b="0">
                <a:solidFill>
                  <a:srgbClr val="8B2E2E"/>
                </a:solidFill>
                <a:latin typeface="Calibri"/>
              </a:rPr>
              <a:t>Rising Cr is not compensated. Do not invent why.</a:t>
            </a:r>
          </a:p>
        </p:txBody>
      </p:sp>
      <p:sp>
        <p:nvSpPr>
          <p:cNvPr id="32" name="Rounded Rectangle 31"/>
          <p:cNvSpPr/>
          <p:nvPr/>
        </p:nvSpPr>
        <p:spPr>
          <a:xfrm>
            <a:off x="292608" y="4352544"/>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4352544"/>
            <a:ext cx="1965960" cy="658368"/>
          </a:xfrm>
          <a:prstGeom prst="rect">
            <a:avLst/>
          </a:prstGeom>
          <a:noFill/>
        </p:spPr>
        <p:txBody>
          <a:bodyPr wrap="square" anchor="ctr"/>
          <a:lstStyle/>
          <a:p>
            <a:pPr algn="l"/>
            <a:r>
              <a:rPr sz="1600" b="1">
                <a:solidFill>
                  <a:srgbClr val="0B2C4A"/>
                </a:solidFill>
                <a:latin typeface="Calibri"/>
              </a:rPr>
              <a:t>Potassium</a:t>
            </a:r>
          </a:p>
        </p:txBody>
      </p:sp>
      <p:sp>
        <p:nvSpPr>
          <p:cNvPr id="34" name="TextBox 33"/>
          <p:cNvSpPr txBox="1"/>
          <p:nvPr/>
        </p:nvSpPr>
        <p:spPr>
          <a:xfrm>
            <a:off x="237744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5" name="TextBox 34"/>
          <p:cNvSpPr txBox="1"/>
          <p:nvPr/>
        </p:nvSpPr>
        <p:spPr>
          <a:xfrm>
            <a:off x="4754880" y="4352544"/>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36" name="TextBox 35"/>
          <p:cNvSpPr txBox="1"/>
          <p:nvPr/>
        </p:nvSpPr>
        <p:spPr>
          <a:xfrm>
            <a:off x="7132320" y="4352544"/>
            <a:ext cx="4663440" cy="658368"/>
          </a:xfrm>
          <a:prstGeom prst="rect">
            <a:avLst/>
          </a:prstGeom>
          <a:noFill/>
        </p:spPr>
        <p:txBody>
          <a:bodyPr wrap="square" anchor="ctr"/>
          <a:lstStyle/>
          <a:p>
            <a:pPr algn="l"/>
            <a:r>
              <a:rPr sz="1600" b="0">
                <a:solidFill>
                  <a:srgbClr val="8B2E2E"/>
                </a:solidFill>
                <a:latin typeface="Calibri"/>
              </a:rPr>
              <a:t>&gt;6.0 mEq/L: correct first (Grubb 2020)</a:t>
            </a:r>
          </a:p>
        </p:txBody>
      </p:sp>
      <p:sp>
        <p:nvSpPr>
          <p:cNvPr id="37" name="Rounded Rectangle 36"/>
          <p:cNvSpPr/>
          <p:nvPr/>
        </p:nvSpPr>
        <p:spPr>
          <a:xfrm>
            <a:off x="292608" y="5065776"/>
            <a:ext cx="11612880" cy="6583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5065776"/>
            <a:ext cx="1965960" cy="658368"/>
          </a:xfrm>
          <a:prstGeom prst="rect">
            <a:avLst/>
          </a:prstGeom>
          <a:noFill/>
        </p:spPr>
        <p:txBody>
          <a:bodyPr wrap="square" anchor="ctr"/>
          <a:lstStyle/>
          <a:p>
            <a:pPr algn="l"/>
            <a:r>
              <a:rPr sz="1600" b="1">
                <a:solidFill>
                  <a:srgbClr val="0B2C4A"/>
                </a:solidFill>
                <a:latin typeface="Calibri"/>
              </a:rPr>
              <a:t>Albumin</a:t>
            </a:r>
          </a:p>
        </p:txBody>
      </p:sp>
      <p:sp>
        <p:nvSpPr>
          <p:cNvPr id="39" name="TextBox 38"/>
          <p:cNvSpPr txBox="1"/>
          <p:nvPr/>
        </p:nvSpPr>
        <p:spPr>
          <a:xfrm>
            <a:off x="237744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0" name="TextBox 39"/>
          <p:cNvSpPr txBox="1"/>
          <p:nvPr/>
        </p:nvSpPr>
        <p:spPr>
          <a:xfrm>
            <a:off x="4754880" y="5065776"/>
            <a:ext cx="2331720" cy="658368"/>
          </a:xfrm>
          <a:prstGeom prst="rect">
            <a:avLst/>
          </a:prstGeom>
          <a:noFill/>
        </p:spPr>
        <p:txBody>
          <a:bodyPr wrap="square" anchor="ctr"/>
          <a:lstStyle/>
          <a:p>
            <a:pPr algn="l"/>
            <a:r>
              <a:rPr sz="1600" b="0">
                <a:solidFill>
                  <a:srgbClr val="1C1C1C"/>
                </a:solidFill>
                <a:latin typeface="Calibri"/>
              </a:rPr>
              <a:t>Today’s printout</a:t>
            </a:r>
          </a:p>
        </p:txBody>
      </p:sp>
      <p:sp>
        <p:nvSpPr>
          <p:cNvPr id="41" name="TextBox 40"/>
          <p:cNvSpPr txBox="1"/>
          <p:nvPr/>
        </p:nvSpPr>
        <p:spPr>
          <a:xfrm>
            <a:off x="7132320" y="5065776"/>
            <a:ext cx="4663440" cy="658368"/>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42" name="TextBox 41"/>
          <p:cNvSpPr txBox="1"/>
          <p:nvPr/>
        </p:nvSpPr>
        <p:spPr>
          <a:xfrm>
            <a:off x="365760" y="5833872"/>
            <a:ext cx="11430000" cy="621792"/>
          </a:xfrm>
          <a:prstGeom prst="rect">
            <a:avLst/>
          </a:prstGeom>
          <a:noFill/>
        </p:spPr>
        <p:txBody>
          <a:bodyPr wrap="square" anchor="t"/>
          <a:lstStyle/>
          <a:p>
            <a:pPr algn="l"/>
            <a:r>
              <a:rPr sz="1600" b="0">
                <a:solidFill>
                  <a:srgbClr val="0B2C4A"/>
                </a:solidFill>
                <a:latin typeface="Calibri"/>
              </a:rPr>
              <a:t>Write these ranges. They are this laboratory’s printed intervals from today’s dog and cat records, not ASA cutoffs. HCT is what these printouts report; spun PCV is the MOA method. Cat TP: no interval was printed with 5.1 g/dL. MOA minimum is PCV, TP, BUN.</a:t>
            </a:r>
          </a:p>
        </p:txBody>
      </p:sp>
      <p:sp>
        <p:nvSpPr>
          <p:cNvPr id="43" name="Rectangle 4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5" name="TextBox 4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pic>
        <p:nvPicPr>
          <p:cNvPr id="7" name="Picture 6" descr="antiseptic_scrub_compare.png"/>
          <p:cNvPicPr>
            <a:picLocks noChangeAspect="1"/>
          </p:cNvPicPr>
          <p:nvPr/>
        </p:nvPicPr>
        <p:blipFill>
          <a:blip r:embed="rId2"/>
          <a:stretch>
            <a:fillRect/>
          </a:stretch>
        </p:blipFill>
        <p:spPr>
          <a:xfrm>
            <a:off x="256032" y="987552"/>
            <a:ext cx="11686032" cy="4937760"/>
          </a:xfrm>
          <a:prstGeom prst="rect">
            <a:avLst/>
          </a:prstGeom>
        </p:spPr>
      </p:pic>
      <p:sp>
        <p:nvSpPr>
          <p:cNvPr id="8" name="TextBox 7"/>
          <p:cNvSpPr txBox="1"/>
          <p:nvPr/>
        </p:nvSpPr>
        <p:spPr>
          <a:xfrm>
            <a:off x="365760" y="5943600"/>
            <a:ext cx="11430000" cy="530352"/>
          </a:xfrm>
          <a:prstGeom prst="rect">
            <a:avLst/>
          </a:prstGeom>
          <a:noFill/>
        </p:spPr>
        <p:txBody>
          <a:bodyPr wrap="square" anchor="t"/>
          <a:lstStyle/>
          <a:p>
            <a:pPr algn="l"/>
            <a:r>
              <a:rPr sz="1300" b="0">
                <a:solidFill>
                  <a:srgbClr val="3D4A57"/>
                </a:solidFill>
                <a:latin typeface="Calibri"/>
              </a:rPr>
              <a:t>Nolvasan Surgical Scrub: 2% chlorhexidine acetate, DailyMed NDC 54771-8701, 2 to 4 min, keep out of eyes. BETADINE Surgical Scrub Veterinary 7.5% povidone-iodine NDC 67618-154, about 5 min. BETADINE Solution Veterinary 5% povidone-iodine NDC 67618-155, not 10%. Eye: Roberts 1986, 0.2% povidone-iodine, 2 min + 2 min. Perforation: saline only.</a:t>
            </a:r>
          </a:p>
        </p:txBody>
      </p:sp>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One continuous spiral out. Never back toward the cut.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povidone-iodine ~5 min, then 5% paint.</a:t>
            </a:r>
          </a:p>
          <a:p>
            <a:pPr algn="l">
              <a:spcAft>
                <a:spcPts val="1000"/>
              </a:spcAft>
            </a:pPr>
            <a:r>
              <a:rPr sz="1600" b="0">
                <a:solidFill>
                  <a:srgbClr val="1C1C1C"/>
                </a:solidFill>
                <a:latin typeface="Calibri"/>
              </a:rPr>
              <a:t>▸  Eye: 0.2% povidone-iodine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pic>
        <p:nvPicPr>
          <p:cNvPr id="7" name="Picture 6" descr="fenestrated_drape_window.jpg"/>
          <p:cNvPicPr>
            <a:picLocks noChangeAspect="1"/>
          </p:cNvPicPr>
          <p:nvPr/>
        </p:nvPicPr>
        <p:blipFill>
          <a:blip r:embed="rId2"/>
          <a:stretch>
            <a:fillRect/>
          </a:stretch>
        </p:blipFill>
        <p:spPr>
          <a:xfrm>
            <a:off x="1158087" y="1024128"/>
            <a:ext cx="9875520" cy="4773168"/>
          </a:xfrm>
          <a:prstGeom prst="rect">
            <a:avLst/>
          </a:prstGeom>
        </p:spPr>
      </p:pic>
      <p:sp>
        <p:nvSpPr>
          <p:cNvPr id="8" name="TextBox 7"/>
          <p:cNvSpPr txBox="1"/>
          <p:nvPr/>
        </p:nvSpPr>
        <p:spPr>
          <a:xfrm>
            <a:off x="457200" y="5907024"/>
            <a:ext cx="11247120" cy="530352"/>
          </a:xfrm>
          <a:prstGeom prst="rect">
            <a:avLst/>
          </a:prstGeom>
          <a:noFill/>
        </p:spPr>
        <p:txBody>
          <a:bodyPr wrap="square" anchor="t"/>
          <a:lstStyle/>
          <a:p>
            <a:pPr algn="l"/>
            <a:r>
              <a:rPr sz="1600" b="0">
                <a:solidFill>
                  <a:srgbClr val="1C1C1C"/>
                </a:solidFill>
                <a:latin typeface="Calibri"/>
              </a:rPr>
              <a:t>Fenestrated drape. The hole is the incision: only clipped skin. Backhaus towel clamps at the corners. Hair stays under the drape. Four towels, then the large drape. Timeout. Then cut.</a:t>
            </a:r>
          </a:p>
        </p:txBody>
      </p:sp>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closed_gloving_real.jpg"/>
          <p:cNvPicPr>
            <a:picLocks noChangeAspect="1"/>
          </p:cNvPicPr>
          <p:nvPr/>
        </p:nvPicPr>
        <p:blipFill>
          <a:blip r:embed="rId2"/>
          <a:stretch>
            <a:fillRect/>
          </a:stretch>
        </p:blipFill>
        <p:spPr>
          <a:xfrm>
            <a:off x="320040" y="1024128"/>
            <a:ext cx="6537960" cy="3794760"/>
          </a:xfrm>
          <a:prstGeom prst="rect">
            <a:avLst/>
          </a:prstGeom>
        </p:spPr>
      </p:pic>
      <p:sp>
        <p:nvSpPr>
          <p:cNvPr id="8" name="Rounded Rectangle 7"/>
          <p:cNvSpPr/>
          <p:nvPr/>
        </p:nvSpPr>
        <p:spPr>
          <a:xfrm>
            <a:off x="6995160" y="1024128"/>
            <a:ext cx="484632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78040" y="1133856"/>
            <a:ext cx="452628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7132320" y="1554480"/>
            <a:ext cx="457200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Photograph: real people, real gown sleeves, sterile gloves going on. U.S. Navy photo, public domain (USNS Mercy, 2020). In this course: closed glove, hands stay inside the gown cuffs. Then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the patient is anesthetized and intubated.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povidone-iodine?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